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FFCCFF"/>
    <a:srgbClr val="800000"/>
    <a:srgbClr val="FF0000"/>
    <a:srgbClr val="6600FF"/>
    <a:srgbClr val="FF99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8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DD14ED-4D16-4CAD-8CC7-25A37CCFBF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5644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D5E94-D68B-48D6-8FFD-631B7F99BD4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2055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4C6F11-E834-479E-A143-AA3C122B61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505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FDF18F-2E7D-4D11-9415-5815698104B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41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013B1C-30E0-4B88-8CAC-2CFEB6B295C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3174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4D1A3A-2F4F-4E38-8E3E-8BF55A4942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54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0B0EF1-DA42-4F4C-AE3C-8473960033F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828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CE8CCA-2356-49FB-8C67-033F21B4A4B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527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89C629-9373-473A-8C46-257C595554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5493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18291F-9D2E-4325-8E54-3E35EC95C3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575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733EF2-042A-4E7E-955B-CCC5080A55A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018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FFCCFF"/>
            </a:gs>
            <a:gs pos="100000">
              <a:srgbClr val="FFFFF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2E7ED8E-7FD7-43AE-8B28-13BA2348EEC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1143000" y="609600"/>
            <a:ext cx="754380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6600" b="1">
                <a:solidFill>
                  <a:srgbClr val="FF0000"/>
                </a:solidFill>
                <a:ea typeface="华文彩云" pitchFamily="2" charset="-122"/>
              </a:rPr>
              <a:t>中国剪纸挂串制作</a:t>
            </a:r>
          </a:p>
        </p:txBody>
      </p:sp>
      <p:pic>
        <p:nvPicPr>
          <p:cNvPr id="2052" name="Picture 4" descr="剪纸1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EF6060"/>
              </a:clrFrom>
              <a:clrTo>
                <a:srgbClr val="EF606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171700"/>
            <a:ext cx="3048000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577850"/>
            <a:ext cx="5486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600" b="1">
                <a:solidFill>
                  <a:srgbClr val="990000"/>
                </a:solidFill>
                <a:ea typeface="隶书" pitchFamily="49" charset="-122"/>
              </a:rPr>
              <a:t>剪纸作品欣赏</a:t>
            </a:r>
          </a:p>
        </p:txBody>
      </p:sp>
      <p:pic>
        <p:nvPicPr>
          <p:cNvPr id="3075" name="Picture 3" descr="剪纸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14563"/>
            <a:ext cx="2895600" cy="273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剪纸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088" y="2628900"/>
            <a:ext cx="1636712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剪纸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3" y="2133600"/>
            <a:ext cx="288925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剪纸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914400"/>
            <a:ext cx="3475038" cy="259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剪纸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505200"/>
            <a:ext cx="280352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剪纸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313" y="3733800"/>
            <a:ext cx="2071687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剪纸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308475"/>
            <a:ext cx="2532063" cy="186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剪纸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143000"/>
            <a:ext cx="13208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剪纸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1143000"/>
            <a:ext cx="17145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剪纸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3276600" cy="308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 descr="剪纸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757238"/>
            <a:ext cx="3124200" cy="297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剪纸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038600"/>
            <a:ext cx="3463925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1" name="Picture 7" descr="剪纸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238" y="4114800"/>
            <a:ext cx="2468562" cy="236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609600" y="304800"/>
            <a:ext cx="647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533400" y="609600"/>
            <a:ext cx="8001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990000"/>
                </a:solidFill>
                <a:ea typeface="隶书" pitchFamily="49" charset="-122"/>
              </a:rPr>
              <a:t>一、三种剪刻法：阴刻、阳刻、阴阳混合刻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295400" y="1447800"/>
            <a:ext cx="5257800" cy="277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剪刻要决：先刻后剪</a:t>
            </a:r>
          </a:p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                     先里后处</a:t>
            </a:r>
          </a:p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                     先细后粗</a:t>
            </a:r>
          </a:p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                     千剪万剪剪不断</a:t>
            </a:r>
          </a:p>
        </p:txBody>
      </p:sp>
      <p:pic>
        <p:nvPicPr>
          <p:cNvPr id="5125" name="Picture 5" descr="剪纸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246563"/>
            <a:ext cx="3048000" cy="229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剪纸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343400"/>
            <a:ext cx="2286000" cy="2236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剪纸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254500"/>
            <a:ext cx="2514600" cy="237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381000" y="457200"/>
            <a:ext cx="86106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990000"/>
                </a:solidFill>
                <a:latin typeface="隶书" pitchFamily="49" charset="-122"/>
                <a:ea typeface="隶书" pitchFamily="49" charset="-122"/>
              </a:rPr>
              <a:t>二、中国剪纸挂串：应用串挂方式将剪纸作品</a:t>
            </a:r>
          </a:p>
          <a:p>
            <a:pPr>
              <a:spcBef>
                <a:spcPct val="50000"/>
              </a:spcBef>
            </a:pPr>
            <a:r>
              <a:rPr lang="zh-CN" altLang="en-US" sz="3200" b="1" dirty="0" smtClean="0">
                <a:solidFill>
                  <a:srgbClr val="990000"/>
                </a:solidFill>
                <a:latin typeface="隶书" pitchFamily="49" charset="-122"/>
                <a:ea typeface="隶书" pitchFamily="49" charset="-122"/>
              </a:rPr>
              <a:t>                  连接</a:t>
            </a:r>
            <a:r>
              <a:rPr lang="zh-CN" altLang="en-US" sz="3200" b="1" dirty="0">
                <a:solidFill>
                  <a:srgbClr val="990000"/>
                </a:solidFill>
                <a:latin typeface="隶书" pitchFamily="49" charset="-122"/>
                <a:ea typeface="隶书" pitchFamily="49" charset="-122"/>
              </a:rPr>
              <a:t>在一起的装饰物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1161" y="1957065"/>
            <a:ext cx="738664" cy="2934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rgbClr val="0000FF"/>
                </a:solidFill>
                <a:ea typeface="楷体_GB2312" pitchFamily="49" charset="-122"/>
              </a:rPr>
              <a:t>剪纸挂串部件</a:t>
            </a: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3276600" y="2414265"/>
            <a:ext cx="312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6781800" y="2001515"/>
            <a:ext cx="1143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>
                <a:solidFill>
                  <a:srgbClr val="6600FF"/>
                </a:solidFill>
                <a:ea typeface="楷体_GB2312" pitchFamily="49" charset="-122"/>
              </a:rPr>
              <a:t>顶</a:t>
            </a:r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3276600" y="3481065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6858000" y="3023865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>
                <a:solidFill>
                  <a:srgbClr val="6600FF"/>
                </a:solidFill>
                <a:ea typeface="楷体_GB2312" pitchFamily="49" charset="-122"/>
              </a:rPr>
              <a:t>花</a:t>
            </a:r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3276600" y="4547865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6858000" y="4120828"/>
            <a:ext cx="1676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6600FF"/>
                </a:solidFill>
                <a:ea typeface="楷体_GB2312" pitchFamily="49" charset="-122"/>
              </a:rPr>
              <a:t>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6553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990000"/>
                </a:solidFill>
                <a:latin typeface="隶书" pitchFamily="49" charset="-122"/>
                <a:ea typeface="隶书" pitchFamily="49" charset="-122"/>
              </a:rPr>
              <a:t>三、步骤和方法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468313" y="1066800"/>
            <a:ext cx="868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990000"/>
                </a:solidFill>
              </a:rPr>
              <a:t>1</a:t>
            </a:r>
            <a:r>
              <a:rPr lang="zh-CN" altLang="en-US" b="1">
                <a:solidFill>
                  <a:srgbClr val="990000"/>
                </a:solidFill>
              </a:rPr>
              <a:t>、折纸：用各色彩纸按照图中所示折成四面对称剪纸。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457200" y="1776413"/>
            <a:ext cx="8686800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990000"/>
                </a:solidFill>
              </a:rPr>
              <a:t>2</a:t>
            </a:r>
            <a:r>
              <a:rPr lang="zh-CN" altLang="en-US" b="1">
                <a:solidFill>
                  <a:srgbClr val="990000"/>
                </a:solidFill>
              </a:rPr>
              <a:t>、画图：在折叠好的纸上分别把图</a:t>
            </a:r>
            <a:r>
              <a:rPr lang="en-US" altLang="zh-CN" b="1">
                <a:solidFill>
                  <a:srgbClr val="990000"/>
                </a:solidFill>
              </a:rPr>
              <a:t>1—7</a:t>
            </a:r>
            <a:r>
              <a:rPr lang="zh-CN" altLang="en-US" b="1">
                <a:solidFill>
                  <a:srgbClr val="990000"/>
                </a:solidFill>
              </a:rPr>
              <a:t>中的五种图案画在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990000"/>
                </a:solidFill>
              </a:rPr>
              <a:t>                   不同的彩纸上。</a:t>
            </a: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457200" y="2924175"/>
            <a:ext cx="868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990000"/>
                </a:solidFill>
              </a:rPr>
              <a:t>3</a:t>
            </a:r>
            <a:r>
              <a:rPr lang="zh-CN" altLang="en-US" b="1">
                <a:solidFill>
                  <a:srgbClr val="990000"/>
                </a:solidFill>
              </a:rPr>
              <a:t>、剪刻：在画好的纸样上进行剪刻。</a:t>
            </a: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457200" y="3644900"/>
            <a:ext cx="868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990000"/>
                </a:solidFill>
              </a:rPr>
              <a:t>4</a:t>
            </a:r>
            <a:r>
              <a:rPr lang="zh-CN" altLang="en-US" b="1">
                <a:solidFill>
                  <a:srgbClr val="990000"/>
                </a:solidFill>
              </a:rPr>
              <a:t>、粘贴：把线夹在剪纸中间，重叠粘贴。</a:t>
            </a:r>
          </a:p>
        </p:txBody>
      </p:sp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457200" y="4365625"/>
            <a:ext cx="868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990000"/>
                </a:solidFill>
              </a:rPr>
              <a:t>5</a:t>
            </a:r>
            <a:r>
              <a:rPr lang="zh-CN" altLang="en-US" b="1">
                <a:solidFill>
                  <a:srgbClr val="990000"/>
                </a:solidFill>
              </a:rPr>
              <a:t>、点缀：下面结穗，上面打结，即可制作完成。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762000" y="425450"/>
            <a:ext cx="6705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990000"/>
                </a:solidFill>
                <a:latin typeface="隶书" pitchFamily="49" charset="-122"/>
                <a:ea typeface="隶书" pitchFamily="49" charset="-122"/>
              </a:rPr>
              <a:t>四、注意事项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762000" y="1385888"/>
            <a:ext cx="838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、对称剪纸，重叠粘贴必须平整，线要粘牢。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762000" y="2071688"/>
            <a:ext cx="708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、细致、准确、切忌剪断或刻断。</a:t>
            </a:r>
          </a:p>
        </p:txBody>
      </p:sp>
      <p:pic>
        <p:nvPicPr>
          <p:cNvPr id="8200" name="Picture 8" descr="剪纸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638" y="3429000"/>
            <a:ext cx="337343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1" name="Picture 9" descr="剪纸二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050" y="3352800"/>
            <a:ext cx="300355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3" name="Picture 11" descr="剪纸三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163" y="3352800"/>
            <a:ext cx="2890837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609600" y="381000"/>
            <a:ext cx="6705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990000"/>
                </a:solidFill>
                <a:latin typeface="隶书" pitchFamily="49" charset="-122"/>
                <a:ea typeface="隶书" pitchFamily="49" charset="-122"/>
              </a:rPr>
              <a:t>五、课堂安全</a:t>
            </a:r>
            <a:r>
              <a:rPr lang="en-US" altLang="zh-CN" sz="3200" b="1" dirty="0">
                <a:solidFill>
                  <a:srgbClr val="990000"/>
                </a:solidFill>
                <a:latin typeface="隶书" pitchFamily="49" charset="-122"/>
                <a:ea typeface="隶书" pitchFamily="49" charset="-122"/>
              </a:rPr>
              <a:t>(</a:t>
            </a:r>
            <a:r>
              <a:rPr lang="zh-CN" altLang="en-US" sz="3200" b="1" dirty="0">
                <a:solidFill>
                  <a:srgbClr val="990000"/>
                </a:solidFill>
                <a:latin typeface="隶书" pitchFamily="49" charset="-122"/>
                <a:ea typeface="隶书" pitchFamily="49" charset="-122"/>
              </a:rPr>
              <a:t>人人遵守）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838200" y="1295400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、在刻纸时，桌面上垫上一本废书。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838200" y="2209800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、手指不要紧提捏刀口，控制用刀的力度。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838200" y="3124200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、不准用刀对乱刻画。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838200" y="4038600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、刻刀割伤手指时，及时报告教师。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609600" y="381000"/>
            <a:ext cx="6324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990000"/>
                </a:solidFill>
                <a:latin typeface="隶书" pitchFamily="49" charset="-122"/>
                <a:ea typeface="隶书" pitchFamily="49" charset="-122"/>
              </a:rPr>
              <a:t>六、分析和评价</a:t>
            </a:r>
          </a:p>
        </p:txBody>
      </p:sp>
      <p:graphicFrame>
        <p:nvGraphicFramePr>
          <p:cNvPr id="10350" name="Group 110"/>
          <p:cNvGraphicFramePr>
            <a:graphicFrameLocks noGrp="1"/>
          </p:cNvGraphicFramePr>
          <p:nvPr/>
        </p:nvGraphicFramePr>
        <p:xfrm>
          <a:off x="533400" y="1066800"/>
          <a:ext cx="8305800" cy="5005960"/>
        </p:xfrm>
        <a:graphic>
          <a:graphicData uri="http://schemas.openxmlformats.org/drawingml/2006/table">
            <a:tbl>
              <a:tblPr/>
              <a:tblGrid>
                <a:gridCol w="1295400"/>
                <a:gridCol w="5334000"/>
                <a:gridCol w="16764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项目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内容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评价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540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操作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技术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、在操作中是否先刻后剪、先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     细后粗、先里后外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05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、整体效果是否协调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82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劳动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表现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、带工具情况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8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、场景整理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05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、注意安全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Pages>0</Pages>
  <Words>308</Words>
  <Characters>0</Characters>
  <Application>Microsoft Office PowerPoint</Application>
  <DocSecurity>0</DocSecurity>
  <PresentationFormat>全屏显示(4:3)</PresentationFormat>
  <Lines>0</Lines>
  <Paragraphs>42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admin</cp:lastModifiedBy>
  <cp:revision>8</cp:revision>
  <cp:lastPrinted>1601-01-01T00:00:00Z</cp:lastPrinted>
  <dcterms:modified xsi:type="dcterms:W3CDTF">2013-09-12T03:40:34Z</dcterms:modified>
  <cp:category/>
</cp:coreProperties>
</file>