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3"/>
    <p:sldMasterId id="2147483674" r:id="rId4"/>
  </p:sldMasterIdLst>
  <p:notesMasterIdLst>
    <p:notesMasterId r:id="rId11"/>
  </p:notesMasterIdLst>
  <p:handoutMasterIdLst>
    <p:handoutMasterId r:id="rId104"/>
  </p:handoutMasterIdLst>
  <p:sldIdLst>
    <p:sldId id="1061" r:id="rId5"/>
    <p:sldId id="635" r:id="rId6"/>
    <p:sldId id="409" r:id="rId7"/>
    <p:sldId id="406" r:id="rId8"/>
    <p:sldId id="410" r:id="rId9"/>
    <p:sldId id="311" r:id="rId10"/>
    <p:sldId id="313" r:id="rId12"/>
    <p:sldId id="314" r:id="rId13"/>
    <p:sldId id="315" r:id="rId14"/>
    <p:sldId id="316" r:id="rId15"/>
    <p:sldId id="259" r:id="rId16"/>
    <p:sldId id="415" r:id="rId17"/>
    <p:sldId id="416" r:id="rId18"/>
    <p:sldId id="1064" r:id="rId19"/>
    <p:sldId id="417" r:id="rId20"/>
    <p:sldId id="260" r:id="rId21"/>
    <p:sldId id="1063" r:id="rId22"/>
    <p:sldId id="1062" r:id="rId23"/>
    <p:sldId id="1066" r:id="rId24"/>
    <p:sldId id="1067" r:id="rId25"/>
    <p:sldId id="1065" r:id="rId26"/>
    <p:sldId id="1069" r:id="rId27"/>
    <p:sldId id="1072" r:id="rId28"/>
    <p:sldId id="1073" r:id="rId29"/>
    <p:sldId id="1074" r:id="rId30"/>
    <p:sldId id="1075" r:id="rId31"/>
    <p:sldId id="1076" r:id="rId32"/>
    <p:sldId id="1077" r:id="rId33"/>
    <p:sldId id="1078" r:id="rId34"/>
    <p:sldId id="1079" r:id="rId35"/>
    <p:sldId id="1080" r:id="rId36"/>
    <p:sldId id="1081" r:id="rId37"/>
    <p:sldId id="1082" r:id="rId38"/>
    <p:sldId id="1083" r:id="rId39"/>
    <p:sldId id="1084" r:id="rId40"/>
    <p:sldId id="1085" r:id="rId41"/>
    <p:sldId id="1086" r:id="rId42"/>
    <p:sldId id="1087" r:id="rId43"/>
    <p:sldId id="1070" r:id="rId44"/>
    <p:sldId id="1170" r:id="rId45"/>
    <p:sldId id="1171" r:id="rId46"/>
    <p:sldId id="1172" r:id="rId47"/>
    <p:sldId id="1169" r:id="rId48"/>
    <p:sldId id="1173" r:id="rId49"/>
    <p:sldId id="1174" r:id="rId50"/>
    <p:sldId id="267" r:id="rId51"/>
    <p:sldId id="1175" r:id="rId52"/>
    <p:sldId id="465" r:id="rId53"/>
    <p:sldId id="1177" r:id="rId54"/>
    <p:sldId id="468" r:id="rId55"/>
    <p:sldId id="469" r:id="rId56"/>
    <p:sldId id="1178" r:id="rId57"/>
    <p:sldId id="1179" r:id="rId58"/>
    <p:sldId id="1181" r:id="rId59"/>
    <p:sldId id="1182" r:id="rId60"/>
    <p:sldId id="1183" r:id="rId61"/>
    <p:sldId id="1184" r:id="rId62"/>
    <p:sldId id="1185" r:id="rId63"/>
    <p:sldId id="1187" r:id="rId64"/>
    <p:sldId id="1188" r:id="rId65"/>
    <p:sldId id="1189" r:id="rId66"/>
    <p:sldId id="490" r:id="rId67"/>
    <p:sldId id="479" r:id="rId68"/>
    <p:sldId id="480" r:id="rId69"/>
    <p:sldId id="475" r:id="rId70"/>
    <p:sldId id="1191" r:id="rId71"/>
    <p:sldId id="1192" r:id="rId72"/>
    <p:sldId id="1193" r:id="rId73"/>
    <p:sldId id="471" r:id="rId74"/>
    <p:sldId id="472" r:id="rId75"/>
    <p:sldId id="473" r:id="rId76"/>
    <p:sldId id="470" r:id="rId77"/>
    <p:sldId id="1196" r:id="rId78"/>
    <p:sldId id="1197" r:id="rId79"/>
    <p:sldId id="1195" r:id="rId80"/>
    <p:sldId id="521" r:id="rId81"/>
    <p:sldId id="1208" r:id="rId82"/>
    <p:sldId id="1211" r:id="rId83"/>
    <p:sldId id="1212" r:id="rId84"/>
    <p:sldId id="1213" r:id="rId85"/>
    <p:sldId id="522" r:id="rId86"/>
    <p:sldId id="1214" r:id="rId87"/>
    <p:sldId id="1217" r:id="rId88"/>
    <p:sldId id="534" r:id="rId89"/>
    <p:sldId id="1216" r:id="rId90"/>
    <p:sldId id="533" r:id="rId91"/>
    <p:sldId id="535" r:id="rId92"/>
    <p:sldId id="536" r:id="rId93"/>
    <p:sldId id="904" r:id="rId94"/>
    <p:sldId id="1218" r:id="rId95"/>
    <p:sldId id="1215" r:id="rId96"/>
    <p:sldId id="779" r:id="rId97"/>
    <p:sldId id="1219" r:id="rId98"/>
    <p:sldId id="538" r:id="rId99"/>
    <p:sldId id="539" r:id="rId100"/>
    <p:sldId id="578" r:id="rId101"/>
    <p:sldId id="634" r:id="rId102"/>
    <p:sldId id="1199" r:id="rId10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00000"/>
    <a:srgbClr val="CC9900"/>
    <a:srgbClr val="E3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 autoAdjust="0"/>
  </p:normalViewPr>
  <p:slideViewPr>
    <p:cSldViewPr>
      <p:cViewPr>
        <p:scale>
          <a:sx n="70" d="100"/>
          <a:sy n="70" d="100"/>
        </p:scale>
        <p:origin x="-2508" y="-828"/>
      </p:cViewPr>
      <p:guideLst>
        <p:guide orient="horz" pos="2054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5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4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3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2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07" Type="http://schemas.openxmlformats.org/officeDocument/2006/relationships/tableStyles" Target="tableStyles.xml"/><Relationship Id="rId106" Type="http://schemas.openxmlformats.org/officeDocument/2006/relationships/viewProps" Target="viewProps.xml"/><Relationship Id="rId105" Type="http://schemas.openxmlformats.org/officeDocument/2006/relationships/presProps" Target="presProps.xml"/><Relationship Id="rId104" Type="http://schemas.openxmlformats.org/officeDocument/2006/relationships/handoutMaster" Target="handoutMasters/handoutMaster1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png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cs typeface="+mn-ea"/>
              </a:defRPr>
            </a:lvl1pPr>
          </a:lstStyle>
          <a:p>
            <a:fld id="{0F9B84EA-7D68-4D60-9CB1-D50884785D1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810A1B9-3B99-417D-A0DD-69C13E4B3AA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/>
          <a:lstStyle>
            <a:lvl1pPr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</a:p>
        </p:txBody>
      </p:sp>
      <p:sp>
        <p:nvSpPr>
          <p:cNvPr id="307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/>
          <a:lstStyle>
            <a:lvl1pPr algn="r"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6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4101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buFontTx/>
              <a:buNone/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buFontTx/>
              <a:buNone/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buFontTx/>
              <a:buNone/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buFontTx/>
              <a:buNone/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07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anchor="b"/>
          <a:lstStyle>
            <a:lvl1pPr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</a:p>
        </p:txBody>
      </p:sp>
      <p:sp>
        <p:nvSpPr>
          <p:cNvPr id="307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AC5B3829-1BDD-467A-BA4F-501BA2C14EF0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lvl="1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lvl="2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lvl="3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lvl="4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>
      <a:defRPr sz="1200" kern="1200">
        <a:latin typeface="+mn-lt"/>
        <a:ea typeface="+mn-ea"/>
        <a:cs typeface="+mn-cs"/>
      </a:defRPr>
    </a:lvl6pPr>
    <a:lvl7pPr marL="2743200" lvl="6" indent="0">
      <a:defRPr sz="1200" kern="1200">
        <a:latin typeface="+mn-lt"/>
        <a:ea typeface="+mn-ea"/>
        <a:cs typeface="+mn-cs"/>
      </a:defRPr>
    </a:lvl7pPr>
    <a:lvl8pPr marL="3200400" lvl="7" indent="0">
      <a:defRPr sz="1200" kern="1200">
        <a:latin typeface="+mn-lt"/>
        <a:ea typeface="+mn-ea"/>
        <a:cs typeface="+mn-cs"/>
      </a:defRPr>
    </a:lvl8pPr>
    <a:lvl9pPr marL="3657600" lvl="8" indent="0">
      <a:defRPr sz="1200" kern="12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167C83E4-97E0-4D0C-B34F-38F37DFF789E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E5F5317-6AC9-48C1-98E1-25A007C03B43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DA0214E-5CD9-4EC5-8916-442DA05E1E1A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46B3C194-8B8B-4F02-8EC8-46FED4B46C56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AFDAD1DE-4B2F-479F-BA73-C10642B341E5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8343B9D4-274D-49CF-9A1E-7C57235610E1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A74907D-9965-4C4C-9B7D-FEEF8846EEA7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A74907D-9965-4C4C-9B7D-FEEF8846EEA7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A74907D-9965-4C4C-9B7D-FEEF8846EEA7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A74907D-9965-4C4C-9B7D-FEEF8846EEA7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6A74907D-9965-4C4C-9B7D-FEEF8846EEA7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854CB0F5-15C3-440B-AFB9-FE314789A974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ln>
            <a:miter/>
          </a:ln>
        </p:spPr>
        <p:txBody>
          <a:bodyPr anchor="b"/>
          <a:lstStyle/>
          <a:p>
            <a:pPr algn="r"/>
            <a:fld id="{D1C23426-1037-49F7-B75E-5300EE0350A1}" type="slidenum">
              <a:rPr lang="zh-CN" altLang="en-US">
                <a:sym typeface="宋体" panose="02010600030101010101" pitchFamily="2" charset="-122"/>
              </a:rPr>
            </a:fld>
            <a:endParaRPr lang="zh-CN" altLang="en-US" sz="1200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77" y="1122368"/>
            <a:ext cx="9146264" cy="238761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377" y="3602053"/>
            <a:ext cx="9146264" cy="1655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D8E653-C69E-4C27-A8C9-44AE99F56A1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14" y="1600207"/>
            <a:ext cx="8231638" cy="4526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8D572-1E57-403F-B707-891A2953CC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56" y="1709745"/>
            <a:ext cx="10518203" cy="285274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056" y="4589483"/>
            <a:ext cx="10518203" cy="1500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F4088-6822-4047-AEFB-605D71C18D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408" y="1825633"/>
            <a:ext cx="5182883" cy="4351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29" y="1825633"/>
            <a:ext cx="5182883" cy="4351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0A41C-D4D0-4B79-97AE-B1EC7A3C5A0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365127"/>
            <a:ext cx="10518203" cy="132556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96" y="1681170"/>
            <a:ext cx="5159064" cy="82391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96" y="2505086"/>
            <a:ext cx="5159064" cy="36846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729" y="1681170"/>
            <a:ext cx="5184472" cy="82391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729" y="2505086"/>
            <a:ext cx="5184472" cy="36846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6DEE4-8442-4019-BDA1-841E6970E1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17220-3FC1-4590-AE53-AE37054F818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F00475-3A4F-4731-9759-0904EDB6883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457202"/>
            <a:ext cx="3933211" cy="160020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472" y="987429"/>
            <a:ext cx="6173729" cy="487364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96" y="2057409"/>
            <a:ext cx="3933211" cy="3811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6FC12-C151-4DC4-9B8C-A047E96E0E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457202"/>
            <a:ext cx="3933211" cy="160020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472" y="987429"/>
            <a:ext cx="6173729" cy="4873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96" y="2057409"/>
            <a:ext cx="3933211" cy="3811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20FCCD-EE3C-4844-8AA3-6B1DB0856C2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314" y="1600207"/>
            <a:ext cx="8231638" cy="4526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95C8CC-B2CE-4BFA-A30B-1116959F93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7061" y="365127"/>
            <a:ext cx="2629551" cy="581186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408" y="365127"/>
            <a:ext cx="7736216" cy="58118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C7E62-904D-4C2A-96A0-960407E5A31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77" y="1122368"/>
            <a:ext cx="9146264" cy="238761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377" y="3602053"/>
            <a:ext cx="9146264" cy="1655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A1F503-069C-4A0B-BDE5-5E017DABA1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14" y="1600207"/>
            <a:ext cx="8231638" cy="4526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56" y="1709745"/>
            <a:ext cx="10518203" cy="285274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056" y="4589483"/>
            <a:ext cx="10518203" cy="1500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31B64C7-51EE-4A24-A1C6-F80D9E355FF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408" y="1825633"/>
            <a:ext cx="5182883" cy="4351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29" y="1825633"/>
            <a:ext cx="5182883" cy="4351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BEBDBF-8FFF-464A-BD51-24402FBAD2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365127"/>
            <a:ext cx="10518203" cy="132556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96" y="1681170"/>
            <a:ext cx="5159064" cy="82391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96" y="2505086"/>
            <a:ext cx="5159064" cy="36846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729" y="1681170"/>
            <a:ext cx="5184472" cy="82391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729" y="2505086"/>
            <a:ext cx="5184472" cy="36846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4F108E-9568-4749-853A-103BFDA54D9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840D06-DAEA-4381-B326-92F73DA3A77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81EB90-FFFC-4ECD-B616-960ACC9BC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457202"/>
            <a:ext cx="3933211" cy="160020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472" y="987429"/>
            <a:ext cx="6173729" cy="487364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96" y="2057409"/>
            <a:ext cx="3933211" cy="3811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FCF2560-2E99-402B-B391-31598188FB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457202"/>
            <a:ext cx="3933211" cy="160020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472" y="987429"/>
            <a:ext cx="6173729" cy="4873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96" y="2057409"/>
            <a:ext cx="3933211" cy="3811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9FDDF6-6213-4908-A481-BE672985311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314" y="1600207"/>
            <a:ext cx="8231638" cy="4526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F20964-3B43-4E0B-9310-3E5EDAE054B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7061" y="365127"/>
            <a:ext cx="2629551" cy="581186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408" y="365127"/>
            <a:ext cx="7736216" cy="58118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355451-ABC4-4C19-AF9E-BEB371BE78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445625" y="1125538"/>
            <a:ext cx="2246313" cy="22447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7" name="直接连接符 16"/>
          <p:cNvCxnSpPr/>
          <p:nvPr userDrawn="1"/>
        </p:nvCxnSpPr>
        <p:spPr>
          <a:xfrm>
            <a:off x="5591175" y="4645025"/>
            <a:ext cx="6029325" cy="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9"/>
          <p:cNvGrpSpPr/>
          <p:nvPr userDrawn="1"/>
        </p:nvGrpSpPr>
        <p:grpSpPr>
          <a:xfrm>
            <a:off x="9920288" y="6091238"/>
            <a:ext cx="1936750" cy="496887"/>
            <a:chOff x="602538" y="6254444"/>
            <a:chExt cx="1936145" cy="495514"/>
          </a:xfrm>
        </p:grpSpPr>
        <p:sp>
          <p:nvSpPr>
            <p:cNvPr id="11" name="Text Box 62"/>
            <p:cNvSpPr txBox="1">
              <a:spLocks noChangeArrowheads="1"/>
            </p:cNvSpPr>
            <p:nvPr/>
          </p:nvSpPr>
          <p:spPr bwMode="auto">
            <a:xfrm>
              <a:off x="1027280" y="6332924"/>
              <a:ext cx="1511403" cy="338554"/>
            </a:xfrm>
            <a:prstGeom prst="rect">
              <a:avLst/>
            </a:prstGeom>
            <a:noFill/>
            <a:effectLst>
              <a:reflection blurRad="6350" stA="50000" endA="300" endPos="38500" dist="50800" dir="5400000" sy="-100000" algn="bl" rotWithShape="0"/>
            </a:effectLst>
          </p:spPr>
          <p:txBody>
            <a:bodyPr>
              <a:spAutoFit/>
            </a:bodyPr>
            <a:lstStyle>
              <a:defPPr>
                <a:defRPr lang="zh-CN"/>
              </a:defPPr>
              <a:lvl1pPr marL="0" defTabSz="914400" eaLnBrk="1" latinLnBrk="0" hangingPunct="1">
                <a:defRPr sz="1800">
                  <a:solidFill>
                    <a:schemeClr val="bg2">
                      <a:lumMod val="25000"/>
                    </a:schemeClr>
                  </a:solidFill>
                  <a:effectLst>
                    <a:reflection blurRad="6350" stA="55000" endA="300" endPos="45500" dir="5400000" sy="-100000" algn="bl" rotWithShape="0"/>
                  </a:effectLst>
                  <a:latin typeface="Broadway" pitchFamily="82" charset="0"/>
                  <a:ea typeface="楷体" panose="02010609060101010101" pitchFamily="49" charset="-122"/>
                  <a:cs typeface="经典繁仿黑" pitchFamily="49" charset="-122"/>
                </a:defRPr>
              </a:lvl1pPr>
              <a:lvl2pPr defTabSz="914400" eaLnBrk="1" latinLnBrk="0" hangingPunct="1">
                <a:defRPr sz="1800">
                  <a:latin typeface="+mn-lt"/>
                  <a:ea typeface="+mn-ea"/>
                </a:defRPr>
              </a:lvl2pPr>
              <a:lvl3pPr defTabSz="914400" eaLnBrk="1" latinLnBrk="0" hangingPunct="1">
                <a:defRPr sz="1800">
                  <a:latin typeface="+mn-lt"/>
                  <a:ea typeface="+mn-ea"/>
                </a:defRPr>
              </a:lvl3pPr>
              <a:lvl4pPr defTabSz="914400" eaLnBrk="1" latinLnBrk="0" hangingPunct="1">
                <a:defRPr sz="1800">
                  <a:latin typeface="+mn-lt"/>
                  <a:ea typeface="+mn-ea"/>
                </a:defRPr>
              </a:lvl4pPr>
              <a:lvl5pPr defTabSz="914400" eaLnBrk="1" latinLnBrk="0" hangingPunct="1">
                <a:defRPr sz="1800">
                  <a:latin typeface="+mn-lt"/>
                  <a:ea typeface="+mn-ea"/>
                </a:defRPr>
              </a:lvl5pPr>
              <a:lvl6pPr>
                <a:defRPr sz="1800">
                  <a:latin typeface="+mn-lt"/>
                  <a:ea typeface="+mn-ea"/>
                </a:defRPr>
              </a:lvl6pPr>
              <a:lvl7pPr>
                <a:defRPr sz="1800">
                  <a:latin typeface="+mn-lt"/>
                  <a:ea typeface="+mn-ea"/>
                </a:defRPr>
              </a:lvl7pPr>
              <a:lvl8pPr>
                <a:defRPr sz="1800">
                  <a:latin typeface="+mn-lt"/>
                  <a:ea typeface="+mn-ea"/>
                </a:defRPr>
              </a:lvl8pPr>
              <a:lvl9pPr>
                <a:defRPr sz="1800">
                  <a:latin typeface="+mn-lt"/>
                  <a:ea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reflection blurRad="6350" stA="55000" endA="300" endPos="45500" dir="5400000" sy="-100000" algn="bl" rotWithShape="0"/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经典繁仿黑" pitchFamily="49" charset="-122"/>
                </a:rPr>
                <a:t>布衣公子作品</a:t>
              </a:r>
              <a:endPara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经典繁仿黑" pitchFamily="49" charset="-122"/>
              </a:endParaRPr>
            </a:p>
          </p:txBody>
        </p:sp>
        <p:pic>
          <p:nvPicPr>
            <p:cNvPr id="2064" name="Picture 9" descr="E:\仝德志文件，勿删！\03-参考文档\！PPT图片及版面资源\06-PPT精选插图\05-头像\嘿嘿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538" y="6254444"/>
              <a:ext cx="495514" cy="49551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3" name="TextBox 2"/>
          <p:cNvSpPr txBox="1"/>
          <p:nvPr userDrawn="1"/>
        </p:nvSpPr>
        <p:spPr>
          <a:xfrm>
            <a:off x="767408" y="404664"/>
            <a:ext cx="1944216" cy="523220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uLnTx/>
                <a:uFillTx/>
                <a:latin typeface="Broadway" pitchFamily="82" charset="0"/>
                <a:ea typeface="楷体" panose="02010609060101010101" pitchFamily="49" charset="-122"/>
                <a:cs typeface="经典繁仿黑" pitchFamily="49" charset="-122"/>
              </a:rPr>
              <a:t>LOGO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uLnTx/>
              <a:uFillTx/>
              <a:latin typeface="Broadway" pitchFamily="82" charset="0"/>
              <a:ea typeface="楷体" panose="02010609060101010101" pitchFamily="49" charset="-122"/>
              <a:cs typeface="经典繁仿黑" pitchFamily="49" charset="-122"/>
            </a:endParaRPr>
          </a:p>
        </p:txBody>
      </p:sp>
      <p:sp>
        <p:nvSpPr>
          <p:cNvPr id="14" name="TextBox 3"/>
          <p:cNvSpPr txBox="1">
            <a:spLocks noChangeArrowheads="1"/>
          </p:cNvSpPr>
          <p:nvPr userDrawn="1"/>
        </p:nvSpPr>
        <p:spPr bwMode="auto">
          <a:xfrm>
            <a:off x="5267325" y="3375025"/>
            <a:ext cx="64246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简明薪酬设计 </a:t>
            </a:r>
            <a:endParaRPr kumimoji="0" lang="zh-CN" altLang="en-US" sz="7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962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11"/>
          <p:cNvSpPr txBox="1">
            <a:spLocks noChangeArrowheads="1"/>
          </p:cNvSpPr>
          <p:nvPr userDrawn="1"/>
        </p:nvSpPr>
        <p:spPr bwMode="auto">
          <a:xfrm>
            <a:off x="6383159" y="5471361"/>
            <a:ext cx="5602605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WPS</a:t>
            </a:r>
            <a:r>
              <a:rPr kumimoji="0" lang="zh-CN" altLang="en-US" sz="5400" b="0" i="0" u="none" strike="noStrike" kern="1200" cap="none" spc="0" normalizeH="0" baseline="0" noProof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</a:t>
            </a:r>
            <a:endParaRPr kumimoji="0" lang="en-US" altLang="zh-CN" sz="5400" b="0" i="0" u="none" strike="noStrike" kern="1200" cap="none" spc="0" normalizeH="0" baseline="0" noProof="0" dirty="0" smtClean="0">
              <a:ln w="9525">
                <a:solidFill>
                  <a:schemeClr val="bg1"/>
                </a:solidFill>
                <a:prstDash val="solid"/>
              </a:ln>
              <a:solidFill>
                <a:srgbClr val="FFC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7084378" y="903234"/>
            <a:ext cx="477266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职称计算机培训</a:t>
            </a:r>
            <a:r>
              <a:rPr kumimoji="0" lang="en-US" altLang="zh-CN" sz="4000" b="0" i="0" u="none" strike="noStrike" kern="1200" cap="none" spc="0" normalizeH="0" baseline="0" noProof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2019</a:t>
            </a:r>
            <a:endParaRPr kumimoji="0" lang="zh-CN" altLang="en-US" sz="4000" b="0" i="0" u="none" strike="noStrike" kern="1200" cap="none" spc="0" normalizeH="0" baseline="0" noProof="0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7"/>
          <p:cNvSpPr>
            <a:spLocks noChangeArrowheads="1"/>
          </p:cNvSpPr>
          <p:nvPr userDrawn="1"/>
        </p:nvSpPr>
        <p:spPr bwMode="auto">
          <a:xfrm>
            <a:off x="9043174" y="4948141"/>
            <a:ext cx="294259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150" normalizeH="0" baseline="0" noProof="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  <a:sym typeface="Arial Unicode MS" pitchFamily="34" charset="-122"/>
              </a:rPr>
              <a:t>吴娟</a:t>
            </a:r>
            <a:endParaRPr kumimoji="0" lang="zh-CN" altLang="en-US" sz="2800" b="1" i="0" u="none" strike="noStrike" kern="1200" cap="none" spc="150" normalizeH="0" baseline="0" noProof="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  <a:sym typeface="Arial Unicode MS" pitchFamily="34" charset="-122"/>
            </a:endParaRPr>
          </a:p>
        </p:txBody>
      </p:sp>
      <p:grpSp>
        <p:nvGrpSpPr>
          <p:cNvPr id="4" name="组合 17"/>
          <p:cNvGrpSpPr/>
          <p:nvPr userDrawn="1"/>
        </p:nvGrpSpPr>
        <p:grpSpPr>
          <a:xfrm>
            <a:off x="5110004" y="1589273"/>
            <a:ext cx="2297113" cy="2620963"/>
            <a:chOff x="12623" y="3463"/>
            <a:chExt cx="3618" cy="4126"/>
          </a:xfrm>
        </p:grpSpPr>
        <p:sp>
          <p:nvSpPr>
            <p:cNvPr id="21" name="文本框 2"/>
            <p:cNvSpPr/>
            <p:nvPr userDrawn="1"/>
          </p:nvSpPr>
          <p:spPr>
            <a:xfrm>
              <a:off x="12623" y="3463"/>
              <a:ext cx="1961" cy="41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>
              <a:lvl1pPr marL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6600" b="1" dirty="0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sym typeface="Arial Unicode MS" pitchFamily="34" charset="-122"/>
                </a:rPr>
                <a:t>W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4"/>
            <p:cNvSpPr/>
            <p:nvPr userDrawn="1"/>
          </p:nvSpPr>
          <p:spPr>
            <a:xfrm>
              <a:off x="14353" y="5893"/>
              <a:ext cx="1888" cy="1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>
              <a:lvl1pPr marL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000"/>
                </a:lnSpc>
              </a:pPr>
              <a:r>
                <a:rPr lang="zh-CN" altLang="en-US" sz="4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文字</a:t>
              </a:r>
              <a:endPara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9" name="文本框 2"/>
          <p:cNvSpPr/>
          <p:nvPr userDrawn="1"/>
        </p:nvSpPr>
        <p:spPr>
          <a:xfrm>
            <a:off x="566579" y="433573"/>
            <a:ext cx="3368675" cy="2620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sym typeface="Arial Unicode MS" pitchFamily="34" charset="-122"/>
              </a:rPr>
              <a:t>WPS</a:t>
            </a:r>
            <a:endParaRPr lang="zh-CN" altLang="en-US" sz="16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sym typeface="Arial Unicode MS" pitchFamily="34" charset="-122"/>
            </a:endParaRPr>
          </a:p>
        </p:txBody>
      </p:sp>
      <p:sp>
        <p:nvSpPr>
          <p:cNvPr id="20" name="文本框 2"/>
          <p:cNvSpPr/>
          <p:nvPr userDrawn="1"/>
        </p:nvSpPr>
        <p:spPr>
          <a:xfrm>
            <a:off x="3797142" y="2316348"/>
            <a:ext cx="1497013" cy="1006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1" fontAlgn="base" hangingPunct="1"/>
            <a:r>
              <a:rPr lang="zh-CN" altLang="en-US" sz="6000" strike="noStrike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之</a:t>
            </a:r>
            <a:endParaRPr lang="zh-CN" altLang="en-US" sz="6000" strike="noStrike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8129" name="Picture 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8" y="609600"/>
            <a:ext cx="1077383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0167" y="1981200"/>
            <a:ext cx="103632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10167" y="4114800"/>
            <a:ext cx="10363200" cy="198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620251" y="6442075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0167" y="6365875"/>
            <a:ext cx="5689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599084" y="6148388"/>
            <a:ext cx="2540000" cy="381000"/>
          </a:xfrm>
        </p:spPr>
        <p:txBody>
          <a:bodyPr/>
          <a:lstStyle>
            <a:lvl2pPr lvl="1">
              <a:defRPr/>
            </a:lvl2pPr>
          </a:lstStyle>
          <a:p>
            <a:pPr lvl="1"/>
            <a:fld id="{4E5000F5-B2AE-4149-A17A-29B788F8AFD2}" type="slidenum">
              <a:rPr lang="en-US" altLang="zh-CN"/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77" y="1122368"/>
            <a:ext cx="9146264" cy="238761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377" y="3602053"/>
            <a:ext cx="9146264" cy="1655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895577-7B83-41EA-A560-73D95DDAF7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314" y="1600207"/>
            <a:ext cx="8231638" cy="4526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497309F-54E4-4A4E-AD8B-8E8BB221BC1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56" y="1709745"/>
            <a:ext cx="10518203" cy="285274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056" y="4589483"/>
            <a:ext cx="10518203" cy="15001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A29165-5F52-422A-AD4A-16E7F430185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408" y="1825633"/>
            <a:ext cx="5182883" cy="4351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29" y="1825633"/>
            <a:ext cx="5182883" cy="4351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19CBDDD-C73A-4262-9587-2686180401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365127"/>
            <a:ext cx="10518203" cy="1325569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96" y="1681170"/>
            <a:ext cx="5159064" cy="82391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96" y="2505086"/>
            <a:ext cx="5159064" cy="36846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729" y="1681170"/>
            <a:ext cx="5184472" cy="82391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729" y="2505086"/>
            <a:ext cx="5184472" cy="36846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2B0547-9989-474A-9B34-57651C7E404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8B8B77-8ABF-4D09-B900-A3502CF73F7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AED5DE-926A-4B8E-B016-3A64CE1A83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457202"/>
            <a:ext cx="3933211" cy="160020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472" y="987429"/>
            <a:ext cx="6173729" cy="487364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96" y="2057409"/>
            <a:ext cx="3933211" cy="3811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FB08B8-55DE-4188-A8CD-CCF019052A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96" y="457202"/>
            <a:ext cx="3933211" cy="160020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472" y="987429"/>
            <a:ext cx="6173729" cy="4873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96" y="2057409"/>
            <a:ext cx="3933211" cy="38116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E5E1AD-640B-47F0-9FC0-564051DB18A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14" y="274956"/>
            <a:ext cx="8231638" cy="114300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314" y="1600207"/>
            <a:ext cx="8231638" cy="45263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AAE3DC-0790-46D8-B86B-48A7B8447C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7061" y="365127"/>
            <a:ext cx="2629551" cy="581186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408" y="365127"/>
            <a:ext cx="7736216" cy="58118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9E3C1B-1B98-46DD-AC50-2BBDE96024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5" Type="http://schemas.openxmlformats.org/officeDocument/2006/relationships/theme" Target="../theme/theme3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 userDrawn="1"/>
        </p:nvPicPr>
        <p:blipFill>
          <a:blip r:embed="rId12" cstate="print"/>
          <a:srcRect t="46021"/>
          <a:stretch>
            <a:fillRect/>
          </a:stretch>
        </p:blipFill>
        <p:spPr bwMode="auto">
          <a:xfrm>
            <a:off x="357188" y="0"/>
            <a:ext cx="152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图片 7"/>
          <p:cNvPicPr>
            <a:picLocks noChangeAspect="1" noChangeArrowheads="1"/>
          </p:cNvPicPr>
          <p:nvPr userDrawn="1"/>
        </p:nvPicPr>
        <p:blipFill>
          <a:blip r:embed="rId13" cstate="print"/>
          <a:srcRect t="43349"/>
          <a:stretch>
            <a:fillRect/>
          </a:stretch>
        </p:blipFill>
        <p:spPr bwMode="auto">
          <a:xfrm>
            <a:off x="357188" y="0"/>
            <a:ext cx="15240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矩形 10"/>
          <p:cNvSpPr>
            <a:spLocks noChangeArrowheads="1"/>
          </p:cNvSpPr>
          <p:nvPr userDrawn="1"/>
        </p:nvSpPr>
        <p:spPr bwMode="auto">
          <a:xfrm>
            <a:off x="0" y="6149975"/>
            <a:ext cx="12195175" cy="519113"/>
          </a:xfrm>
          <a:prstGeom prst="rect">
            <a:avLst/>
          </a:prstGeom>
          <a:solidFill>
            <a:srgbClr val="404040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zh-CN" altLang="zh-CN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29" name="矩形 11"/>
          <p:cNvSpPr>
            <a:spLocks noChangeArrowheads="1"/>
          </p:cNvSpPr>
          <p:nvPr userDrawn="1"/>
        </p:nvSpPr>
        <p:spPr bwMode="auto">
          <a:xfrm>
            <a:off x="0" y="6669088"/>
            <a:ext cx="12195175" cy="188912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zh-CN" altLang="zh-CN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1030" name="图片 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8488" y="0"/>
            <a:ext cx="1041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>
              <a:defRPr sz="18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00500" y="5507038"/>
            <a:ext cx="4117975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defRPr/>
            </a:pPr>
          </a:p>
        </p:txBody>
      </p:sp>
      <p:sp>
        <p:nvSpPr>
          <p:cNvPr id="103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775" y="6356350"/>
            <a:ext cx="27432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EC78072-E038-4804-89EC-F331DD53A49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xStyles>
    <p:titleStyle>
      <a:lvl1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4572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9144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13716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18288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4350" lvl="1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857250" lvl="2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200150" lvl="3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1543050" lvl="4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 noChangeArrowheads="1"/>
          </p:cNvPicPr>
          <p:nvPr/>
        </p:nvPicPr>
        <p:blipFill>
          <a:blip r:embed="rId14" cstate="print"/>
          <a:srcRect t="46021"/>
          <a:stretch>
            <a:fillRect/>
          </a:stretch>
        </p:blipFill>
        <p:spPr bwMode="auto">
          <a:xfrm>
            <a:off x="357188" y="0"/>
            <a:ext cx="152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图片 7"/>
          <p:cNvPicPr>
            <a:picLocks noChangeAspect="1" noChangeArrowheads="1"/>
          </p:cNvPicPr>
          <p:nvPr/>
        </p:nvPicPr>
        <p:blipFill>
          <a:blip r:embed="rId15" cstate="print"/>
          <a:srcRect t="43349"/>
          <a:stretch>
            <a:fillRect/>
          </a:stretch>
        </p:blipFill>
        <p:spPr bwMode="auto">
          <a:xfrm>
            <a:off x="357188" y="0"/>
            <a:ext cx="15240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矩形 10"/>
          <p:cNvSpPr>
            <a:spLocks noChangeArrowheads="1"/>
          </p:cNvSpPr>
          <p:nvPr/>
        </p:nvSpPr>
        <p:spPr bwMode="auto">
          <a:xfrm>
            <a:off x="0" y="6149975"/>
            <a:ext cx="12195175" cy="519113"/>
          </a:xfrm>
          <a:prstGeom prst="rect">
            <a:avLst/>
          </a:prstGeom>
          <a:solidFill>
            <a:srgbClr val="404040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zh-CN" altLang="zh-CN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53" name="矩形 11"/>
          <p:cNvSpPr>
            <a:spLocks noChangeArrowheads="1"/>
          </p:cNvSpPr>
          <p:nvPr/>
        </p:nvSpPr>
        <p:spPr bwMode="auto">
          <a:xfrm>
            <a:off x="0" y="6669088"/>
            <a:ext cx="12195175" cy="188912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zh-CN" altLang="zh-CN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054" name="图片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98488" y="0"/>
            <a:ext cx="1041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0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5638800"/>
            <a:ext cx="4117975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defRPr/>
            </a:pPr>
          </a:p>
        </p:txBody>
      </p:sp>
      <p:sp>
        <p:nvSpPr>
          <p:cNvPr id="206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3775" y="6356350"/>
            <a:ext cx="27432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8FB03949-FB1E-4DC0-A02D-A3FF613C62F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xStyles>
    <p:titleStyle>
      <a:lvl1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4572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9144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13716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18288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4350" lvl="1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857250" lvl="2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200150" lvl="3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1543050" lvl="4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 noChangeArrowheads="1"/>
          </p:cNvPicPr>
          <p:nvPr/>
        </p:nvPicPr>
        <p:blipFill>
          <a:blip r:embed="rId12" cstate="print"/>
          <a:srcRect t="46021"/>
          <a:stretch>
            <a:fillRect/>
          </a:stretch>
        </p:blipFill>
        <p:spPr bwMode="auto">
          <a:xfrm>
            <a:off x="357188" y="0"/>
            <a:ext cx="1524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图片 7"/>
          <p:cNvPicPr>
            <a:picLocks noChangeAspect="1" noChangeArrowheads="1"/>
          </p:cNvPicPr>
          <p:nvPr/>
        </p:nvPicPr>
        <p:blipFill>
          <a:blip r:embed="rId13" cstate="print"/>
          <a:srcRect t="43349"/>
          <a:stretch>
            <a:fillRect/>
          </a:stretch>
        </p:blipFill>
        <p:spPr bwMode="auto">
          <a:xfrm>
            <a:off x="357188" y="0"/>
            <a:ext cx="15240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矩形 10"/>
          <p:cNvSpPr>
            <a:spLocks noChangeArrowheads="1"/>
          </p:cNvSpPr>
          <p:nvPr/>
        </p:nvSpPr>
        <p:spPr bwMode="auto">
          <a:xfrm>
            <a:off x="0" y="6149975"/>
            <a:ext cx="12195175" cy="519113"/>
          </a:xfrm>
          <a:prstGeom prst="rect">
            <a:avLst/>
          </a:prstGeom>
          <a:solidFill>
            <a:srgbClr val="404040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zh-CN" altLang="zh-CN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77" name="矩形 11"/>
          <p:cNvSpPr>
            <a:spLocks noChangeArrowheads="1"/>
          </p:cNvSpPr>
          <p:nvPr/>
        </p:nvSpPr>
        <p:spPr bwMode="auto">
          <a:xfrm>
            <a:off x="0" y="6669088"/>
            <a:ext cx="12195175" cy="188912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zh-CN" altLang="zh-CN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3078" name="图片 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8488" y="0"/>
            <a:ext cx="1041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0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5638800"/>
            <a:ext cx="4117975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t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defRPr/>
            </a:pPr>
          </a:p>
        </p:txBody>
      </p:sp>
      <p:sp>
        <p:nvSpPr>
          <p:cNvPr id="206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3775" y="6356350"/>
            <a:ext cx="2743200" cy="365125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2CE3B41-C6C3-4A8B-B31F-62AF808ED70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xStyles>
    <p:titleStyle>
      <a:lvl1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4572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9144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13716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1828800" algn="l" defTabSz="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4350" lvl="1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857250" lvl="2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200150" lvl="3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1543050" lvl="4" indent="-171450" algn="l" defTabSz="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0" eaLnBrk="1" fontAlgn="base" latinLnBrk="0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4.png"/><Relationship Id="rId1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0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49.png"/><Relationship Id="rId1" Type="http://schemas.openxmlformats.org/officeDocument/2006/relationships/oleObject" Target="../embeddings/oleObject3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2.png"/><Relationship Id="rId3" Type="http://schemas.openxmlformats.org/officeDocument/2006/relationships/oleObject" Target="../embeddings/oleObject6.bin"/><Relationship Id="rId2" Type="http://schemas.openxmlformats.org/officeDocument/2006/relationships/image" Target="../media/image51.png"/><Relationship Id="rId1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3.png"/><Relationship Id="rId1" Type="http://schemas.openxmlformats.org/officeDocument/2006/relationships/oleObject" Target="../embeddings/oleObject7.bin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5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6.png"/><Relationship Id="rId1" Type="http://schemas.openxmlformats.org/officeDocument/2006/relationships/oleObject" Target="../embeddings/oleObject9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2.png"/><Relationship Id="rId2" Type="http://schemas.openxmlformats.org/officeDocument/2006/relationships/oleObject" Target="../embeddings/oleObject10.bin"/><Relationship Id="rId1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73.png"/><Relationship Id="rId4" Type="http://schemas.openxmlformats.org/officeDocument/2006/relationships/oleObject" Target="../embeddings/oleObject12.bin"/><Relationship Id="rId3" Type="http://schemas.openxmlformats.org/officeDocument/2006/relationships/image" Target="../media/image72.png"/><Relationship Id="rId2" Type="http://schemas.openxmlformats.org/officeDocument/2006/relationships/oleObject" Target="../embeddings/oleObject11.bin"/><Relationship Id="rId1" Type="http://schemas.openxmlformats.org/officeDocument/2006/relationships/image" Target="../media/image7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2.png"/><Relationship Id="rId1" Type="http://schemas.openxmlformats.org/officeDocument/2006/relationships/oleObject" Target="../embeddings/oleObject13.bin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3.png"/><Relationship Id="rId1" Type="http://schemas.openxmlformats.org/officeDocument/2006/relationships/oleObject" Target="../embeddings/oleObject14.bin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85.png"/><Relationship Id="rId3" Type="http://schemas.openxmlformats.org/officeDocument/2006/relationships/oleObject" Target="../embeddings/oleObject16.bin"/><Relationship Id="rId2" Type="http://schemas.openxmlformats.org/officeDocument/2006/relationships/image" Target="../media/image84.png"/><Relationship Id="rId1" Type="http://schemas.openxmlformats.org/officeDocument/2006/relationships/oleObject" Target="../embeddings/oleObject15.bin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6.png"/><Relationship Id="rId1" Type="http://schemas.openxmlformats.org/officeDocument/2006/relationships/oleObject" Target="../embeddings/oleObject17.bin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6.png"/><Relationship Id="rId1" Type="http://schemas.openxmlformats.org/officeDocument/2006/relationships/oleObject" Target="../embeddings/oleObject18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4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5.png"/><Relationship Id="rId1" Type="http://schemas.openxmlformats.org/officeDocument/2006/relationships/oleObject" Target="../embeddings/oleObject19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8.png"/><Relationship Id="rId2" Type="http://schemas.openxmlformats.org/officeDocument/2006/relationships/oleObject" Target="../embeddings/oleObject20.bin"/><Relationship Id="rId1" Type="http://schemas.openxmlformats.org/officeDocument/2006/relationships/image" Target="../media/image106.pn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10.png"/><Relationship Id="rId3" Type="http://schemas.openxmlformats.org/officeDocument/2006/relationships/oleObject" Target="../embeddings/oleObject22.bin"/><Relationship Id="rId2" Type="http://schemas.openxmlformats.org/officeDocument/2006/relationships/image" Target="../media/image109.png"/><Relationship Id="rId1" Type="http://schemas.openxmlformats.org/officeDocument/2006/relationships/oleObject" Target="../embeddings/oleObject21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8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oleObject" Target="../embeddings/oleObject23.bin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3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6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7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文本框 7"/>
          <p:cNvSpPr txBox="1">
            <a:spLocks noChangeArrowheads="1"/>
          </p:cNvSpPr>
          <p:nvPr/>
        </p:nvSpPr>
        <p:spPr bwMode="auto">
          <a:xfrm>
            <a:off x="1139825" y="1325563"/>
            <a:ext cx="5338763" cy="2149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选择</a:t>
            </a:r>
            <a:r>
              <a:rPr lang="en-US" altLang="zh-CN"/>
              <a:t>wps</a:t>
            </a:r>
            <a:r>
              <a:rPr lang="zh-CN" altLang="en-US"/>
              <a:t>的理由：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1</a:t>
            </a:r>
            <a:r>
              <a:rPr lang="zh-CN" altLang="en-US"/>
              <a:t>、不输于微软</a:t>
            </a:r>
            <a:r>
              <a:rPr lang="en-US" altLang="zh-CN"/>
              <a:t>office</a:t>
            </a:r>
            <a:r>
              <a:rPr lang="zh-CN" altLang="en-US"/>
              <a:t>的强大功能，操作简单；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2</a:t>
            </a:r>
            <a:r>
              <a:rPr lang="zh-CN" altLang="en-US"/>
              <a:t>、正版、个人版永久免费；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3</a:t>
            </a:r>
            <a:r>
              <a:rPr lang="zh-CN" altLang="en-US"/>
              <a:t>、兼容微软</a:t>
            </a:r>
            <a:r>
              <a:rPr lang="en-US" altLang="zh-CN"/>
              <a:t>office2003</a:t>
            </a:r>
            <a:r>
              <a:rPr lang="zh-CN" altLang="en-US"/>
              <a:t>和</a:t>
            </a:r>
            <a:r>
              <a:rPr lang="en-US" altLang="zh-CN"/>
              <a:t>2007</a:t>
            </a:r>
            <a:r>
              <a:rPr lang="zh-CN" altLang="en-US"/>
              <a:t>文件格式；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4</a:t>
            </a:r>
            <a:r>
              <a:rPr lang="zh-CN" altLang="en-US"/>
              <a:t>、安装文件包小，繁琐的插件少，硬盘占用量少；</a:t>
            </a:r>
            <a:endParaRPr lang="zh-CN" altLang="en-US"/>
          </a:p>
        </p:txBody>
      </p:sp>
      <p:sp>
        <p:nvSpPr>
          <p:cNvPr id="41986" name="文本框 4"/>
          <p:cNvSpPr txBox="1">
            <a:spLocks noChangeArrowheads="1"/>
          </p:cNvSpPr>
          <p:nvPr/>
        </p:nvSpPr>
        <p:spPr bwMode="auto">
          <a:xfrm>
            <a:off x="1243013" y="736600"/>
            <a:ext cx="1201737" cy="679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987" name="图片 6" descr="无标题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42250" y="3817938"/>
            <a:ext cx="2754313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988" name="组合 3"/>
          <p:cNvGrpSpPr/>
          <p:nvPr/>
        </p:nvGrpSpPr>
        <p:grpSpPr bwMode="auto">
          <a:xfrm>
            <a:off x="1243013" y="3509963"/>
            <a:ext cx="3197225" cy="1138237"/>
            <a:chOff x="1891" y="5592"/>
            <a:chExt cx="5034" cy="1794"/>
          </a:xfrm>
        </p:grpSpPr>
        <p:pic>
          <p:nvPicPr>
            <p:cNvPr id="41989" name="图片 1"/>
            <p:cNvPicPr>
              <a:picLocks noChangeAspect="1" noChangeArrowheads="1"/>
            </p:cNvPicPr>
            <p:nvPr/>
          </p:nvPicPr>
          <p:blipFill>
            <a:blip r:embed="rId2" cstate="print"/>
            <a:srcRect r="21178" b="-7666"/>
            <a:stretch>
              <a:fillRect/>
            </a:stretch>
          </p:blipFill>
          <p:spPr bwMode="auto">
            <a:xfrm>
              <a:off x="1891" y="5592"/>
              <a:ext cx="5035" cy="9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90" name="图片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91" y="6562"/>
              <a:ext cx="4992" cy="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1991" name="图片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5750" y="620713"/>
            <a:ext cx="4395788" cy="195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2" name="灯片编号占位符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FF5B4B4-42E0-4AAD-9D9A-EAE12DC9744C}" type="slidenum">
              <a:rPr lang="zh-CN" altLang="en-US"/>
            </a:fld>
            <a:endParaRPr lang="zh-CN" altLang="en-US"/>
          </a:p>
        </p:txBody>
      </p:sp>
      <p:sp>
        <p:nvSpPr>
          <p:cNvPr id="6" name="椭圆形标注 5"/>
          <p:cNvSpPr/>
          <p:nvPr/>
        </p:nvSpPr>
        <p:spPr>
          <a:xfrm>
            <a:off x="9569450" y="2797175"/>
            <a:ext cx="1371600" cy="9144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41994" name="文本框 6"/>
          <p:cNvSpPr txBox="1">
            <a:spLocks noChangeArrowheads="1"/>
          </p:cNvSpPr>
          <p:nvPr/>
        </p:nvSpPr>
        <p:spPr bwMode="auto">
          <a:xfrm>
            <a:off x="9717088" y="3071813"/>
            <a:ext cx="1103312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安全风险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" name="椭圆形标注 7"/>
          <p:cNvSpPr/>
          <p:nvPr/>
        </p:nvSpPr>
        <p:spPr>
          <a:xfrm flipH="1">
            <a:off x="6754813" y="2971800"/>
            <a:ext cx="1436687" cy="9144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41996" name="文本框 9"/>
          <p:cNvSpPr txBox="1">
            <a:spLocks noChangeArrowheads="1"/>
          </p:cNvSpPr>
          <p:nvPr/>
        </p:nvSpPr>
        <p:spPr bwMode="auto">
          <a:xfrm>
            <a:off x="6810375" y="3246438"/>
            <a:ext cx="132556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侵犯著作权</a:t>
            </a:r>
            <a:endParaRPr lang="zh-CN" altLang="en-US"/>
          </a:p>
        </p:txBody>
      </p:sp>
      <p:sp>
        <p:nvSpPr>
          <p:cNvPr id="11" name="椭圆形标注 10"/>
          <p:cNvSpPr/>
          <p:nvPr/>
        </p:nvSpPr>
        <p:spPr>
          <a:xfrm flipH="1" flipV="1">
            <a:off x="6635750" y="5094288"/>
            <a:ext cx="1436688" cy="8636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41998" name="文本框 11"/>
          <p:cNvSpPr txBox="1">
            <a:spLocks noChangeArrowheads="1"/>
          </p:cNvSpPr>
          <p:nvPr/>
        </p:nvSpPr>
        <p:spPr bwMode="auto">
          <a:xfrm>
            <a:off x="6691313" y="5343525"/>
            <a:ext cx="1325562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无售后服务</a:t>
            </a:r>
            <a:endParaRPr lang="zh-CN" altLang="en-US"/>
          </a:p>
        </p:txBody>
      </p:sp>
      <p:sp>
        <p:nvSpPr>
          <p:cNvPr id="13" name="椭圆形标注 12"/>
          <p:cNvSpPr/>
          <p:nvPr/>
        </p:nvSpPr>
        <p:spPr>
          <a:xfrm flipV="1">
            <a:off x="9717088" y="5094288"/>
            <a:ext cx="1423987" cy="863600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42000" name="文本框 13"/>
          <p:cNvSpPr txBox="1">
            <a:spLocks noChangeArrowheads="1"/>
          </p:cNvSpPr>
          <p:nvPr/>
        </p:nvSpPr>
        <p:spPr bwMode="auto">
          <a:xfrm>
            <a:off x="9652000" y="5343525"/>
            <a:ext cx="155575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不良社会风气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6145"/>
          <p:cNvSpPr>
            <a:spLocks noGrp="1" noChangeArrowheads="1"/>
          </p:cNvSpPr>
          <p:nvPr>
            <p:ph type="title"/>
          </p:nvPr>
        </p:nvSpPr>
        <p:spPr bwMode="auto">
          <a:xfrm>
            <a:off x="1157288" y="512763"/>
            <a:ext cx="7772400" cy="1889125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>
              <a:lnSpc>
                <a:spcPct val="150000"/>
              </a:lnSpc>
            </a:pP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WPS Office</a:t>
            </a: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dirty="0" smtClean="0">
                <a:latin typeface="宋体" panose="02010600030101010101" pitchFamily="2" charset="-122"/>
                <a:sym typeface="Arial" panose="020B0604020202020204" pitchFamily="34" charset="0"/>
              </a:rPr>
              <a:t> </a:t>
            </a:r>
            <a:br>
              <a:rPr lang="en-US" altLang="zh-CN" sz="2400" b="1" dirty="0" smtClean="0">
                <a:latin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与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MS Office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对比</a:t>
            </a:r>
            <a:br>
              <a:rPr lang="zh-CN" altLang="en-US" sz="2400" b="1" dirty="0" smtClean="0">
                <a:latin typeface="宋体" panose="02010600030101010101" pitchFamily="2" charset="-122"/>
                <a:sym typeface="Arial" panose="020B0604020202020204" pitchFamily="34" charset="0"/>
              </a:rPr>
            </a:br>
            <a:endParaRPr lang="zh-CN" altLang="en-US" sz="2400" b="1" dirty="0" smtClean="0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4505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2D8EF8C-F09C-4E2F-B5A6-F47E81D1504F}" type="slidenum">
              <a:rPr lang="zh-CN" altLang="en-US"/>
            </a:fld>
            <a:endParaRPr lang="zh-CN" altLang="en-US"/>
          </a:p>
        </p:txBody>
      </p:sp>
      <p:grpSp>
        <p:nvGrpSpPr>
          <p:cNvPr id="45059" name="组合 1"/>
          <p:cNvGrpSpPr/>
          <p:nvPr/>
        </p:nvGrpSpPr>
        <p:grpSpPr bwMode="auto">
          <a:xfrm>
            <a:off x="3892550" y="1258888"/>
            <a:ext cx="7777163" cy="2820987"/>
            <a:chOff x="3214" y="4649"/>
            <a:chExt cx="12249" cy="4444"/>
          </a:xfrm>
        </p:grpSpPr>
        <p:pic>
          <p:nvPicPr>
            <p:cNvPr id="45060" name="Picture 5"/>
            <p:cNvPicPr>
              <a:picLocks noChangeAspect="1" noChangeArrowheads="1"/>
            </p:cNvPicPr>
            <p:nvPr/>
          </p:nvPicPr>
          <p:blipFill>
            <a:blip r:embed="rId1" cstate="print"/>
            <a:srcRect l="6400" t="9142" r="9142" b="6807"/>
            <a:stretch>
              <a:fillRect/>
            </a:stretch>
          </p:blipFill>
          <p:spPr bwMode="auto">
            <a:xfrm>
              <a:off x="14329" y="4784"/>
              <a:ext cx="1135" cy="1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1" name="Picture 12"/>
            <p:cNvPicPr>
              <a:picLocks noChangeAspect="1" noChangeArrowheads="1"/>
            </p:cNvPicPr>
            <p:nvPr/>
          </p:nvPicPr>
          <p:blipFill>
            <a:blip r:embed="rId2" cstate="print"/>
            <a:srcRect l="7018" t="11024" r="6197" b="8931"/>
            <a:stretch>
              <a:fillRect/>
            </a:stretch>
          </p:blipFill>
          <p:spPr bwMode="auto">
            <a:xfrm>
              <a:off x="14329" y="6144"/>
              <a:ext cx="1135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2" name="Picture 6" descr="wpp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26" y="6032"/>
              <a:ext cx="1280" cy="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3" name="Picture 7" descr="wps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214" y="4649"/>
              <a:ext cx="1472" cy="1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4" name="Picture 8" descr="et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26" y="7619"/>
              <a:ext cx="1323" cy="1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65" name="Line 9"/>
            <p:cNvSpPr>
              <a:spLocks noChangeShapeType="1"/>
            </p:cNvSpPr>
            <p:nvPr/>
          </p:nvSpPr>
          <p:spPr bwMode="auto">
            <a:xfrm>
              <a:off x="7584" y="5397"/>
              <a:ext cx="3315" cy="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5066" name="Text Box 6"/>
            <p:cNvSpPr>
              <a:spLocks noChangeArrowheads="1"/>
            </p:cNvSpPr>
            <p:nvPr/>
          </p:nvSpPr>
          <p:spPr bwMode="auto">
            <a:xfrm>
              <a:off x="4549" y="5012"/>
              <a:ext cx="2367" cy="7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000099"/>
                  </a:solidFill>
                  <a:latin typeface="华文细黑" pitchFamily="2" charset="-122"/>
                  <a:ea typeface="华文细黑" pitchFamily="2" charset="-122"/>
                  <a:sym typeface="华文细黑" pitchFamily="2" charset="-122"/>
                </a:rPr>
                <a:t>WPS文字</a:t>
              </a:r>
              <a:endParaRPr lang="zh-CN" altLang="en-US"/>
            </a:p>
          </p:txBody>
        </p:sp>
        <p:sp>
          <p:nvSpPr>
            <p:cNvPr id="45067" name="Text Box 6"/>
            <p:cNvSpPr>
              <a:spLocks noChangeArrowheads="1"/>
            </p:cNvSpPr>
            <p:nvPr/>
          </p:nvSpPr>
          <p:spPr bwMode="auto">
            <a:xfrm>
              <a:off x="4574" y="6444"/>
              <a:ext cx="2367" cy="7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FF6600"/>
                  </a:solidFill>
                  <a:latin typeface="华文细黑" pitchFamily="2" charset="-122"/>
                  <a:ea typeface="华文细黑" pitchFamily="2" charset="-122"/>
                  <a:sym typeface="华文细黑" pitchFamily="2" charset="-122"/>
                </a:rPr>
                <a:t>WPS演示</a:t>
              </a:r>
              <a:endParaRPr lang="zh-CN" altLang="en-US"/>
            </a:p>
          </p:txBody>
        </p:sp>
        <p:sp>
          <p:nvSpPr>
            <p:cNvPr id="45068" name="Text Box 6"/>
            <p:cNvSpPr>
              <a:spLocks noChangeArrowheads="1"/>
            </p:cNvSpPr>
            <p:nvPr/>
          </p:nvSpPr>
          <p:spPr bwMode="auto">
            <a:xfrm>
              <a:off x="4574" y="7919"/>
              <a:ext cx="2367" cy="7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solidFill>
                    <a:srgbClr val="00FF00"/>
                  </a:solidFill>
                  <a:latin typeface="华文细黑" pitchFamily="2" charset="-122"/>
                  <a:ea typeface="华文细黑" pitchFamily="2" charset="-122"/>
                  <a:sym typeface="华文细黑" pitchFamily="2" charset="-122"/>
                </a:rPr>
                <a:t>WPS表格</a:t>
              </a:r>
              <a:endParaRPr lang="zh-CN" altLang="en-US"/>
            </a:p>
          </p:txBody>
        </p:sp>
        <p:sp>
          <p:nvSpPr>
            <p:cNvPr id="45069" name="Text Box 6"/>
            <p:cNvSpPr>
              <a:spLocks noChangeArrowheads="1"/>
            </p:cNvSpPr>
            <p:nvPr/>
          </p:nvSpPr>
          <p:spPr bwMode="auto">
            <a:xfrm>
              <a:off x="11991" y="4897"/>
              <a:ext cx="1420" cy="8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000099"/>
                  </a:solidFill>
                  <a:latin typeface="黑体" panose="02010609060101010101" charset="-122"/>
                  <a:ea typeface="黑体" panose="02010609060101010101" charset="-122"/>
                  <a:sym typeface="黑体" panose="02010609060101010101" charset="-122"/>
                </a:rPr>
                <a:t>Word</a:t>
              </a:r>
              <a:endParaRPr lang="zh-CN" altLang="en-US"/>
            </a:p>
          </p:txBody>
        </p:sp>
        <p:pic>
          <p:nvPicPr>
            <p:cNvPr id="45070" name="Picture 17"/>
            <p:cNvPicPr>
              <a:picLocks noChangeAspect="1" noChangeArrowheads="1"/>
            </p:cNvPicPr>
            <p:nvPr/>
          </p:nvPicPr>
          <p:blipFill>
            <a:blip r:embed="rId6" cstate="print"/>
            <a:srcRect l="11687" t="9592" r="9592" b="5733"/>
            <a:stretch>
              <a:fillRect/>
            </a:stretch>
          </p:blipFill>
          <p:spPr bwMode="auto">
            <a:xfrm>
              <a:off x="14329" y="7619"/>
              <a:ext cx="1135" cy="1133"/>
            </a:xfrm>
            <a:prstGeom prst="rect">
              <a:avLst/>
            </a:prstGeom>
            <a:noFill/>
            <a:ln w="19050">
              <a:solidFill>
                <a:srgbClr val="006600"/>
              </a:solidFill>
              <a:miter lim="800000"/>
              <a:headEnd/>
              <a:tailEnd/>
            </a:ln>
          </p:spPr>
        </p:pic>
        <p:sp>
          <p:nvSpPr>
            <p:cNvPr id="45071" name="Text Box 6"/>
            <p:cNvSpPr>
              <a:spLocks noChangeArrowheads="1"/>
            </p:cNvSpPr>
            <p:nvPr/>
          </p:nvSpPr>
          <p:spPr bwMode="auto">
            <a:xfrm>
              <a:off x="11199" y="6329"/>
              <a:ext cx="3117" cy="8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FF6600"/>
                  </a:solidFill>
                  <a:latin typeface="黑体" panose="02010609060101010101" charset="-122"/>
                  <a:ea typeface="黑体" panose="02010609060101010101" charset="-122"/>
                  <a:sym typeface="黑体" panose="02010609060101010101" charset="-122"/>
                </a:rPr>
                <a:t>Powerpoint</a:t>
              </a:r>
              <a:endParaRPr lang="zh-CN" altLang="en-US"/>
            </a:p>
          </p:txBody>
        </p:sp>
        <p:sp>
          <p:nvSpPr>
            <p:cNvPr id="45072" name="Text Box 6"/>
            <p:cNvSpPr>
              <a:spLocks noChangeArrowheads="1"/>
            </p:cNvSpPr>
            <p:nvPr/>
          </p:nvSpPr>
          <p:spPr bwMode="auto">
            <a:xfrm>
              <a:off x="11859" y="7804"/>
              <a:ext cx="1702" cy="8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solidFill>
                    <a:srgbClr val="00FF00"/>
                  </a:solidFill>
                  <a:latin typeface="黑体" panose="02010609060101010101" charset="-122"/>
                  <a:ea typeface="黑体" panose="02010609060101010101" charset="-122"/>
                  <a:sym typeface="黑体" panose="02010609060101010101" charset="-122"/>
                </a:rPr>
                <a:t>Excel</a:t>
              </a:r>
              <a:endParaRPr lang="zh-CN" altLang="en-US"/>
            </a:p>
          </p:txBody>
        </p:sp>
        <p:sp>
          <p:nvSpPr>
            <p:cNvPr id="45073" name="Line 17"/>
            <p:cNvSpPr>
              <a:spLocks noChangeShapeType="1"/>
            </p:cNvSpPr>
            <p:nvPr/>
          </p:nvSpPr>
          <p:spPr bwMode="auto">
            <a:xfrm>
              <a:off x="7584" y="6824"/>
              <a:ext cx="3315" cy="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45074" name="Line 18"/>
            <p:cNvSpPr>
              <a:spLocks noChangeShapeType="1"/>
            </p:cNvSpPr>
            <p:nvPr/>
          </p:nvSpPr>
          <p:spPr bwMode="auto">
            <a:xfrm>
              <a:off x="7584" y="8302"/>
              <a:ext cx="3315" cy="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</p:grpSp>
      <p:sp>
        <p:nvSpPr>
          <p:cNvPr id="45075" name="文本框 2"/>
          <p:cNvSpPr>
            <a:spLocks noChangeArrowheads="1"/>
          </p:cNvSpPr>
          <p:nvPr/>
        </p:nvSpPr>
        <p:spPr bwMode="auto">
          <a:xfrm>
            <a:off x="1157288" y="4081463"/>
            <a:ext cx="3113087" cy="496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文件格式的兼容性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076" name="TextBox 12"/>
          <p:cNvSpPr>
            <a:spLocks noChangeArrowheads="1"/>
          </p:cNvSpPr>
          <p:nvPr/>
        </p:nvSpPr>
        <p:spPr bwMode="auto">
          <a:xfrm>
            <a:off x="1416050" y="4652963"/>
            <a:ext cx="3784600" cy="1006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000">
                <a:latin typeface="Calibri" panose="020F0502020204030204" pitchFamily="34" charset="0"/>
                <a:ea typeface="微软雅黑" panose="020B0503020204020204" pitchFamily="34" charset="-122"/>
              </a:rPr>
              <a:t>双向兼容、历史数据无缝转换</a:t>
            </a:r>
            <a:endParaRPr lang="zh-CN" altLang="en-US" sz="20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三大组件对应关系</a:t>
            </a:r>
            <a:endParaRPr lang="zh-CN" altLang="en-US" sz="200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1" name="表格 7170"/>
          <p:cNvGraphicFramePr/>
          <p:nvPr/>
        </p:nvGraphicFramePr>
        <p:xfrm>
          <a:off x="1884363" y="1235075"/>
          <a:ext cx="8424545" cy="4114800"/>
        </p:xfrm>
        <a:graphic>
          <a:graphicData uri="http://schemas.openxmlformats.org/drawingml/2006/table">
            <a:tbl>
              <a:tblPr/>
              <a:tblGrid>
                <a:gridCol w="1976755"/>
                <a:gridCol w="3006090"/>
                <a:gridCol w="3441700"/>
              </a:tblGrid>
              <a:tr h="1028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软件格式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功能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 w="3175" cap="rnd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WPS Office</a:t>
                      </a: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文件格式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MS Office</a:t>
                      </a: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文件格式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1027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表格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WPS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表格文件*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.et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WPS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表格模板文件*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.ett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（也包含微软格式）</a:t>
                      </a:r>
                      <a:endParaRPr lang="zh-CN" altLang="en-US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Excel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表格文件*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.xls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Excel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表格文件*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.xls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x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Excel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表格模板文件*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.xlt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1028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文字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WPS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文字文件*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.wps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WPS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文字模板文件*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.wpt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（也包含微软格式）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Word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文字文件*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.doc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Word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文字文件*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.doc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x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Word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文字模板文件*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.dot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10302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演示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WPS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演示文件*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.dps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WPS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演示模板文件*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.dpt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（也包含微软格式）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黑体" panose="02010609060101010101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PowerPoint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演示文件*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.ppt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PowerPoint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演示文件*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sym typeface="+mn-ea"/>
                        </a:rPr>
                        <a:t>.pptx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PowerPoint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演示模板文件*</a:t>
                      </a:r>
                      <a:r>
                        <a:rPr lang="en-US" altLang="x-none" sz="18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.pot</a:t>
                      </a:r>
                      <a:endParaRPr lang="en-US" altLang="x-none" sz="18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 anchorCtr="1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6104" name="文本框 3"/>
          <p:cNvSpPr txBox="1">
            <a:spLocks noChangeArrowheads="1"/>
          </p:cNvSpPr>
          <p:nvPr/>
        </p:nvSpPr>
        <p:spPr bwMode="auto">
          <a:xfrm>
            <a:off x="1620838" y="595313"/>
            <a:ext cx="3914775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sym typeface="Arial" panose="020B0604020202020204" pitchFamily="34" charset="0"/>
              </a:rPr>
              <a:t>文</a:t>
            </a:r>
            <a:r>
              <a:rPr lang="zh-CN" altLang="en-US" sz="2400" b="1" dirty="0">
                <a:latin typeface="宋体" panose="02010600030101010101" pitchFamily="2" charset="-122"/>
                <a:sym typeface="Arial" panose="020B0604020202020204" pitchFamily="34" charset="0"/>
              </a:rPr>
              <a:t>件的格式及建立方式</a:t>
            </a:r>
            <a:endParaRPr lang="zh-CN" altLang="en-US" sz="2400" dirty="0"/>
          </a:p>
        </p:txBody>
      </p:sp>
      <p:sp>
        <p:nvSpPr>
          <p:cNvPr id="46105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DFBE2CF-E91D-4D21-909E-5EF85F9CF7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文本框 1"/>
          <p:cNvSpPr txBox="1">
            <a:spLocks noChangeArrowheads="1"/>
          </p:cNvSpPr>
          <p:nvPr/>
        </p:nvSpPr>
        <p:spPr bwMode="auto">
          <a:xfrm>
            <a:off x="357188" y="1041400"/>
            <a:ext cx="2747962" cy="420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en-US"/>
              <a:t>office 20</a:t>
            </a:r>
            <a:r>
              <a:rPr lang="en-US" altLang="zh-CN"/>
              <a:t>03</a:t>
            </a:r>
            <a:r>
              <a:rPr lang="zh-CN" altLang="en-US"/>
              <a:t>和</a:t>
            </a:r>
            <a:r>
              <a:rPr lang="en-US" altLang="en-US"/>
              <a:t>office 20</a:t>
            </a:r>
            <a:r>
              <a:rPr lang="en-US" altLang="zh-CN"/>
              <a:t>07</a:t>
            </a:r>
            <a:endParaRPr lang="en-US" altLang="zh-CN"/>
          </a:p>
          <a:p>
            <a:r>
              <a:rPr lang="zh-CN" altLang="en-US"/>
              <a:t>的格式存在兼容性问题，</a:t>
            </a:r>
            <a:endParaRPr lang="zh-CN" altLang="en-US"/>
          </a:p>
          <a:p>
            <a:r>
              <a:rPr lang="zh-CN" altLang="en-US"/>
              <a:t>要解决这个问题，只需要</a:t>
            </a:r>
            <a:endParaRPr lang="zh-CN" altLang="en-US"/>
          </a:p>
          <a:p>
            <a:r>
              <a:rPr lang="zh-CN" altLang="en-US"/>
              <a:t>打开现有文件，进行另存</a:t>
            </a:r>
            <a:endParaRPr lang="zh-CN" altLang="en-US"/>
          </a:p>
          <a:p>
            <a:r>
              <a:rPr lang="zh-CN" altLang="en-US"/>
              <a:t>为即可解决。</a:t>
            </a:r>
            <a:endParaRPr lang="zh-CN" altLang="en-US"/>
          </a:p>
          <a:p>
            <a:r>
              <a:rPr lang="zh-CN" altLang="en-US"/>
              <a:t>例如：</a:t>
            </a:r>
            <a:r>
              <a:rPr lang="en-US" altLang="zh-CN"/>
              <a:t>03</a:t>
            </a:r>
            <a:r>
              <a:rPr lang="zh-CN" altLang="en-US"/>
              <a:t>格式不兼容</a:t>
            </a:r>
            <a:r>
              <a:rPr lang="en-US" altLang="zh-CN"/>
              <a:t>07</a:t>
            </a:r>
            <a:r>
              <a:rPr lang="zh-CN" altLang="en-US"/>
              <a:t>格</a:t>
            </a:r>
            <a:endParaRPr lang="zh-CN" altLang="en-US"/>
          </a:p>
          <a:p>
            <a:r>
              <a:rPr lang="zh-CN" altLang="en-US"/>
              <a:t>式，这时就可以将</a:t>
            </a:r>
            <a:r>
              <a:rPr lang="en-US" altLang="zh-CN"/>
              <a:t>03</a:t>
            </a:r>
            <a:r>
              <a:rPr lang="zh-CN" altLang="en-US"/>
              <a:t>格式</a:t>
            </a:r>
            <a:endParaRPr lang="zh-CN" altLang="en-US"/>
          </a:p>
          <a:p>
            <a:r>
              <a:rPr lang="zh-CN" altLang="en-US"/>
              <a:t>另存为</a:t>
            </a:r>
            <a:r>
              <a:rPr lang="en-US" altLang="zh-CN"/>
              <a:t>07</a:t>
            </a:r>
            <a:r>
              <a:rPr lang="zh-CN" altLang="en-US"/>
              <a:t>格式，再打开使</a:t>
            </a:r>
            <a:endParaRPr lang="zh-CN" altLang="en-US"/>
          </a:p>
          <a:p>
            <a:r>
              <a:rPr lang="zh-CN" altLang="en-US"/>
              <a:t>用。</a:t>
            </a:r>
            <a:endParaRPr lang="zh-CN" altLang="en-US"/>
          </a:p>
          <a:p>
            <a:r>
              <a:rPr lang="en-US" altLang="zh-CN"/>
              <a:t>07</a:t>
            </a:r>
            <a:r>
              <a:rPr lang="zh-CN" altLang="en-US"/>
              <a:t>格式无法用</a:t>
            </a:r>
            <a:r>
              <a:rPr lang="en-US" altLang="zh-CN"/>
              <a:t>03</a:t>
            </a:r>
            <a:r>
              <a:rPr lang="zh-CN" altLang="en-US"/>
              <a:t>的软件打</a:t>
            </a:r>
            <a:endParaRPr lang="zh-CN" altLang="en-US"/>
          </a:p>
          <a:p>
            <a:r>
              <a:rPr lang="zh-CN" altLang="en-US"/>
              <a:t>开，但是</a:t>
            </a:r>
            <a:r>
              <a:rPr lang="en-US" altLang="zh-CN"/>
              <a:t>03</a:t>
            </a:r>
            <a:r>
              <a:rPr lang="zh-CN" altLang="en-US"/>
              <a:t>格式可以在</a:t>
            </a:r>
            <a:r>
              <a:rPr lang="en-US" altLang="zh-CN"/>
              <a:t>07</a:t>
            </a:r>
            <a:endParaRPr lang="en-US" altLang="zh-CN"/>
          </a:p>
          <a:p>
            <a:r>
              <a:rPr lang="zh-CN" altLang="en-US"/>
              <a:t>的软件中打开。</a:t>
            </a:r>
            <a:endParaRPr lang="zh-CN" altLang="en-US"/>
          </a:p>
          <a:p>
            <a:r>
              <a:rPr lang="en-US" altLang="zh-CN"/>
              <a:t>wps</a:t>
            </a:r>
            <a:r>
              <a:rPr lang="zh-CN" altLang="en-US"/>
              <a:t>则不存在这个格式兼</a:t>
            </a:r>
            <a:endParaRPr lang="zh-CN" altLang="en-US"/>
          </a:p>
          <a:p>
            <a:r>
              <a:rPr lang="zh-CN" altLang="en-US"/>
              <a:t>容的情况。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7106" name="灯片编号占位符 2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72D83B9-88D1-4436-831E-37F83791FD97}" type="slidenum">
              <a:rPr lang="zh-CN" altLang="en-US"/>
            </a:fld>
            <a:endParaRPr lang="zh-CN" altLang="en-US"/>
          </a:p>
        </p:txBody>
      </p:sp>
      <p:pic>
        <p:nvPicPr>
          <p:cNvPr id="47107" name="图片 2"/>
          <p:cNvPicPr>
            <a:picLocks noChangeAspect="1" noChangeArrowheads="1"/>
          </p:cNvPicPr>
          <p:nvPr/>
        </p:nvPicPr>
        <p:blipFill>
          <a:blip r:embed="rId1" cstate="print"/>
          <a:srcRect t="29761"/>
          <a:stretch>
            <a:fillRect/>
          </a:stretch>
        </p:blipFill>
        <p:spPr bwMode="auto">
          <a:xfrm>
            <a:off x="3376613" y="1889125"/>
            <a:ext cx="8599487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图片 3"/>
          <p:cNvPicPr>
            <a:picLocks noChangeAspect="1" noChangeArrowheads="1"/>
          </p:cNvPicPr>
          <p:nvPr/>
        </p:nvPicPr>
        <p:blipFill>
          <a:blip r:embed="rId2" cstate="print"/>
          <a:srcRect t="32150"/>
          <a:stretch>
            <a:fillRect/>
          </a:stretch>
        </p:blipFill>
        <p:spPr bwMode="auto">
          <a:xfrm>
            <a:off x="3105150" y="219075"/>
            <a:ext cx="8553450" cy="414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2"/>
          <p:cNvSpPr>
            <a:spLocks noChangeArrowheads="1"/>
          </p:cNvSpPr>
          <p:nvPr/>
        </p:nvSpPr>
        <p:spPr bwMode="auto">
          <a:xfrm>
            <a:off x="501650" y="1354138"/>
            <a:ext cx="2925763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细节上的差异</a:t>
            </a:r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48130" name="直接连接符 3"/>
          <p:cNvSpPr>
            <a:spLocks noChangeShapeType="1"/>
          </p:cNvSpPr>
          <p:nvPr/>
        </p:nvSpPr>
        <p:spPr bwMode="auto">
          <a:xfrm>
            <a:off x="525463" y="1863725"/>
            <a:ext cx="4337050" cy="0"/>
          </a:xfrm>
          <a:prstGeom prst="line">
            <a:avLst/>
          </a:prstGeom>
          <a:noFill/>
          <a:ln w="6350">
            <a:solidFill>
              <a:srgbClr val="6C0000">
                <a:alpha val="50980"/>
              </a:srgbClr>
            </a:solidFill>
            <a:miter lim="800000"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48131" name="TextBox 12"/>
          <p:cNvSpPr>
            <a:spLocks noChangeArrowheads="1"/>
          </p:cNvSpPr>
          <p:nvPr/>
        </p:nvSpPr>
        <p:spPr bwMode="auto">
          <a:xfrm>
            <a:off x="501650" y="1936750"/>
            <a:ext cx="4921250" cy="2011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点击相应对象，突出显示该对象设置区域</a:t>
            </a: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298" name="Picture 7" descr="特色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27425" y="884238"/>
            <a:ext cx="1157288" cy="97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3200" y="1071563"/>
            <a:ext cx="574198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4" name="文本框 4"/>
          <p:cNvSpPr txBox="1">
            <a:spLocks noChangeArrowheads="1"/>
          </p:cNvSpPr>
          <p:nvPr/>
        </p:nvSpPr>
        <p:spPr bwMode="auto">
          <a:xfrm>
            <a:off x="7202488" y="2170113"/>
            <a:ext cx="12319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/>
              <a:t>office2003</a:t>
            </a:r>
            <a:endParaRPr lang="en-US" altLang="zh-CN"/>
          </a:p>
        </p:txBody>
      </p:sp>
      <p:sp>
        <p:nvSpPr>
          <p:cNvPr id="48135" name="文本框 5"/>
          <p:cNvSpPr txBox="1">
            <a:spLocks noChangeArrowheads="1"/>
          </p:cNvSpPr>
          <p:nvPr/>
        </p:nvSpPr>
        <p:spPr bwMode="auto">
          <a:xfrm>
            <a:off x="7213600" y="5778500"/>
            <a:ext cx="12319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/>
              <a:t>office2007</a:t>
            </a:r>
            <a:endParaRPr lang="en-US" altLang="zh-CN"/>
          </a:p>
        </p:txBody>
      </p:sp>
      <p:sp>
        <p:nvSpPr>
          <p:cNvPr id="48136" name="文本框 6"/>
          <p:cNvSpPr txBox="1">
            <a:spLocks noChangeArrowheads="1"/>
          </p:cNvSpPr>
          <p:nvPr/>
        </p:nvSpPr>
        <p:spPr bwMode="auto">
          <a:xfrm>
            <a:off x="7213600" y="3867150"/>
            <a:ext cx="121126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/>
              <a:t>WPS2016</a:t>
            </a:r>
            <a:endParaRPr lang="en-US" altLang="zh-CN"/>
          </a:p>
        </p:txBody>
      </p:sp>
      <p:sp>
        <p:nvSpPr>
          <p:cNvPr id="48137" name="灯片编号占位符 2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8CD612F-8030-438B-9898-08DED90C0F55}" type="slidenum">
              <a:rPr lang="zh-CN" altLang="en-US"/>
            </a:fld>
            <a:endParaRPr lang="zh-CN" altLang="en-US"/>
          </a:p>
        </p:txBody>
      </p:sp>
      <p:pic>
        <p:nvPicPr>
          <p:cNvPr id="48138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87700" y="4343400"/>
            <a:ext cx="8720138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9" name="图片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87700" y="2724150"/>
            <a:ext cx="78374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2513" y="2640013"/>
            <a:ext cx="7115175" cy="327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文本框 2"/>
          <p:cNvSpPr>
            <a:spLocks noChangeArrowheads="1"/>
          </p:cNvSpPr>
          <p:nvPr/>
        </p:nvSpPr>
        <p:spPr bwMode="auto">
          <a:xfrm>
            <a:off x="501650" y="1354138"/>
            <a:ext cx="4438650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文件管理---定时备份</a:t>
            </a:r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50178" name="直接连接符 3"/>
          <p:cNvSpPr>
            <a:spLocks noChangeShapeType="1"/>
          </p:cNvSpPr>
          <p:nvPr/>
        </p:nvSpPr>
        <p:spPr bwMode="auto">
          <a:xfrm>
            <a:off x="525463" y="1863725"/>
            <a:ext cx="4337050" cy="0"/>
          </a:xfrm>
          <a:prstGeom prst="line">
            <a:avLst/>
          </a:prstGeom>
          <a:noFill/>
          <a:ln w="6350">
            <a:solidFill>
              <a:srgbClr val="6C0000">
                <a:alpha val="50980"/>
              </a:srgbClr>
            </a:solidFill>
            <a:miter lim="800000"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61443" name="TextBox 12"/>
          <p:cNvSpPr/>
          <p:nvPr/>
        </p:nvSpPr>
        <p:spPr>
          <a:xfrm>
            <a:off x="501650" y="1936750"/>
            <a:ext cx="4921250" cy="2651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 noProof="1">
                <a:latin typeface="Calibri" panose="020F0502020204030204" pitchFamily="34" charset="0"/>
                <a:ea typeface="微软雅黑" panose="020B0503020204020204" pitchFamily="34" charset="-122"/>
                <a:cs typeface="+mn-ea"/>
              </a:rPr>
              <a:t>自动调整备份</a:t>
            </a:r>
            <a:endParaRPr lang="zh-CN" altLang="en-US" sz="2800" noProof="1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Calibri" panose="020F0502020204030204" pitchFamily="34" charset="0"/>
                <a:ea typeface="微软雅黑" panose="020B0503020204020204" pitchFamily="34" charset="-122"/>
                <a:cs typeface="+mn-ea"/>
              </a:rPr>
              <a:t>时间间隔</a:t>
            </a:r>
            <a:endParaRPr lang="zh-CN" altLang="en-US" sz="2800" noProof="1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 noProof="1">
                <a:latin typeface="Calibri" panose="020F0502020204030204" pitchFamily="34" charset="0"/>
                <a:ea typeface="微软雅黑" panose="020B0503020204020204" pitchFamily="34" charset="-122"/>
                <a:cs typeface="+mn-ea"/>
              </a:rPr>
              <a:t>工具--&gt; 选项--&gt;</a:t>
            </a:r>
            <a:endParaRPr lang="zh-CN" altLang="en-US" sz="2800" noProof="1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Calibri" panose="020F0502020204030204" pitchFamily="34" charset="0"/>
                <a:ea typeface="微软雅黑" panose="020B0503020204020204" pitchFamily="34" charset="-122"/>
                <a:cs typeface="+mn-ea"/>
              </a:rPr>
              <a:t>常规和保存</a:t>
            </a:r>
            <a:endParaRPr lang="zh-CN" altLang="en-US" noProof="1"/>
          </a:p>
        </p:txBody>
      </p:sp>
      <p:pic>
        <p:nvPicPr>
          <p:cNvPr id="50180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743575" y="996950"/>
            <a:ext cx="6151563" cy="49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8" name="Picture 7" descr="特色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9025" y="374650"/>
            <a:ext cx="1157288" cy="97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2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95650" y="1860550"/>
            <a:ext cx="2436813" cy="405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7A5EB0E-BBA7-4317-9E82-8C9D963C591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文本框 2"/>
          <p:cNvSpPr>
            <a:spLocks noChangeArrowheads="1"/>
          </p:cNvSpPr>
          <p:nvPr/>
        </p:nvSpPr>
        <p:spPr bwMode="auto">
          <a:xfrm>
            <a:off x="501650" y="1354138"/>
            <a:ext cx="5353050" cy="106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文件管理---临时备份位置</a:t>
            </a: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2226" name="直接连接符 3"/>
          <p:cNvSpPr>
            <a:spLocks noChangeShapeType="1"/>
          </p:cNvSpPr>
          <p:nvPr/>
        </p:nvSpPr>
        <p:spPr bwMode="auto">
          <a:xfrm>
            <a:off x="525463" y="1863725"/>
            <a:ext cx="4337050" cy="0"/>
          </a:xfrm>
          <a:prstGeom prst="line">
            <a:avLst/>
          </a:prstGeom>
          <a:noFill/>
          <a:ln w="6350">
            <a:solidFill>
              <a:srgbClr val="6C0000">
                <a:alpha val="50980"/>
              </a:srgbClr>
            </a:solidFill>
            <a:miter lim="800000"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52227" name="TextBox 12"/>
          <p:cNvSpPr>
            <a:spLocks noChangeArrowheads="1"/>
          </p:cNvSpPr>
          <p:nvPr/>
        </p:nvSpPr>
        <p:spPr bwMode="auto">
          <a:xfrm>
            <a:off x="501650" y="1936750"/>
            <a:ext cx="4360863" cy="3292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工具</a:t>
            </a: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--&gt;备份与恢复</a:t>
            </a:r>
            <a:endParaRPr lang="en-US" altLang="en-US" sz="2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备份管理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数据恢复（自选，需安装数据恢复软件）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2228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940425" y="574675"/>
            <a:ext cx="2673350" cy="507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8" name="Picture 7" descr="特色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06388"/>
            <a:ext cx="1157288" cy="97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0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A883701-DF55-4B78-BBAE-7FB57ABDDA8E}" type="slidenum">
              <a:rPr lang="zh-CN" altLang="en-US"/>
            </a:fld>
            <a:endParaRPr lang="zh-CN" altLang="en-US"/>
          </a:p>
        </p:txBody>
      </p:sp>
      <p:pic>
        <p:nvPicPr>
          <p:cNvPr id="52231" name="图片 1"/>
          <p:cNvPicPr>
            <a:picLocks noChangeAspect="1" noChangeArrowheads="1"/>
          </p:cNvPicPr>
          <p:nvPr/>
        </p:nvPicPr>
        <p:blipFill>
          <a:blip r:embed="rId3" cstate="print"/>
          <a:srcRect l="17923"/>
          <a:stretch>
            <a:fillRect/>
          </a:stretch>
        </p:blipFill>
        <p:spPr bwMode="auto">
          <a:xfrm>
            <a:off x="8843963" y="1285875"/>
            <a:ext cx="228282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2" name="文本框 2"/>
          <p:cNvSpPr txBox="1">
            <a:spLocks noChangeArrowheads="1"/>
          </p:cNvSpPr>
          <p:nvPr/>
        </p:nvSpPr>
        <p:spPr bwMode="auto">
          <a:xfrm>
            <a:off x="9007475" y="3578225"/>
            <a:ext cx="2697163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备份功能自动生成的临时</a:t>
            </a:r>
            <a:endParaRPr lang="zh-CN" altLang="en-US"/>
          </a:p>
          <a:p>
            <a:r>
              <a:rPr lang="zh-CN" altLang="en-US"/>
              <a:t>文件，在文档完成后可以</a:t>
            </a:r>
            <a:endParaRPr lang="zh-CN" altLang="en-US"/>
          </a:p>
          <a:p>
            <a:r>
              <a:rPr lang="zh-CN" altLang="en-US"/>
              <a:t>直接删除。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文本框 2"/>
          <p:cNvSpPr>
            <a:spLocks noChangeArrowheads="1"/>
          </p:cNvSpPr>
          <p:nvPr/>
        </p:nvSpPr>
        <p:spPr bwMode="auto">
          <a:xfrm>
            <a:off x="501650" y="1354138"/>
            <a:ext cx="4910138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WPS全面支持生成PDF</a:t>
            </a:r>
            <a:endParaRPr lang="en-US" altLang="zh-CN">
              <a:latin typeface="Calibri" panose="020F0502020204030204" pitchFamily="34" charset="0"/>
            </a:endParaRPr>
          </a:p>
        </p:txBody>
      </p:sp>
      <p:cxnSp>
        <p:nvCxnSpPr>
          <p:cNvPr id="54274" name="AutoShape 3"/>
          <p:cNvCxnSpPr>
            <a:cxnSpLocks noChangeShapeType="1"/>
          </p:cNvCxnSpPr>
          <p:nvPr/>
        </p:nvCxnSpPr>
        <p:spPr bwMode="auto">
          <a:xfrm flipV="1">
            <a:off x="525463" y="1862138"/>
            <a:ext cx="5026025" cy="1587"/>
          </a:xfrm>
          <a:prstGeom prst="straightConnector1">
            <a:avLst/>
          </a:prstGeom>
          <a:noFill/>
          <a:ln w="6350">
            <a:solidFill>
              <a:srgbClr val="6C0000">
                <a:alpha val="50980"/>
              </a:srgbClr>
            </a:solidFill>
            <a:miter lim="800000"/>
          </a:ln>
        </p:spPr>
      </p:cxnSp>
      <p:sp>
        <p:nvSpPr>
          <p:cNvPr id="54275" name="TextBox 12"/>
          <p:cNvSpPr>
            <a:spLocks noChangeArrowheads="1"/>
          </p:cNvSpPr>
          <p:nvPr/>
        </p:nvSpPr>
        <p:spPr bwMode="auto">
          <a:xfrm>
            <a:off x="439738" y="1936750"/>
            <a:ext cx="4921250" cy="2011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快速的创建文档及文档间切换、移动变的更方便大大提高办公效率</a:t>
            </a:r>
            <a:endParaRPr lang="zh-CN" altLang="en-US"/>
          </a:p>
        </p:txBody>
      </p:sp>
      <p:pic>
        <p:nvPicPr>
          <p:cNvPr id="54276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39050" y="1417638"/>
            <a:ext cx="4411663" cy="464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8" name="Picture 7" descr="特色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56088" y="374650"/>
            <a:ext cx="1157287" cy="97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4367A5A6-89DA-4D00-AF76-1A353489833C}" type="slidenum">
              <a:rPr lang="zh-CN" altLang="en-US"/>
            </a:fld>
            <a:endParaRPr lang="zh-CN" altLang="en-US"/>
          </a:p>
        </p:txBody>
      </p:sp>
      <p:pic>
        <p:nvPicPr>
          <p:cNvPr id="54279" name="图片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52713" y="3509963"/>
            <a:ext cx="4913312" cy="254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0" name="图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4463" y="3509963"/>
            <a:ext cx="4911725" cy="254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文本框 2"/>
          <p:cNvSpPr>
            <a:spLocks noChangeArrowheads="1"/>
          </p:cNvSpPr>
          <p:nvPr/>
        </p:nvSpPr>
        <p:spPr bwMode="auto">
          <a:xfrm>
            <a:off x="501650" y="1354138"/>
            <a:ext cx="4910138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WPS全面支持生成PDF</a:t>
            </a:r>
            <a:endParaRPr lang="en-US" altLang="zh-CN">
              <a:latin typeface="Calibri" panose="020F0502020204030204" pitchFamily="34" charset="0"/>
            </a:endParaRPr>
          </a:p>
        </p:txBody>
      </p:sp>
      <p:cxnSp>
        <p:nvCxnSpPr>
          <p:cNvPr id="56322" name="AutoShape 3"/>
          <p:cNvCxnSpPr>
            <a:cxnSpLocks noChangeShapeType="1"/>
          </p:cNvCxnSpPr>
          <p:nvPr/>
        </p:nvCxnSpPr>
        <p:spPr bwMode="auto">
          <a:xfrm flipV="1">
            <a:off x="525463" y="1862138"/>
            <a:ext cx="5026025" cy="1587"/>
          </a:xfrm>
          <a:prstGeom prst="straightConnector1">
            <a:avLst/>
          </a:prstGeom>
          <a:noFill/>
          <a:ln w="6350">
            <a:solidFill>
              <a:srgbClr val="6C0000">
                <a:alpha val="50980"/>
              </a:srgbClr>
            </a:solidFill>
            <a:miter lim="800000"/>
          </a:ln>
        </p:spPr>
      </p:cxnSp>
      <p:sp>
        <p:nvSpPr>
          <p:cNvPr id="56323" name="TextBox 12"/>
          <p:cNvSpPr>
            <a:spLocks noChangeArrowheads="1"/>
          </p:cNvSpPr>
          <p:nvPr/>
        </p:nvSpPr>
        <p:spPr bwMode="auto">
          <a:xfrm>
            <a:off x="501650" y="1936750"/>
            <a:ext cx="4921250" cy="3932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在转化为PDF的过程中可实现基于密码的文件权限管理，并且可与Adobe Reader等PDF阅读软件实现兼容</a:t>
            </a:r>
            <a:endParaRPr lang="en-US" altLang="zh-CN" sz="28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298" name="Picture 7" descr="特色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7638" y="376238"/>
            <a:ext cx="1157287" cy="97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5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1463" y="265113"/>
            <a:ext cx="671353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6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F241674-6CE2-4D66-8954-DDAEE2CD332B}" type="slidenum">
              <a:rPr lang="zh-CN" altLang="en-US"/>
            </a:fld>
            <a:endParaRPr lang="zh-CN" altLang="en-US"/>
          </a:p>
        </p:txBody>
      </p:sp>
      <p:pic>
        <p:nvPicPr>
          <p:cNvPr id="56327" name="图片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48413" y="1936750"/>
            <a:ext cx="486727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69" name="组合 3"/>
          <p:cNvGrpSpPr/>
          <p:nvPr/>
        </p:nvGrpSpPr>
        <p:grpSpPr bwMode="auto">
          <a:xfrm>
            <a:off x="6934200" y="2117725"/>
            <a:ext cx="2297113" cy="2620963"/>
            <a:chOff x="12623" y="3463"/>
            <a:chExt cx="3618" cy="4126"/>
          </a:xfrm>
        </p:grpSpPr>
        <p:sp>
          <p:nvSpPr>
            <p:cNvPr id="58370" name="文本框 2"/>
            <p:cNvSpPr>
              <a:spLocks noChangeArrowheads="1"/>
            </p:cNvSpPr>
            <p:nvPr/>
          </p:nvSpPr>
          <p:spPr bwMode="auto">
            <a:xfrm>
              <a:off x="12623" y="3463"/>
              <a:ext cx="1961" cy="412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16600" b="1">
                  <a:solidFill>
                    <a:srgbClr val="C00000"/>
                  </a:solidFill>
                  <a:latin typeface="Arial Unicode MS" pitchFamily="34" charset="-122"/>
                  <a:ea typeface="Arial Unicode MS" pitchFamily="34" charset="-122"/>
                  <a:sym typeface="Arial Unicode MS" pitchFamily="34" charset="-122"/>
                </a:rPr>
                <a:t>W</a:t>
              </a:r>
              <a:endParaRPr lang="zh-CN" altLang="en-US"/>
            </a:p>
          </p:txBody>
        </p:sp>
        <p:sp>
          <p:nvSpPr>
            <p:cNvPr id="58371" name="文本框 4"/>
            <p:cNvSpPr>
              <a:spLocks noChangeArrowheads="1"/>
            </p:cNvSpPr>
            <p:nvPr/>
          </p:nvSpPr>
          <p:spPr bwMode="auto">
            <a:xfrm>
              <a:off x="14353" y="5893"/>
              <a:ext cx="1888" cy="1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4000" b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文字</a:t>
              </a:r>
              <a:endPara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58372" name="文本框 2"/>
          <p:cNvSpPr>
            <a:spLocks noChangeArrowheads="1"/>
          </p:cNvSpPr>
          <p:nvPr/>
        </p:nvSpPr>
        <p:spPr bwMode="auto">
          <a:xfrm>
            <a:off x="2390775" y="962025"/>
            <a:ext cx="3368675" cy="2620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16600" b="1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sym typeface="Arial Unicode MS" pitchFamily="34" charset="-122"/>
              </a:rPr>
              <a:t>WPS</a:t>
            </a:r>
            <a:endParaRPr lang="zh-CN" altLang="en-US" sz="16600" b="1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sym typeface="Arial Unicode MS" pitchFamily="34" charset="-122"/>
            </a:endParaRPr>
          </a:p>
        </p:txBody>
      </p:sp>
      <p:sp>
        <p:nvSpPr>
          <p:cNvPr id="2" name="文本框 2"/>
          <p:cNvSpPr/>
          <p:nvPr/>
        </p:nvSpPr>
        <p:spPr>
          <a:xfrm>
            <a:off x="5621338" y="2844800"/>
            <a:ext cx="1497012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60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</a:rPr>
              <a:t>之</a:t>
            </a:r>
            <a:endParaRPr lang="zh-CN" altLang="en-US" sz="6000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374" name="灯片编号占位符 2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314BD6F-A22B-49D7-B906-4A2E953D44FF}" type="slidenum">
              <a:rPr lang="zh-CN" altLang="en-US"/>
            </a:fld>
            <a:endParaRPr lang="zh-CN" altLang="en-US"/>
          </a:p>
        </p:txBody>
      </p:sp>
      <p:graphicFrame>
        <p:nvGraphicFramePr>
          <p:cNvPr id="3" name="对象 2"/>
          <p:cNvGraphicFramePr/>
          <p:nvPr/>
        </p:nvGraphicFramePr>
        <p:xfrm>
          <a:off x="3810" y="-8890"/>
          <a:ext cx="12189460" cy="689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5304790" imgH="10287000" progId="Paint.Picture">
                  <p:embed/>
                </p:oleObj>
              </mc:Choice>
              <mc:Fallback>
                <p:oleObj name="" r:id="rId1" imgW="5304790" imgH="1028700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" y="-8890"/>
                        <a:ext cx="12189460" cy="6893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921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68550" y="1216025"/>
            <a:ext cx="7307263" cy="442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标题 9218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981200" y="254000"/>
            <a:ext cx="7807325" cy="771525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b="1" smtClean="0"/>
              <a:t>wps </a:t>
            </a:r>
            <a:r>
              <a:rPr lang="zh-CN" altLang="en-US" b="1" smtClean="0"/>
              <a:t>文字的窗口界面</a:t>
            </a:r>
            <a:endParaRPr lang="zh-CN" altLang="en-US" b="1" smtClean="0"/>
          </a:p>
        </p:txBody>
      </p:sp>
      <p:sp>
        <p:nvSpPr>
          <p:cNvPr id="9220" name="线形标注 1 9219"/>
          <p:cNvSpPr/>
          <p:nvPr/>
        </p:nvSpPr>
        <p:spPr bwMode="auto">
          <a:xfrm>
            <a:off x="6616700" y="928688"/>
            <a:ext cx="914400" cy="320675"/>
          </a:xfrm>
          <a:prstGeom prst="borderCallout1">
            <a:avLst>
              <a:gd name="adj1" fmla="val 35574"/>
              <a:gd name="adj2" fmla="val -8333"/>
              <a:gd name="adj3" fmla="val 123718"/>
              <a:gd name="adj4" fmla="val -3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标题栏</a:t>
            </a:r>
            <a:endParaRPr lang="zh-CN" altLang="en-US" b="1"/>
          </a:p>
        </p:txBody>
      </p:sp>
      <p:sp>
        <p:nvSpPr>
          <p:cNvPr id="9221" name="线形标注 1 9220"/>
          <p:cNvSpPr/>
          <p:nvPr/>
        </p:nvSpPr>
        <p:spPr bwMode="auto">
          <a:xfrm>
            <a:off x="3592513" y="2224088"/>
            <a:ext cx="1439862" cy="320675"/>
          </a:xfrm>
          <a:prstGeom prst="borderCallout1">
            <a:avLst>
              <a:gd name="adj1" fmla="val 35574"/>
              <a:gd name="adj2" fmla="val -5292"/>
              <a:gd name="adj3" fmla="val -132213"/>
              <a:gd name="adj4" fmla="val -515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常用工具栏</a:t>
            </a:r>
            <a:endParaRPr lang="zh-CN" altLang="en-US" b="1"/>
          </a:p>
        </p:txBody>
      </p:sp>
      <p:sp>
        <p:nvSpPr>
          <p:cNvPr id="9222" name="线形标注 1 9221"/>
          <p:cNvSpPr/>
          <p:nvPr/>
        </p:nvSpPr>
        <p:spPr bwMode="auto">
          <a:xfrm>
            <a:off x="6256338" y="2079625"/>
            <a:ext cx="1008062" cy="322263"/>
          </a:xfrm>
          <a:prstGeom prst="borderCallout1">
            <a:avLst>
              <a:gd name="adj1" fmla="val 35574"/>
              <a:gd name="adj2" fmla="val -7556"/>
              <a:gd name="adj3" fmla="val -199208"/>
              <a:gd name="adj4" fmla="val -164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菜单栏</a:t>
            </a:r>
            <a:endParaRPr lang="zh-CN" altLang="en-US" b="1"/>
          </a:p>
        </p:txBody>
      </p:sp>
      <p:sp>
        <p:nvSpPr>
          <p:cNvPr id="9223" name="线形标注 1 9222"/>
          <p:cNvSpPr/>
          <p:nvPr/>
        </p:nvSpPr>
        <p:spPr bwMode="auto">
          <a:xfrm>
            <a:off x="4132263" y="2741613"/>
            <a:ext cx="1008062" cy="322262"/>
          </a:xfrm>
          <a:prstGeom prst="borderCallout1">
            <a:avLst>
              <a:gd name="adj1" fmla="val 35574"/>
              <a:gd name="adj2" fmla="val 107556"/>
              <a:gd name="adj3" fmla="val -172528"/>
              <a:gd name="adj4" fmla="val 1255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标尺</a:t>
            </a:r>
            <a:endParaRPr lang="zh-CN" altLang="en-US" b="1"/>
          </a:p>
        </p:txBody>
      </p:sp>
      <p:sp>
        <p:nvSpPr>
          <p:cNvPr id="9224" name="线形标注 1 9223"/>
          <p:cNvSpPr/>
          <p:nvPr/>
        </p:nvSpPr>
        <p:spPr bwMode="auto">
          <a:xfrm>
            <a:off x="7399338" y="3592513"/>
            <a:ext cx="1009650" cy="320675"/>
          </a:xfrm>
          <a:prstGeom prst="borderCallout1">
            <a:avLst>
              <a:gd name="adj1" fmla="val 35574"/>
              <a:gd name="adj2" fmla="val 107556"/>
              <a:gd name="adj3" fmla="val -159287"/>
              <a:gd name="adj4" fmla="val 1903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滚动条</a:t>
            </a:r>
            <a:endParaRPr lang="zh-CN" altLang="en-US" b="1"/>
          </a:p>
        </p:txBody>
      </p:sp>
      <p:sp>
        <p:nvSpPr>
          <p:cNvPr id="9225" name="线形标注 1 9224"/>
          <p:cNvSpPr/>
          <p:nvPr/>
        </p:nvSpPr>
        <p:spPr bwMode="auto">
          <a:xfrm>
            <a:off x="5824538" y="4240213"/>
            <a:ext cx="1008062" cy="320675"/>
          </a:xfrm>
          <a:prstGeom prst="borderCallout1">
            <a:avLst>
              <a:gd name="adj1" fmla="val 35574"/>
              <a:gd name="adj2" fmla="val -7556"/>
              <a:gd name="adj3" fmla="val -190514"/>
              <a:gd name="adj4" fmla="val -403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文本区</a:t>
            </a:r>
            <a:endParaRPr lang="zh-CN" altLang="en-US" b="1"/>
          </a:p>
        </p:txBody>
      </p:sp>
      <p:sp>
        <p:nvSpPr>
          <p:cNvPr id="9226" name="线形标注 1 9225"/>
          <p:cNvSpPr/>
          <p:nvPr/>
        </p:nvSpPr>
        <p:spPr bwMode="auto">
          <a:xfrm>
            <a:off x="6400800" y="4887913"/>
            <a:ext cx="1130300" cy="322262"/>
          </a:xfrm>
          <a:prstGeom prst="borderCallout1">
            <a:avLst>
              <a:gd name="adj1" fmla="val 35574"/>
              <a:gd name="adj2" fmla="val 106741"/>
              <a:gd name="adj3" fmla="val 176880"/>
              <a:gd name="adj4" fmla="val 1478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视图切换</a:t>
            </a:r>
            <a:endParaRPr lang="zh-CN" altLang="en-US" b="1"/>
          </a:p>
        </p:txBody>
      </p:sp>
      <p:sp>
        <p:nvSpPr>
          <p:cNvPr id="9227" name="线形标注 1 9226"/>
          <p:cNvSpPr/>
          <p:nvPr/>
        </p:nvSpPr>
        <p:spPr bwMode="auto">
          <a:xfrm>
            <a:off x="3663950" y="4960938"/>
            <a:ext cx="914400" cy="320675"/>
          </a:xfrm>
          <a:prstGeom prst="borderCallout1">
            <a:avLst>
              <a:gd name="adj1" fmla="val 35574"/>
              <a:gd name="adj2" fmla="val -8333"/>
              <a:gd name="adj3" fmla="val 167986"/>
              <a:gd name="adj4" fmla="val -4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状态栏</a:t>
            </a:r>
            <a:endParaRPr lang="zh-CN" altLang="en-US" b="1"/>
          </a:p>
        </p:txBody>
      </p:sp>
      <p:sp>
        <p:nvSpPr>
          <p:cNvPr id="9228" name="线形标注 1 9227"/>
          <p:cNvSpPr/>
          <p:nvPr/>
        </p:nvSpPr>
        <p:spPr bwMode="auto">
          <a:xfrm>
            <a:off x="7121525" y="4384675"/>
            <a:ext cx="1150938" cy="320675"/>
          </a:xfrm>
          <a:prstGeom prst="borderCallout1">
            <a:avLst>
              <a:gd name="adj1" fmla="val 35574"/>
              <a:gd name="adj2" fmla="val 106616"/>
              <a:gd name="adj3" fmla="val 331620"/>
              <a:gd name="adj4" fmla="val 170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显示比例</a:t>
            </a:r>
            <a:endParaRPr lang="zh-CN" altLang="en-US" b="1"/>
          </a:p>
        </p:txBody>
      </p:sp>
      <p:sp>
        <p:nvSpPr>
          <p:cNvPr id="6042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334AB4A-EC56-4CFF-A417-6AA6DD7B446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ldLvl="0" animBg="1"/>
      <p:bldP spid="9220" grpId="0" bldLvl="0" animBg="1"/>
      <p:bldP spid="9221" grpId="0" bldLvl="0" animBg="1"/>
      <p:bldP spid="9222" grpId="0" bldLvl="0" animBg="1"/>
      <p:bldP spid="9223" grpId="0" bldLvl="0" animBg="1"/>
      <p:bldP spid="9224" grpId="0" bldLvl="0" animBg="1"/>
      <p:bldP spid="9225" grpId="0" bldLvl="0" animBg="1"/>
      <p:bldP spid="9226" grpId="0" bldLvl="0" animBg="1"/>
      <p:bldP spid="9227" grpId="0" bldLvl="0" animBg="1"/>
      <p:bldP spid="922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89475" y="2871788"/>
            <a:ext cx="7175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2" name="图片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788" y="801688"/>
            <a:ext cx="11507787" cy="108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图片 1024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675" y="3489325"/>
            <a:ext cx="3408363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1957311" y="146050"/>
            <a:ext cx="1706892" cy="48323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2400" noProof="1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工具栏介绍</a:t>
            </a:r>
            <a:endParaRPr lang="zh-CN" altLang="en-US" sz="2400" noProof="1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45" name="文本框 6"/>
          <p:cNvSpPr txBox="1">
            <a:spLocks noChangeArrowheads="1"/>
          </p:cNvSpPr>
          <p:nvPr/>
        </p:nvSpPr>
        <p:spPr bwMode="auto">
          <a:xfrm>
            <a:off x="1743075" y="3005138"/>
            <a:ext cx="132556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/>
              <a:t>常用工具栏</a:t>
            </a:r>
            <a:endParaRPr lang="zh-CN" altLang="en-US"/>
          </a:p>
        </p:txBody>
      </p:sp>
      <p:grpSp>
        <p:nvGrpSpPr>
          <p:cNvPr id="61446" name="组合 13"/>
          <p:cNvGrpSpPr/>
          <p:nvPr/>
        </p:nvGrpSpPr>
        <p:grpSpPr bwMode="auto">
          <a:xfrm>
            <a:off x="452438" y="1204913"/>
            <a:ext cx="1090612" cy="1658937"/>
            <a:chOff x="595" y="2637"/>
            <a:chExt cx="1718" cy="2612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1493" y="3824"/>
              <a:ext cx="0" cy="142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95" y="2649"/>
              <a:ext cx="170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08" y="3717"/>
              <a:ext cx="17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00" y="2639"/>
              <a:ext cx="0" cy="108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303" y="2637"/>
              <a:ext cx="0" cy="108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452" name="线形标注 1 11269"/>
          <p:cNvSpPr/>
          <p:nvPr/>
        </p:nvSpPr>
        <p:spPr bwMode="auto">
          <a:xfrm>
            <a:off x="4832350" y="3824288"/>
            <a:ext cx="1266825" cy="584200"/>
          </a:xfrm>
          <a:prstGeom prst="borderCallout1">
            <a:avLst>
              <a:gd name="adj1" fmla="val 17611"/>
              <a:gd name="adj2" fmla="val 106616"/>
              <a:gd name="adj3" fmla="val -43861"/>
              <a:gd name="adj4" fmla="val 1123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删除线</a:t>
            </a:r>
            <a:endParaRPr lang="zh-CN" altLang="en-US" b="1"/>
          </a:p>
          <a:p>
            <a:pPr algn="ctr"/>
            <a:r>
              <a:rPr lang="zh-CN" altLang="en-US" b="1"/>
              <a:t>着重符号</a:t>
            </a:r>
            <a:endParaRPr lang="zh-CN" altLang="en-US" b="1"/>
          </a:p>
        </p:txBody>
      </p:sp>
      <p:sp>
        <p:nvSpPr>
          <p:cNvPr id="61453" name="线形标注 1 11270"/>
          <p:cNvSpPr/>
          <p:nvPr/>
        </p:nvSpPr>
        <p:spPr bwMode="auto">
          <a:xfrm>
            <a:off x="6904038" y="3630613"/>
            <a:ext cx="1147762" cy="288925"/>
          </a:xfrm>
          <a:prstGeom prst="borderCallout1">
            <a:avLst>
              <a:gd name="adj1" fmla="val 35574"/>
              <a:gd name="adj2" fmla="val -6880"/>
              <a:gd name="adj3" fmla="val -15139"/>
              <a:gd name="adj4" fmla="val -163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上、下标</a:t>
            </a:r>
            <a:endParaRPr lang="zh-CN" altLang="en-US" b="1"/>
          </a:p>
          <a:p>
            <a:pPr algn="ctr"/>
            <a:endParaRPr lang="zh-CN" altLang="en-US" b="1"/>
          </a:p>
        </p:txBody>
      </p:sp>
      <p:sp>
        <p:nvSpPr>
          <p:cNvPr id="61454" name="线形标注 1 11271"/>
          <p:cNvSpPr/>
          <p:nvPr/>
        </p:nvSpPr>
        <p:spPr bwMode="auto">
          <a:xfrm>
            <a:off x="6626225" y="4410075"/>
            <a:ext cx="1425575" cy="1100138"/>
          </a:xfrm>
          <a:prstGeom prst="borderCallout1">
            <a:avLst>
              <a:gd name="adj1" fmla="val 9338"/>
              <a:gd name="adj2" fmla="val 104810"/>
              <a:gd name="adj3" fmla="val -113727"/>
              <a:gd name="adj4" fmla="val 13431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拼音指南</a:t>
            </a:r>
            <a:endParaRPr lang="zh-CN" altLang="en-US" b="1"/>
          </a:p>
          <a:p>
            <a:pPr algn="ctr"/>
            <a:r>
              <a:rPr lang="zh-CN" altLang="en-US" b="1"/>
              <a:t>更改大小写</a:t>
            </a:r>
            <a:endParaRPr lang="zh-CN" altLang="en-US" b="1"/>
          </a:p>
          <a:p>
            <a:pPr algn="ctr"/>
            <a:r>
              <a:rPr lang="zh-CN" altLang="en-US" b="1"/>
              <a:t>带圈字符</a:t>
            </a:r>
            <a:endParaRPr lang="zh-CN" altLang="en-US" b="1"/>
          </a:p>
          <a:p>
            <a:pPr algn="ctr"/>
            <a:r>
              <a:rPr lang="zh-CN" altLang="en-US" b="1"/>
              <a:t>字符边框</a:t>
            </a:r>
            <a:endParaRPr lang="zh-CN" altLang="en-US" b="1"/>
          </a:p>
        </p:txBody>
      </p:sp>
      <p:sp>
        <p:nvSpPr>
          <p:cNvPr id="61455" name="线形标注 1 11272"/>
          <p:cNvSpPr/>
          <p:nvPr/>
        </p:nvSpPr>
        <p:spPr bwMode="auto">
          <a:xfrm>
            <a:off x="5064125" y="2301875"/>
            <a:ext cx="1249363" cy="288925"/>
          </a:xfrm>
          <a:prstGeom prst="borderCallout1">
            <a:avLst>
              <a:gd name="adj1" fmla="val 35574"/>
              <a:gd name="adj2" fmla="val 106278"/>
              <a:gd name="adj3" fmla="val 335968"/>
              <a:gd name="adj4" fmla="val 1711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突出显示</a:t>
            </a:r>
            <a:endParaRPr lang="zh-CN" altLang="en-US" b="1"/>
          </a:p>
        </p:txBody>
      </p:sp>
      <p:pic>
        <p:nvPicPr>
          <p:cNvPr id="61456" name="图片 1127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142538" y="4273550"/>
            <a:ext cx="1722437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57" name="线形标注 1 11274"/>
          <p:cNvSpPr/>
          <p:nvPr/>
        </p:nvSpPr>
        <p:spPr bwMode="auto">
          <a:xfrm>
            <a:off x="9126538" y="3824288"/>
            <a:ext cx="1190625" cy="288925"/>
          </a:xfrm>
          <a:prstGeom prst="borderCallout1">
            <a:avLst>
              <a:gd name="adj1" fmla="val 2968"/>
              <a:gd name="adj2" fmla="val 49440"/>
              <a:gd name="adj3" fmla="val -90440"/>
              <a:gd name="adj4" fmla="val 72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对齐方式</a:t>
            </a:r>
            <a:endParaRPr lang="zh-CN" altLang="en-US" b="1"/>
          </a:p>
          <a:p>
            <a:pPr algn="ctr"/>
            <a:endParaRPr lang="zh-CN" altLang="en-US" b="1"/>
          </a:p>
        </p:txBody>
      </p:sp>
      <p:sp>
        <p:nvSpPr>
          <p:cNvPr id="61458" name="线形标注 1 11275"/>
          <p:cNvSpPr/>
          <p:nvPr/>
        </p:nvSpPr>
        <p:spPr bwMode="auto">
          <a:xfrm>
            <a:off x="7124700" y="2459038"/>
            <a:ext cx="1357313" cy="295275"/>
          </a:xfrm>
          <a:prstGeom prst="borderCallout1">
            <a:avLst>
              <a:gd name="adj1" fmla="val 34750"/>
              <a:gd name="adj2" fmla="val 106713"/>
              <a:gd name="adj3" fmla="val 169111"/>
              <a:gd name="adj4" fmla="val 1465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项目符号</a:t>
            </a:r>
            <a:endParaRPr lang="zh-CN" altLang="en-US" b="1"/>
          </a:p>
        </p:txBody>
      </p:sp>
      <p:pic>
        <p:nvPicPr>
          <p:cNvPr id="61459" name="图片 1127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64525" y="4273550"/>
            <a:ext cx="1590675" cy="18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60" name="双箭头 605"/>
          <p:cNvSpPr>
            <a:spLocks noChangeShapeType="1"/>
          </p:cNvSpPr>
          <p:nvPr/>
        </p:nvSpPr>
        <p:spPr bwMode="auto">
          <a:xfrm>
            <a:off x="8693150" y="3698875"/>
            <a:ext cx="217488" cy="587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61461" name="双箭头 605"/>
          <p:cNvSpPr>
            <a:spLocks noChangeShapeType="1"/>
          </p:cNvSpPr>
          <p:nvPr/>
        </p:nvSpPr>
        <p:spPr bwMode="auto">
          <a:xfrm flipH="1">
            <a:off x="11356975" y="3700463"/>
            <a:ext cx="274638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61462" name="线形标注 1 11279"/>
          <p:cNvSpPr/>
          <p:nvPr/>
        </p:nvSpPr>
        <p:spPr bwMode="auto">
          <a:xfrm>
            <a:off x="8988425" y="2459038"/>
            <a:ext cx="984250" cy="295275"/>
          </a:xfrm>
          <a:prstGeom prst="borderCallout1">
            <a:avLst>
              <a:gd name="adj1" fmla="val 34750"/>
              <a:gd name="adj2" fmla="val 108287"/>
              <a:gd name="adj3" fmla="val 172394"/>
              <a:gd name="adj4" fmla="val 119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b="1"/>
              <a:t>缩进量</a:t>
            </a:r>
            <a:endParaRPr lang="zh-CN" altLang="en-US" b="1"/>
          </a:p>
        </p:txBody>
      </p:sp>
      <p:grpSp>
        <p:nvGrpSpPr>
          <p:cNvPr id="61463" name="组合 23"/>
          <p:cNvGrpSpPr/>
          <p:nvPr/>
        </p:nvGrpSpPr>
        <p:grpSpPr bwMode="auto">
          <a:xfrm>
            <a:off x="1601788" y="1198563"/>
            <a:ext cx="3624262" cy="1392237"/>
            <a:chOff x="2521" y="1888"/>
            <a:chExt cx="5706" cy="2192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5400" y="3000"/>
              <a:ext cx="2282" cy="1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2521" y="1903"/>
              <a:ext cx="15" cy="10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531" y="1903"/>
              <a:ext cx="567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2546" y="3000"/>
              <a:ext cx="568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8197" y="1888"/>
              <a:ext cx="12" cy="10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46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8A1A547-CBD6-4B42-A032-8FF6AADD37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129025"/>
          <p:cNvSpPr>
            <a:spLocks noGrp="1"/>
          </p:cNvSpPr>
          <p:nvPr/>
        </p:nvSpPr>
        <p:spPr>
          <a:xfrm>
            <a:off x="4385469" y="2600326"/>
            <a:ext cx="3683000" cy="2665412"/>
          </a:xfrm>
          <a:prstGeom prst="rect">
            <a:avLst/>
          </a:prstGeom>
          <a:noFill/>
          <a:ln w="9525">
            <a:noFill/>
          </a:ln>
        </p:spPr>
        <p:txBody>
          <a:bodyPr lIns="182562" tIns="46038" rIns="182562" bIns="46038"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2800" b="1" dirty="0"/>
              <a:t>1  </a:t>
            </a:r>
            <a:r>
              <a:rPr lang="zh-CN" altLang="en-US" sz="2800" b="1" dirty="0" smtClean="0"/>
              <a:t>新建</a:t>
            </a:r>
            <a:r>
              <a:rPr lang="zh-CN" altLang="en-US" sz="2800" b="1" dirty="0"/>
              <a:t>文档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2  </a:t>
            </a:r>
            <a:r>
              <a:rPr lang="zh-CN" altLang="en-US" sz="2800" b="1" dirty="0"/>
              <a:t>打开文档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3  </a:t>
            </a:r>
            <a:r>
              <a:rPr lang="zh-CN" altLang="en-US" sz="2800" b="1" dirty="0"/>
              <a:t>保存文档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4  </a:t>
            </a:r>
            <a:r>
              <a:rPr lang="zh-CN" altLang="en-US" sz="2800" b="1" dirty="0"/>
              <a:t>保护文档</a:t>
            </a:r>
            <a:endParaRPr lang="zh-CN" altLang="en-US" sz="2800" b="1" dirty="0"/>
          </a:p>
          <a:p>
            <a:pPr>
              <a:buNone/>
            </a:pPr>
            <a:r>
              <a:rPr lang="en-US" altLang="zh-CN" sz="2800" b="1" dirty="0"/>
              <a:t>5  </a:t>
            </a:r>
            <a:r>
              <a:rPr lang="zh-CN" altLang="en-US" sz="2800" b="1" dirty="0"/>
              <a:t>关闭文档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2783681" y="1592263"/>
            <a:ext cx="662463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800" b="1" dirty="0" smtClean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WPS</a:t>
            </a:r>
            <a:r>
              <a:rPr lang="zh-CN" altLang="en-US" sz="2800" b="1" dirty="0" smtClean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基本操作主要包括以下几方面：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图片 4"/>
          <p:cNvPicPr>
            <a:picLocks noChangeAspect="1" noChangeArrowheads="1"/>
          </p:cNvPicPr>
          <p:nvPr/>
        </p:nvPicPr>
        <p:blipFill>
          <a:blip r:embed="rId1" cstate="print"/>
          <a:srcRect r="61736" b="49686"/>
          <a:stretch>
            <a:fillRect/>
          </a:stretch>
        </p:blipFill>
        <p:spPr bwMode="auto">
          <a:xfrm>
            <a:off x="5030788" y="1292225"/>
            <a:ext cx="6365875" cy="452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6" name="标题 133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906463" y="958850"/>
            <a:ext cx="3368675" cy="5778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、新建文档</a:t>
            </a:r>
            <a:endParaRPr lang="zh-CN" altLang="en-US" sz="2400" b="1" dirty="0" smtClean="0"/>
          </a:p>
        </p:txBody>
      </p:sp>
      <p:sp>
        <p:nvSpPr>
          <p:cNvPr id="62467" name="文本框 5"/>
          <p:cNvSpPr txBox="1">
            <a:spLocks noChangeArrowheads="1"/>
          </p:cNvSpPr>
          <p:nvPr/>
        </p:nvSpPr>
        <p:spPr bwMode="auto">
          <a:xfrm>
            <a:off x="2125663" y="1536700"/>
            <a:ext cx="3057525" cy="1725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40000"/>
              </a:lnSpc>
              <a:spcBef>
                <a:spcPct val="40000"/>
              </a:spcBef>
              <a:spcAft>
                <a:spcPct val="15000"/>
              </a:spcAft>
            </a:pP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常用工具栏</a:t>
            </a:r>
            <a:r>
              <a:rPr lang="en-US" altLang="zh-CN" b="1">
                <a:latin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新建按钮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0" hangingPunct="0">
              <a:lnSpc>
                <a:spcPct val="14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右键</a:t>
            </a:r>
            <a:r>
              <a:rPr lang="en-US" altLang="zh-CN" b="1">
                <a:latin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新建</a:t>
            </a:r>
            <a:r>
              <a:rPr lang="en-US" altLang="zh-CN" b="1">
                <a:latin typeface="宋体" panose="02010600030101010101" pitchFamily="2" charset="-122"/>
                <a:sym typeface="宋体" panose="02010600030101010101" pitchFamily="2" charset="-122"/>
              </a:rPr>
              <a:t>/word</a:t>
            </a: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文档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0" hangingPunct="0">
              <a:lnSpc>
                <a:spcPct val="14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文件</a:t>
            </a:r>
            <a:r>
              <a:rPr lang="en-US" altLang="zh-CN" b="1">
                <a:latin typeface="宋体" panose="02010600030101010101" pitchFamily="2" charset="-122"/>
                <a:sym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sym typeface="宋体" panose="02010600030101010101" pitchFamily="2" charset="-122"/>
              </a:rPr>
              <a:t>新建（可以使用模板）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0" hangingPunct="0"/>
            <a:r>
              <a:rPr lang="zh-CN" altLang="en-US"/>
              <a:t>快捷方式：</a:t>
            </a:r>
            <a:r>
              <a:rPr lang="en-US" altLang="zh-CN"/>
              <a:t>Ctrl+N</a:t>
            </a:r>
            <a:endParaRPr lang="en-US" altLang="zh-CN"/>
          </a:p>
        </p:txBody>
      </p:sp>
      <p:sp>
        <p:nvSpPr>
          <p:cNvPr id="6246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6459F15-D089-4C97-B9CA-08EFAF74989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文本框 4"/>
          <p:cNvSpPr txBox="1">
            <a:spLocks noChangeArrowheads="1"/>
          </p:cNvSpPr>
          <p:nvPr/>
        </p:nvSpPr>
        <p:spPr bwMode="auto">
          <a:xfrm>
            <a:off x="2103438" y="530225"/>
            <a:ext cx="208761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 smtClean="0">
                <a:sym typeface="Arial" panose="020B0604020202020204" pitchFamily="34" charset="0"/>
              </a:rPr>
              <a:t>2</a:t>
            </a:r>
            <a:r>
              <a:rPr lang="zh-CN" altLang="en-US" sz="2400" b="1" dirty="0" smtClean="0">
                <a:sym typeface="Arial" panose="020B0604020202020204" pitchFamily="34" charset="0"/>
              </a:rPr>
              <a:t>、保</a:t>
            </a:r>
            <a:r>
              <a:rPr lang="zh-CN" altLang="en-US" sz="2400" b="1" dirty="0">
                <a:sym typeface="Arial" panose="020B0604020202020204" pitchFamily="34" charset="0"/>
              </a:rPr>
              <a:t>存文档</a:t>
            </a:r>
            <a:endParaRPr lang="zh-CN" altLang="en-US" sz="2400" b="1" dirty="0">
              <a:sym typeface="Arial" panose="020B0604020202020204" pitchFamily="34" charset="0"/>
            </a:endParaRPr>
          </a:p>
        </p:txBody>
      </p:sp>
      <p:pic>
        <p:nvPicPr>
          <p:cNvPr id="63497" name="图片 1536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153346" y="2209832"/>
            <a:ext cx="3954462" cy="373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8" name="图片 1"/>
          <p:cNvPicPr>
            <a:picLocks noChangeAspect="1" noChangeArrowheads="1"/>
          </p:cNvPicPr>
          <p:nvPr/>
        </p:nvPicPr>
        <p:blipFill>
          <a:blip r:embed="rId2" cstate="print"/>
          <a:srcRect t="2348"/>
          <a:stretch>
            <a:fillRect/>
          </a:stretch>
        </p:blipFill>
        <p:spPr bwMode="auto">
          <a:xfrm>
            <a:off x="6400792" y="685872"/>
            <a:ext cx="5510544" cy="373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7F4ECB3-706C-4D0C-A1F1-9F98548451D3}" type="slidenum">
              <a:rPr lang="zh-CN" altLang="en-US"/>
            </a:fld>
            <a:endParaRPr lang="zh-CN" altLang="en-US"/>
          </a:p>
        </p:txBody>
      </p:sp>
      <p:sp>
        <p:nvSpPr>
          <p:cNvPr id="14" name="文本占位符 207876"/>
          <p:cNvSpPr/>
          <p:nvPr/>
        </p:nvSpPr>
        <p:spPr>
          <a:xfrm>
            <a:off x="1447922" y="1066862"/>
            <a:ext cx="4952870" cy="434328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182562" tIns="46038" rIns="182562" bIns="46038" anchor="t" anchorCtr="0"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430" indent="-265430">
              <a:lnSpc>
                <a:spcPct val="100000"/>
              </a:lnSpc>
            </a:pPr>
            <a:r>
              <a:rPr lang="zh-CN" altLang="en-US" sz="1800" b="1" dirty="0">
                <a:latin typeface="+mn-ea"/>
              </a:rPr>
              <a:t>保存未命名的文档或同名保存</a:t>
            </a:r>
            <a:endParaRPr lang="zh-CN" altLang="en-US" sz="1800" b="1" dirty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zh-CN" altLang="en-US" sz="1800" b="1" dirty="0">
                <a:latin typeface="+mn-ea"/>
              </a:rPr>
              <a:t>方法：</a:t>
            </a:r>
            <a:endParaRPr lang="zh-CN" altLang="en-US" sz="1800" b="1" dirty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1800" b="1" dirty="0">
                <a:latin typeface="+mn-ea"/>
              </a:rPr>
              <a:t>1.[</a:t>
            </a:r>
            <a:r>
              <a:rPr lang="zh-CN" altLang="en-US" sz="1800" b="1" dirty="0">
                <a:latin typeface="+mn-ea"/>
              </a:rPr>
              <a:t>文件</a:t>
            </a:r>
            <a:r>
              <a:rPr lang="en-US" altLang="zh-CN" sz="1800" b="1" dirty="0">
                <a:latin typeface="+mn-ea"/>
              </a:rPr>
              <a:t>]</a:t>
            </a:r>
            <a:r>
              <a:rPr lang="zh-CN" altLang="en-US" sz="1800" b="1" dirty="0">
                <a:latin typeface="+mn-ea"/>
              </a:rPr>
              <a:t>选项卡</a:t>
            </a:r>
            <a:r>
              <a:rPr lang="en-US" altLang="zh-CN" sz="1800" b="1" dirty="0">
                <a:latin typeface="+mn-ea"/>
              </a:rPr>
              <a:t>—“</a:t>
            </a:r>
            <a:r>
              <a:rPr lang="zh-CN" altLang="en-US" sz="1800" b="1" dirty="0">
                <a:latin typeface="+mn-ea"/>
              </a:rPr>
              <a:t>保存”命令。</a:t>
            </a:r>
            <a:endParaRPr lang="zh-CN" altLang="en-US" sz="1800" b="1" dirty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1800" b="1" dirty="0">
                <a:latin typeface="+mn-ea"/>
              </a:rPr>
              <a:t>2.</a:t>
            </a:r>
            <a:r>
              <a:rPr lang="zh-CN" altLang="en-US" sz="1800" b="1" dirty="0">
                <a:latin typeface="+mn-ea"/>
              </a:rPr>
              <a:t>单击“快速访问工具栏”上“保存</a:t>
            </a:r>
            <a:r>
              <a:rPr lang="zh-CN" altLang="en-US" sz="1800" b="1" dirty="0" smtClean="0">
                <a:latin typeface="+mn-ea"/>
              </a:rPr>
              <a:t>”按钮。</a:t>
            </a:r>
            <a:endParaRPr lang="en-US" altLang="zh-CN" sz="1800" b="1" dirty="0" smtClean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endParaRPr lang="zh-CN" altLang="en-US" sz="1800" b="1" dirty="0">
              <a:latin typeface="+mn-ea"/>
            </a:endParaRPr>
          </a:p>
          <a:p>
            <a:pPr marL="265430" indent="-265430">
              <a:lnSpc>
                <a:spcPct val="100000"/>
              </a:lnSpc>
            </a:pPr>
            <a:r>
              <a:rPr lang="zh-CN" altLang="en-US" sz="1800" b="1" dirty="0">
                <a:latin typeface="+mn-ea"/>
              </a:rPr>
              <a:t>保存曾经编缉过的文档</a:t>
            </a:r>
            <a:endParaRPr lang="zh-CN" altLang="en-US" sz="1800" b="1" dirty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zh-CN" altLang="en-US" sz="1800" b="1" dirty="0">
                <a:latin typeface="+mn-ea"/>
              </a:rPr>
              <a:t>用户正编辑的是一个新文件，或一个旧文件</a:t>
            </a:r>
            <a:r>
              <a:rPr lang="zh-CN" altLang="en-US" sz="1800" b="1" dirty="0" smtClean="0">
                <a:latin typeface="+mn-ea"/>
              </a:rPr>
              <a:t>但希</a:t>
            </a:r>
            <a:r>
              <a:rPr lang="zh-CN" altLang="en-US" sz="1800" b="1" dirty="0">
                <a:latin typeface="+mn-ea"/>
              </a:rPr>
              <a:t>望以不同的文件名存储而不影响原来的</a:t>
            </a:r>
            <a:r>
              <a:rPr lang="zh-CN" altLang="en-US" sz="1800" b="1" dirty="0" smtClean="0">
                <a:latin typeface="+mn-ea"/>
              </a:rPr>
              <a:t>文件</a:t>
            </a:r>
            <a:r>
              <a:rPr lang="zh-CN" altLang="en-US" sz="1800" b="1" dirty="0">
                <a:latin typeface="+mn-ea"/>
              </a:rPr>
              <a:t>，都可将文档另存。</a:t>
            </a:r>
            <a:endParaRPr lang="zh-CN" altLang="en-US" sz="1800" b="1" dirty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zh-CN" altLang="en-US" sz="1800" b="1" dirty="0">
                <a:latin typeface="+mn-ea"/>
              </a:rPr>
              <a:t>方法：</a:t>
            </a:r>
            <a:endParaRPr lang="zh-CN" altLang="en-US" sz="1800" b="1" dirty="0">
              <a:latin typeface="+mn-ea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zh-CN" altLang="en-US" sz="1800" b="1" dirty="0">
                <a:latin typeface="+mn-ea"/>
              </a:rPr>
              <a:t>   </a:t>
            </a:r>
            <a:r>
              <a:rPr lang="en-US" altLang="zh-CN" sz="1800" b="1" dirty="0">
                <a:latin typeface="+mn-ea"/>
              </a:rPr>
              <a:t>[</a:t>
            </a:r>
            <a:r>
              <a:rPr lang="zh-CN" altLang="en-US" sz="1800" b="1" dirty="0">
                <a:latin typeface="+mn-ea"/>
              </a:rPr>
              <a:t>文件</a:t>
            </a:r>
            <a:r>
              <a:rPr lang="en-US" altLang="zh-CN" sz="1800" b="1" dirty="0">
                <a:latin typeface="+mn-ea"/>
              </a:rPr>
              <a:t>]</a:t>
            </a:r>
            <a:r>
              <a:rPr lang="zh-CN" altLang="en-US" sz="1800" b="1" dirty="0">
                <a:latin typeface="+mn-ea"/>
              </a:rPr>
              <a:t>选项卡</a:t>
            </a:r>
            <a:r>
              <a:rPr lang="en-US" altLang="zh-CN" sz="1800" b="1" dirty="0">
                <a:latin typeface="+mn-ea"/>
              </a:rPr>
              <a:t>—“</a:t>
            </a:r>
            <a:r>
              <a:rPr lang="zh-CN" altLang="en-US" sz="1800" b="1" dirty="0">
                <a:latin typeface="+mn-ea"/>
              </a:rPr>
              <a:t>另存为”命令。</a:t>
            </a:r>
            <a:endParaRPr lang="zh-CN" altLang="en-US" sz="1800" b="1" dirty="0">
              <a:latin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文本框 4"/>
          <p:cNvSpPr txBox="1">
            <a:spLocks noChangeArrowheads="1"/>
          </p:cNvSpPr>
          <p:nvPr/>
        </p:nvSpPr>
        <p:spPr bwMode="auto">
          <a:xfrm>
            <a:off x="2103438" y="530225"/>
            <a:ext cx="216381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 smtClean="0">
                <a:sym typeface="Arial" panose="020B0604020202020204" pitchFamily="34" charset="0"/>
              </a:rPr>
              <a:t>3</a:t>
            </a:r>
            <a:r>
              <a:rPr lang="zh-CN" altLang="en-US" sz="2400" b="1" dirty="0" smtClean="0">
                <a:sym typeface="Arial" panose="020B0604020202020204" pitchFamily="34" charset="0"/>
              </a:rPr>
              <a:t>、保</a:t>
            </a:r>
            <a:r>
              <a:rPr lang="zh-CN" altLang="en-US" sz="2400" b="1" dirty="0">
                <a:sym typeface="Arial" panose="020B0604020202020204" pitchFamily="34" charset="0"/>
              </a:rPr>
              <a:t>护</a:t>
            </a:r>
            <a:r>
              <a:rPr lang="zh-CN" altLang="en-US" sz="2400" b="1" dirty="0" smtClean="0">
                <a:sym typeface="Arial" panose="020B0604020202020204" pitchFamily="34" charset="0"/>
              </a:rPr>
              <a:t>文</a:t>
            </a:r>
            <a:r>
              <a:rPr lang="zh-CN" altLang="en-US" sz="2400" b="1" dirty="0">
                <a:sym typeface="Arial" panose="020B0604020202020204" pitchFamily="34" charset="0"/>
              </a:rPr>
              <a:t>档</a:t>
            </a:r>
            <a:endParaRPr lang="zh-CN" altLang="en-US" sz="2400" b="1" dirty="0">
              <a:sym typeface="Arial" panose="020B0604020202020204" pitchFamily="34" charset="0"/>
            </a:endParaRPr>
          </a:p>
        </p:txBody>
      </p:sp>
      <p:pic>
        <p:nvPicPr>
          <p:cNvPr id="63497" name="图片 1536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248396" y="304882"/>
            <a:ext cx="5162682" cy="48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7F4ECB3-706C-4D0C-A1F1-9F98548451D3}" type="slidenum">
              <a:rPr lang="zh-CN" altLang="en-US"/>
            </a:fld>
            <a:endParaRPr lang="zh-CN" altLang="en-US"/>
          </a:p>
        </p:txBody>
      </p:sp>
      <p:sp>
        <p:nvSpPr>
          <p:cNvPr id="8" name="文本占位符 131073"/>
          <p:cNvSpPr>
            <a:spLocks noGrp="1"/>
          </p:cNvSpPr>
          <p:nvPr/>
        </p:nvSpPr>
        <p:spPr>
          <a:xfrm>
            <a:off x="1447922" y="990664"/>
            <a:ext cx="4724384" cy="3809899"/>
          </a:xfrm>
          <a:prstGeom prst="rect">
            <a:avLst/>
          </a:prstGeom>
          <a:noFill/>
          <a:ln w="9525">
            <a:noFill/>
          </a:ln>
        </p:spPr>
        <p:txBody>
          <a:bodyPr lIns="182562" tIns="46038" rIns="182562" bIns="46038"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FF00"/>
                </a:solidFill>
              </a:rPr>
              <a:t>     </a:t>
            </a:r>
            <a:r>
              <a:rPr lang="en-US" altLang="zh-CN" sz="1800" b="1" dirty="0" smtClean="0">
                <a:solidFill>
                  <a:srgbClr val="FFFF00"/>
                </a:solidFill>
              </a:rPr>
              <a:t>   </a:t>
            </a:r>
            <a:r>
              <a:rPr lang="zh-CN" altLang="en-US" sz="1800" b="1" dirty="0"/>
              <a:t>对于编辑的文档，如果不希望其他用户打开或者进行修改。可为文档设置密码，来保护编辑的文档</a:t>
            </a:r>
            <a:r>
              <a:rPr lang="zh-CN" altLang="en-US" sz="1800" dirty="0"/>
              <a:t> </a:t>
            </a:r>
            <a:r>
              <a:rPr lang="zh-CN" altLang="en-US" sz="1800" b="1" dirty="0"/>
              <a:t>。</a:t>
            </a:r>
            <a:endParaRPr lang="zh-CN" altLang="en-US" sz="1800" b="1" dirty="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 smtClean="0"/>
              <a:t>1</a:t>
            </a:r>
            <a:r>
              <a:rPr lang="zh-CN" altLang="en-US" sz="1800" b="1" dirty="0"/>
              <a:t>） “文件”选项卡</a:t>
            </a:r>
            <a:r>
              <a:rPr lang="zh-CN" altLang="en-US" sz="1800" b="1" dirty="0" smtClean="0"/>
              <a:t>，“文件信</a:t>
            </a:r>
            <a:r>
              <a:rPr lang="zh-CN" altLang="en-US" sz="1800" b="1" dirty="0"/>
              <a:t>息”</a:t>
            </a:r>
            <a:r>
              <a:rPr lang="zh-CN" altLang="en-US" sz="1800" b="1" dirty="0" smtClean="0"/>
              <a:t>项</a:t>
            </a:r>
            <a:r>
              <a:rPr lang="en-US" altLang="zh-CN" sz="1800" b="1" dirty="0" smtClean="0">
                <a:sym typeface="Wingdings" panose="05000000000000000000" pitchFamily="2" charset="2"/>
              </a:rPr>
              <a:t></a:t>
            </a:r>
            <a:r>
              <a:rPr lang="zh-CN" altLang="en-US" sz="1800" b="1" dirty="0" smtClean="0"/>
              <a:t>“文件加密” 命</a:t>
            </a:r>
            <a:r>
              <a:rPr lang="zh-CN" altLang="en-US" sz="1800" b="1" dirty="0"/>
              <a:t>令，弹出</a:t>
            </a:r>
            <a:r>
              <a:rPr lang="zh-CN" altLang="en-US" sz="1800" b="1" dirty="0" smtClean="0"/>
              <a:t>“选项”</a:t>
            </a:r>
            <a:r>
              <a:rPr lang="zh-CN" altLang="en-US" sz="1800" b="1" dirty="0"/>
              <a:t>对话框，输入密码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 smtClean="0"/>
              <a:t>2</a:t>
            </a:r>
            <a:r>
              <a:rPr lang="zh-CN" altLang="en-US" sz="1800" b="1" dirty="0" smtClean="0"/>
              <a:t>） “文件”选项卡，“选项”，弹出“选项”对话框</a:t>
            </a:r>
            <a:r>
              <a:rPr lang="en-US" altLang="zh-CN" sz="1800" b="1" dirty="0" smtClean="0">
                <a:sym typeface="Wingdings" panose="05000000000000000000" pitchFamily="2" charset="2"/>
              </a:rPr>
              <a:t></a:t>
            </a:r>
            <a:r>
              <a:rPr lang="zh-CN" altLang="en-US" sz="1800" b="1" dirty="0" smtClean="0"/>
              <a:t>“安全性” 命令，输入密码。</a:t>
            </a:r>
            <a:endParaRPr lang="zh-CN" altLang="en-US" sz="1800" b="1" dirty="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 smtClean="0"/>
              <a:t> </a:t>
            </a:r>
            <a:r>
              <a:rPr lang="en-US" altLang="zh-CN" sz="1800" b="1" dirty="0" smtClean="0"/>
              <a:t>3</a:t>
            </a:r>
            <a:r>
              <a:rPr lang="zh-CN" altLang="en-US" sz="1800" b="1" dirty="0" smtClean="0"/>
              <a:t>）保</a:t>
            </a:r>
            <a:r>
              <a:rPr lang="zh-CN" altLang="en-US" sz="1800" b="1" dirty="0"/>
              <a:t>存时加密</a:t>
            </a:r>
            <a:r>
              <a:rPr lang="zh-CN" altLang="en-US" sz="1800" b="1" dirty="0" smtClean="0"/>
              <a:t>：“文件”选</a:t>
            </a:r>
            <a:r>
              <a:rPr lang="zh-CN" altLang="en-US" sz="1800" b="1" dirty="0"/>
              <a:t>项卡，“另存为”项，对话框 中的</a:t>
            </a:r>
            <a:r>
              <a:rPr lang="zh-CN" altLang="en-US" sz="1800" b="1" dirty="0" smtClean="0"/>
              <a:t>“加密”按钮，弹出“选项”对话框，输入密码设</a:t>
            </a:r>
            <a:r>
              <a:rPr lang="zh-CN" altLang="en-US" sz="1800" b="1" dirty="0"/>
              <a:t>置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 smtClean="0"/>
              <a:t>4</a:t>
            </a:r>
            <a:r>
              <a:rPr lang="zh-CN" altLang="en-US" sz="1800" b="1" dirty="0" smtClean="0"/>
              <a:t>）“文件”</a:t>
            </a:r>
            <a:r>
              <a:rPr lang="en-US" altLang="zh-CN" sz="1800" b="1" dirty="0" smtClean="0">
                <a:sym typeface="Wingdings" panose="05000000000000000000" pitchFamily="2" charset="2"/>
              </a:rPr>
              <a:t></a:t>
            </a:r>
            <a:r>
              <a:rPr lang="zh-CN" altLang="en-US" sz="1800" b="1" dirty="0" smtClean="0"/>
              <a:t>“工具”</a:t>
            </a:r>
            <a:r>
              <a:rPr lang="en-US" altLang="zh-CN" sz="1800" b="1" dirty="0" smtClean="0">
                <a:sym typeface="Wingdings" panose="05000000000000000000" pitchFamily="2" charset="2"/>
              </a:rPr>
              <a:t></a:t>
            </a:r>
            <a:r>
              <a:rPr lang="zh-CN" altLang="en-US" sz="1800" b="1" dirty="0" smtClean="0"/>
              <a:t>“选项”</a:t>
            </a:r>
            <a:endParaRPr lang="zh-CN" altLang="en-US" sz="18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7"/>
          <p:cNvGrpSpPr/>
          <p:nvPr/>
        </p:nvGrpSpPr>
        <p:grpSpPr bwMode="auto">
          <a:xfrm>
            <a:off x="1828912" y="1219258"/>
            <a:ext cx="4921250" cy="3128963"/>
            <a:chOff x="325" y="4359"/>
            <a:chExt cx="7750" cy="4929"/>
          </a:xfrm>
        </p:grpSpPr>
        <p:grpSp>
          <p:nvGrpSpPr>
            <p:cNvPr id="3" name="组合 1"/>
            <p:cNvGrpSpPr/>
            <p:nvPr/>
          </p:nvGrpSpPr>
          <p:grpSpPr bwMode="auto">
            <a:xfrm>
              <a:off x="325" y="4359"/>
              <a:ext cx="7749" cy="2501"/>
              <a:chOff x="788" y="2133"/>
              <a:chExt cx="7750" cy="2501"/>
            </a:xfrm>
          </p:grpSpPr>
          <p:sp>
            <p:nvSpPr>
              <p:cNvPr id="63491" name="文本框 2"/>
              <p:cNvSpPr>
                <a:spLocks noChangeArrowheads="1"/>
              </p:cNvSpPr>
              <p:nvPr/>
            </p:nvSpPr>
            <p:spPr bwMode="auto">
              <a:xfrm>
                <a:off x="788" y="2133"/>
                <a:ext cx="4609" cy="7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ts val="32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回到上次编辑的位置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63492" name="AutoShape 3"/>
              <p:cNvCxnSpPr>
                <a:cxnSpLocks noChangeShapeType="1"/>
              </p:cNvCxnSpPr>
              <p:nvPr/>
            </p:nvCxnSpPr>
            <p:spPr bwMode="auto">
              <a:xfrm flipV="1">
                <a:off x="825" y="2925"/>
                <a:ext cx="6797" cy="10"/>
              </a:xfrm>
              <a:prstGeom prst="straightConnector1">
                <a:avLst/>
              </a:prstGeom>
              <a:noFill/>
              <a:ln w="6350">
                <a:solidFill>
                  <a:srgbClr val="6C0000">
                    <a:alpha val="50980"/>
                  </a:srgbClr>
                </a:solidFill>
                <a:miter lim="800000"/>
              </a:ln>
            </p:spPr>
          </p:cxnSp>
          <p:sp>
            <p:nvSpPr>
              <p:cNvPr id="63493" name="TextBox 12"/>
              <p:cNvSpPr>
                <a:spLocks noChangeArrowheads="1"/>
              </p:cNvSpPr>
              <p:nvPr/>
            </p:nvSpPr>
            <p:spPr bwMode="auto">
              <a:xfrm>
                <a:off x="788" y="3050"/>
                <a:ext cx="7750" cy="15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zh-CN" altLang="en-US" sz="2000">
                    <a:latin typeface="Calibri" panose="020F0502020204030204" pitchFamily="34" charset="0"/>
                    <a:ea typeface="微软雅黑" panose="020B0503020204020204" pitchFamily="34" charset="-122"/>
                  </a:rPr>
                  <a:t>文字可以在退出（意外退出）的时候</a:t>
                </a:r>
                <a:endParaRPr lang="zh-CN" altLang="en-US" sz="2000"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None/>
                </a:pPr>
                <a:r>
                  <a:rPr lang="zh-CN" altLang="en-US" sz="2000">
                    <a:latin typeface="Calibri" panose="020F0502020204030204" pitchFamily="34" charset="0"/>
                    <a:ea typeface="微软雅黑" panose="020B0503020204020204" pitchFamily="34" charset="-122"/>
                  </a:rPr>
                  <a:t>保留当前编辑的位置（类似书签）</a:t>
                </a:r>
                <a:endParaRPr lang="zh-CN" altLang="en-US" sz="2000"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63494" name="图片 14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3524" y="7062"/>
              <a:ext cx="3637" cy="2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3495" name="文本框 4"/>
          <p:cNvSpPr txBox="1">
            <a:spLocks noChangeArrowheads="1"/>
          </p:cNvSpPr>
          <p:nvPr/>
        </p:nvSpPr>
        <p:spPr bwMode="auto">
          <a:xfrm>
            <a:off x="2103438" y="530225"/>
            <a:ext cx="18065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 smtClean="0">
                <a:sym typeface="Arial" panose="020B0604020202020204" pitchFamily="34" charset="0"/>
              </a:rPr>
              <a:t>保</a:t>
            </a:r>
            <a:r>
              <a:rPr lang="zh-CN" altLang="en-US" sz="2400" b="1" dirty="0">
                <a:sym typeface="Arial" panose="020B0604020202020204" pitchFamily="34" charset="0"/>
              </a:rPr>
              <a:t>护</a:t>
            </a:r>
            <a:r>
              <a:rPr lang="zh-CN" altLang="en-US" sz="2400" b="1" dirty="0" smtClean="0">
                <a:sym typeface="Arial" panose="020B0604020202020204" pitchFamily="34" charset="0"/>
              </a:rPr>
              <a:t>文</a:t>
            </a:r>
            <a:r>
              <a:rPr lang="zh-CN" altLang="en-US" sz="2400" b="1" dirty="0">
                <a:sym typeface="Arial" panose="020B0604020202020204" pitchFamily="34" charset="0"/>
              </a:rPr>
              <a:t>档</a:t>
            </a:r>
            <a:endParaRPr lang="zh-CN" altLang="en-US" sz="2400" b="1" dirty="0">
              <a:sym typeface="Arial" panose="020B0604020202020204" pitchFamily="34" charset="0"/>
            </a:endParaRPr>
          </a:p>
        </p:txBody>
      </p:sp>
      <p:sp>
        <p:nvSpPr>
          <p:cNvPr id="6349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7F4ECB3-706C-4D0C-A1F1-9F98548451D3}" type="slidenum">
              <a:rPr lang="zh-CN" altLang="en-US"/>
            </a:fld>
            <a:endParaRPr lang="zh-CN" altLang="en-US"/>
          </a:p>
        </p:txBody>
      </p:sp>
      <p:sp>
        <p:nvSpPr>
          <p:cNvPr id="63500" name="文本框 1"/>
          <p:cNvSpPr txBox="1">
            <a:spLocks noChangeArrowheads="1"/>
          </p:cNvSpPr>
          <p:nvPr/>
        </p:nvSpPr>
        <p:spPr bwMode="auto">
          <a:xfrm>
            <a:off x="6553188" y="3657594"/>
            <a:ext cx="2925763" cy="639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dirty="0"/>
              <a:t>该功能对于正在写文字材料</a:t>
            </a:r>
            <a:endParaRPr lang="zh-CN" altLang="en-US" dirty="0"/>
          </a:p>
          <a:p>
            <a:r>
              <a:rPr lang="zh-CN" altLang="en-US" dirty="0"/>
              <a:t>时候突然</a:t>
            </a:r>
            <a:r>
              <a:rPr lang="zh-CN" altLang="en-US" dirty="0">
                <a:sym typeface="宋体" panose="02010600030101010101" pitchFamily="2" charset="-122"/>
              </a:rPr>
              <a:t>停电很有帮助。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文本框 4"/>
          <p:cNvSpPr txBox="1">
            <a:spLocks noChangeArrowheads="1"/>
          </p:cNvSpPr>
          <p:nvPr/>
        </p:nvSpPr>
        <p:spPr bwMode="auto">
          <a:xfrm>
            <a:off x="2103438" y="530225"/>
            <a:ext cx="216381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>
                <a:sym typeface="Arial" panose="020B0604020202020204" pitchFamily="34" charset="0"/>
              </a:rPr>
              <a:t>4</a:t>
            </a:r>
            <a:r>
              <a:rPr lang="zh-CN" altLang="en-US" sz="2400" b="1" dirty="0" smtClean="0">
                <a:sym typeface="Arial" panose="020B0604020202020204" pitchFamily="34" charset="0"/>
              </a:rPr>
              <a:t>、关闭文</a:t>
            </a:r>
            <a:r>
              <a:rPr lang="zh-CN" altLang="en-US" sz="2400" b="1" dirty="0">
                <a:sym typeface="Arial" panose="020B0604020202020204" pitchFamily="34" charset="0"/>
              </a:rPr>
              <a:t>档</a:t>
            </a:r>
            <a:endParaRPr lang="zh-CN" altLang="en-US" sz="2400" b="1" dirty="0">
              <a:sym typeface="Arial" panose="020B0604020202020204" pitchFamily="34" charset="0"/>
            </a:endParaRPr>
          </a:p>
        </p:txBody>
      </p:sp>
      <p:sp>
        <p:nvSpPr>
          <p:cNvPr id="6349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7F4ECB3-706C-4D0C-A1F1-9F98548451D3}" type="slidenum">
              <a:rPr lang="zh-CN" altLang="en-US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05110" y="1066862"/>
            <a:ext cx="7340516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FF00"/>
                </a:solidFill>
              </a:rPr>
              <a:t>           </a:t>
            </a:r>
            <a:r>
              <a:rPr lang="zh-CN" altLang="en-US" sz="1800" b="1" dirty="0"/>
              <a:t>关闭文档的方法也有多种</a:t>
            </a:r>
            <a:endParaRPr lang="zh-CN" altLang="en-US" sz="1800" b="1" dirty="0"/>
          </a:p>
          <a:p>
            <a:pPr lvl="0">
              <a:buNone/>
            </a:pPr>
            <a:r>
              <a:rPr lang="zh-CN" altLang="en-US" sz="1800" dirty="0"/>
              <a:t>     </a:t>
            </a:r>
            <a:r>
              <a:rPr lang="zh-CN" altLang="en-US" sz="1800" dirty="0">
                <a:latin typeface="+mn-ea"/>
                <a:ea typeface="+mn-ea"/>
              </a:rPr>
              <a:t>凡是修改过而没保存的文档，会弹出对话框提示该文档尚未保存。</a:t>
            </a:r>
            <a:endParaRPr lang="zh-CN" altLang="en-US" sz="1800" dirty="0">
              <a:latin typeface="+mn-ea"/>
              <a:ea typeface="+mn-ea"/>
            </a:endParaRPr>
          </a:p>
          <a:p>
            <a:pPr lvl="0">
              <a:buNone/>
            </a:pPr>
            <a:r>
              <a:rPr lang="zh-CN" altLang="en-US" sz="1800" dirty="0">
                <a:latin typeface="+mn-ea"/>
                <a:ea typeface="+mn-ea"/>
              </a:rPr>
              <a:t>（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）选择“文件”选项卡</a:t>
            </a:r>
            <a:r>
              <a:rPr lang="en-US" altLang="zh-CN" sz="1800" dirty="0">
                <a:latin typeface="+mn-ea"/>
                <a:ea typeface="+mn-ea"/>
              </a:rPr>
              <a:t>→</a:t>
            </a:r>
            <a:r>
              <a:rPr lang="en-US" altLang="zh-CN" sz="1800" dirty="0" smtClean="0">
                <a:latin typeface="+mn-ea"/>
                <a:ea typeface="+mn-ea"/>
              </a:rPr>
              <a:t>“</a:t>
            </a:r>
            <a:r>
              <a:rPr lang="zh-CN" altLang="en-US" sz="1800" dirty="0" smtClean="0">
                <a:latin typeface="+mn-ea"/>
                <a:ea typeface="+mn-ea"/>
              </a:rPr>
              <a:t>关闭</a:t>
            </a:r>
            <a:r>
              <a:rPr lang="zh-CN" altLang="en-US" sz="1800" dirty="0">
                <a:latin typeface="+mn-ea"/>
                <a:ea typeface="+mn-ea"/>
              </a:rPr>
              <a:t>”命令；</a:t>
            </a:r>
            <a:endParaRPr lang="zh-CN" altLang="en-US" sz="1800" dirty="0">
              <a:latin typeface="+mn-ea"/>
              <a:ea typeface="+mn-ea"/>
            </a:endParaRPr>
          </a:p>
          <a:p>
            <a:pPr lvl="0">
              <a:buNone/>
            </a:pPr>
            <a:r>
              <a:rPr lang="zh-CN" altLang="en-US" sz="1800" dirty="0">
                <a:latin typeface="+mn-ea"/>
                <a:ea typeface="+mn-ea"/>
              </a:rPr>
              <a:t>（</a:t>
            </a:r>
            <a:r>
              <a:rPr lang="en-US" altLang="zh-CN" sz="1800" dirty="0">
                <a:latin typeface="+mn-ea"/>
                <a:ea typeface="+mn-ea"/>
              </a:rPr>
              <a:t>2</a:t>
            </a:r>
            <a:r>
              <a:rPr lang="zh-CN" altLang="en-US" sz="1800" dirty="0">
                <a:latin typeface="+mn-ea"/>
                <a:ea typeface="+mn-ea"/>
              </a:rPr>
              <a:t>）单击文档右上角的“关闭窗口”按</a:t>
            </a:r>
            <a:r>
              <a:rPr lang="zh-CN" altLang="en-US" sz="1800" dirty="0" smtClean="0">
                <a:latin typeface="+mn-ea"/>
                <a:ea typeface="+mn-ea"/>
              </a:rPr>
              <a:t>钮</a:t>
            </a:r>
            <a:endParaRPr lang="en-US" altLang="zh-CN" sz="1800" dirty="0" smtClean="0">
              <a:latin typeface="+mn-ea"/>
              <a:ea typeface="+mn-ea"/>
            </a:endParaRPr>
          </a:p>
          <a:p>
            <a:pPr lvl="0">
              <a:buNone/>
            </a:pPr>
            <a:endParaRPr lang="en-US" altLang="zh-CN" sz="1800" dirty="0" smtClean="0">
              <a:latin typeface="+mn-ea"/>
              <a:ea typeface="+mn-ea"/>
            </a:endParaRPr>
          </a:p>
          <a:p>
            <a:pPr lvl="0">
              <a:buNone/>
            </a:pPr>
            <a:r>
              <a:rPr lang="zh-CN" altLang="en-US" sz="1800" dirty="0" smtClean="0">
                <a:latin typeface="+mn-ea"/>
                <a:ea typeface="+mn-ea"/>
              </a:rPr>
              <a:t>注意：关闭文档和退出文档的区别</a:t>
            </a:r>
            <a:endParaRPr lang="en-US" altLang="zh-CN" sz="1800" dirty="0" smtClean="0">
              <a:latin typeface="+mn-ea"/>
              <a:ea typeface="+mn-ea"/>
            </a:endParaRPr>
          </a:p>
          <a:p>
            <a:pPr lvl="0">
              <a:buNone/>
            </a:pPr>
            <a:endParaRPr lang="zh-CN" altLang="en-US" sz="180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5" name="文本框 4"/>
          <p:cNvSpPr txBox="1">
            <a:spLocks noChangeArrowheads="1"/>
          </p:cNvSpPr>
          <p:nvPr/>
        </p:nvSpPr>
        <p:spPr bwMode="auto">
          <a:xfrm>
            <a:off x="2103438" y="530225"/>
            <a:ext cx="216381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 smtClean="0">
                <a:sym typeface="Arial" panose="020B0604020202020204" pitchFamily="34" charset="0"/>
              </a:rPr>
              <a:t>5</a:t>
            </a:r>
            <a:r>
              <a:rPr lang="zh-CN" altLang="en-US" sz="2400" b="1" dirty="0" smtClean="0">
                <a:sym typeface="Arial" panose="020B0604020202020204" pitchFamily="34" charset="0"/>
              </a:rPr>
              <a:t>、打开文</a:t>
            </a:r>
            <a:r>
              <a:rPr lang="zh-CN" altLang="en-US" sz="2400" b="1" dirty="0">
                <a:sym typeface="Arial" panose="020B0604020202020204" pitchFamily="34" charset="0"/>
              </a:rPr>
              <a:t>档</a:t>
            </a:r>
            <a:endParaRPr lang="zh-CN" altLang="en-US" sz="2400" b="1" dirty="0">
              <a:sym typeface="Arial" panose="020B0604020202020204" pitchFamily="34" charset="0"/>
            </a:endParaRPr>
          </a:p>
        </p:txBody>
      </p:sp>
      <p:sp>
        <p:nvSpPr>
          <p:cNvPr id="6349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7F4ECB3-706C-4D0C-A1F1-9F98548451D3}" type="slidenum">
              <a:rPr lang="zh-CN" altLang="en-US"/>
            </a:fld>
            <a:endParaRPr lang="zh-CN" altLang="en-US"/>
          </a:p>
        </p:txBody>
      </p:sp>
      <p:sp>
        <p:nvSpPr>
          <p:cNvPr id="5" name="文本占位符 221186"/>
          <p:cNvSpPr>
            <a:spLocks noGrp="1"/>
          </p:cNvSpPr>
          <p:nvPr/>
        </p:nvSpPr>
        <p:spPr>
          <a:xfrm>
            <a:off x="2133704" y="1143060"/>
            <a:ext cx="7916862" cy="4552908"/>
          </a:xfrm>
          <a:prstGeom prst="rect">
            <a:avLst/>
          </a:prstGeom>
          <a:noFill/>
          <a:ln w="9525">
            <a:noFill/>
          </a:ln>
        </p:spPr>
        <p:txBody>
          <a:bodyPr lIns="182562" tIns="46038" rIns="182562" bIns="46038"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>
                <a:srgbClr val="FFFF00"/>
              </a:buClr>
              <a:buSzTx/>
              <a:buNone/>
            </a:pPr>
            <a:r>
              <a:rPr lang="zh-CN" altLang="en-US" sz="2000" b="1" dirty="0" smtClean="0"/>
              <a:t> </a:t>
            </a:r>
            <a:r>
              <a:rPr lang="zh-CN" altLang="en-US" sz="2000" b="1" dirty="0"/>
              <a:t>“文件”选项卡中的“打开”命令，或单击“快速访问工具栏”中的打开按钮。</a:t>
            </a:r>
            <a:endParaRPr lang="zh-CN" altLang="en-US" sz="2000" b="1" dirty="0"/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FFFF00"/>
              </a:buClr>
              <a:buSzTx/>
              <a:buNone/>
            </a:pPr>
            <a:r>
              <a:rPr lang="zh-CN" altLang="en-US" sz="2000" b="1" dirty="0"/>
              <a:t>打开已有的文档</a:t>
            </a:r>
            <a:endParaRPr lang="zh-CN" altLang="en-US" sz="2000" b="1" dirty="0"/>
          </a:p>
          <a:p>
            <a:pPr>
              <a:buClr>
                <a:srgbClr val="9900CC"/>
              </a:buClr>
            </a:pPr>
            <a:r>
              <a:rPr lang="zh-CN" altLang="en-US" sz="2000" b="1" dirty="0"/>
              <a:t>通过在磁盘上找</a:t>
            </a:r>
            <a:r>
              <a:rPr lang="zh-CN" altLang="en-US" sz="2000" b="1" dirty="0" smtClean="0"/>
              <a:t>到</a:t>
            </a:r>
            <a:r>
              <a:rPr lang="en-US" altLang="zh-CN" sz="2000" b="1" dirty="0" err="1" smtClean="0"/>
              <a:t>wps</a:t>
            </a:r>
            <a:r>
              <a:rPr lang="zh-CN" altLang="en-US" sz="2000" b="1" dirty="0" smtClean="0"/>
              <a:t>文</a:t>
            </a:r>
            <a:r>
              <a:rPr lang="zh-CN" altLang="en-US" sz="2000" b="1" dirty="0"/>
              <a:t>件，双击打开</a:t>
            </a:r>
            <a:endParaRPr lang="zh-CN" altLang="en-US" sz="2000" b="1" dirty="0"/>
          </a:p>
          <a:p>
            <a:pPr>
              <a:buClr>
                <a:srgbClr val="9900CC"/>
              </a:buClr>
            </a:pPr>
            <a:endParaRPr lang="zh-CN" altLang="en-US" sz="2000" b="1" dirty="0"/>
          </a:p>
          <a:p>
            <a:endParaRPr lang="zh-CN" alt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110" y="228684"/>
            <a:ext cx="8231638" cy="1143005"/>
          </a:xfrm>
        </p:spPr>
        <p:txBody>
          <a:bodyPr/>
          <a:lstStyle/>
          <a:p>
            <a:r>
              <a:rPr lang="en-US" altLang="zh-CN" dirty="0" err="1" smtClean="0"/>
              <a:t>Wps</a:t>
            </a:r>
            <a:r>
              <a:rPr lang="zh-CN" altLang="en-US" dirty="0" smtClean="0"/>
              <a:t>的显示模式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内容占位符 4"/>
          <p:cNvGraphicFramePr/>
          <p:nvPr>
            <p:ph idx="1"/>
          </p:nvPr>
        </p:nvGraphicFramePr>
        <p:xfrm>
          <a:off x="1463040" y="1371600"/>
          <a:ext cx="4149090" cy="1183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438400" imgH="695325" progId="PBrush">
                  <p:embed/>
                </p:oleObj>
              </mc:Choice>
              <mc:Fallback>
                <p:oleObj name="" r:id="rId1" imgW="2438400" imgH="695325" progId="PBrush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63040" y="1371600"/>
                        <a:ext cx="4149090" cy="11830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57506" y="228684"/>
            <a:ext cx="8231638" cy="1143005"/>
          </a:xfrm>
        </p:spPr>
        <p:txBody>
          <a:bodyPr/>
          <a:lstStyle/>
          <a:p>
            <a:r>
              <a:rPr lang="zh-CN" altLang="en-US" dirty="0" smtClean="0"/>
              <a:t>文档的编辑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占位符 140289"/>
          <p:cNvSpPr>
            <a:spLocks noGrp="1"/>
          </p:cNvSpPr>
          <p:nvPr/>
        </p:nvSpPr>
        <p:spPr>
          <a:xfrm>
            <a:off x="1981308" y="1447852"/>
            <a:ext cx="3313112" cy="3529012"/>
          </a:xfrm>
          <a:prstGeom prst="rect">
            <a:avLst/>
          </a:prstGeom>
          <a:noFill/>
          <a:ln w="9525">
            <a:noFill/>
          </a:ln>
        </p:spPr>
        <p:txBody>
          <a:bodyPr lIns="182562" tIns="46038" rIns="182562" bIns="46038"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800" b="1" dirty="0"/>
              <a:t>1  </a:t>
            </a:r>
            <a:r>
              <a:rPr lang="zh-CN" altLang="en-US" sz="2800" b="1" dirty="0"/>
              <a:t>文本的输入</a:t>
            </a:r>
            <a:endParaRPr lang="zh-CN" altLang="en-US" sz="2800" b="1" dirty="0"/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/>
              <a:t>2  </a:t>
            </a:r>
            <a:r>
              <a:rPr lang="zh-CN" altLang="en-US" sz="2800" b="1" dirty="0"/>
              <a:t>文本的选取</a:t>
            </a:r>
            <a:endParaRPr lang="zh-CN" altLang="en-US" sz="2800" b="1" dirty="0"/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/>
              <a:t>3  </a:t>
            </a:r>
            <a:r>
              <a:rPr lang="zh-CN" altLang="en-US" sz="2800" b="1" dirty="0"/>
              <a:t>文本的修改</a:t>
            </a:r>
            <a:endParaRPr lang="zh-CN" altLang="en-US" sz="2800" b="1" dirty="0"/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/>
              <a:t>4  </a:t>
            </a:r>
            <a:r>
              <a:rPr lang="zh-CN" altLang="en-US" sz="2800" b="1" dirty="0"/>
              <a:t>插入符号</a:t>
            </a:r>
            <a:endParaRPr lang="zh-CN" altLang="en-US" sz="2800" b="1" dirty="0"/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/>
              <a:t>5  </a:t>
            </a:r>
            <a:r>
              <a:rPr lang="zh-CN" altLang="en-US" sz="2800" b="1" dirty="0"/>
              <a:t>撤消与恢复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5562614" y="1371654"/>
            <a:ext cx="4800474" cy="3889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320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CCFF"/>
              </a:buClr>
              <a:buSzPct val="65000"/>
              <a:buFont typeface="Wingdings" panose="05000000000000000000" pitchFamily="2" charset="2"/>
              <a:buChar char="l"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•"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marL="609600" lvl="0" indent="-609600">
              <a:lnSpc>
                <a:spcPct val="130000"/>
              </a:lnSpc>
              <a:buNone/>
            </a:pPr>
            <a:r>
              <a:rPr lang="en-US" altLang="zh-CN" sz="2800" b="1" dirty="0"/>
              <a:t>6  </a:t>
            </a:r>
            <a:r>
              <a:rPr lang="zh-CN" altLang="en-US" sz="2800" b="1" dirty="0"/>
              <a:t>删除、移动、复制与粘贴</a:t>
            </a:r>
            <a:endParaRPr lang="zh-CN" altLang="en-US" sz="2800" b="1" dirty="0"/>
          </a:p>
          <a:p>
            <a:pPr marL="609600" lvl="0" indent="-609600">
              <a:lnSpc>
                <a:spcPct val="130000"/>
              </a:lnSpc>
              <a:buNone/>
            </a:pPr>
            <a:r>
              <a:rPr lang="en-US" altLang="zh-CN" sz="2800" b="1" dirty="0"/>
              <a:t>7  Office </a:t>
            </a:r>
            <a:r>
              <a:rPr lang="zh-CN" altLang="en-US" sz="2800" b="1" dirty="0"/>
              <a:t>剪切板</a:t>
            </a:r>
            <a:endParaRPr lang="zh-CN" altLang="en-US" sz="2800" b="1" dirty="0"/>
          </a:p>
          <a:p>
            <a:pPr marL="609600" lvl="0" indent="-609600">
              <a:lnSpc>
                <a:spcPct val="130000"/>
              </a:lnSpc>
              <a:buNone/>
            </a:pPr>
            <a:r>
              <a:rPr lang="en-US" altLang="zh-CN" sz="2800" b="1" dirty="0"/>
              <a:t>8  </a:t>
            </a:r>
            <a:r>
              <a:rPr lang="zh-CN" altLang="en-US" sz="2800" b="1" dirty="0"/>
              <a:t>查找与替换</a:t>
            </a:r>
            <a:endParaRPr lang="zh-CN" altLang="en-US" sz="2800" b="1" dirty="0"/>
          </a:p>
          <a:p>
            <a:pPr marL="609600" lvl="0" indent="-609600">
              <a:lnSpc>
                <a:spcPct val="130000"/>
              </a:lnSpc>
              <a:buNone/>
            </a:pPr>
            <a:r>
              <a:rPr lang="en-US" altLang="zh-CN" sz="2800" b="1" dirty="0"/>
              <a:t>9 </a:t>
            </a:r>
            <a:r>
              <a:rPr lang="zh-CN" altLang="en-US" sz="2800" b="1" dirty="0"/>
              <a:t>将另一个文档插入到活动文档中</a:t>
            </a:r>
            <a:endParaRPr lang="zh-CN" altLang="en-US" sz="2800" b="1" dirty="0"/>
          </a:p>
          <a:p>
            <a:pPr marL="609600" lvl="0" indent="-609600">
              <a:lnSpc>
                <a:spcPct val="130000"/>
              </a:lnSpc>
            </a:pPr>
            <a:endParaRPr lang="zh-CN" altLang="en-US" sz="2800" b="1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704" y="457278"/>
            <a:ext cx="8001078" cy="1079500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1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文本的输入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7051" y="1341438"/>
            <a:ext cx="10972800" cy="5256212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FF00"/>
                </a:solidFill>
                <a:latin typeface="+mn-ea"/>
              </a:rPr>
              <a:t>          </a:t>
            </a:r>
            <a:r>
              <a:rPr lang="zh-CN" altLang="en-US" sz="1800" b="1" dirty="0">
                <a:latin typeface="+mn-ea"/>
              </a:rPr>
              <a:t>文本是文字、符号、特殊符号、图形等内容的总称。在新建一个空文档后，光标所在的位置就是即将录入文本的位置，当输入文字时，光标会随着文字向后移动。在输入文本前，要选择一种汉字输入法 。</a:t>
            </a:r>
            <a:endParaRPr lang="zh-CN" altLang="en-US" sz="1800" b="1" dirty="0">
              <a:latin typeface="+mn-ea"/>
            </a:endParaRPr>
          </a:p>
          <a:p>
            <a:pPr lvl="1"/>
            <a:r>
              <a:rPr lang="zh-CN" altLang="en-US" sz="1800" b="1" dirty="0">
                <a:latin typeface="+mn-ea"/>
              </a:rPr>
              <a:t>中文标点的输入 </a:t>
            </a:r>
            <a:endParaRPr lang="zh-CN" altLang="en-US" sz="1800" b="1" dirty="0">
              <a:latin typeface="+mn-ea"/>
            </a:endParaRPr>
          </a:p>
          <a:p>
            <a:pPr lvl="2"/>
            <a:r>
              <a:rPr lang="zh-CN" altLang="en-US" sz="1800" b="1" dirty="0">
                <a:latin typeface="+mn-ea"/>
              </a:rPr>
              <a:t>输入中文标点时，需要切换到中文标点输入状态，可使用鼠标单击“中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英文输入切换按钮”切换，也可以按组合键</a:t>
            </a:r>
            <a:r>
              <a:rPr lang="en-US" altLang="zh-CN" sz="1800" b="1" dirty="0">
                <a:latin typeface="+mn-ea"/>
              </a:rPr>
              <a:t>Ctrl+·</a:t>
            </a:r>
            <a:r>
              <a:rPr lang="zh-CN" altLang="en-US" sz="1800" b="1" dirty="0">
                <a:latin typeface="+mn-ea"/>
              </a:rPr>
              <a:t>（键盘上的句号）进行切换。 </a:t>
            </a:r>
            <a:endParaRPr lang="zh-CN" altLang="en-US" sz="1800" b="1" dirty="0">
              <a:latin typeface="+mn-ea"/>
            </a:endParaRPr>
          </a:p>
          <a:p>
            <a:pPr lvl="1"/>
            <a:r>
              <a:rPr lang="zh-CN" altLang="en-US" sz="1800" b="1" dirty="0">
                <a:latin typeface="+mn-ea"/>
              </a:rPr>
              <a:t>特殊符号的输入 </a:t>
            </a:r>
            <a:endParaRPr lang="zh-CN" altLang="en-US" sz="1800" b="1" dirty="0">
              <a:latin typeface="+mn-ea"/>
            </a:endParaRPr>
          </a:p>
          <a:p>
            <a:pPr lvl="2"/>
            <a:r>
              <a:rPr lang="zh-CN" altLang="en-US" sz="1800" b="1" dirty="0">
                <a:latin typeface="+mn-ea"/>
              </a:rPr>
              <a:t>方法一： 选择</a:t>
            </a:r>
            <a:r>
              <a:rPr lang="en-US" altLang="zh-CN" sz="1800" b="1" dirty="0">
                <a:latin typeface="+mn-ea"/>
              </a:rPr>
              <a:t>【</a:t>
            </a:r>
            <a:r>
              <a:rPr lang="zh-CN" altLang="en-US" sz="1800" b="1" dirty="0">
                <a:latin typeface="+mn-ea"/>
              </a:rPr>
              <a:t>插入</a:t>
            </a:r>
            <a:r>
              <a:rPr lang="en-US" altLang="zh-CN" sz="1800" b="1" dirty="0">
                <a:latin typeface="+mn-ea"/>
              </a:rPr>
              <a:t>】</a:t>
            </a:r>
            <a:r>
              <a:rPr lang="zh-CN" altLang="en-US" sz="1800" b="1" dirty="0">
                <a:latin typeface="+mn-ea"/>
              </a:rPr>
              <a:t>选项卡</a:t>
            </a:r>
            <a:r>
              <a:rPr lang="en-US" altLang="zh-CN" sz="1800" b="1" dirty="0">
                <a:latin typeface="+mn-ea"/>
              </a:rPr>
              <a:t>|【</a:t>
            </a:r>
            <a:r>
              <a:rPr lang="zh-CN" altLang="en-US" sz="1800" b="1" dirty="0">
                <a:latin typeface="+mn-ea"/>
              </a:rPr>
              <a:t>符号</a:t>
            </a:r>
            <a:r>
              <a:rPr lang="en-US" altLang="zh-CN" sz="1800" b="1" dirty="0">
                <a:latin typeface="+mn-ea"/>
              </a:rPr>
              <a:t>】</a:t>
            </a:r>
            <a:r>
              <a:rPr lang="zh-CN" altLang="en-US" sz="1800" b="1" dirty="0">
                <a:latin typeface="+mn-ea"/>
              </a:rPr>
              <a:t>命令 </a:t>
            </a:r>
            <a:endParaRPr lang="zh-CN" altLang="en-US" sz="1800" b="1" dirty="0">
              <a:latin typeface="+mn-ea"/>
            </a:endParaRPr>
          </a:p>
          <a:p>
            <a:pPr lvl="2"/>
            <a:endParaRPr lang="zh-CN" altLang="en-US" sz="1800" b="1" dirty="0">
              <a:latin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7533" y="1484313"/>
            <a:ext cx="10363200" cy="4114800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</a:rPr>
              <a:t>段落标记符和人工换行符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lvl="2"/>
            <a:r>
              <a:rPr lang="zh-CN" altLang="en-US" b="1" dirty="0">
                <a:latin typeface="宋体" panose="02010600030101010101" pitchFamily="2" charset="-122"/>
              </a:rPr>
              <a:t>可按组合键</a:t>
            </a:r>
            <a:r>
              <a:rPr lang="en-US" altLang="zh-CN" b="1" dirty="0" err="1"/>
              <a:t>Shift+Enter</a:t>
            </a:r>
            <a:r>
              <a:rPr lang="zh-CN" altLang="en-US" b="1" dirty="0">
                <a:latin typeface="宋体" panose="02010600030101010101" pitchFamily="2" charset="-122"/>
              </a:rPr>
              <a:t>，在插入点处插入一个人工换行符</a:t>
            </a:r>
            <a:r>
              <a:rPr lang="zh-CN" altLang="en-US" b="1" dirty="0">
                <a:latin typeface="Times New Roman" panose="02020603050405020304"/>
              </a:rPr>
              <a:t>“</a:t>
            </a:r>
            <a:r>
              <a:rPr lang="zh-CN" altLang="en-US" b="1" dirty="0">
                <a:latin typeface="宋体" panose="02010600030101010101" pitchFamily="2" charset="-122"/>
              </a:rPr>
              <a:t>↓</a:t>
            </a:r>
            <a:r>
              <a:rPr lang="zh-CN" altLang="en-US" b="1" dirty="0">
                <a:latin typeface="Times New Roman" panose="02020603050405020304"/>
              </a:rPr>
              <a:t>”</a:t>
            </a:r>
            <a:r>
              <a:rPr lang="zh-CN" altLang="en-US" b="1" dirty="0">
                <a:latin typeface="宋体" panose="02010600030101010101" pitchFamily="2" charset="-122"/>
              </a:rPr>
              <a:t>，人工换行符可以删除。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lvl="2"/>
            <a:r>
              <a:rPr lang="zh-CN" altLang="en-US" b="1" dirty="0">
                <a:latin typeface="宋体" panose="02010600030101010101" pitchFamily="2" charset="-122"/>
              </a:rPr>
              <a:t>当需要结束一个段落时可以按</a:t>
            </a:r>
            <a:r>
              <a:rPr lang="en-US" altLang="zh-CN" b="1" dirty="0"/>
              <a:t>Enter</a:t>
            </a:r>
            <a:r>
              <a:rPr lang="zh-CN" altLang="en-US" b="1" dirty="0">
                <a:latin typeface="宋体" panose="02010600030101010101" pitchFamily="2" charset="-122"/>
              </a:rPr>
              <a:t>键，这时在插入点处插入一个段落标记符表示一个段落的结束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lvl="2"/>
            <a:endParaRPr lang="zh-CN" altLang="en-US" b="1" dirty="0"/>
          </a:p>
          <a:p>
            <a:pPr marL="0" indent="0">
              <a:buNone/>
            </a:pPr>
            <a:endParaRPr lang="zh-CN" altLang="en-US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99" y="692150"/>
            <a:ext cx="9311117" cy="755702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2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文本的选取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7051" y="1989139"/>
            <a:ext cx="10972800" cy="302418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           </a:t>
            </a:r>
            <a:r>
              <a:rPr lang="zh-CN" altLang="en-US" sz="2800" b="1"/>
              <a:t>在进行文本的编辑时，如果对某一特定部分的内容进行处理，则需要先将其选取，然后再进行处理，选取后的文字将变成黑底白字。</a:t>
            </a:r>
            <a:endParaRPr lang="zh-CN" altLang="en-US" sz="2800" b="1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      </a:t>
            </a:r>
            <a:endParaRPr lang="zh-CN" altLang="en-US" sz="2800" b="1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100" y="260351"/>
            <a:ext cx="8866618" cy="720725"/>
          </a:xfrm>
        </p:spPr>
        <p:txBody>
          <a:bodyPr/>
          <a:lstStyle/>
          <a:p>
            <a:r>
              <a:rPr lang="zh-CN" altLang="en-US" sz="4000" dirty="0"/>
              <a:t>用鼠标选定文本区域 </a:t>
            </a:r>
            <a:endParaRPr lang="zh-CN" altLang="en-US" sz="4000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981076"/>
            <a:ext cx="10363200" cy="51847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tabLst>
                <a:tab pos="6461125" algn="l"/>
              </a:tabLst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选定栏：文档区域最左边有一个空白栏，称为选定栏，当鼠标指针移到选定栏内，就变成向右斜的箭头。</a:t>
            </a:r>
            <a:br>
              <a:rPr lang="zh-CN" altLang="en-US" sz="2400" dirty="0"/>
            </a:b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）选定一词：双击该词</a:t>
            </a:r>
            <a:br>
              <a:rPr lang="zh-CN" altLang="en-US" sz="2400" dirty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选定一行：</a:t>
            </a:r>
            <a:r>
              <a:rPr lang="zh-CN" altLang="en-US" sz="2400" b="1" dirty="0"/>
              <a:t>在选定栏中</a:t>
            </a:r>
            <a:r>
              <a:rPr lang="zh-CN" altLang="en-US" sz="2400" dirty="0"/>
              <a:t>单击该行</a:t>
            </a:r>
            <a:br>
              <a:rPr lang="zh-CN" altLang="en-US" sz="2400" dirty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选定一段：</a:t>
            </a:r>
            <a:r>
              <a:rPr lang="zh-CN" altLang="en-US" sz="2400" b="1" dirty="0"/>
              <a:t>在选定栏中</a:t>
            </a:r>
            <a:r>
              <a:rPr lang="zh-CN" altLang="en-US" sz="2400" dirty="0"/>
              <a:t>双击该段</a:t>
            </a:r>
            <a:r>
              <a:rPr lang="zh-CN" altLang="en-US" sz="2400" b="1" dirty="0"/>
              <a:t>或直接</a:t>
            </a:r>
            <a:r>
              <a:rPr lang="zh-CN" altLang="en-US" sz="2400" dirty="0"/>
              <a:t>三击该段</a:t>
            </a:r>
            <a:r>
              <a:rPr lang="zh-CN" altLang="en-US" sz="2400" b="1" dirty="0"/>
              <a:t> </a:t>
            </a:r>
            <a:br>
              <a:rPr lang="zh-CN" altLang="en-US" sz="2400" dirty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选定全文：</a:t>
            </a:r>
            <a:r>
              <a:rPr lang="zh-CN" altLang="en-US" sz="2400" b="1" dirty="0"/>
              <a:t>在选定栏中</a:t>
            </a:r>
            <a:r>
              <a:rPr lang="zh-CN" altLang="en-US" sz="2400" dirty="0"/>
              <a:t>三击</a:t>
            </a:r>
            <a:r>
              <a:rPr lang="zh-CN" altLang="en-US" sz="2400" b="1" dirty="0"/>
              <a:t>或</a:t>
            </a:r>
            <a:r>
              <a:rPr lang="en-US" altLang="zh-CN" sz="2400" dirty="0"/>
              <a:t>Ctrl+</a:t>
            </a:r>
            <a:r>
              <a:rPr lang="zh-CN" altLang="en-US" sz="2400" dirty="0"/>
              <a:t>单击</a:t>
            </a:r>
            <a:r>
              <a:rPr lang="zh-CN" altLang="en-US" sz="2400" b="1" dirty="0"/>
              <a:t>（快捷键：</a:t>
            </a:r>
            <a:r>
              <a:rPr lang="en-US" altLang="zh-CN" sz="2400" dirty="0" err="1"/>
              <a:t>Ctrl+A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菜单：</a:t>
            </a:r>
            <a:r>
              <a:rPr lang="zh-CN" altLang="en-US" sz="2400" dirty="0"/>
              <a:t>编辑</a:t>
            </a:r>
            <a:r>
              <a:rPr lang="en-US" altLang="zh-CN" sz="2400" dirty="0"/>
              <a:t>/</a:t>
            </a:r>
            <a:r>
              <a:rPr lang="zh-CN" altLang="en-US" sz="2400" dirty="0"/>
              <a:t>全选</a:t>
            </a:r>
            <a:r>
              <a:rPr lang="zh-CN" altLang="en-US" sz="2400" b="1" dirty="0"/>
              <a:t>）</a:t>
            </a:r>
            <a:br>
              <a:rPr lang="zh-CN" altLang="en-US" sz="2400" dirty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选定多行：</a:t>
            </a:r>
            <a:r>
              <a:rPr lang="zh-CN" altLang="en-US" sz="2400" b="1" dirty="0"/>
              <a:t>在选定栏鼠标从首行行首纵向</a:t>
            </a:r>
            <a:r>
              <a:rPr lang="zh-CN" altLang="en-US" sz="2400" dirty="0"/>
              <a:t>拖过各行</a:t>
            </a:r>
            <a:br>
              <a:rPr lang="zh-CN" altLang="en-US" sz="2400" dirty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6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任意行块：</a:t>
            </a:r>
            <a:r>
              <a:rPr lang="zh-CN" altLang="en-US" sz="2400" b="1" dirty="0"/>
              <a:t>先在块首（块尾）</a:t>
            </a:r>
            <a:r>
              <a:rPr lang="zh-CN" altLang="en-US" sz="2400" dirty="0"/>
              <a:t>单击</a:t>
            </a:r>
            <a:r>
              <a:rPr lang="zh-CN" altLang="en-US" sz="2400" b="1" dirty="0"/>
              <a:t>，然后在块尾（块首）</a:t>
            </a:r>
            <a:r>
              <a:rPr lang="en-US" altLang="zh-CN" sz="2400" dirty="0"/>
              <a:t>Shift+</a:t>
            </a:r>
            <a:r>
              <a:rPr lang="zh-CN" altLang="en-US" sz="2400" dirty="0"/>
              <a:t>单击</a:t>
            </a:r>
            <a:r>
              <a:rPr lang="zh-CN" altLang="en-US" sz="2400" b="1" dirty="0"/>
              <a:t>（大块文本的选择）</a:t>
            </a:r>
            <a:br>
              <a:rPr lang="zh-CN" altLang="en-US" sz="2400" dirty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7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任意列块：</a:t>
            </a:r>
            <a:r>
              <a:rPr lang="en-US" altLang="zh-CN" sz="2400" dirty="0"/>
              <a:t>Alt+</a:t>
            </a:r>
            <a:r>
              <a:rPr lang="zh-CN" altLang="en-US" sz="2400" dirty="0"/>
              <a:t>拖动</a:t>
            </a:r>
            <a:r>
              <a:rPr lang="zh-CN" altLang="en-US" sz="2400" b="1" dirty="0"/>
              <a:t>鼠标 </a:t>
            </a:r>
            <a:r>
              <a:rPr lang="en-US" altLang="zh-CN" sz="2400" b="1" dirty="0"/>
              <a:t>/ </a:t>
            </a:r>
            <a:r>
              <a:rPr lang="zh-CN" altLang="en-US" sz="2400" b="1" dirty="0"/>
              <a:t>先在块首（块尾）</a:t>
            </a:r>
            <a:r>
              <a:rPr lang="zh-CN" altLang="en-US" sz="2400" dirty="0"/>
              <a:t>单击</a:t>
            </a:r>
            <a:r>
              <a:rPr lang="zh-CN" altLang="en-US" sz="2400" b="1" dirty="0"/>
              <a:t>，然后在块尾（块首）</a:t>
            </a:r>
            <a:r>
              <a:rPr lang="en-US" altLang="zh-CN" sz="2400" dirty="0" err="1"/>
              <a:t>Alt+Shift</a:t>
            </a:r>
            <a:r>
              <a:rPr lang="en-US" altLang="zh-CN" sz="2400" dirty="0"/>
              <a:t>+</a:t>
            </a:r>
            <a:r>
              <a:rPr lang="zh-CN" altLang="en-US" sz="2400" dirty="0"/>
              <a:t>单击 </a:t>
            </a:r>
            <a:endParaRPr lang="zh-CN" altLang="en-US" sz="24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95" y="188913"/>
            <a:ext cx="9158721" cy="1079500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3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文本的修改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51535" y="1134110"/>
            <a:ext cx="10271125" cy="5039995"/>
          </a:xfrm>
        </p:spPr>
        <p:txBody>
          <a:bodyPr/>
          <a:lstStyle/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光标在错误文字的后面，敲击键盘上的</a:t>
            </a:r>
            <a:r>
              <a:rPr lang="en-US" altLang="zh-CN" sz="2400" b="1" dirty="0"/>
              <a:t>Backspace</a:t>
            </a:r>
            <a:r>
              <a:rPr lang="zh-CN" altLang="en-US" sz="2400" b="1" dirty="0"/>
              <a:t>退格键可以将其删除；</a:t>
            </a:r>
            <a:endParaRPr lang="zh-CN" altLang="en-US" sz="24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光标在错误文字的前面，敲击键盘上的</a:t>
            </a:r>
            <a:r>
              <a:rPr lang="en-US" altLang="zh-CN" sz="2400" b="1" dirty="0"/>
              <a:t>Delete</a:t>
            </a:r>
            <a:r>
              <a:rPr lang="zh-CN" altLang="en-US" sz="2400" b="1" dirty="0"/>
              <a:t>键，可删除错误的文字。</a:t>
            </a:r>
            <a:endParaRPr lang="zh-CN" altLang="en-US" sz="24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如果整行的文字需要修改，将文本选取，敲击键盘上的</a:t>
            </a:r>
            <a:r>
              <a:rPr lang="en-US" altLang="zh-CN" sz="2400" b="1" dirty="0"/>
              <a:t>Delete</a:t>
            </a:r>
            <a:r>
              <a:rPr lang="zh-CN" altLang="en-US" sz="2400" b="1" dirty="0"/>
              <a:t>键将其删除。</a:t>
            </a:r>
            <a:endParaRPr lang="zh-CN" altLang="en-US" sz="2400" b="1" dirty="0"/>
          </a:p>
          <a:p>
            <a:pPr marL="0" indent="0"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zh-CN" altLang="en-US" sz="24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  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91" y="692150"/>
            <a:ext cx="9006325" cy="1079500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4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插入符号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8518" y="1989138"/>
            <a:ext cx="9516533" cy="3816350"/>
          </a:xfrm>
        </p:spPr>
        <p:txBody>
          <a:bodyPr/>
          <a:lstStyle/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/>
              <a:t>运用</a:t>
            </a:r>
            <a:r>
              <a:rPr lang="en-US" altLang="zh-CN" sz="2800" b="1" dirty="0"/>
              <a:t>【</a:t>
            </a:r>
            <a:r>
              <a:rPr lang="zh-CN" altLang="en-US" sz="2800" b="1" dirty="0"/>
              <a:t>插入</a:t>
            </a:r>
            <a:r>
              <a:rPr lang="en-US" altLang="zh-CN" sz="2800" b="1" dirty="0"/>
              <a:t>】</a:t>
            </a:r>
            <a:r>
              <a:rPr lang="zh-CN" altLang="en-US" sz="2800" b="1" dirty="0"/>
              <a:t>选项卡</a:t>
            </a:r>
            <a:r>
              <a:rPr lang="en-US" altLang="zh-CN" sz="2800" b="1" dirty="0" smtClean="0"/>
              <a:t>/</a:t>
            </a:r>
            <a:r>
              <a:rPr lang="zh-CN" altLang="en-US" sz="2800" b="1" dirty="0" smtClean="0"/>
              <a:t>单</a:t>
            </a:r>
            <a:r>
              <a:rPr lang="zh-CN" altLang="en-US" sz="2800" b="1" dirty="0"/>
              <a:t>击</a:t>
            </a:r>
            <a:r>
              <a:rPr lang="zh-CN" altLang="en-US" sz="2800" b="1" dirty="0">
                <a:latin typeface="Arial" panose="020B0604020202020204"/>
              </a:rPr>
              <a:t>“</a:t>
            </a:r>
            <a:r>
              <a:rPr lang="zh-CN" altLang="en-US" sz="2800" b="1" dirty="0"/>
              <a:t>符号</a:t>
            </a:r>
            <a:r>
              <a:rPr lang="zh-CN" altLang="en-US" sz="2800" b="1" dirty="0">
                <a:latin typeface="Arial" panose="020B0604020202020204"/>
              </a:rPr>
              <a:t>”</a:t>
            </a:r>
            <a:r>
              <a:rPr lang="zh-CN" altLang="en-US" sz="2800" b="1" dirty="0"/>
              <a:t>按钮，在下拉框中选定</a:t>
            </a:r>
            <a:r>
              <a:rPr lang="zh-CN" altLang="en-US" sz="2800" b="1" dirty="0">
                <a:latin typeface="Arial" panose="020B0604020202020204"/>
              </a:rPr>
              <a:t>“</a:t>
            </a:r>
            <a:r>
              <a:rPr lang="zh-CN" altLang="en-US" sz="2800" b="1" dirty="0"/>
              <a:t>其他符号</a:t>
            </a:r>
            <a:r>
              <a:rPr lang="zh-CN" altLang="en-US" sz="2800" b="1" dirty="0">
                <a:latin typeface="Arial" panose="020B0604020202020204"/>
              </a:rPr>
              <a:t>”</a:t>
            </a:r>
            <a:r>
              <a:rPr lang="zh-CN" altLang="en-US" sz="2800" b="1" dirty="0"/>
              <a:t>项。</a:t>
            </a:r>
            <a:endParaRPr lang="zh-CN" altLang="en-US" sz="28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</a:t>
            </a:r>
            <a:endParaRPr lang="zh-CN" altLang="en-US" sz="28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在</a:t>
            </a:r>
            <a:r>
              <a:rPr lang="zh-CN" altLang="en-US" sz="2800" b="1" dirty="0">
                <a:latin typeface="Arial" panose="020B0604020202020204"/>
              </a:rPr>
              <a:t>“</a:t>
            </a:r>
            <a:r>
              <a:rPr lang="zh-CN" altLang="en-US" sz="2800" b="1" dirty="0"/>
              <a:t>五笔型</a:t>
            </a:r>
            <a:r>
              <a:rPr lang="zh-CN" altLang="en-US" sz="2800" b="1" dirty="0">
                <a:latin typeface="Arial" panose="020B0604020202020204"/>
              </a:rPr>
              <a:t>”</a:t>
            </a:r>
            <a:r>
              <a:rPr lang="zh-CN" altLang="en-US" sz="2800" b="1" dirty="0"/>
              <a:t>或汉语拼音输入状态下，运用键盘列表可在文档中插入各种符号。</a:t>
            </a:r>
            <a:endParaRPr lang="zh-CN" altLang="en-US" sz="2800" b="1" dirty="0"/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rgbClr val="FFFF00"/>
              </a:solidFill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99" y="692150"/>
            <a:ext cx="9311117" cy="1079500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5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撤消与恢复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90892" y="2667020"/>
            <a:ext cx="7258039" cy="2590800"/>
          </a:xfrm>
        </p:spPr>
        <p:txBody>
          <a:bodyPr/>
          <a:lstStyle/>
          <a:p>
            <a:pPr marL="0" indent="0">
              <a:lnSpc>
                <a:spcPct val="120000"/>
              </a:lnSpc>
              <a:buClr>
                <a:srgbClr val="FFFFFF"/>
              </a:buClr>
              <a:buSzTx/>
              <a:buNone/>
            </a:pP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）运</a:t>
            </a:r>
            <a:r>
              <a:rPr lang="zh-CN" altLang="en-US" sz="2800" b="1" dirty="0"/>
              <a:t>用工具栏上的相应按钮</a:t>
            </a:r>
            <a:endParaRPr lang="zh-CN" altLang="en-US" sz="2800" b="1" dirty="0"/>
          </a:p>
          <a:p>
            <a:pPr marL="0" indent="0">
              <a:lnSpc>
                <a:spcPct val="120000"/>
              </a:lnSpc>
              <a:buClr>
                <a:srgbClr val="FFFFFF"/>
              </a:buClr>
              <a:buSzTx/>
              <a:buNone/>
            </a:pP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）运</a:t>
            </a:r>
            <a:r>
              <a:rPr lang="zh-CN" altLang="en-US" sz="2800" b="1" dirty="0"/>
              <a:t>用键盘快捷键</a:t>
            </a:r>
            <a:endParaRPr lang="zh-CN" altLang="en-US" sz="2800" b="1" dirty="0"/>
          </a:p>
          <a:p>
            <a:pPr>
              <a:lnSpc>
                <a:spcPct val="120000"/>
              </a:lnSpc>
              <a:buClr>
                <a:srgbClr val="FFFFFF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撤消</a:t>
            </a:r>
            <a:r>
              <a:rPr lang="en-US" altLang="zh-CN" sz="2800" b="1" dirty="0"/>
              <a:t>CTRL+Z</a:t>
            </a:r>
            <a:endParaRPr lang="en-US" altLang="zh-CN" sz="2800" b="1" dirty="0"/>
          </a:p>
          <a:p>
            <a:pPr>
              <a:lnSpc>
                <a:spcPct val="120000"/>
              </a:lnSpc>
              <a:buClr>
                <a:srgbClr val="FFFFFF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恢复</a:t>
            </a:r>
            <a:r>
              <a:rPr lang="en-US" altLang="zh-CN" sz="2800" b="1" dirty="0"/>
              <a:t>CTRL+Y</a:t>
            </a:r>
            <a:endParaRPr lang="en-US" altLang="zh-CN" sz="2800" b="1" dirty="0"/>
          </a:p>
        </p:txBody>
      </p:sp>
      <p:sp>
        <p:nvSpPr>
          <p:cNvPr id="145412" name="Text Box 4"/>
          <p:cNvSpPr txBox="1">
            <a:spLocks noChangeArrowheads="1"/>
          </p:cNvSpPr>
          <p:nvPr/>
        </p:nvSpPr>
        <p:spPr bwMode="auto">
          <a:xfrm>
            <a:off x="1524120" y="1676446"/>
            <a:ext cx="9601200" cy="6524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   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对进行的操作进行撤消与恢复，可应用以下两种方法：</a:t>
            </a: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95" y="341309"/>
            <a:ext cx="9158721" cy="725553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6 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删除、移动、复制与粘贴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34434" y="1268414"/>
            <a:ext cx="11857567" cy="5113337"/>
          </a:xfrm>
        </p:spPr>
        <p:txBody>
          <a:bodyPr/>
          <a:lstStyle/>
          <a:p>
            <a:pPr lvl="2">
              <a:lnSpc>
                <a:spcPct val="100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删除文本 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宋体" panose="02010600030101010101" pitchFamily="2" charset="-122"/>
              </a:rPr>
              <a:t>    方法一：按</a:t>
            </a:r>
            <a:r>
              <a:rPr lang="en-US" altLang="zh-CN" sz="2200" b="1" dirty="0">
                <a:latin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zh-CN" altLang="en-US" sz="2200" b="1" dirty="0">
                <a:latin typeface="宋体" panose="02010600030101010101" pitchFamily="2" charset="-122"/>
              </a:rPr>
              <a:t>键或</a:t>
            </a:r>
            <a:r>
              <a:rPr lang="en-US" altLang="zh-CN" sz="2200" b="1" dirty="0">
                <a:latin typeface="宋体" panose="02010600030101010101" pitchFamily="2" charset="-122"/>
                <a:cs typeface="Times New Roman" panose="02020603050405020304" pitchFamily="18" charset="0"/>
              </a:rPr>
              <a:t>Backspace</a:t>
            </a:r>
            <a:r>
              <a:rPr lang="zh-CN" altLang="en-US" sz="2200" b="1" dirty="0">
                <a:latin typeface="宋体" panose="02010600030101010101" pitchFamily="2" charset="-122"/>
              </a:rPr>
              <a:t>键。</a:t>
            </a:r>
            <a:endParaRPr lang="zh-CN" altLang="en-US" sz="22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宋体" panose="02010600030101010101" pitchFamily="2" charset="-122"/>
              </a:rPr>
              <a:t>    方法二：选择</a:t>
            </a:r>
            <a:r>
              <a:rPr lang="en-US" altLang="zh-CN" sz="2200" b="1" dirty="0">
                <a:latin typeface="宋体" panose="02010600030101010101" pitchFamily="2" charset="-122"/>
              </a:rPr>
              <a:t>【</a:t>
            </a:r>
            <a:r>
              <a:rPr lang="zh-CN" altLang="en-US" sz="2200" b="1" dirty="0">
                <a:latin typeface="宋体" panose="02010600030101010101" pitchFamily="2" charset="-122"/>
              </a:rPr>
              <a:t>编辑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】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菜单</a:t>
            </a:r>
            <a:r>
              <a:rPr lang="en-US" altLang="zh-CN" sz="2200" b="1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【</a:t>
            </a:r>
            <a:r>
              <a:rPr lang="zh-CN" altLang="en-US" sz="2200" b="1" dirty="0">
                <a:latin typeface="宋体" panose="02010600030101010101" pitchFamily="2" charset="-122"/>
              </a:rPr>
              <a:t>清除</a:t>
            </a:r>
            <a:r>
              <a:rPr lang="en-US" altLang="zh-CN" sz="2200" b="1" dirty="0">
                <a:latin typeface="宋体" panose="02010600030101010101" pitchFamily="2" charset="-122"/>
              </a:rPr>
              <a:t>】</a:t>
            </a:r>
            <a:r>
              <a:rPr lang="zh-CN" altLang="en-US" sz="2200" b="1" dirty="0">
                <a:latin typeface="宋体" panose="02010600030101010101" pitchFamily="2" charset="-122"/>
              </a:rPr>
              <a:t>命令。</a:t>
            </a:r>
            <a:endParaRPr lang="zh-CN" altLang="en-US" sz="22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移动文本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复制文本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剪贴板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sz="2200" b="1" dirty="0">
                <a:latin typeface="Times New Roman" panose="02020603050405020304"/>
              </a:rPr>
              <a:t>“</a:t>
            </a:r>
            <a:r>
              <a:rPr lang="zh-CN" altLang="en-US" sz="2200" b="1" dirty="0">
                <a:latin typeface="宋体" panose="02010600030101010101" pitchFamily="2" charset="-122"/>
              </a:rPr>
              <a:t>剪贴板</a:t>
            </a:r>
            <a:r>
              <a:rPr lang="zh-CN" altLang="en-US" sz="2200" b="1" dirty="0">
                <a:latin typeface="Times New Roman" panose="02020603050405020304"/>
              </a:rPr>
              <a:t>”</a:t>
            </a:r>
            <a:r>
              <a:rPr lang="zh-CN" altLang="en-US" sz="2200" b="1" dirty="0">
                <a:latin typeface="宋体" panose="02010600030101010101" pitchFamily="2" charset="-122"/>
              </a:rPr>
              <a:t>是内存中的一块存储区域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三</a:t>
            </a:r>
            <a:r>
              <a:rPr lang="zh-CN" altLang="en-US" sz="2200" b="1" dirty="0">
                <a:latin typeface="宋体" panose="02010600030101010101" pitchFamily="2" charset="-122"/>
              </a:rPr>
              <a:t>个常用的剪贴板操作命令：</a:t>
            </a:r>
            <a:r>
              <a:rPr lang="en-US" altLang="zh-CN" sz="2200" b="1" dirty="0" err="1">
                <a:latin typeface="宋体" panose="02010600030101010101" pitchFamily="2" charset="-122"/>
              </a:rPr>
              <a:t>Ctrl+X</a:t>
            </a:r>
            <a:r>
              <a:rPr lang="zh-CN" altLang="en-US" sz="2200" b="1" dirty="0">
                <a:latin typeface="宋体" panose="02010600030101010101" pitchFamily="2" charset="-122"/>
              </a:rPr>
              <a:t>（剪贴） ；</a:t>
            </a:r>
            <a:r>
              <a:rPr lang="en-US" altLang="zh-CN" sz="2200" b="1" dirty="0" err="1">
                <a:latin typeface="宋体" panose="02010600030101010101" pitchFamily="2" charset="-122"/>
              </a:rPr>
              <a:t>Ctrl+C</a:t>
            </a:r>
            <a:r>
              <a:rPr lang="zh-CN" altLang="en-US" sz="2200" b="1" dirty="0">
                <a:latin typeface="宋体" panose="02010600030101010101" pitchFamily="2" charset="-122"/>
              </a:rPr>
              <a:t>（复制）； </a:t>
            </a:r>
            <a:r>
              <a:rPr lang="en-US" altLang="zh-CN" sz="2200" b="1" dirty="0" err="1">
                <a:latin typeface="宋体" panose="02010600030101010101" pitchFamily="2" charset="-122"/>
              </a:rPr>
              <a:t>Ctrl+V</a:t>
            </a:r>
            <a:r>
              <a:rPr lang="zh-CN" altLang="en-US" sz="2200" b="1" dirty="0">
                <a:latin typeface="宋体" panose="02010600030101010101" pitchFamily="2" charset="-122"/>
              </a:rPr>
              <a:t>（粘贴）。 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0167" y="692150"/>
            <a:ext cx="10363200" cy="5403850"/>
          </a:xfrm>
          <a:noFill/>
        </p:spPr>
        <p:txBody>
          <a:bodyPr/>
          <a:lstStyle/>
          <a:p>
            <a:pPr>
              <a:lnSpc>
                <a:spcPct val="100000"/>
              </a:lnSpc>
              <a:spcBef>
                <a:spcPct val="30000"/>
              </a:spcBef>
            </a:pPr>
            <a:r>
              <a:rPr lang="zh-CN" altLang="en-US" sz="2400" b="1" dirty="0"/>
              <a:t>剪切功能是将文本块移动到剪贴板上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原处文本不保留）</a:t>
            </a:r>
            <a:br>
              <a:rPr lang="zh-CN" altLang="en-US" sz="2400" b="1" dirty="0"/>
            </a:br>
            <a:r>
              <a:rPr lang="zh-CN" altLang="en-US" sz="2400" b="1" dirty="0"/>
              <a:t>快捷方式：</a:t>
            </a:r>
            <a:r>
              <a:rPr lang="en-US" altLang="zh-CN" sz="2400" b="1" dirty="0" err="1"/>
              <a:t>Ctrl+X</a:t>
            </a:r>
            <a:br>
              <a:rPr lang="en-US" altLang="zh-CN" sz="2400" b="1" dirty="0"/>
            </a:br>
            <a:r>
              <a:rPr lang="zh-CN" altLang="en-US" sz="2400" b="1" dirty="0"/>
              <a:t>工具方式：</a:t>
            </a:r>
            <a:br>
              <a:rPr lang="zh-CN" altLang="en-US" sz="2400" b="1" dirty="0"/>
            </a:br>
            <a:r>
              <a:rPr lang="zh-CN" altLang="en-US" sz="2400" b="1" dirty="0"/>
              <a:t>菜单方式：</a:t>
            </a:r>
            <a:r>
              <a:rPr lang="en-US" altLang="zh-CN" sz="2400" b="1" dirty="0"/>
              <a:t>[</a:t>
            </a:r>
            <a:r>
              <a:rPr lang="zh-CN" altLang="en-US" sz="2400" b="1" dirty="0"/>
              <a:t>开始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－</a:t>
            </a:r>
            <a:r>
              <a:rPr lang="en-US" altLang="zh-CN" sz="2400" b="1" dirty="0" smtClean="0"/>
              <a:t>[</a:t>
            </a:r>
            <a:r>
              <a:rPr lang="zh-CN" altLang="en-US" sz="2400" b="1" dirty="0" smtClean="0"/>
              <a:t>剪切</a:t>
            </a:r>
            <a:r>
              <a:rPr lang="en-US" altLang="zh-CN" sz="2400" b="1" dirty="0" smtClean="0"/>
              <a:t>]</a:t>
            </a:r>
            <a:r>
              <a:rPr lang="zh-CN" altLang="en-US" sz="2400" b="1" dirty="0" smtClean="0"/>
              <a:t>按</a:t>
            </a:r>
            <a:r>
              <a:rPr lang="zh-CN" altLang="en-US" sz="2400" b="1" dirty="0"/>
              <a:t>钮</a:t>
            </a:r>
            <a:br>
              <a:rPr lang="zh-CN" altLang="en-US" sz="2400" b="1" dirty="0"/>
            </a:br>
            <a:br>
              <a:rPr lang="zh-CN" altLang="en-US" sz="2400" b="1" dirty="0"/>
            </a:br>
            <a:r>
              <a:rPr lang="zh-CN" altLang="en-US" sz="2400" b="1" dirty="0"/>
              <a:t>复制功能是将文本块复制到剪贴板上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原处文本仍保留）</a:t>
            </a:r>
            <a:br>
              <a:rPr lang="zh-CN" altLang="en-US" sz="2400" b="1" dirty="0"/>
            </a:br>
            <a:r>
              <a:rPr lang="zh-CN" altLang="en-US" sz="2400" b="1" dirty="0"/>
              <a:t>快捷方式：</a:t>
            </a:r>
            <a:r>
              <a:rPr lang="en-US" altLang="zh-CN" sz="2400" b="1" dirty="0" err="1"/>
              <a:t>Ctrl+C</a:t>
            </a:r>
            <a:br>
              <a:rPr lang="en-US" altLang="zh-CN" sz="2400" b="1" dirty="0"/>
            </a:br>
            <a:r>
              <a:rPr lang="zh-CN" altLang="en-US" sz="2400" b="1" dirty="0"/>
              <a:t>工具方式：</a:t>
            </a:r>
            <a:br>
              <a:rPr lang="zh-CN" altLang="en-US" sz="2400" b="1" dirty="0"/>
            </a:br>
            <a:r>
              <a:rPr lang="zh-CN" altLang="en-US" sz="2400" b="1" dirty="0"/>
              <a:t>菜单方式：</a:t>
            </a:r>
            <a:r>
              <a:rPr lang="en-US" altLang="zh-CN" sz="2400" b="1" dirty="0"/>
              <a:t>[</a:t>
            </a:r>
            <a:r>
              <a:rPr lang="zh-CN" altLang="en-US" sz="2400" b="1" dirty="0"/>
              <a:t>开始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－</a:t>
            </a:r>
            <a:r>
              <a:rPr lang="en-US" altLang="zh-CN" sz="2400" b="1" dirty="0" smtClean="0"/>
              <a:t>[</a:t>
            </a:r>
            <a:r>
              <a:rPr lang="zh-CN" altLang="en-US" sz="2400" b="1" dirty="0" smtClean="0"/>
              <a:t>复制</a:t>
            </a:r>
            <a:r>
              <a:rPr lang="en-US" altLang="zh-CN" sz="2400" b="1" dirty="0" smtClean="0"/>
              <a:t>]</a:t>
            </a:r>
            <a:r>
              <a:rPr lang="zh-CN" altLang="en-US" sz="2400" b="1" dirty="0" smtClean="0"/>
              <a:t>按</a:t>
            </a:r>
            <a:r>
              <a:rPr lang="zh-CN" altLang="en-US" sz="2400" b="1" dirty="0"/>
              <a:t>钮</a:t>
            </a:r>
            <a:br>
              <a:rPr lang="zh-CN" altLang="en-US" sz="2400" b="1" dirty="0"/>
            </a:br>
            <a:endParaRPr lang="zh-CN" altLang="en-US" sz="2400" b="1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434" y="1981200"/>
            <a:ext cx="11233151" cy="4114800"/>
          </a:xfrm>
        </p:spPr>
        <p:txBody>
          <a:bodyPr/>
          <a:lstStyle/>
          <a:p>
            <a:r>
              <a:rPr lang="zh-CN" altLang="en-US" sz="2800" dirty="0"/>
              <a:t>粘贴功能是将剪贴板上的内容复制到插入点（光标位置）</a:t>
            </a:r>
            <a:br>
              <a:rPr lang="zh-CN" altLang="en-US" sz="2800" dirty="0"/>
            </a:br>
            <a:r>
              <a:rPr lang="zh-CN" altLang="en-US" sz="2800" b="1" dirty="0"/>
              <a:t>快捷方式：</a:t>
            </a:r>
            <a:r>
              <a:rPr lang="en-US" altLang="zh-CN" sz="2800" dirty="0" err="1"/>
              <a:t>Ctrl+V</a:t>
            </a:r>
            <a:br>
              <a:rPr lang="en-US" altLang="zh-CN" sz="2800" dirty="0"/>
            </a:br>
            <a:r>
              <a:rPr lang="zh-CN" altLang="en-US" sz="2800" b="1" dirty="0"/>
              <a:t>工具方式：</a:t>
            </a:r>
            <a:br>
              <a:rPr lang="zh-CN" altLang="en-US" sz="2800" dirty="0"/>
            </a:br>
            <a:r>
              <a:rPr lang="zh-CN" altLang="en-US" sz="2800" b="1" dirty="0"/>
              <a:t>菜单方式：</a:t>
            </a:r>
            <a:r>
              <a:rPr lang="en-US" altLang="zh-CN" sz="2800" b="1" dirty="0"/>
              <a:t>[</a:t>
            </a:r>
            <a:r>
              <a:rPr lang="zh-CN" altLang="en-US" sz="2800" b="1" dirty="0"/>
              <a:t>开始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－</a:t>
            </a:r>
            <a:r>
              <a:rPr lang="en-US" altLang="zh-CN" sz="2800" b="1" dirty="0" smtClean="0"/>
              <a:t>[</a:t>
            </a:r>
            <a:r>
              <a:rPr lang="zh-CN" altLang="en-US" sz="2800" b="1" dirty="0" smtClean="0"/>
              <a:t>粘贴</a:t>
            </a:r>
            <a:r>
              <a:rPr lang="en-US" altLang="zh-CN" sz="2800" b="1" dirty="0" smtClean="0"/>
              <a:t>]</a:t>
            </a:r>
            <a:r>
              <a:rPr lang="zh-CN" altLang="en-US" sz="2800" b="1" dirty="0" smtClean="0"/>
              <a:t>按</a:t>
            </a:r>
            <a:r>
              <a:rPr lang="zh-CN" altLang="en-US" sz="2800" b="1" dirty="0"/>
              <a:t>钮</a:t>
            </a:r>
            <a:br>
              <a:rPr lang="zh-CN" altLang="en-US" sz="2800" b="1" dirty="0"/>
            </a:b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91" y="765175"/>
            <a:ext cx="9006325" cy="1079500"/>
          </a:xfrm>
        </p:spPr>
        <p:txBody>
          <a:bodyPr/>
          <a:lstStyle/>
          <a:p>
            <a:r>
              <a:rPr kumimoji="1" lang="en-US" altLang="zh-CN" sz="3800" b="1" dirty="0">
                <a:latin typeface="Times New Roman" panose="02020603050405020304" pitchFamily="18" charset="0"/>
              </a:rPr>
              <a:t>8  </a:t>
            </a:r>
            <a:r>
              <a:rPr kumimoji="1" lang="zh-CN" altLang="en-US" sz="3800" b="1" dirty="0">
                <a:latin typeface="Times New Roman" panose="02020603050405020304" pitchFamily="18" charset="0"/>
              </a:rPr>
              <a:t>查找与替换</a:t>
            </a:r>
            <a:endParaRPr kumimoji="1" lang="zh-CN" altLang="en-US" sz="3800" b="1" dirty="0">
              <a:latin typeface="Times New Roman" panose="02020603050405020304" pitchFamily="18" charset="0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86934" y="2060576"/>
            <a:ext cx="9520767" cy="3095625"/>
          </a:xfrm>
        </p:spPr>
        <p:txBody>
          <a:bodyPr/>
          <a:lstStyle/>
          <a:p>
            <a:pPr algn="just">
              <a:lnSpc>
                <a:spcPct val="130000"/>
              </a:lnSpc>
              <a:buClr>
                <a:srgbClr val="FFFF00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           </a:t>
            </a:r>
            <a:r>
              <a:rPr lang="zh-CN" altLang="en-US" sz="2800" b="1" dirty="0"/>
              <a:t>在多页文档中查找某文本，如果逐字查寻不但费时而且还会有遗漏，遇到这种情况时，可以运用</a:t>
            </a:r>
            <a:r>
              <a:rPr lang="en-US" altLang="zh-CN" sz="2800" b="1" dirty="0"/>
              <a:t>【</a:t>
            </a:r>
            <a:r>
              <a:rPr lang="zh-CN" altLang="en-US" sz="2800" b="1" dirty="0"/>
              <a:t>查找</a:t>
            </a:r>
            <a:r>
              <a:rPr lang="en-US" altLang="zh-CN" sz="2800" b="1" dirty="0"/>
              <a:t>】</a:t>
            </a:r>
            <a:r>
              <a:rPr lang="zh-CN" altLang="en-US" sz="2800" b="1" dirty="0"/>
              <a:t>命令进行编辑。如果个别文本需要用新内容来替换，还可以应用</a:t>
            </a:r>
            <a:r>
              <a:rPr lang="en-US" altLang="zh-CN" sz="2800" b="1" dirty="0"/>
              <a:t>【</a:t>
            </a:r>
            <a:r>
              <a:rPr lang="zh-CN" altLang="en-US" sz="2800" b="1" dirty="0"/>
              <a:t>替换</a:t>
            </a:r>
            <a:r>
              <a:rPr lang="en-US" altLang="zh-CN" sz="2800" b="1" dirty="0"/>
              <a:t>】</a:t>
            </a:r>
            <a:r>
              <a:rPr lang="zh-CN" altLang="en-US" sz="2800" b="1" dirty="0"/>
              <a:t>命令来进行文本的替换</a:t>
            </a:r>
            <a:r>
              <a:rPr lang="zh-CN" altLang="en-US" sz="2800" dirty="0"/>
              <a:t> </a:t>
            </a:r>
            <a:r>
              <a:rPr lang="zh-CN" altLang="en-US" sz="2800" b="1" dirty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284" y="1268413"/>
            <a:ext cx="103632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2400" dirty="0"/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/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）查找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 lvl="1">
              <a:buNone/>
            </a:pPr>
            <a:r>
              <a:rPr lang="zh-CN" altLang="en-US" sz="2400" dirty="0"/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选择</a:t>
            </a:r>
            <a:r>
              <a:rPr lang="en-US" altLang="zh-CN" sz="2400" dirty="0"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latin typeface="宋体" panose="02010600030101010101" pitchFamily="2" charset="-122"/>
              </a:rPr>
              <a:t>开始</a:t>
            </a:r>
            <a:r>
              <a:rPr lang="en-US" altLang="zh-CN" sz="2400" dirty="0">
                <a:latin typeface="宋体" panose="02010600030101010101" pitchFamily="2" charset="-122"/>
              </a:rPr>
              <a:t>】</a:t>
            </a:r>
            <a:r>
              <a:rPr lang="zh-CN" altLang="en-US" sz="2400" dirty="0">
                <a:latin typeface="宋体" panose="02010600030101010101" pitchFamily="2" charset="-122"/>
              </a:rPr>
              <a:t>选项</a:t>
            </a:r>
            <a:r>
              <a:rPr lang="zh-CN" altLang="en-US" sz="2400" dirty="0" smtClean="0">
                <a:latin typeface="宋体" panose="02010600030101010101" pitchFamily="2" charset="-122"/>
              </a:rPr>
              <a:t>卡</a:t>
            </a:r>
            <a:r>
              <a:rPr lang="en-US" altLang="zh-CN" sz="2400" dirty="0" smtClean="0"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latin typeface="宋体" panose="02010600030101010101" pitchFamily="2" charset="-122"/>
              </a:rPr>
              <a:t>查</a:t>
            </a:r>
            <a:r>
              <a:rPr lang="zh-CN" altLang="en-US" sz="2400" dirty="0" smtClean="0">
                <a:latin typeface="宋体" panose="02010600030101010101" pitchFamily="2" charset="-122"/>
              </a:rPr>
              <a:t>找替换</a:t>
            </a:r>
            <a:r>
              <a:rPr lang="en-US" altLang="zh-CN" sz="2400" dirty="0" smtClean="0">
                <a:latin typeface="宋体" panose="02010600030101010101" pitchFamily="2" charset="-122"/>
              </a:rPr>
              <a:t>】</a:t>
            </a:r>
            <a:r>
              <a:rPr lang="zh-CN" altLang="en-US" sz="2400" dirty="0" smtClean="0">
                <a:latin typeface="宋体" panose="02010600030101010101" pitchFamily="2" charset="-122"/>
              </a:rPr>
              <a:t>项</a:t>
            </a:r>
            <a:r>
              <a:rPr lang="en-US" altLang="zh-CN" sz="2400" dirty="0" smtClean="0">
                <a:latin typeface="宋体" panose="02010600030101010101" pitchFamily="2" charset="-122"/>
              </a:rPr>
              <a:t>- 【</a:t>
            </a:r>
            <a:r>
              <a:rPr lang="zh-CN" altLang="en-US" sz="2400" dirty="0" smtClean="0">
                <a:latin typeface="宋体" panose="02010600030101010101" pitchFamily="2" charset="-122"/>
              </a:rPr>
              <a:t>查找</a:t>
            </a:r>
            <a:r>
              <a:rPr lang="en-US" altLang="zh-CN" sz="2400" dirty="0" smtClean="0">
                <a:latin typeface="宋体" panose="02010600030101010101" pitchFamily="2" charset="-122"/>
              </a:rPr>
              <a:t>】</a:t>
            </a:r>
            <a:r>
              <a:rPr lang="zh-CN" altLang="en-US" sz="2400" dirty="0" smtClean="0">
                <a:latin typeface="宋体" panose="02010600030101010101" pitchFamily="2" charset="-122"/>
              </a:rPr>
              <a:t>项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）替换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 lvl="1">
              <a:buNone/>
            </a:pPr>
            <a:r>
              <a:rPr lang="zh-CN" altLang="en-US" sz="2400" dirty="0"/>
              <a:t>	</a:t>
            </a:r>
            <a:r>
              <a:rPr lang="zh-CN" altLang="en-US" sz="2400" dirty="0">
                <a:latin typeface="宋体" panose="02010600030101010101" pitchFamily="2" charset="-122"/>
              </a:rPr>
              <a:t>选择</a:t>
            </a:r>
            <a:r>
              <a:rPr lang="en-US" altLang="zh-CN" sz="2400" dirty="0">
                <a:latin typeface="宋体" panose="02010600030101010101" pitchFamily="2" charset="-122"/>
              </a:rPr>
              <a:t>【</a:t>
            </a:r>
            <a:r>
              <a:rPr lang="zh-CN" altLang="en-US" sz="2400" dirty="0">
                <a:latin typeface="宋体" panose="02010600030101010101" pitchFamily="2" charset="-122"/>
              </a:rPr>
              <a:t>开始</a:t>
            </a:r>
            <a:r>
              <a:rPr lang="en-US" altLang="zh-CN" sz="2400" dirty="0">
                <a:latin typeface="宋体" panose="02010600030101010101" pitchFamily="2" charset="-122"/>
              </a:rPr>
              <a:t>】</a:t>
            </a:r>
            <a:r>
              <a:rPr lang="zh-CN" altLang="en-US" sz="2400" dirty="0">
                <a:latin typeface="宋体" panose="02010600030101010101" pitchFamily="2" charset="-122"/>
              </a:rPr>
              <a:t>选项</a:t>
            </a:r>
            <a:r>
              <a:rPr lang="zh-CN" altLang="en-US" sz="2400" dirty="0" smtClean="0">
                <a:latin typeface="宋体" panose="02010600030101010101" pitchFamily="2" charset="-122"/>
              </a:rPr>
              <a:t>卡</a:t>
            </a:r>
            <a:r>
              <a:rPr lang="en-US" altLang="zh-CN" sz="2400" dirty="0" smtClean="0">
                <a:latin typeface="宋体" panose="02010600030101010101" pitchFamily="2" charset="-122"/>
              </a:rPr>
              <a:t>【</a:t>
            </a:r>
            <a:r>
              <a:rPr lang="zh-CN" altLang="en-US" sz="2400" dirty="0" smtClean="0">
                <a:latin typeface="宋体" panose="02010600030101010101" pitchFamily="2" charset="-122"/>
              </a:rPr>
              <a:t>查找替换</a:t>
            </a:r>
            <a:r>
              <a:rPr lang="en-US" altLang="zh-CN" sz="2400" dirty="0" smtClean="0">
                <a:latin typeface="宋体" panose="02010600030101010101" pitchFamily="2" charset="-122"/>
              </a:rPr>
              <a:t>】</a:t>
            </a:r>
            <a:r>
              <a:rPr lang="zh-CN" altLang="en-US" sz="2400" dirty="0" smtClean="0">
                <a:latin typeface="宋体" panose="02010600030101010101" pitchFamily="2" charset="-122"/>
              </a:rPr>
              <a:t>项</a:t>
            </a:r>
            <a:r>
              <a:rPr lang="en-US" altLang="zh-CN" sz="2400" dirty="0" smtClean="0">
                <a:latin typeface="宋体" panose="02010600030101010101" pitchFamily="2" charset="-122"/>
              </a:rPr>
              <a:t>- 【</a:t>
            </a:r>
            <a:r>
              <a:rPr lang="zh-CN" altLang="en-US" sz="2400" dirty="0" smtClean="0">
                <a:latin typeface="宋体" panose="02010600030101010101" pitchFamily="2" charset="-122"/>
              </a:rPr>
              <a:t>替换</a:t>
            </a:r>
            <a:r>
              <a:rPr lang="en-US" altLang="zh-CN" sz="2400" dirty="0" smtClean="0">
                <a:latin typeface="宋体" panose="02010600030101010101" pitchFamily="2" charset="-122"/>
              </a:rPr>
              <a:t>】</a:t>
            </a:r>
            <a:r>
              <a:rPr lang="zh-CN" altLang="en-US" sz="2400" dirty="0" smtClean="0">
                <a:latin typeface="宋体" panose="02010600030101010101" pitchFamily="2" charset="-122"/>
              </a:rPr>
              <a:t>项</a:t>
            </a:r>
            <a:endParaRPr lang="zh-CN" altLang="en-US" sz="24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89" y="457200"/>
            <a:ext cx="8623211" cy="762058"/>
          </a:xfrm>
        </p:spPr>
        <p:txBody>
          <a:bodyPr/>
          <a:lstStyle/>
          <a:p>
            <a:r>
              <a:rPr lang="zh-CN" altLang="en-US" dirty="0"/>
              <a:t>查找</a:t>
            </a:r>
            <a:endParaRPr lang="zh-CN" altLang="en-US" dirty="0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744" y="1524050"/>
            <a:ext cx="5528733" cy="4648200"/>
          </a:xfrm>
          <a:noFill/>
        </p:spPr>
        <p:txBody>
          <a:bodyPr lIns="91440" tIns="45720" rIns="91440" bIns="45720"/>
          <a:lstStyle/>
          <a:p>
            <a:r>
              <a:rPr lang="zh-CN" altLang="en-US" sz="2800" dirty="0"/>
              <a:t>无格式的查找</a:t>
            </a:r>
            <a:endParaRPr lang="zh-CN" altLang="en-US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 smtClean="0"/>
              <a:t>在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zh-CN" altLang="en-US" sz="2800" dirty="0"/>
              <a:t>查找内容</a:t>
            </a:r>
            <a:r>
              <a:rPr lang="zh-CN" altLang="en-US" sz="2800" dirty="0">
                <a:latin typeface="Arial" panose="020B0604020202020204"/>
              </a:rPr>
              <a:t>”</a:t>
            </a:r>
            <a:r>
              <a:rPr lang="zh-CN" altLang="en-US" sz="2800" dirty="0"/>
              <a:t>中输入要找的文本（如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zh-CN" altLang="en-US" sz="2800" dirty="0"/>
              <a:t>用户</a:t>
            </a:r>
            <a:r>
              <a:rPr lang="zh-CN" altLang="en-US" sz="2800" dirty="0">
                <a:latin typeface="Arial" panose="020B0604020202020204"/>
              </a:rPr>
              <a:t>”</a:t>
            </a:r>
            <a:r>
              <a:rPr lang="zh-CN" altLang="en-US" sz="2800" dirty="0"/>
              <a:t>），按下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zh-CN" altLang="en-US" sz="2800" dirty="0"/>
              <a:t>高级</a:t>
            </a:r>
            <a:r>
              <a:rPr lang="zh-CN" altLang="en-US" sz="2800" dirty="0">
                <a:latin typeface="Arial" panose="020B0604020202020204"/>
              </a:rPr>
              <a:t>”</a:t>
            </a:r>
            <a:r>
              <a:rPr lang="zh-CN" altLang="en-US" sz="2800" dirty="0"/>
              <a:t>按钮，在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zh-CN" altLang="en-US" sz="2800" dirty="0"/>
              <a:t>搜索范围</a:t>
            </a:r>
            <a:r>
              <a:rPr lang="zh-CN" altLang="en-US" sz="2800" dirty="0">
                <a:latin typeface="Arial" panose="020B0604020202020204"/>
              </a:rPr>
              <a:t>”</a:t>
            </a:r>
            <a:r>
              <a:rPr lang="zh-CN" altLang="en-US" sz="2800" dirty="0"/>
              <a:t>中，选整个文档，还可区分全半角（大小写），最后按</a:t>
            </a:r>
            <a:r>
              <a:rPr lang="zh-CN" altLang="en-US" sz="2800" dirty="0">
                <a:latin typeface="Arial" panose="020B0604020202020204"/>
              </a:rPr>
              <a:t>“</a:t>
            </a:r>
            <a:r>
              <a:rPr lang="zh-CN" altLang="en-US" sz="2800" dirty="0"/>
              <a:t>关闭</a:t>
            </a:r>
            <a:r>
              <a:rPr lang="zh-CN" altLang="en-US" sz="2800" dirty="0">
                <a:latin typeface="Arial" panose="020B0604020202020204"/>
              </a:rPr>
              <a:t>”</a:t>
            </a:r>
            <a:r>
              <a:rPr lang="zh-CN" altLang="en-US" sz="2800" dirty="0"/>
              <a:t>。    </a:t>
            </a:r>
            <a:endParaRPr lang="zh-CN" altLang="en-US" sz="2800" dirty="0"/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6781782" y="1524050"/>
            <a:ext cx="4802717" cy="403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2800" dirty="0">
                <a:latin typeface="Tahoma" panose="020B0604030504040204" pitchFamily="34" charset="0"/>
              </a:rPr>
              <a:t>带格式的查找</a:t>
            </a:r>
            <a:endParaRPr kumimoji="1" lang="zh-CN" altLang="en-US" sz="2800" dirty="0">
              <a:latin typeface="Tahoma" panose="020B060403050404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800" dirty="0" smtClean="0">
                <a:latin typeface="Tahoma" panose="020B0604030504040204" pitchFamily="34" charset="0"/>
              </a:rPr>
              <a:t>在</a:t>
            </a:r>
            <a:r>
              <a:rPr kumimoji="1" lang="zh-CN" altLang="en-US" sz="2800" dirty="0">
                <a:latin typeface="Times New Roman" panose="02020603050405020304"/>
              </a:rPr>
              <a:t>“</a:t>
            </a:r>
            <a:r>
              <a:rPr kumimoji="1" lang="zh-CN" altLang="en-US" sz="2800" dirty="0">
                <a:latin typeface="Tahoma" panose="020B0604030504040204" pitchFamily="34" charset="0"/>
              </a:rPr>
              <a:t>查找内容</a:t>
            </a:r>
            <a:r>
              <a:rPr kumimoji="1" lang="zh-CN" altLang="en-US" sz="2800" dirty="0">
                <a:latin typeface="Times New Roman" panose="02020603050405020304"/>
              </a:rPr>
              <a:t>”</a:t>
            </a:r>
            <a:r>
              <a:rPr kumimoji="1" lang="zh-CN" altLang="en-US" sz="2800" dirty="0">
                <a:latin typeface="Tahoma" panose="020B0604030504040204" pitchFamily="34" charset="0"/>
              </a:rPr>
              <a:t>中输入</a:t>
            </a:r>
            <a:r>
              <a:rPr kumimoji="1" lang="zh-CN" altLang="en-US" sz="2800" dirty="0">
                <a:latin typeface="Times New Roman" panose="02020603050405020304"/>
              </a:rPr>
              <a:t>“</a:t>
            </a:r>
            <a:r>
              <a:rPr kumimoji="1" lang="zh-CN" altLang="en-US" sz="2800" dirty="0">
                <a:latin typeface="Tahoma" panose="020B0604030504040204" pitchFamily="34" charset="0"/>
              </a:rPr>
              <a:t>用户</a:t>
            </a:r>
            <a:r>
              <a:rPr kumimoji="1" lang="zh-CN" altLang="en-US" sz="2800" dirty="0">
                <a:latin typeface="Times New Roman" panose="02020603050405020304"/>
              </a:rPr>
              <a:t>”</a:t>
            </a:r>
            <a:r>
              <a:rPr kumimoji="1" lang="en-US" altLang="zh-CN" sz="2800" dirty="0">
                <a:latin typeface="Times New Roman" panose="02020603050405020304"/>
              </a:rPr>
              <a:t>—</a:t>
            </a:r>
            <a:r>
              <a:rPr kumimoji="1" lang="zh-CN" altLang="en-US" sz="2800" dirty="0">
                <a:latin typeface="Tahoma" panose="020B0604030504040204" pitchFamily="34" charset="0"/>
              </a:rPr>
              <a:t>按下</a:t>
            </a:r>
            <a:r>
              <a:rPr kumimoji="1" lang="zh-CN" altLang="en-US" sz="2800" dirty="0">
                <a:latin typeface="Times New Roman" panose="02020603050405020304"/>
              </a:rPr>
              <a:t>“</a:t>
            </a:r>
            <a:r>
              <a:rPr kumimoji="1" lang="zh-CN" altLang="en-US" sz="2800" dirty="0">
                <a:latin typeface="Tahoma" panose="020B0604030504040204" pitchFamily="34" charset="0"/>
              </a:rPr>
              <a:t>格式</a:t>
            </a:r>
            <a:r>
              <a:rPr kumimoji="1" lang="zh-CN" altLang="en-US" sz="2800" dirty="0">
                <a:latin typeface="Times New Roman" panose="02020603050405020304"/>
              </a:rPr>
              <a:t>”</a:t>
            </a:r>
            <a:r>
              <a:rPr kumimoji="1" lang="zh-CN" altLang="en-US" sz="2800" dirty="0">
                <a:latin typeface="Tahoma" panose="020B0604030504040204" pitchFamily="34" charset="0"/>
              </a:rPr>
              <a:t>按钮，选</a:t>
            </a:r>
            <a:r>
              <a:rPr kumimoji="1" lang="zh-CN" altLang="en-US" sz="2800" dirty="0">
                <a:latin typeface="Times New Roman" panose="02020603050405020304"/>
              </a:rPr>
              <a:t>“</a:t>
            </a:r>
            <a:r>
              <a:rPr kumimoji="1" lang="zh-CN" altLang="en-US" sz="2800" dirty="0">
                <a:latin typeface="Tahoma" panose="020B0604030504040204" pitchFamily="34" charset="0"/>
              </a:rPr>
              <a:t>字体</a:t>
            </a:r>
            <a:r>
              <a:rPr kumimoji="1" lang="zh-CN" altLang="en-US" sz="2800" dirty="0">
                <a:latin typeface="Times New Roman" panose="02020603050405020304"/>
              </a:rPr>
              <a:t>”</a:t>
            </a:r>
            <a:r>
              <a:rPr kumimoji="1" lang="en-US" altLang="zh-CN" sz="2800" dirty="0">
                <a:latin typeface="Times New Roman" panose="02020603050405020304"/>
              </a:rPr>
              <a:t>—</a:t>
            </a:r>
            <a:r>
              <a:rPr kumimoji="1" lang="zh-CN" altLang="en-US" sz="2800" dirty="0">
                <a:latin typeface="Tahoma" panose="020B0604030504040204" pitchFamily="34" charset="0"/>
              </a:rPr>
              <a:t>查找字体格式</a:t>
            </a:r>
            <a:r>
              <a:rPr kumimoji="1" lang="en-US" altLang="zh-CN" sz="2800" dirty="0">
                <a:latin typeface="Times New Roman" panose="02020603050405020304"/>
              </a:rPr>
              <a:t>—</a:t>
            </a:r>
            <a:r>
              <a:rPr kumimoji="1" lang="zh-CN" altLang="en-US" sz="2800" dirty="0">
                <a:latin typeface="Tahoma" panose="020B0604030504040204" pitchFamily="34" charset="0"/>
              </a:rPr>
              <a:t>按下</a:t>
            </a:r>
            <a:r>
              <a:rPr kumimoji="1" lang="zh-CN" altLang="en-US" sz="2800" dirty="0">
                <a:latin typeface="Times New Roman" panose="02020603050405020304"/>
              </a:rPr>
              <a:t>“</a:t>
            </a:r>
            <a:r>
              <a:rPr kumimoji="1" lang="zh-CN" altLang="en-US" sz="2800" dirty="0">
                <a:latin typeface="Tahoma" panose="020B0604030504040204" pitchFamily="34" charset="0"/>
              </a:rPr>
              <a:t>确定</a:t>
            </a:r>
            <a:r>
              <a:rPr kumimoji="1" lang="zh-CN" altLang="en-US" sz="2800" dirty="0">
                <a:latin typeface="Times New Roman" panose="02020603050405020304"/>
              </a:rPr>
              <a:t>”</a:t>
            </a:r>
            <a:r>
              <a:rPr kumimoji="1" lang="zh-CN" altLang="en-US" sz="2800" dirty="0">
                <a:latin typeface="Tahoma" panose="020B0604030504040204" pitchFamily="34" charset="0"/>
              </a:rPr>
              <a:t>，返回</a:t>
            </a:r>
            <a:r>
              <a:rPr kumimoji="1" lang="zh-CN" altLang="en-US" sz="2800" dirty="0">
                <a:latin typeface="Times New Roman" panose="02020603050405020304"/>
              </a:rPr>
              <a:t>“</a:t>
            </a:r>
            <a:r>
              <a:rPr kumimoji="1" lang="zh-CN" altLang="en-US" sz="2800" dirty="0">
                <a:latin typeface="Tahoma" panose="020B0604030504040204" pitchFamily="34" charset="0"/>
              </a:rPr>
              <a:t>查找与替换</a:t>
            </a:r>
            <a:r>
              <a:rPr kumimoji="1" lang="zh-CN" altLang="en-US" sz="2800" dirty="0">
                <a:latin typeface="Times New Roman" panose="02020603050405020304"/>
              </a:rPr>
              <a:t>”</a:t>
            </a:r>
            <a:r>
              <a:rPr kumimoji="1" lang="zh-CN" altLang="en-US" sz="2800" dirty="0">
                <a:latin typeface="Tahoma" panose="020B0604030504040204" pitchFamily="34" charset="0"/>
              </a:rPr>
              <a:t>对话框。</a:t>
            </a:r>
            <a:endParaRPr kumimoji="1" lang="zh-CN" altLang="en-US" sz="2800" dirty="0">
              <a:latin typeface="Tahoma" panose="020B060403050404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800" dirty="0">
                <a:latin typeface="Tahoma" panose="020B0604030504040204" pitchFamily="34" charset="0"/>
              </a:rPr>
              <a:t>   查找特殊符号</a:t>
            </a:r>
            <a:endParaRPr kumimoji="1" lang="zh-CN" altLang="en-US" sz="2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Rectangle 3"/>
          <p:cNvSpPr>
            <a:spLocks noChangeArrowheads="1"/>
          </p:cNvSpPr>
          <p:nvPr/>
        </p:nvSpPr>
        <p:spPr bwMode="auto">
          <a:xfrm>
            <a:off x="4191000" y="2381250"/>
            <a:ext cx="121920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1504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59000" y="404814"/>
            <a:ext cx="7681384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100" y="1981238"/>
            <a:ext cx="7543602" cy="3818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27051" y="1052514"/>
            <a:ext cx="10363200" cy="10810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600"/>
              <a:t>例：</a:t>
            </a:r>
            <a:r>
              <a:rPr lang="zh-CN" altLang="en-US" sz="3600">
                <a:latin typeface="Arial" panose="020B0604020202020204"/>
              </a:rPr>
              <a:t>“</a:t>
            </a:r>
            <a:r>
              <a:rPr lang="zh-CN" altLang="en-US" sz="3600"/>
              <a:t>计算机</a:t>
            </a:r>
            <a:r>
              <a:rPr lang="zh-CN" altLang="en-US" sz="3600">
                <a:latin typeface="Arial" panose="020B0604020202020204"/>
              </a:rPr>
              <a:t>”</a:t>
            </a:r>
            <a:r>
              <a:rPr lang="zh-CN" altLang="en-US" sz="3600"/>
              <a:t>替换成红色、空心的</a:t>
            </a:r>
            <a:r>
              <a:rPr lang="zh-CN" altLang="en-US" sz="3600">
                <a:latin typeface="Arial" panose="020B0604020202020204"/>
              </a:rPr>
              <a:t>“</a:t>
            </a:r>
            <a:r>
              <a:rPr lang="zh-CN" altLang="en-US" sz="3600"/>
              <a:t>微机</a:t>
            </a:r>
            <a:r>
              <a:rPr lang="zh-CN" altLang="en-US" sz="3600">
                <a:latin typeface="Arial" panose="020B0604020202020204"/>
              </a:rPr>
              <a:t>”</a:t>
            </a:r>
            <a:r>
              <a:rPr lang="zh-CN" altLang="en-US" sz="3600"/>
              <a:t> 。</a:t>
            </a:r>
            <a:endParaRPr lang="zh-CN" altLang="en-US" sz="3600"/>
          </a:p>
          <a:p>
            <a:endParaRPr lang="en-US" altLang="zh-CN" sz="3600"/>
          </a:p>
        </p:txBody>
      </p:sp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2133703" y="333375"/>
            <a:ext cx="4777213" cy="628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Tahoma" panose="020B0604030504040204" pitchFamily="34" charset="0"/>
              </a:rPr>
              <a:t>替换</a:t>
            </a:r>
            <a:endParaRPr kumimoji="1" lang="zh-CN" altLang="en-US" sz="4400" dirty="0">
              <a:latin typeface="Tahoma" panose="020B0604030504040204" pitchFamily="34" charset="0"/>
            </a:endParaRPr>
          </a:p>
        </p:txBody>
      </p:sp>
      <p:pic>
        <p:nvPicPr>
          <p:cNvPr id="68610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9628" y="1684338"/>
            <a:ext cx="4103687" cy="281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2" name="图片 225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96255" y="1684655"/>
            <a:ext cx="3796665" cy="41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 dirty="0" smtClean="0"/>
              <a:t>9.</a:t>
            </a:r>
            <a:r>
              <a:rPr lang="zh-CN" altLang="en-US" sz="3600" b="1" dirty="0"/>
              <a:t>将另一个文</a:t>
            </a:r>
            <a:r>
              <a:rPr lang="zh-CN" altLang="en-US" sz="3600" b="1" dirty="0" smtClean="0"/>
              <a:t>档文字插</a:t>
            </a:r>
            <a:r>
              <a:rPr lang="zh-CN" altLang="en-US" sz="3600" b="1" dirty="0"/>
              <a:t>入到活动文档中</a:t>
            </a:r>
            <a:endParaRPr lang="zh-CN" altLang="en-US" sz="3600" b="1" dirty="0"/>
          </a:p>
          <a:p>
            <a:pPr>
              <a:buFont typeface="Wingdings" panose="05000000000000000000" pitchFamily="2" charset="2"/>
              <a:buNone/>
            </a:pPr>
            <a:endParaRPr lang="zh-CN" altLang="en-US" sz="3600" b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US" altLang="zh-CN" sz="2800" b="1" dirty="0"/>
              <a:t>[</a:t>
            </a:r>
            <a:r>
              <a:rPr lang="zh-CN" altLang="en-US" sz="2800" b="1" dirty="0"/>
              <a:t>插入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选项卡</a:t>
            </a:r>
            <a:r>
              <a:rPr lang="en-US" altLang="zh-CN" sz="2800" b="1" dirty="0" smtClean="0"/>
              <a:t>--</a:t>
            </a:r>
            <a:r>
              <a:rPr lang="en-US" altLang="zh-CN" sz="2800" b="1" dirty="0" smtClean="0">
                <a:latin typeface="Arial" panose="020B0604020202020204"/>
              </a:rPr>
              <a:t>“</a:t>
            </a:r>
            <a:r>
              <a:rPr lang="zh-CN" altLang="en-US" sz="2800" b="1" dirty="0" smtClean="0"/>
              <a:t>对象</a:t>
            </a:r>
            <a:r>
              <a:rPr lang="zh-CN" altLang="en-US" sz="2800" b="1" dirty="0" smtClean="0">
                <a:latin typeface="Arial" panose="020B0604020202020204"/>
              </a:rPr>
              <a:t>”</a:t>
            </a:r>
            <a:r>
              <a:rPr lang="en-US" altLang="zh-CN" sz="2800" b="1" dirty="0" smtClean="0"/>
              <a:t>-</a:t>
            </a:r>
            <a:r>
              <a:rPr lang="en-US" altLang="zh-CN" sz="2800" b="1" dirty="0" smtClean="0">
                <a:sym typeface="Wingdings" panose="05000000000000000000" pitchFamily="2" charset="2"/>
              </a:rPr>
              <a:t></a:t>
            </a:r>
            <a:r>
              <a:rPr lang="zh-CN" altLang="en-US" sz="2800" b="1" dirty="0" smtClean="0">
                <a:latin typeface="Arial" panose="020B0604020202020204"/>
              </a:rPr>
              <a:t>“文件中的文字”</a:t>
            </a:r>
            <a:r>
              <a:rPr lang="zh-CN" altLang="en-US" sz="2800" b="1" dirty="0" smtClean="0">
                <a:solidFill>
                  <a:schemeClr val="hlink"/>
                </a:solidFill>
              </a:rPr>
              <a:t> </a:t>
            </a:r>
            <a:endParaRPr lang="zh-CN" altLang="en-US" sz="2800" b="1" dirty="0">
              <a:solidFill>
                <a:schemeClr val="hlink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0860" y="274955"/>
            <a:ext cx="6887845" cy="1143000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+mn-ea"/>
              </a:rPr>
              <a:t>文档的美化</a:t>
            </a:r>
            <a:b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69590" y="1499235"/>
            <a:ext cx="5619115" cy="1710055"/>
          </a:xfrm>
        </p:spPr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1  </a:t>
            </a:r>
            <a:r>
              <a:rPr lang="zh-CN" altLang="en-US" b="1" dirty="0">
                <a:sym typeface="+mn-ea"/>
              </a:rPr>
              <a:t>设置字体格式</a:t>
            </a:r>
            <a:endParaRPr lang="zh-CN" altLang="en-US" b="1" dirty="0"/>
          </a:p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2  </a:t>
            </a:r>
            <a:r>
              <a:rPr lang="zh-CN" altLang="en-US" b="1" dirty="0">
                <a:sym typeface="+mn-ea"/>
              </a:rPr>
              <a:t>设置段落格式</a:t>
            </a:r>
            <a:endParaRPr lang="zh-CN" altLang="en-US" b="1" dirty="0"/>
          </a:p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3  </a:t>
            </a:r>
            <a:r>
              <a:rPr lang="zh-CN" altLang="en-US" b="1" dirty="0">
                <a:sym typeface="+mn-ea"/>
              </a:rPr>
              <a:t>设置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版</a:t>
            </a:r>
            <a:r>
              <a:rPr lang="zh-CN" altLang="en-US" b="1" dirty="0">
                <a:sym typeface="+mn-ea"/>
              </a:rPr>
              <a:t>面格式</a:t>
            </a:r>
            <a:endParaRPr lang="zh-CN" altLang="en-US" b="1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714" y="1033787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1  </a:t>
            </a:r>
            <a:r>
              <a:rPr lang="zh-CN" altLang="en-US" b="1" dirty="0">
                <a:sym typeface="+mn-ea"/>
              </a:rPr>
              <a:t>设置字体格式</a:t>
            </a:r>
            <a:endParaRPr lang="zh-CN" altLang="en-US" b="1" dirty="0"/>
          </a:p>
          <a:p>
            <a:pPr marL="533400" indent="-533400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ym typeface="+mn-ea"/>
              </a:rPr>
              <a:t>1</a:t>
            </a:r>
            <a:r>
              <a:rPr lang="zh-CN" altLang="en-US" sz="1800" b="1" dirty="0">
                <a:sym typeface="+mn-ea"/>
              </a:rPr>
              <a:t>）通过【开始】选项卡－【字体】选项组来进行字体格式的设置 。 </a:t>
            </a:r>
            <a:endParaRPr lang="zh-CN" altLang="en-US" sz="1800" b="1" dirty="0"/>
          </a:p>
          <a:p>
            <a:pPr marL="533400" indent="-533400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ym typeface="+mn-ea"/>
              </a:rPr>
              <a:t>2</a:t>
            </a:r>
            <a:r>
              <a:rPr lang="zh-CN" altLang="en-US" sz="1800" b="1" dirty="0">
                <a:sym typeface="+mn-ea"/>
              </a:rPr>
              <a:t>）运用【开始】选项卡－【字体】选项组，右下角的对话框启动器，弹出 “字体”对话框。 </a:t>
            </a:r>
            <a:endParaRPr lang="zh-CN" altLang="en-US" sz="1800" b="1" dirty="0"/>
          </a:p>
          <a:p>
            <a:pPr marL="533400" indent="-533400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1" dirty="0">
                <a:sym typeface="+mn-ea"/>
              </a:rPr>
              <a:t>3</a:t>
            </a:r>
            <a:r>
              <a:rPr lang="zh-CN" altLang="en-US" sz="1800" b="1" dirty="0">
                <a:sym typeface="+mn-ea"/>
              </a:rPr>
              <a:t>） 格式刷复制字符格式</a:t>
            </a:r>
            <a:endParaRPr lang="zh-CN" altLang="en-US" sz="1800" b="1" dirty="0"/>
          </a:p>
          <a:p>
            <a:pPr marL="533400" indent="-533400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1800" b="1" dirty="0">
                <a:sym typeface="+mn-ea"/>
              </a:rPr>
              <a:t> 【开始】选项卡－“剪贴板”功能区中的“格式刷”按钮</a:t>
            </a:r>
            <a:endParaRPr lang="zh-CN" altLang="en-US" sz="1800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800" b="1" dirty="0">
                <a:sym typeface="+mn-ea"/>
              </a:rPr>
              <a:t>(1) </a:t>
            </a:r>
            <a:r>
              <a:rPr lang="zh-CN" altLang="en-US" sz="1800" b="1" dirty="0">
                <a:sym typeface="+mn-ea"/>
              </a:rPr>
              <a:t>一次使用</a:t>
            </a:r>
            <a:endParaRPr lang="zh-CN" altLang="en-US" sz="1800" b="1" dirty="0"/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1800" b="1" dirty="0">
                <a:sym typeface="+mn-ea"/>
              </a:rPr>
              <a:t>         首先选定需要复制格式的文本，再</a:t>
            </a:r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单击</a:t>
            </a:r>
            <a:r>
              <a:rPr lang="zh-CN" altLang="en-US" sz="1800" b="1" dirty="0">
                <a:sym typeface="+mn-ea"/>
              </a:rPr>
              <a:t>格式刷按钮</a:t>
            </a:r>
            <a:endParaRPr lang="zh-CN" altLang="en-US" sz="1800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800" b="1" dirty="0">
                <a:sym typeface="+mn-ea"/>
              </a:rPr>
              <a:t>(2) </a:t>
            </a:r>
            <a:r>
              <a:rPr lang="zh-CN" altLang="en-US" sz="1800" b="1" dirty="0">
                <a:sym typeface="+mn-ea"/>
              </a:rPr>
              <a:t>多次使用</a:t>
            </a:r>
            <a:endParaRPr lang="zh-CN" altLang="en-US" sz="1800" b="1" dirty="0"/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1800" b="1" dirty="0">
                <a:sym typeface="+mn-ea"/>
              </a:rPr>
              <a:t>         选定需要复制格式的文本，双击格式刷按钮，可以多次使用格式刷复制格式，直到再次单击格式刷按钮或按【</a:t>
            </a:r>
            <a:r>
              <a:rPr lang="en-US" altLang="zh-CN" sz="1800" b="1" dirty="0">
                <a:sym typeface="+mn-ea"/>
              </a:rPr>
              <a:t>Esc</a:t>
            </a:r>
            <a:r>
              <a:rPr lang="zh-CN" altLang="en-US" sz="1800" b="1" dirty="0">
                <a:sym typeface="+mn-ea"/>
              </a:rPr>
              <a:t>】键为止。</a:t>
            </a:r>
            <a:endParaRPr lang="zh-CN" altLang="en-US" sz="1800" b="1" dirty="0"/>
          </a:p>
          <a:p>
            <a:endParaRPr lang="zh-CN" altLang="en-US" sz="18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内容占位符 4"/>
          <p:cNvGraphicFramePr/>
          <p:nvPr>
            <p:ph idx="1"/>
          </p:nvPr>
        </p:nvGraphicFramePr>
        <p:xfrm>
          <a:off x="3550920" y="2179320"/>
          <a:ext cx="4136390" cy="91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3143250" imgH="695325" progId="PBrush">
                  <p:embed/>
                </p:oleObj>
              </mc:Choice>
              <mc:Fallback>
                <p:oleObj name="" r:id="rId1" imgW="3143250" imgH="695325" progId="PBrush">
                  <p:embed/>
                  <p:pic>
                    <p:nvPicPr>
                      <p:cNvPr id="0" name="图片 2048" descr="image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50920" y="2179320"/>
                        <a:ext cx="4136390" cy="915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线形标注 1 6"/>
          <p:cNvSpPr/>
          <p:nvPr/>
        </p:nvSpPr>
        <p:spPr>
          <a:xfrm>
            <a:off x="4114165" y="1405255"/>
            <a:ext cx="703580" cy="374015"/>
          </a:xfrm>
          <a:prstGeom prst="borderCallout1">
            <a:avLst>
              <a:gd name="adj1" fmla="val 111205"/>
              <a:gd name="adj2" fmla="val 22833"/>
              <a:gd name="adj3" fmla="val 188750"/>
              <a:gd name="adj4" fmla="val -34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/>
              <a:t>字体</a:t>
            </a:r>
            <a:endParaRPr lang="zh-CN" altLang="zh-CN" b="1"/>
          </a:p>
        </p:txBody>
      </p:sp>
      <p:sp>
        <p:nvSpPr>
          <p:cNvPr id="8" name="线形标注 1 7"/>
          <p:cNvSpPr/>
          <p:nvPr/>
        </p:nvSpPr>
        <p:spPr>
          <a:xfrm>
            <a:off x="5267325" y="1405255"/>
            <a:ext cx="703580" cy="374015"/>
          </a:xfrm>
          <a:prstGeom prst="borderCallout1">
            <a:avLst>
              <a:gd name="adj1" fmla="val 111205"/>
              <a:gd name="adj2" fmla="val 22833"/>
              <a:gd name="adj3" fmla="val 193378"/>
              <a:gd name="adj4" fmla="val 145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/>
              <a:t>字号</a:t>
            </a:r>
            <a:endParaRPr lang="zh-CN" altLang="zh-CN" b="1"/>
          </a:p>
        </p:txBody>
      </p:sp>
      <p:sp>
        <p:nvSpPr>
          <p:cNvPr id="9" name="线形标注 1 8"/>
          <p:cNvSpPr/>
          <p:nvPr/>
        </p:nvSpPr>
        <p:spPr>
          <a:xfrm>
            <a:off x="6116320" y="931545"/>
            <a:ext cx="1304290" cy="374015"/>
          </a:xfrm>
          <a:prstGeom prst="borderCallout1">
            <a:avLst>
              <a:gd name="adj1" fmla="val 111205"/>
              <a:gd name="adj2" fmla="val 22833"/>
              <a:gd name="adj3" fmla="val 360611"/>
              <a:gd name="adj4" fmla="val 222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b="1"/>
              <a:t>增大</a:t>
            </a:r>
            <a:r>
              <a:rPr lang="en-US" altLang="zh-CN" sz="1200" b="1"/>
              <a:t>/</a:t>
            </a:r>
            <a:r>
              <a:rPr lang="zh-CN" altLang="zh-CN" sz="1200" b="1"/>
              <a:t>减小字号</a:t>
            </a:r>
            <a:endParaRPr lang="zh-CN" altLang="zh-CN" sz="1200" b="1"/>
          </a:p>
        </p:txBody>
      </p:sp>
      <p:sp>
        <p:nvSpPr>
          <p:cNvPr id="10" name="线形标注 1 9"/>
          <p:cNvSpPr/>
          <p:nvPr/>
        </p:nvSpPr>
        <p:spPr>
          <a:xfrm>
            <a:off x="6558915" y="1532255"/>
            <a:ext cx="1027430" cy="374015"/>
          </a:xfrm>
          <a:prstGeom prst="borderCallout1">
            <a:avLst>
              <a:gd name="adj1" fmla="val 106621"/>
              <a:gd name="adj2" fmla="val 38442"/>
              <a:gd name="adj3" fmla="val 200000"/>
              <a:gd name="adj4" fmla="val 359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b="1"/>
              <a:t>清除格式</a:t>
            </a:r>
            <a:endParaRPr lang="zh-CN" altLang="zh-CN" sz="1600" b="1"/>
          </a:p>
        </p:txBody>
      </p:sp>
      <p:graphicFrame>
        <p:nvGraphicFramePr>
          <p:cNvPr id="11" name="对象 10"/>
          <p:cNvGraphicFramePr/>
          <p:nvPr/>
        </p:nvGraphicFramePr>
        <p:xfrm>
          <a:off x="8194040" y="1238250"/>
          <a:ext cx="2051685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1552575" imgH="1381125" progId="PBrush">
                  <p:embed/>
                </p:oleObj>
              </mc:Choice>
              <mc:Fallback>
                <p:oleObj name="" r:id="rId3" imgW="1552575" imgH="1381125" progId="PBrush">
                  <p:embed/>
                  <p:pic>
                    <p:nvPicPr>
                      <p:cNvPr id="0" name="图片 2049" descr="image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94040" y="1238250"/>
                        <a:ext cx="2051685" cy="1682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/>
          <p:nvPr/>
        </p:nvSpPr>
        <p:spPr>
          <a:xfrm>
            <a:off x="7586345" y="2251710"/>
            <a:ext cx="6096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线形标注 1 13"/>
          <p:cNvSpPr/>
          <p:nvPr/>
        </p:nvSpPr>
        <p:spPr>
          <a:xfrm>
            <a:off x="2578735" y="2665730"/>
            <a:ext cx="703580" cy="374015"/>
          </a:xfrm>
          <a:prstGeom prst="borderCallout1">
            <a:avLst>
              <a:gd name="adj1" fmla="val 47877"/>
              <a:gd name="adj2" fmla="val 110559"/>
              <a:gd name="adj3" fmla="val 21392"/>
              <a:gd name="adj4" fmla="val 1575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/>
              <a:t>加粗</a:t>
            </a:r>
            <a:endParaRPr lang="zh-CN" altLang="zh-CN" b="1"/>
          </a:p>
        </p:txBody>
      </p:sp>
      <p:sp>
        <p:nvSpPr>
          <p:cNvPr id="15" name="线形标注 1 14"/>
          <p:cNvSpPr/>
          <p:nvPr/>
        </p:nvSpPr>
        <p:spPr>
          <a:xfrm>
            <a:off x="2933700" y="3242310"/>
            <a:ext cx="703580" cy="374015"/>
          </a:xfrm>
          <a:prstGeom prst="borderCallout1">
            <a:avLst>
              <a:gd name="adj1" fmla="val -4074"/>
              <a:gd name="adj2" fmla="val 106949"/>
              <a:gd name="adj3" fmla="val -77928"/>
              <a:gd name="adj4" fmla="val 1575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/>
              <a:t>倾斜</a:t>
            </a:r>
            <a:endParaRPr lang="zh-CN" altLang="zh-CN" b="1"/>
          </a:p>
        </p:txBody>
      </p:sp>
      <p:sp>
        <p:nvSpPr>
          <p:cNvPr id="16" name="线形标注 1 15"/>
          <p:cNvSpPr/>
          <p:nvPr/>
        </p:nvSpPr>
        <p:spPr>
          <a:xfrm>
            <a:off x="3906520" y="3181985"/>
            <a:ext cx="703580" cy="374015"/>
          </a:xfrm>
          <a:prstGeom prst="borderCallout1">
            <a:avLst>
              <a:gd name="adj1" fmla="val -10865"/>
              <a:gd name="adj2" fmla="val 60108"/>
              <a:gd name="adj3" fmla="val -71477"/>
              <a:gd name="adj4" fmla="val 710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b="1"/>
              <a:t>下划线</a:t>
            </a:r>
            <a:endParaRPr lang="zh-CN" altLang="zh-CN" sz="1200" b="1"/>
          </a:p>
        </p:txBody>
      </p:sp>
      <p:sp>
        <p:nvSpPr>
          <p:cNvPr id="17" name="线形标注 1 16"/>
          <p:cNvSpPr/>
          <p:nvPr/>
        </p:nvSpPr>
        <p:spPr>
          <a:xfrm>
            <a:off x="4284345" y="3616325"/>
            <a:ext cx="982980" cy="601345"/>
          </a:xfrm>
          <a:prstGeom prst="borderCallout1">
            <a:avLst>
              <a:gd name="adj1" fmla="val -4963"/>
              <a:gd name="adj2" fmla="val 56912"/>
              <a:gd name="adj3" fmla="val -107497"/>
              <a:gd name="adj4" fmla="val 571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b="1"/>
              <a:t>删除线</a:t>
            </a:r>
            <a:r>
              <a:rPr lang="en-US" altLang="zh-CN" sz="1600" b="1"/>
              <a:t>/</a:t>
            </a:r>
            <a:r>
              <a:rPr lang="zh-CN" altLang="zh-CN" sz="1600" b="1"/>
              <a:t>着重号</a:t>
            </a:r>
            <a:endParaRPr lang="zh-CN" altLang="zh-CN" sz="1600" b="1"/>
          </a:p>
        </p:txBody>
      </p:sp>
      <p:sp>
        <p:nvSpPr>
          <p:cNvPr id="18" name="线形标注 1 17"/>
          <p:cNvSpPr/>
          <p:nvPr/>
        </p:nvSpPr>
        <p:spPr>
          <a:xfrm>
            <a:off x="5005705" y="3181985"/>
            <a:ext cx="913765" cy="374015"/>
          </a:xfrm>
          <a:prstGeom prst="borderCallout1">
            <a:avLst>
              <a:gd name="adj1" fmla="val -10865"/>
              <a:gd name="adj2" fmla="val 58935"/>
              <a:gd name="adj3" fmla="val -87266"/>
              <a:gd name="adj4" fmla="val 530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b="1"/>
              <a:t>上标</a:t>
            </a:r>
            <a:r>
              <a:rPr lang="en-US" altLang="zh-CN" sz="1200" b="1"/>
              <a:t>/</a:t>
            </a:r>
            <a:r>
              <a:rPr lang="zh-CN" altLang="zh-CN" sz="1200" b="1"/>
              <a:t>下标</a:t>
            </a:r>
            <a:endParaRPr lang="zh-CN" altLang="zh-CN" sz="1200" b="1"/>
          </a:p>
        </p:txBody>
      </p:sp>
      <p:sp>
        <p:nvSpPr>
          <p:cNvPr id="19" name="线形标注 1 18"/>
          <p:cNvSpPr/>
          <p:nvPr/>
        </p:nvSpPr>
        <p:spPr>
          <a:xfrm>
            <a:off x="5652770" y="3699510"/>
            <a:ext cx="703580" cy="374015"/>
          </a:xfrm>
          <a:prstGeom prst="borderCallout1">
            <a:avLst>
              <a:gd name="adj1" fmla="val -8658"/>
              <a:gd name="adj2" fmla="val 81678"/>
              <a:gd name="adj3" fmla="val -216129"/>
              <a:gd name="adj4" fmla="val 470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/>
              <a:t>文字效果</a:t>
            </a:r>
            <a:endParaRPr lang="zh-CN" altLang="zh-CN" sz="1000" b="1"/>
          </a:p>
        </p:txBody>
      </p:sp>
      <p:sp>
        <p:nvSpPr>
          <p:cNvPr id="20" name="线形标注 1 19"/>
          <p:cNvSpPr/>
          <p:nvPr/>
        </p:nvSpPr>
        <p:spPr>
          <a:xfrm>
            <a:off x="6332855" y="3170555"/>
            <a:ext cx="703580" cy="374015"/>
          </a:xfrm>
          <a:prstGeom prst="borderCallout1">
            <a:avLst>
              <a:gd name="adj1" fmla="val -13073"/>
              <a:gd name="adj2" fmla="val 22743"/>
              <a:gd name="adj3" fmla="val -87096"/>
              <a:gd name="adj4" fmla="val 145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/>
              <a:t>突出显示</a:t>
            </a:r>
            <a:endParaRPr lang="zh-CN" altLang="zh-CN" sz="1400" b="1"/>
          </a:p>
        </p:txBody>
      </p:sp>
      <p:sp>
        <p:nvSpPr>
          <p:cNvPr id="21" name="线形标注 1 20"/>
          <p:cNvSpPr/>
          <p:nvPr/>
        </p:nvSpPr>
        <p:spPr>
          <a:xfrm>
            <a:off x="6559550" y="3699510"/>
            <a:ext cx="929640" cy="374015"/>
          </a:xfrm>
          <a:prstGeom prst="borderCallout1">
            <a:avLst>
              <a:gd name="adj1" fmla="val -6451"/>
              <a:gd name="adj2" fmla="val 90162"/>
              <a:gd name="adj3" fmla="val -231918"/>
              <a:gd name="adj4" fmla="val 40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/>
              <a:t>字体颜色</a:t>
            </a:r>
            <a:endParaRPr lang="zh-CN" altLang="zh-CN" sz="1400" b="1"/>
          </a:p>
        </p:txBody>
      </p:sp>
      <p:sp>
        <p:nvSpPr>
          <p:cNvPr id="22" name="线形标注 1 21"/>
          <p:cNvSpPr/>
          <p:nvPr/>
        </p:nvSpPr>
        <p:spPr>
          <a:xfrm>
            <a:off x="7541895" y="3170555"/>
            <a:ext cx="703580" cy="374015"/>
          </a:xfrm>
          <a:prstGeom prst="borderCallout1">
            <a:avLst>
              <a:gd name="adj1" fmla="val -31239"/>
              <a:gd name="adj2" fmla="val 12003"/>
              <a:gd name="adj3" fmla="val -98471"/>
              <a:gd name="adj4" fmla="val -203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/>
              <a:t>字符底纹</a:t>
            </a:r>
            <a:endParaRPr lang="zh-CN" altLang="zh-CN" sz="1000" b="1"/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2066290" y="277495"/>
          <a:ext cx="4424045" cy="5271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4876800" imgH="6010275" progId="PBrush">
                  <p:embed/>
                </p:oleObj>
              </mc:Choice>
              <mc:Fallback>
                <p:oleObj name="" r:id="rId1" imgW="4876800" imgH="6010275" progId="PBrush">
                  <p:embed/>
                  <p:pic>
                    <p:nvPicPr>
                      <p:cNvPr id="0" name="图片 3072" descr="image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6290" y="277495"/>
                        <a:ext cx="4424045" cy="5271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6769100" y="277495"/>
          <a:ext cx="4192905" cy="530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3" imgW="4924425" imgH="6057900" progId="PBrush">
                  <p:embed/>
                </p:oleObj>
              </mc:Choice>
              <mc:Fallback>
                <p:oleObj name="" r:id="rId3" imgW="4924425" imgH="6057900" progId="PBrush">
                  <p:embed/>
                  <p:pic>
                    <p:nvPicPr>
                      <p:cNvPr id="0" name="图片 3073" descr="image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9100" y="277495"/>
                        <a:ext cx="4192905" cy="5302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369" y="889642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2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设置段落格式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TW" altLang="zh-CN" sz="2000" dirty="0">
                <a:latin typeface="+mn-ea"/>
                <a:cs typeface="+mn-ea"/>
                <a:sym typeface="+mn-ea"/>
              </a:rPr>
              <a:t>    段落是指以段落标记作为结束的一段文字。每按一次【</a:t>
            </a:r>
            <a:r>
              <a:rPr lang="en-US" altLang="zh-CN" sz="2000">
                <a:latin typeface="+mn-ea"/>
                <a:cs typeface="+mn-ea"/>
                <a:sym typeface="+mn-ea"/>
              </a:rPr>
              <a:t>Enter</a:t>
            </a:r>
            <a:r>
              <a:rPr lang="zh-TW" altLang="zh-CN" sz="2000" dirty="0">
                <a:latin typeface="+mn-ea"/>
                <a:cs typeface="+mn-ea"/>
                <a:sym typeface="+mn-ea"/>
              </a:rPr>
              <a:t>】键就自动生成一个段落，同时在其后产生一个段落标记。选择 “开始”选项卡→“段落”选项组→“显示</a:t>
            </a:r>
            <a:r>
              <a:rPr lang="en-US" altLang="zh-CN" sz="2000">
                <a:latin typeface="+mn-ea"/>
                <a:cs typeface="+mn-ea"/>
                <a:sym typeface="+mn-ea"/>
              </a:rPr>
              <a:t>/</a:t>
            </a:r>
            <a:r>
              <a:rPr lang="zh-TW" altLang="zh-CN" sz="2000" dirty="0">
                <a:latin typeface="+mn-ea"/>
                <a:cs typeface="+mn-ea"/>
                <a:sym typeface="+mn-ea"/>
              </a:rPr>
              <a:t>隐藏段落标记”按钮    </a:t>
            </a:r>
            <a:r>
              <a:rPr lang="en-US" altLang="zh-CN" sz="2000">
                <a:latin typeface="+mn-ea"/>
                <a:cs typeface="+mn-ea"/>
                <a:sym typeface="+mn-ea"/>
              </a:rPr>
              <a:t> </a:t>
            </a:r>
            <a:r>
              <a:rPr lang="zh-TW" altLang="zh-CN" sz="2000" dirty="0">
                <a:latin typeface="+mn-ea"/>
                <a:cs typeface="+mn-ea"/>
                <a:sym typeface="+mn-ea"/>
              </a:rPr>
              <a:t>，可以显示或隐藏段落标记。</a:t>
            </a:r>
            <a:endParaRPr lang="zh-CN" altLang="en-US" sz="2000" dirty="0">
              <a:latin typeface="+mn-ea"/>
              <a:cs typeface="+mn-ea"/>
            </a:endParaRPr>
          </a:p>
          <a:p>
            <a:pPr marL="0" indent="0">
              <a:buNone/>
            </a:pPr>
            <a:r>
              <a:rPr lang="zh-CN" altLang="en-US" sz="2000" b="1" dirty="0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设置段落格式通常包括以下几方面的内容：</a:t>
            </a:r>
            <a:r>
              <a:rPr lang="zh-CN" altLang="en-US" sz="2000" dirty="0">
                <a:latin typeface="Tahoma" panose="020B0604030504040204" pitchFamily="34" charset="0"/>
                <a:sym typeface="+mn-ea"/>
              </a:rPr>
              <a:t> </a:t>
            </a:r>
            <a:endParaRPr lang="zh-CN" altLang="en-US" sz="2000" dirty="0">
              <a:latin typeface="Tahoma" panose="020B0604030504040204" pitchFamily="34" charset="0"/>
              <a:sym typeface="+mn-ea"/>
            </a:endParaRPr>
          </a:p>
          <a:p>
            <a:pPr marL="533400" indent="188595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1</a:t>
            </a:r>
            <a:r>
              <a:rPr lang="zh-CN" altLang="en-US" sz="2000" b="1" dirty="0">
                <a:sym typeface="+mn-ea"/>
              </a:rPr>
              <a:t>）设置段落对齐方式</a:t>
            </a:r>
            <a:endParaRPr lang="zh-CN" altLang="en-US" sz="2000" b="1"/>
          </a:p>
          <a:p>
            <a:pPr marL="533400" indent="188595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2</a:t>
            </a:r>
            <a:r>
              <a:rPr lang="zh-CN" altLang="en-US" sz="2000" b="1" dirty="0">
                <a:sym typeface="+mn-ea"/>
              </a:rPr>
              <a:t>）设置段间距与行间距 </a:t>
            </a:r>
            <a:endParaRPr lang="zh-CN" altLang="en-US" sz="2000" b="1" dirty="0"/>
          </a:p>
          <a:p>
            <a:pPr marL="533400" indent="188595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3</a:t>
            </a:r>
            <a:r>
              <a:rPr lang="zh-CN" altLang="en-US" sz="2000" b="1" dirty="0">
                <a:sym typeface="+mn-ea"/>
              </a:rPr>
              <a:t>）设置段落缩进</a:t>
            </a:r>
            <a:endParaRPr lang="zh-CN" altLang="en-US" sz="2000" b="1" dirty="0"/>
          </a:p>
          <a:p>
            <a:pPr marL="533400" indent="188595" algn="just">
              <a:lnSpc>
                <a:spcPct val="13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4</a:t>
            </a:r>
            <a:r>
              <a:rPr lang="zh-CN" altLang="en-US" sz="2000" b="1" dirty="0">
                <a:sym typeface="+mn-ea"/>
              </a:rPr>
              <a:t>）项目符号和编号</a:t>
            </a:r>
            <a:endParaRPr lang="zh-CN" altLang="en-US" sz="2000" b="1" dirty="0"/>
          </a:p>
          <a:p>
            <a:pPr marL="0" indent="0">
              <a:buNone/>
            </a:pPr>
            <a:endParaRPr lang="zh-CN" altLang="en-US" sz="2000" dirty="0"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zh-CN" altLang="en-US" sz="20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6433185" y="1888490"/>
          <a:ext cx="391160" cy="30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390525" imgH="304800" progId="PBrush">
                  <p:embed/>
                </p:oleObj>
              </mc:Choice>
              <mc:Fallback>
                <p:oleObj name="" r:id="rId1" imgW="390525" imgH="304800" progId="PBrush">
                  <p:embed/>
                  <p:pic>
                    <p:nvPicPr>
                      <p:cNvPr id="0" name="图片 4096" descr="image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33185" y="1888490"/>
                        <a:ext cx="391160" cy="3054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019" y="1014102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1</a:t>
            </a:r>
            <a:r>
              <a:rPr lang="zh-CN" altLang="en-US" b="1" dirty="0">
                <a:sym typeface="+mn-ea"/>
              </a:rPr>
              <a:t>）设置段落对齐方式</a:t>
            </a:r>
            <a:endParaRPr lang="zh-CN" altLang="en-US" b="1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756920" y="1736725"/>
            <a:ext cx="5256530" cy="3384550"/>
            <a:chOff x="870" y="1985"/>
            <a:chExt cx="8278" cy="5330"/>
          </a:xfrm>
        </p:grpSpPr>
        <p:pic>
          <p:nvPicPr>
            <p:cNvPr id="35842" name="图片 35841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210" y="2210"/>
              <a:ext cx="7938" cy="4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5845" name="圆角矩形标注 35844"/>
            <p:cNvSpPr>
              <a:spLocks noChangeArrowheads="1"/>
            </p:cNvSpPr>
            <p:nvPr/>
          </p:nvSpPr>
          <p:spPr bwMode="auto">
            <a:xfrm>
              <a:off x="4953" y="5953"/>
              <a:ext cx="1312" cy="1362"/>
            </a:xfrm>
            <a:prstGeom prst="wedgeRoundRectCallout">
              <a:avLst>
                <a:gd name="adj1" fmla="val -8384"/>
                <a:gd name="adj2" fmla="val -99741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200" b="1">
                  <a:solidFill>
                    <a:schemeClr val="bg1"/>
                  </a:solidFill>
                </a:rPr>
                <a:t>两端对齐</a:t>
              </a:r>
              <a:endParaRPr lang="zh-CN" altLang="en-US" sz="2200" b="1">
                <a:solidFill>
                  <a:schemeClr val="bg1"/>
                </a:solidFill>
              </a:endParaRPr>
            </a:p>
          </p:txBody>
        </p:sp>
        <p:sp>
          <p:nvSpPr>
            <p:cNvPr id="35846" name="圆角矩形标注 35845"/>
            <p:cNvSpPr>
              <a:spLocks noChangeArrowheads="1"/>
            </p:cNvSpPr>
            <p:nvPr/>
          </p:nvSpPr>
          <p:spPr bwMode="auto">
            <a:xfrm>
              <a:off x="3025" y="5840"/>
              <a:ext cx="1310" cy="1365"/>
            </a:xfrm>
            <a:prstGeom prst="wedgeRoundRectCallout">
              <a:avLst>
                <a:gd name="adj1" fmla="val -45574"/>
                <a:gd name="adj2" fmla="val -97102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200" b="1">
                  <a:solidFill>
                    <a:schemeClr val="bg1"/>
                  </a:solidFill>
                </a:rPr>
                <a:t>中间对齐</a:t>
              </a:r>
              <a:endParaRPr lang="zh-CN" altLang="en-US" sz="2200" b="1">
                <a:solidFill>
                  <a:schemeClr val="bg1"/>
                </a:solidFill>
              </a:endParaRPr>
            </a:p>
          </p:txBody>
        </p:sp>
        <p:sp>
          <p:nvSpPr>
            <p:cNvPr id="35847" name="圆角矩形标注 35846"/>
            <p:cNvSpPr>
              <a:spLocks noChangeArrowheads="1"/>
            </p:cNvSpPr>
            <p:nvPr/>
          </p:nvSpPr>
          <p:spPr bwMode="auto">
            <a:xfrm>
              <a:off x="870" y="1985"/>
              <a:ext cx="985" cy="1810"/>
            </a:xfrm>
            <a:prstGeom prst="wedgeRoundRectCallout">
              <a:avLst>
                <a:gd name="adj1" fmla="val 46699"/>
                <a:gd name="adj2" fmla="val 126278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200" b="1">
                  <a:solidFill>
                    <a:schemeClr val="bg1"/>
                  </a:solidFill>
                </a:rPr>
                <a:t>右对齐</a:t>
              </a:r>
              <a:endParaRPr lang="zh-CN" altLang="en-US" sz="2200" b="1">
                <a:solidFill>
                  <a:schemeClr val="bg1"/>
                </a:solidFill>
              </a:endParaRPr>
            </a:p>
          </p:txBody>
        </p:sp>
        <p:sp>
          <p:nvSpPr>
            <p:cNvPr id="35848" name="圆角矩形标注 35847"/>
            <p:cNvSpPr>
              <a:spLocks noChangeArrowheads="1"/>
            </p:cNvSpPr>
            <p:nvPr/>
          </p:nvSpPr>
          <p:spPr bwMode="auto">
            <a:xfrm>
              <a:off x="6880" y="2210"/>
              <a:ext cx="1643" cy="1363"/>
            </a:xfrm>
            <a:prstGeom prst="wedgeRoundRectCallout">
              <a:avLst>
                <a:gd name="adj1" fmla="val -68796"/>
                <a:gd name="adj2" fmla="val 149056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</a:rPr>
                <a:t>分散对齐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35850" name="圆角矩形标注 35849"/>
            <p:cNvSpPr>
              <a:spLocks noChangeArrowheads="1"/>
            </p:cNvSpPr>
            <p:nvPr/>
          </p:nvSpPr>
          <p:spPr bwMode="auto">
            <a:xfrm>
              <a:off x="4498" y="2325"/>
              <a:ext cx="1645" cy="1360"/>
            </a:xfrm>
            <a:prstGeom prst="wedgeRoundRectCallout">
              <a:avLst>
                <a:gd name="adj1" fmla="val -68796"/>
                <a:gd name="adj2" fmla="val 149056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400" b="1">
                  <a:solidFill>
                    <a:schemeClr val="bg1"/>
                  </a:solidFill>
                </a:rPr>
                <a:t>左对齐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  <p:graphicFrame>
          <p:nvGraphicFramePr>
            <p:cNvPr id="35851" name="对象 35850"/>
            <p:cNvGraphicFramePr>
              <a:graphicFrameLocks noChangeAspect="1"/>
            </p:cNvGraphicFramePr>
            <p:nvPr/>
          </p:nvGraphicFramePr>
          <p:xfrm>
            <a:off x="5933" y="5215"/>
            <a:ext cx="144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1" name="" r:id="rId2" imgW="2743200" imgH="5181600" progId="Equations">
                    <p:embed/>
                  </p:oleObj>
                </mc:Choice>
                <mc:Fallback>
                  <p:oleObj name="" r:id="rId2" imgW="2743200" imgH="5181600" progId="Equations">
                    <p:embed/>
                    <p:pic>
                      <p:nvPicPr>
                        <p:cNvPr id="0" name="对象 35850" descr="image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933" y="5215"/>
                          <a:ext cx="1440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0169" y="1031247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）设置段间距与行间距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1036955" y="1720850"/>
          <a:ext cx="2821940" cy="217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2819400" imgH="2171700" progId="PBrush">
                  <p:embed/>
                </p:oleObj>
              </mc:Choice>
              <mc:Fallback>
                <p:oleObj name="" r:id="rId1" imgW="2819400" imgH="2171700" progId="PBrush">
                  <p:embed/>
                  <p:pic>
                    <p:nvPicPr>
                      <p:cNvPr id="0" name="图片 6144" descr="image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6955" y="1720850"/>
                        <a:ext cx="2821940" cy="217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3" name="图片 3072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4225" y="1423988"/>
            <a:ext cx="4246563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5" name="文本框 31745"/>
          <p:cNvSpPr txBox="1">
            <a:spLocks noChangeArrowheads="1"/>
          </p:cNvSpPr>
          <p:nvPr/>
        </p:nvSpPr>
        <p:spPr bwMode="auto">
          <a:xfrm>
            <a:off x="5276850" y="1450975"/>
            <a:ext cx="526732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</a:rPr>
              <a:t>行距</a:t>
            </a:r>
            <a:r>
              <a:rPr lang="zh-CN" altLang="en-US" sz="2000" b="1">
                <a:solidFill>
                  <a:srgbClr val="000000"/>
                </a:solidFill>
              </a:rPr>
              <a:t>：用于控制每行之间的间距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74756" name="文本框 31746"/>
          <p:cNvSpPr txBox="1">
            <a:spLocks noChangeArrowheads="1"/>
          </p:cNvSpPr>
          <p:nvPr/>
        </p:nvSpPr>
        <p:spPr bwMode="auto">
          <a:xfrm>
            <a:off x="5276850" y="5151438"/>
            <a:ext cx="56070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</a:rPr>
              <a:t>间距</a:t>
            </a:r>
            <a:r>
              <a:rPr lang="zh-CN" altLang="en-US" sz="2000" b="1">
                <a:solidFill>
                  <a:srgbClr val="000000"/>
                </a:solidFill>
              </a:rPr>
              <a:t>：用于控制段落之间的最大间距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sp>
        <p:nvSpPr>
          <p:cNvPr id="74757" name="左大括号 31747"/>
          <p:cNvSpPr/>
          <p:nvPr/>
        </p:nvSpPr>
        <p:spPr bwMode="auto">
          <a:xfrm>
            <a:off x="5688013" y="2271713"/>
            <a:ext cx="204787" cy="2265362"/>
          </a:xfrm>
          <a:prstGeom prst="leftBrace">
            <a:avLst>
              <a:gd name="adj1" fmla="val 6294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4758" name="文本框 31748"/>
          <p:cNvSpPr txBox="1">
            <a:spLocks noChangeArrowheads="1"/>
          </p:cNvSpPr>
          <p:nvPr/>
        </p:nvSpPr>
        <p:spPr bwMode="auto">
          <a:xfrm>
            <a:off x="5903913" y="2068513"/>
            <a:ext cx="6308725" cy="151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2"/>
                </a:solidFill>
              </a:rPr>
              <a:t>最小值</a:t>
            </a:r>
            <a:r>
              <a:rPr lang="zh-CN" altLang="en-US" sz="2000" b="1"/>
              <a:t>：</a:t>
            </a:r>
            <a:r>
              <a:rPr lang="zh-CN" altLang="en-US" sz="2000" b="1">
                <a:solidFill>
                  <a:srgbClr val="000000"/>
                </a:solidFill>
              </a:rPr>
              <a:t>默认值为12磅</a:t>
            </a:r>
            <a:endParaRPr lang="zh-CN" altLang="en-US" sz="2000" b="1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00"/>
                </a:solidFill>
              </a:rPr>
              <a:t>               能自动调整高度容纳较大的字体</a:t>
            </a:r>
            <a:endParaRPr lang="zh-CN" altLang="en-US" sz="2000" b="1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00"/>
                </a:solidFill>
              </a:rPr>
              <a:t>               </a:t>
            </a:r>
            <a:r>
              <a:rPr lang="zh-CN" altLang="en-US">
                <a:solidFill>
                  <a:srgbClr val="000000"/>
                </a:solidFill>
              </a:rPr>
              <a:t>同一行内字体大小不</a:t>
            </a:r>
            <a:endParaRPr lang="zh-CN" altLang="en-US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00"/>
                </a:solidFill>
              </a:rPr>
              <a:t>                 一样的情况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4759" name="文本框 31749"/>
          <p:cNvSpPr txBox="1">
            <a:spLocks noChangeArrowheads="1"/>
          </p:cNvSpPr>
          <p:nvPr/>
        </p:nvSpPr>
        <p:spPr bwMode="auto">
          <a:xfrm>
            <a:off x="5892800" y="4011613"/>
            <a:ext cx="595947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</a:rPr>
              <a:t>固定值</a:t>
            </a:r>
            <a:r>
              <a:rPr lang="zh-CN" altLang="en-US" sz="2000" b="1"/>
              <a:t>：</a:t>
            </a:r>
            <a:r>
              <a:rPr lang="zh-CN" altLang="en-US" sz="2000" b="1">
                <a:solidFill>
                  <a:srgbClr val="000000"/>
                </a:solidFill>
              </a:rPr>
              <a:t>不能自动调整文本高度</a:t>
            </a:r>
            <a:endParaRPr lang="zh-CN" altLang="en-US" sz="2000" b="1">
              <a:solidFill>
                <a:srgbClr val="000000"/>
              </a:solidFill>
            </a:endParaRPr>
          </a:p>
        </p:txBody>
      </p:sp>
      <p:pic>
        <p:nvPicPr>
          <p:cNvPr id="74760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26525" y="784225"/>
            <a:ext cx="1905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61" name="图片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2938" y="4408488"/>
            <a:ext cx="24574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62" name="图片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77338" y="2946400"/>
            <a:ext cx="22002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6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019B965-927E-44D4-B457-38E0C2CFFBC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6054" y="1072522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）设置段落缩进</a:t>
            </a:r>
            <a:endParaRPr lang="zh-CN" altLang="en-US" b="1" dirty="0"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使用标尺功能</a:t>
            </a:r>
            <a:r>
              <a:rPr lang="en-US" altLang="zh-CN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:</a:t>
            </a:r>
            <a:r>
              <a:rPr lang="zh-CN" altLang="en-US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（</a:t>
            </a:r>
            <a:r>
              <a:rPr lang="en-US" altLang="zh-CN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“</a:t>
            </a:r>
            <a:r>
              <a:rPr lang="zh-CN" altLang="en-US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视图</a:t>
            </a:r>
            <a:r>
              <a:rPr lang="en-US" altLang="zh-CN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”</a:t>
            </a:r>
            <a:r>
              <a:rPr lang="zh-CN" altLang="en-US" b="1">
                <a:latin typeface="华文新魏" pitchFamily="2" charset="-122"/>
                <a:ea typeface="华文新魏" pitchFamily="2" charset="-122"/>
                <a:sym typeface="Arial" panose="020B0604020202020204" pitchFamily="34" charset="0"/>
              </a:rPr>
              <a:t>选项卡）                  工具栏：</a:t>
            </a:r>
            <a:endParaRPr lang="zh-CN" altLang="en-US" b="1">
              <a:latin typeface="华文新魏" pitchFamily="2" charset="-122"/>
              <a:ea typeface="华文新魏" pitchFamily="2" charset="-122"/>
              <a:sym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b="1">
              <a:latin typeface="华文新魏" pitchFamily="2" charset="-122"/>
              <a:ea typeface="华文新魏" pitchFamily="2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pSp>
        <p:nvGrpSpPr>
          <p:cNvPr id="76802" name="组合 5"/>
          <p:cNvGrpSpPr/>
          <p:nvPr/>
        </p:nvGrpSpPr>
        <p:grpSpPr bwMode="auto">
          <a:xfrm>
            <a:off x="1035368" y="2139633"/>
            <a:ext cx="4637087" cy="1778000"/>
            <a:chOff x="995" y="2040"/>
            <a:chExt cx="8468" cy="3247"/>
          </a:xfrm>
        </p:grpSpPr>
        <p:pic>
          <p:nvPicPr>
            <p:cNvPr id="76803" name="图片 32771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145" y="3599"/>
              <a:ext cx="8319" cy="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6804" name="圆角矩形标注 32772"/>
            <p:cNvSpPr>
              <a:spLocks noChangeArrowheads="1"/>
            </p:cNvSpPr>
            <p:nvPr/>
          </p:nvSpPr>
          <p:spPr bwMode="auto">
            <a:xfrm>
              <a:off x="3566" y="2665"/>
              <a:ext cx="2346" cy="609"/>
            </a:xfrm>
            <a:prstGeom prst="wedgeRoundRectCallout">
              <a:avLst>
                <a:gd name="adj1" fmla="val -37065"/>
                <a:gd name="adj2" fmla="val 95051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首行缩进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76805" name="圆角矩形标注 32773"/>
            <p:cNvSpPr>
              <a:spLocks noChangeArrowheads="1"/>
            </p:cNvSpPr>
            <p:nvPr/>
          </p:nvSpPr>
          <p:spPr bwMode="auto">
            <a:xfrm>
              <a:off x="7196" y="2663"/>
              <a:ext cx="1893" cy="609"/>
            </a:xfrm>
            <a:prstGeom prst="wedgeRoundRectCallout">
              <a:avLst>
                <a:gd name="adj1" fmla="val -70352"/>
                <a:gd name="adj2" fmla="val 138023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右缩进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76806" name="圆角矩形标注 32774"/>
            <p:cNvSpPr>
              <a:spLocks noChangeArrowheads="1"/>
            </p:cNvSpPr>
            <p:nvPr/>
          </p:nvSpPr>
          <p:spPr bwMode="auto">
            <a:xfrm>
              <a:off x="995" y="4679"/>
              <a:ext cx="2346" cy="609"/>
            </a:xfrm>
            <a:prstGeom prst="wedgeRoundRectCallout">
              <a:avLst>
                <a:gd name="adj1" fmla="val 35787"/>
                <a:gd name="adj2" fmla="val -141148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左缩进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76807" name="圆角矩形标注 32775"/>
            <p:cNvSpPr>
              <a:spLocks noChangeArrowheads="1"/>
            </p:cNvSpPr>
            <p:nvPr/>
          </p:nvSpPr>
          <p:spPr bwMode="auto">
            <a:xfrm>
              <a:off x="4020" y="4463"/>
              <a:ext cx="2346" cy="609"/>
            </a:xfrm>
            <a:prstGeom prst="wedgeRoundRectCallout">
              <a:avLst>
                <a:gd name="adj1" fmla="val -87454"/>
                <a:gd name="adj2" fmla="val -142190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悬挂缩进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5" name="圆角矩形标注 4"/>
            <p:cNvSpPr/>
            <p:nvPr/>
          </p:nvSpPr>
          <p:spPr>
            <a:xfrm>
              <a:off x="1201" y="2040"/>
              <a:ext cx="2038" cy="841"/>
            </a:xfrm>
            <a:prstGeom prst="wedgeRoundRectCallout">
              <a:avLst>
                <a:gd name="adj1" fmla="val 29509"/>
                <a:gd name="adj2" fmla="val 157142"/>
                <a:gd name="adj3" fmla="val 16667"/>
              </a:avLst>
            </a:prstGeom>
            <a:solidFill>
              <a:srgbClr val="CC990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b="1" noProof="1">
                  <a:solidFill>
                    <a:schemeClr val="bg1"/>
                  </a:solidFill>
                  <a:sym typeface="+mn-ea"/>
                </a:rPr>
                <a:t>左边距</a:t>
              </a:r>
              <a:endParaRPr lang="zh-CN" altLang="en-US" b="1" noProof="1">
                <a:solidFill>
                  <a:schemeClr val="bg1"/>
                </a:solidFill>
                <a:sym typeface="+mn-ea"/>
              </a:endParaRPr>
            </a:p>
          </p:txBody>
        </p:sp>
      </p:grpSp>
      <p:graphicFrame>
        <p:nvGraphicFramePr>
          <p:cNvPr id="6" name="对象 5"/>
          <p:cNvGraphicFramePr/>
          <p:nvPr/>
        </p:nvGraphicFramePr>
        <p:xfrm>
          <a:off x="7129145" y="2218690"/>
          <a:ext cx="111061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2" imgW="523875" imgH="285750" progId="PBrush">
                  <p:embed/>
                </p:oleObj>
              </mc:Choice>
              <mc:Fallback>
                <p:oleObj name="" r:id="rId2" imgW="523875" imgH="285750" progId="PBrush">
                  <p:embed/>
                  <p:pic>
                    <p:nvPicPr>
                      <p:cNvPr id="0" name="图片 7168" descr="image5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29145" y="2218690"/>
                        <a:ext cx="111061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49" name="组合 5"/>
          <p:cNvGrpSpPr/>
          <p:nvPr/>
        </p:nvGrpSpPr>
        <p:grpSpPr bwMode="auto">
          <a:xfrm>
            <a:off x="1671638" y="568325"/>
            <a:ext cx="8980487" cy="5830888"/>
            <a:chOff x="2231" y="829"/>
            <a:chExt cx="14145" cy="9182"/>
          </a:xfrm>
        </p:grpSpPr>
        <p:pic>
          <p:nvPicPr>
            <p:cNvPr id="78850" name="图片 3"/>
            <p:cNvPicPr>
              <a:picLocks noChangeAspect="1" noChangeArrowheads="1"/>
            </p:cNvPicPr>
            <p:nvPr/>
          </p:nvPicPr>
          <p:blipFill>
            <a:blip r:embed="rId1" cstate="print"/>
            <a:srcRect r="1472"/>
            <a:stretch>
              <a:fillRect/>
            </a:stretch>
          </p:blipFill>
          <p:spPr bwMode="auto">
            <a:xfrm>
              <a:off x="2231" y="829"/>
              <a:ext cx="14145" cy="7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851" name="圆角矩形标注 34818"/>
            <p:cNvSpPr>
              <a:spLocks noChangeArrowheads="1"/>
            </p:cNvSpPr>
            <p:nvPr/>
          </p:nvSpPr>
          <p:spPr bwMode="auto">
            <a:xfrm>
              <a:off x="3551" y="1451"/>
              <a:ext cx="3175" cy="905"/>
            </a:xfrm>
            <a:prstGeom prst="wedgeRoundRectCallout">
              <a:avLst>
                <a:gd name="adj1" fmla="val -7829"/>
                <a:gd name="adj2" fmla="val 170000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悬挂缩进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  <p:sp>
          <p:nvSpPr>
            <p:cNvPr id="78852" name="圆角矩形标注 34819"/>
            <p:cNvSpPr>
              <a:spLocks noChangeArrowheads="1"/>
            </p:cNvSpPr>
            <p:nvPr/>
          </p:nvSpPr>
          <p:spPr bwMode="auto">
            <a:xfrm>
              <a:off x="2488" y="6836"/>
              <a:ext cx="1642" cy="1815"/>
            </a:xfrm>
            <a:prstGeom prst="wedgeRoundRectCallout">
              <a:avLst>
                <a:gd name="adj1" fmla="val 41324"/>
                <a:gd name="adj2" fmla="val -161157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首行缩进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  <p:sp>
          <p:nvSpPr>
            <p:cNvPr id="78853" name="圆角矩形标注 34820"/>
            <p:cNvSpPr>
              <a:spLocks noChangeArrowheads="1"/>
            </p:cNvSpPr>
            <p:nvPr/>
          </p:nvSpPr>
          <p:spPr bwMode="auto">
            <a:xfrm>
              <a:off x="14505" y="3546"/>
              <a:ext cx="1867" cy="1700"/>
            </a:xfrm>
            <a:prstGeom prst="wedgeRoundRectCallout">
              <a:avLst>
                <a:gd name="adj1" fmla="val -63009"/>
                <a:gd name="adj2" fmla="val 99528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右缩进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  <p:sp>
          <p:nvSpPr>
            <p:cNvPr id="78854" name="圆角矩形标注 34821"/>
            <p:cNvSpPr>
              <a:spLocks noChangeArrowheads="1"/>
            </p:cNvSpPr>
            <p:nvPr/>
          </p:nvSpPr>
          <p:spPr bwMode="auto">
            <a:xfrm>
              <a:off x="5323" y="8991"/>
              <a:ext cx="2265" cy="1020"/>
            </a:xfrm>
            <a:prstGeom prst="wedgeRoundRectCallout">
              <a:avLst>
                <a:gd name="adj1" fmla="val -71699"/>
                <a:gd name="adj2" fmla="val -142444"/>
                <a:gd name="adj3" fmla="val 16667"/>
              </a:avLst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左缩进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</p:grpSp>
      <p:sp>
        <p:nvSpPr>
          <p:cNvPr id="78855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8F9C805-6BFD-45EC-A950-C19BA78F92D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3349" y="996322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4</a:t>
            </a:r>
            <a:r>
              <a:rPr lang="zh-CN" altLang="en-US" b="1" dirty="0">
                <a:sym typeface="+mn-ea"/>
              </a:rPr>
              <a:t>）项目符号和编号</a:t>
            </a:r>
            <a:endParaRPr lang="zh-CN" altLang="en-US" b="1" dirty="0">
              <a:sym typeface="+mn-ea"/>
            </a:endParaRPr>
          </a:p>
          <a:p>
            <a:pPr marL="0" indent="536575">
              <a:buNone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在制作文档的过程中，经常要使用各种列表。文档中的列表一般分为两种：一种是项目符号，一种是编号。</a:t>
            </a:r>
            <a:endParaRPr lang="zh-CN" altLang="en-US" dirty="0">
              <a:latin typeface="宋体" panose="02010600030101010101" pitchFamily="2" charset="-122"/>
              <a:sym typeface="+mn-ea"/>
            </a:endParaRPr>
          </a:p>
          <a:p>
            <a:pPr marL="0" indent="536575">
              <a:buNone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项目符号可以把一系列重要的项目或论点与正文分开；编号则主要是为了表达段落之间的逻辑关系，帮助读者阅读。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图片 3789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929313" y="2411413"/>
            <a:ext cx="4360862" cy="350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0" name="标题 37889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55788" y="255588"/>
            <a:ext cx="4203700" cy="725487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2800" b="1" smtClean="0">
                <a:latin typeface="华文新魏" pitchFamily="2" charset="-122"/>
                <a:ea typeface="华文新魏" pitchFamily="2" charset="-122"/>
              </a:rPr>
              <a:t>添加项目符号和编号</a:t>
            </a:r>
            <a:endParaRPr lang="zh-CN" altLang="en-US" sz="2800" b="1" smtClean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7891" name="内容占位符 37890"/>
          <p:cNvSpPr>
            <a:spLocks noGrp="1" noRot="1" noChangeArrowheads="1"/>
          </p:cNvSpPr>
          <p:nvPr>
            <p:ph idx="1"/>
          </p:nvPr>
        </p:nvSpPr>
        <p:spPr bwMode="auto">
          <a:xfrm>
            <a:off x="1631950" y="838200"/>
            <a:ext cx="5634038" cy="204470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533400" indent="-5334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400" b="1" smtClean="0"/>
              <a:t>选定要添加项目符号的内容；</a:t>
            </a:r>
            <a:endParaRPr lang="zh-CN" altLang="en-US" sz="1400" b="1" smtClean="0"/>
          </a:p>
          <a:p>
            <a:pPr marL="533400" indent="-5334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400" b="1" smtClean="0"/>
              <a:t>选择：开始 </a:t>
            </a:r>
            <a:r>
              <a:rPr lang="en-US" altLang="zh-CN" sz="1400" b="1" smtClean="0"/>
              <a:t>/  </a:t>
            </a:r>
            <a:r>
              <a:rPr lang="zh-CN" altLang="en-US" sz="1400" b="1" smtClean="0"/>
              <a:t>段落 </a:t>
            </a:r>
            <a:r>
              <a:rPr lang="en-US" altLang="zh-CN" sz="1400" b="1" smtClean="0"/>
              <a:t>/ </a:t>
            </a:r>
            <a:r>
              <a:rPr lang="zh-CN" altLang="en-US" sz="1400" b="1" smtClean="0"/>
              <a:t>项目符号或编号；</a:t>
            </a:r>
            <a:endParaRPr lang="zh-CN" altLang="en-US" sz="1400" b="1" smtClean="0"/>
          </a:p>
          <a:p>
            <a:pPr marL="533400" indent="-5334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400" b="1" smtClean="0"/>
              <a:t>选择一种编号或项目符号；</a:t>
            </a:r>
            <a:endParaRPr lang="zh-CN" altLang="en-US" sz="1400" b="1" smtClean="0"/>
          </a:p>
          <a:p>
            <a:pPr marL="533400" indent="-533400">
              <a:lnSpc>
                <a:spcPct val="100000"/>
              </a:lnSpc>
              <a:spcBef>
                <a:spcPts val="70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400" b="1" smtClean="0"/>
              <a:t>单击</a:t>
            </a:r>
            <a:r>
              <a:rPr lang="en-US" altLang="zh-CN" sz="1400" b="1" smtClean="0"/>
              <a:t>&lt;</a:t>
            </a:r>
            <a:r>
              <a:rPr lang="zh-CN" altLang="en-US" sz="1400" b="1" smtClean="0"/>
              <a:t>确定</a:t>
            </a:r>
            <a:r>
              <a:rPr lang="en-US" altLang="zh-CN" sz="1400" b="1" smtClean="0"/>
              <a:t>&gt;</a:t>
            </a:r>
            <a:r>
              <a:rPr lang="zh-CN" altLang="en-US" sz="1400" b="1" smtClean="0"/>
              <a:t>，添加完成。</a:t>
            </a:r>
            <a:r>
              <a:rPr lang="zh-CN" altLang="en-US" sz="2000" smtClean="0"/>
              <a:t> </a:t>
            </a:r>
            <a:endParaRPr lang="zh-CN" altLang="en-US" sz="2000" smtClean="0"/>
          </a:p>
        </p:txBody>
      </p:sp>
      <p:pic>
        <p:nvPicPr>
          <p:cNvPr id="83972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18575" y="388938"/>
            <a:ext cx="13716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箭头连接符 3"/>
          <p:cNvCxnSpPr/>
          <p:nvPr/>
        </p:nvCxnSpPr>
        <p:spPr>
          <a:xfrm flipV="1">
            <a:off x="3883025" y="1524000"/>
            <a:ext cx="2062163" cy="8318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7926388" y="1600200"/>
            <a:ext cx="1066800" cy="762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975" name="图片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9638" y="635000"/>
            <a:ext cx="12763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976" name="图片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6863" y="2411413"/>
            <a:ext cx="436245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7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08B1AE3-632D-4730-B59B-D6C8EDB04A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rAng="0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10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10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  <p:bldP spid="37891" grpI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框 38913"/>
          <p:cNvSpPr txBox="1">
            <a:spLocks noChangeArrowheads="1"/>
          </p:cNvSpPr>
          <p:nvPr/>
        </p:nvSpPr>
        <p:spPr bwMode="auto">
          <a:xfrm>
            <a:off x="1374458" y="910273"/>
            <a:ext cx="6813550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latinLnBrk="1">
              <a:lnSpc>
                <a:spcPct val="140000"/>
              </a:lnSpc>
              <a:spcBef>
                <a:spcPct val="50000"/>
              </a:spcBef>
              <a:buClr>
                <a:schemeClr val="tx1"/>
              </a:buClr>
              <a:buFont typeface="Arial" panose="020B0604020202020204" pitchFamily="34" charset="0"/>
              <a:buAutoNum type="circleNumDbPlain"/>
            </a:pPr>
            <a:r>
              <a:rPr lang="zh-CN" altLang="en-US" sz="1200" b="1">
                <a:latin typeface="Gulim" panose="020B0600000101010101" pitchFamily="34" charset="-127"/>
              </a:rPr>
              <a:t>单击</a:t>
            </a:r>
            <a:r>
              <a:rPr lang="zh-CN" altLang="en-US" sz="1200" b="1" smtClean="0">
                <a:sym typeface="+mn-ea"/>
              </a:rPr>
              <a:t>开始 </a:t>
            </a:r>
            <a:r>
              <a:rPr lang="en-US" altLang="zh-CN" sz="1200" b="1" smtClean="0">
                <a:sym typeface="+mn-ea"/>
              </a:rPr>
              <a:t>/  </a:t>
            </a:r>
            <a:r>
              <a:rPr lang="zh-CN" altLang="en-US" sz="1200" b="1" smtClean="0">
                <a:sym typeface="+mn-ea"/>
              </a:rPr>
              <a:t>段落 </a:t>
            </a:r>
            <a:r>
              <a:rPr lang="en-US" altLang="zh-CN" sz="1200" b="1" smtClean="0">
                <a:sym typeface="+mn-ea"/>
              </a:rPr>
              <a:t>/</a:t>
            </a:r>
            <a:r>
              <a:rPr lang="zh-CN" altLang="en-US" sz="1200" b="1" smtClean="0">
                <a:sym typeface="+mn-ea"/>
              </a:rPr>
              <a:t>项目符号或编号 </a:t>
            </a:r>
            <a:r>
              <a:rPr lang="en-US" altLang="zh-CN" sz="1200" b="1" smtClean="0">
                <a:sym typeface="+mn-ea"/>
              </a:rPr>
              <a:t>/</a:t>
            </a:r>
            <a:r>
              <a:rPr lang="zh-CN" altLang="zh-CN" sz="1200" b="1" smtClean="0">
                <a:sym typeface="+mn-ea"/>
              </a:rPr>
              <a:t>其他项目符号编号</a:t>
            </a:r>
            <a:r>
              <a:rPr lang="zh-CN" altLang="en-US" sz="1200" b="1">
                <a:latin typeface="Gulim" panose="020B0600000101010101" pitchFamily="34" charset="-127"/>
              </a:rPr>
              <a:t>，打开“项目符号和编号”对话框</a:t>
            </a:r>
            <a:r>
              <a:rPr lang="zh-CN" altLang="en-US" sz="1200" b="1">
                <a:latin typeface="Gulim" panose="020B0600000101010101" pitchFamily="34" charset="-127"/>
                <a:ea typeface="Gulim" panose="020B0600000101010101" pitchFamily="34" charset="-127"/>
              </a:rPr>
              <a:t> </a:t>
            </a:r>
            <a:endParaRPr lang="zh-CN" altLang="en-US" sz="1200" b="1">
              <a:latin typeface="Gulim" panose="020B0600000101010101" pitchFamily="34" charset="-127"/>
              <a:ea typeface="Gulim" panose="020B0600000101010101" pitchFamily="34" charset="-127"/>
            </a:endParaRPr>
          </a:p>
          <a:p>
            <a:pPr marL="342900" indent="-342900" latinLnBrk="1">
              <a:lnSpc>
                <a:spcPct val="140000"/>
              </a:lnSpc>
              <a:buClr>
                <a:schemeClr val="tx1"/>
              </a:buClr>
              <a:buFont typeface="Arial" panose="020B0604020202020204" pitchFamily="34" charset="0"/>
              <a:buAutoNum type="circleNumDbPlain"/>
            </a:pPr>
            <a:r>
              <a:rPr lang="zh-CN" altLang="en-US" sz="1200" b="1">
                <a:latin typeface="Gulim" panose="020B0600000101010101" pitchFamily="34" charset="-127"/>
              </a:rPr>
              <a:t>选择一个要被替换的“项目符号”或“编号”，单击“自定义”按鈕</a:t>
            </a:r>
            <a:endParaRPr lang="zh-CN" altLang="en-US" sz="1200" b="1">
              <a:latin typeface="Gulim" panose="020B0600000101010101" pitchFamily="34" charset="-127"/>
            </a:endParaRPr>
          </a:p>
          <a:p>
            <a:pPr marL="342900" indent="-342900" latinLnBrk="1">
              <a:lnSpc>
                <a:spcPct val="140000"/>
              </a:lnSpc>
              <a:buClr>
                <a:schemeClr val="tx1"/>
              </a:buClr>
              <a:buFont typeface="Arial" panose="020B0604020202020204" pitchFamily="34" charset="0"/>
              <a:buAutoNum type="circleNumDbPlain"/>
            </a:pPr>
            <a:r>
              <a:rPr lang="zh-CN" altLang="en-US" sz="1200" b="1">
                <a:latin typeface="Gulim" panose="020B0600000101010101" pitchFamily="34" charset="-127"/>
              </a:rPr>
              <a:t>选择一个要使用的“项目符号”或“编号”</a:t>
            </a:r>
            <a:endParaRPr lang="zh-CN" altLang="en-US" sz="1200" b="1">
              <a:latin typeface="Gulim" panose="020B0600000101010101" pitchFamily="34" charset="-127"/>
            </a:endParaRPr>
          </a:p>
          <a:p>
            <a:pPr marL="342900" indent="-342900" latinLnBrk="1">
              <a:lnSpc>
                <a:spcPct val="140000"/>
              </a:lnSpc>
              <a:buClr>
                <a:schemeClr val="tx1"/>
              </a:buClr>
              <a:buFont typeface="Arial" panose="020B0604020202020204" pitchFamily="34" charset="0"/>
              <a:buAutoNum type="circleNumDbPlain"/>
            </a:pPr>
            <a:r>
              <a:rPr lang="zh-CN" altLang="en-US" sz="1200" b="1">
                <a:latin typeface="Gulim" panose="020B0600000101010101" pitchFamily="34" charset="-127"/>
              </a:rPr>
              <a:t>单击“确定”</a:t>
            </a:r>
            <a:endParaRPr lang="zh-CN" altLang="en-US" sz="1200" b="1">
              <a:latin typeface="Gulim" panose="020B0600000101010101" pitchFamily="34" charset="-127"/>
            </a:endParaRPr>
          </a:p>
        </p:txBody>
      </p:sp>
      <p:sp>
        <p:nvSpPr>
          <p:cNvPr id="84994" name="标题 38914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81188" y="166688"/>
            <a:ext cx="7272337" cy="64770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2400" b="1" smtClean="0">
                <a:latin typeface="华文新魏" pitchFamily="2" charset="-122"/>
                <a:ea typeface="华文新魏" pitchFamily="2" charset="-122"/>
              </a:rPr>
              <a:t>自定义项目符号和编号</a:t>
            </a:r>
            <a:endParaRPr lang="zh-CN" altLang="en-US" sz="2400" b="1" smtClean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84995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667375" y="3751263"/>
            <a:ext cx="4681538" cy="241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6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7288" y="2270125"/>
            <a:ext cx="439102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7" name="图片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13750" y="552450"/>
            <a:ext cx="3151188" cy="312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392374B-AA6D-44E8-9364-4DC27B2A11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4229" y="961397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3  </a:t>
            </a:r>
            <a:r>
              <a:rPr lang="zh-CN" altLang="en-US" b="1" dirty="0">
                <a:sym typeface="+mn-ea"/>
              </a:rPr>
              <a:t>设置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版</a:t>
            </a:r>
            <a:r>
              <a:rPr lang="zh-CN" altLang="en-US" b="1" dirty="0">
                <a:sym typeface="+mn-ea"/>
              </a:rPr>
              <a:t>面格式</a:t>
            </a:r>
            <a:endParaRPr lang="zh-CN" altLang="en-US" b="1" dirty="0"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sym typeface="+mn-ea"/>
              </a:rPr>
              <a:t>版面格式设置主要包括以下几个方面的内容：</a:t>
            </a:r>
            <a:endParaRPr lang="zh-CN" altLang="en-US" b="1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  <a:sym typeface="+mn-ea"/>
            </a:endParaRPr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1</a:t>
            </a:r>
            <a:r>
              <a:rPr lang="zh-CN" altLang="en-US" sz="2000" b="1" dirty="0">
                <a:sym typeface="+mn-ea"/>
              </a:rPr>
              <a:t>）设置页面格式</a:t>
            </a:r>
            <a:endParaRPr lang="zh-CN" altLang="en-US" sz="2000" b="1" dirty="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2</a:t>
            </a:r>
            <a:r>
              <a:rPr lang="zh-CN" altLang="en-US" sz="2000" b="1" dirty="0">
                <a:sym typeface="+mn-ea"/>
              </a:rPr>
              <a:t>）插入页码</a:t>
            </a:r>
            <a:endParaRPr lang="zh-CN" altLang="en-US" sz="2000" b="1" dirty="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3</a:t>
            </a:r>
            <a:r>
              <a:rPr lang="zh-CN" altLang="en-US" sz="2000" b="1" dirty="0">
                <a:sym typeface="+mn-ea"/>
              </a:rPr>
              <a:t>）插入页眉与页脚 </a:t>
            </a:r>
            <a:endParaRPr lang="zh-CN" altLang="en-US" sz="2000" b="1" dirty="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4</a:t>
            </a:r>
            <a:r>
              <a:rPr lang="zh-CN" altLang="en-US" sz="2000" b="1" dirty="0">
                <a:sym typeface="+mn-ea"/>
              </a:rPr>
              <a:t>）首字下沉</a:t>
            </a:r>
            <a:endParaRPr lang="zh-CN" altLang="en-US" sz="2000" b="1" dirty="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5</a:t>
            </a:r>
            <a:r>
              <a:rPr lang="zh-CN" altLang="en-US" sz="2000" b="1" dirty="0">
                <a:sym typeface="+mn-ea"/>
              </a:rPr>
              <a:t>）</a:t>
            </a:r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分栏</a:t>
            </a:r>
            <a:endParaRPr lang="zh-CN" altLang="en-US" sz="2000" b="1" dirty="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6</a:t>
            </a:r>
            <a:r>
              <a:rPr lang="zh-CN" altLang="en-US" sz="2000" b="1" dirty="0">
                <a:sym typeface="+mn-ea"/>
              </a:rPr>
              <a:t>）添加背景和水印</a:t>
            </a:r>
            <a:endParaRPr lang="zh-CN" altLang="en-US" sz="2000" b="1" dirty="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7</a:t>
            </a:r>
            <a:r>
              <a:rPr lang="zh-CN" altLang="en-US" sz="2000" b="1" dirty="0">
                <a:sym typeface="+mn-ea"/>
              </a:rPr>
              <a:t>）边框和底纹</a:t>
            </a:r>
            <a:endParaRPr lang="zh-CN" altLang="en-US" sz="2000" b="1" dirty="0">
              <a:sym typeface="+mn-ea"/>
            </a:endParaRPr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ym typeface="+mn-ea"/>
              </a:rPr>
              <a:t>8）脚注和尾注</a:t>
            </a:r>
            <a:endParaRPr lang="zh-CN" altLang="en-US" sz="2000"/>
          </a:p>
          <a:p>
            <a:pPr marL="533400" indent="29210" algn="just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lang="zh-CN" altLang="en-US" sz="2000" b="1" dirty="0"/>
          </a:p>
          <a:p>
            <a:pPr marL="0" indent="0">
              <a:buNone/>
            </a:pPr>
            <a:r>
              <a:rPr lang="zh-CN" altLang="en-US" dirty="0">
                <a:latin typeface="Tahoma" panose="020B0604030504040204" pitchFamily="34" charset="0"/>
                <a:sym typeface="+mn-ea"/>
              </a:rPr>
              <a:t> </a:t>
            </a:r>
            <a:endParaRPr lang="zh-CN" altLang="en-US" dirty="0"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6054" y="1032517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1</a:t>
            </a:r>
            <a:r>
              <a:rPr lang="zh-CN" altLang="en-US" sz="2400" b="1" dirty="0">
                <a:sym typeface="+mn-ea"/>
              </a:rPr>
              <a:t>）设置页面格式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sp>
        <p:nvSpPr>
          <p:cNvPr id="52227" name="内容占位符 52226"/>
          <p:cNvSpPr>
            <a:spLocks noGrp="1" noRot="1" noChangeArrowheads="1"/>
          </p:cNvSpPr>
          <p:nvPr/>
        </p:nvSpPr>
        <p:spPr bwMode="auto">
          <a:xfrm>
            <a:off x="793750" y="1670050"/>
            <a:ext cx="6027738" cy="3251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171450" indent="-171450" algn="l" defTabSz="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514350" lvl="1" indent="-171450" algn="l" defTabSz="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857250" lvl="2" indent="-171450" algn="l" defTabSz="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200150" lvl="3" indent="-171450" algn="l" defTabSz="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543050" lvl="4" indent="-171450" algn="l" defTabSz="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514600" lvl="5" indent="-228600" algn="l" defTabSz="0" eaLnBrk="1" fontAlgn="base" latinLnBrk="0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6pPr>
            <a:lvl7pPr marL="2971800" lvl="6" indent="-228600" algn="l" defTabSz="0" eaLnBrk="1" fontAlgn="base" latinLnBrk="0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7pPr>
            <a:lvl8pPr marL="3429000" lvl="7" indent="-228600" algn="l" defTabSz="0" eaLnBrk="1" fontAlgn="base" latinLnBrk="0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8pPr>
            <a:lvl9pPr marL="3886200" lvl="8" indent="-228600" algn="l" defTabSz="0" eaLnBrk="1" fontAlgn="base" latinLnBrk="0" hangingPunct="1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9pPr>
          </a:lstStyle>
          <a:p>
            <a:pPr indent="-68580">
              <a:lnSpc>
                <a:spcPct val="130000"/>
              </a:lnSpc>
            </a:pPr>
            <a:r>
              <a:rPr lang="zh-CN" altLang="en-US" sz="2400" b="1" smtClean="0">
                <a:latin typeface="宋体" panose="02010600030101010101" pitchFamily="2" charset="-122"/>
              </a:rPr>
              <a:t>设置页边距：上、下、左、右</a:t>
            </a:r>
            <a:endParaRPr lang="zh-CN" altLang="en-US" sz="2400" b="1" smtClean="0">
              <a:latin typeface="宋体" panose="02010600030101010101" pitchFamily="2" charset="-122"/>
            </a:endParaRPr>
          </a:p>
          <a:p>
            <a:pPr indent="-68580">
              <a:lnSpc>
                <a:spcPct val="130000"/>
              </a:lnSpc>
            </a:pPr>
            <a:r>
              <a:rPr lang="zh-CN" altLang="en-US" sz="2400" b="1" smtClean="0">
                <a:latin typeface="宋体" panose="02010600030101010101" pitchFamily="2" charset="-122"/>
              </a:rPr>
              <a:t>纸张大小：</a:t>
            </a:r>
            <a:r>
              <a:rPr lang="en-US" altLang="zh-CN" sz="2400" b="1" smtClean="0">
                <a:latin typeface="宋体" panose="02010600030101010101" pitchFamily="2" charset="-122"/>
              </a:rPr>
              <a:t>A4</a:t>
            </a:r>
            <a:r>
              <a:rPr lang="zh-CN" altLang="en-US" sz="2400" b="1" smtClean="0">
                <a:latin typeface="宋体" panose="02010600030101010101" pitchFamily="2" charset="-122"/>
              </a:rPr>
              <a:t>、</a:t>
            </a:r>
            <a:r>
              <a:rPr lang="en-US" altLang="zh-CN" sz="2400" b="1" smtClean="0">
                <a:latin typeface="宋体" panose="02010600030101010101" pitchFamily="2" charset="-122"/>
              </a:rPr>
              <a:t>A3</a:t>
            </a:r>
            <a:r>
              <a:rPr lang="zh-CN" altLang="en-US" sz="2400" b="1" smtClean="0">
                <a:latin typeface="宋体" panose="02010600030101010101" pitchFamily="2" charset="-122"/>
              </a:rPr>
              <a:t>、自定义</a:t>
            </a:r>
            <a:endParaRPr lang="zh-CN" altLang="en-US" sz="2400" b="1" smtClean="0">
              <a:latin typeface="宋体" panose="02010600030101010101" pitchFamily="2" charset="-122"/>
            </a:endParaRPr>
          </a:p>
          <a:p>
            <a:pPr indent="-68580">
              <a:lnSpc>
                <a:spcPct val="130000"/>
              </a:lnSpc>
            </a:pPr>
            <a:r>
              <a:rPr lang="zh-CN" altLang="en-US" sz="2400" b="1" smtClean="0">
                <a:latin typeface="宋体" panose="02010600030101010101" pitchFamily="2" charset="-122"/>
              </a:rPr>
              <a:t>文档网格：</a:t>
            </a:r>
            <a:r>
              <a:rPr lang="zh-CN" altLang="en-US" sz="2400" b="1" u="sng" smtClean="0">
                <a:latin typeface="宋体" panose="02010600030101010101" pitchFamily="2" charset="-122"/>
              </a:rPr>
              <a:t>设置每页行数</a:t>
            </a:r>
            <a:endParaRPr lang="zh-CN" altLang="en-US" sz="2400" b="1" u="sng" smtClean="0">
              <a:latin typeface="宋体" panose="02010600030101010101" pitchFamily="2" charset="-122"/>
            </a:endParaRPr>
          </a:p>
          <a:p>
            <a:pPr indent="-6858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400" b="1" smtClean="0">
                <a:latin typeface="宋体" panose="02010600030101010101" pitchFamily="2" charset="-122"/>
              </a:rPr>
              <a:t>           </a:t>
            </a:r>
            <a:r>
              <a:rPr lang="zh-CN" altLang="en-US" sz="2400" b="1" u="sng" smtClean="0">
                <a:latin typeface="宋体" panose="02010600030101010101" pitchFamily="2" charset="-122"/>
              </a:rPr>
              <a:t>设置每行字数</a:t>
            </a:r>
            <a:endParaRPr lang="zh-CN" altLang="en-US" sz="2400" b="1" u="sng" smtClean="0">
              <a:latin typeface="宋体" panose="02010600030101010101" pitchFamily="2" charset="-122"/>
            </a:endParaRPr>
          </a:p>
        </p:txBody>
      </p:sp>
      <p:pic>
        <p:nvPicPr>
          <p:cNvPr id="122884" name="图片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623685" y="664210"/>
            <a:ext cx="4956175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对象 4"/>
          <p:cNvGraphicFramePr/>
          <p:nvPr/>
        </p:nvGraphicFramePr>
        <p:xfrm>
          <a:off x="913130" y="4255135"/>
          <a:ext cx="4871085" cy="95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" r:id="rId2" imgW="4867275" imgH="952500" progId="PBrush">
                  <p:embed/>
                </p:oleObj>
              </mc:Choice>
              <mc:Fallback>
                <p:oleObj name="" r:id="rId2" imgW="4867275" imgH="952500" progId="PBrush">
                  <p:embed/>
                  <p:pic>
                    <p:nvPicPr>
                      <p:cNvPr id="0" name="图片 8192" descr="image6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3130" y="4255135"/>
                        <a:ext cx="4871085" cy="953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5908675" y="4255135"/>
          <a:ext cx="6024880" cy="10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" r:id="rId4" imgW="6019800" imgH="1057275" progId="PBrush">
                  <p:embed/>
                </p:oleObj>
              </mc:Choice>
              <mc:Fallback>
                <p:oleObj name="" r:id="rId4" imgW="6019800" imgH="1057275" progId="PBrush">
                  <p:embed/>
                  <p:pic>
                    <p:nvPicPr>
                      <p:cNvPr id="0" name="图片 8193" descr="image7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08675" y="4255135"/>
                        <a:ext cx="6024880" cy="1057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53249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43088" y="446088"/>
            <a:ext cx="7632700" cy="719137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b="1" smtClean="0"/>
              <a:t>文件</a:t>
            </a:r>
            <a:r>
              <a:rPr lang="en-US" altLang="zh-CN" b="1" smtClean="0"/>
              <a:t>/</a:t>
            </a:r>
            <a:r>
              <a:rPr lang="zh-CN" altLang="en-US" b="1" smtClean="0"/>
              <a:t>页面设置（页边距、纸张）</a:t>
            </a:r>
            <a:endParaRPr lang="zh-CN" altLang="en-US" b="1" smtClean="0"/>
          </a:p>
        </p:txBody>
      </p:sp>
      <p:pic>
        <p:nvPicPr>
          <p:cNvPr id="53251" name="图片 53250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283325" y="1241425"/>
            <a:ext cx="3679825" cy="43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7" name="图片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4588" y="1495425"/>
            <a:ext cx="3741737" cy="327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90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8F5767F-5C9B-4E6A-B576-69E6174A79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3" name="图片 5325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93738" y="1246188"/>
            <a:ext cx="367188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2" name="图片 5325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94238" y="1489075"/>
            <a:ext cx="6338887" cy="365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4931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7497758-DD9C-4F51-A855-D537BAC916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3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55738" y="838200"/>
            <a:ext cx="276225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4" name="图片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26063" y="1774825"/>
            <a:ext cx="55816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5955" name="文本框 5"/>
          <p:cNvSpPr txBox="1">
            <a:spLocks noChangeArrowheads="1"/>
          </p:cNvSpPr>
          <p:nvPr/>
        </p:nvSpPr>
        <p:spPr bwMode="auto">
          <a:xfrm>
            <a:off x="5040313" y="881063"/>
            <a:ext cx="5692775" cy="6397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/>
              <a:t>“</a:t>
            </a:r>
            <a:r>
              <a:rPr lang="zh-CN" altLang="en-US"/>
              <a:t>稿纸设置</a:t>
            </a:r>
            <a:r>
              <a:rPr lang="en-US" altLang="zh-CN"/>
              <a:t>”</a:t>
            </a:r>
            <a:r>
              <a:rPr lang="zh-CN" altLang="en-US"/>
              <a:t>为我们提供了设置稿纸的功能，在排版中可以为我们设计自制的练习本等</a:t>
            </a:r>
            <a:endParaRPr lang="zh-CN" altLang="en-US"/>
          </a:p>
        </p:txBody>
      </p:sp>
      <p:sp>
        <p:nvSpPr>
          <p:cNvPr id="125956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4F8155A-DAEF-42CC-AD74-FE1F61EBA59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标题 5427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719263" y="598488"/>
            <a:ext cx="6584950" cy="442912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4000" b="1" smtClean="0"/>
              <a:t>文件</a:t>
            </a:r>
            <a:r>
              <a:rPr lang="en-US" altLang="zh-CN" sz="4000" b="1" smtClean="0"/>
              <a:t>/</a:t>
            </a:r>
            <a:r>
              <a:rPr lang="zh-CN" altLang="en-US" sz="4000" b="1" smtClean="0"/>
              <a:t>页面设置（文档网格）</a:t>
            </a:r>
            <a:endParaRPr lang="zh-CN" altLang="en-US" sz="4000" b="1" smtClean="0"/>
          </a:p>
        </p:txBody>
      </p:sp>
      <p:pic>
        <p:nvPicPr>
          <p:cNvPr id="126978" name="图片 5427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19263" y="1273175"/>
            <a:ext cx="396557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979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57900" y="1273175"/>
            <a:ext cx="5484813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80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78884FE-E5EF-4F85-92B4-10E0D692D3D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）插入页码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4126865" y="464185"/>
          <a:ext cx="6491605" cy="475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" r:id="rId1" imgW="6486525" imgH="4752975" progId="PBrush">
                  <p:embed/>
                </p:oleObj>
              </mc:Choice>
              <mc:Fallback>
                <p:oleObj name="" r:id="rId1" imgW="6486525" imgH="4752975" progId="PBrush">
                  <p:embed/>
                  <p:pic>
                    <p:nvPicPr>
                      <p:cNvPr id="0" name="图片 9216" descr="image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6865" y="464185"/>
                        <a:ext cx="6491605" cy="4756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3806190" y="1021715"/>
          <a:ext cx="3021965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" r:id="rId1" imgW="3019425" imgH="4076700" progId="PBrush">
                  <p:embed/>
                </p:oleObj>
              </mc:Choice>
              <mc:Fallback>
                <p:oleObj name="" r:id="rId1" imgW="3019425" imgH="4076700" progId="PBrush">
                  <p:embed/>
                  <p:pic>
                    <p:nvPicPr>
                      <p:cNvPr id="0" name="图片 10240" descr="image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06190" y="1021715"/>
                        <a:ext cx="3021965" cy="4079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6" name="对象 5"/>
          <p:cNvGraphicFramePr/>
          <p:nvPr/>
        </p:nvGraphicFramePr>
        <p:xfrm>
          <a:off x="1050925" y="2797175"/>
          <a:ext cx="8846185" cy="194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" r:id="rId1" imgW="8839200" imgH="1943100" progId="PBrush">
                  <p:embed/>
                </p:oleObj>
              </mc:Choice>
              <mc:Fallback>
                <p:oleObj name="" r:id="rId1" imgW="8839200" imgH="1943100" progId="PBrush">
                  <p:embed/>
                  <p:pic>
                    <p:nvPicPr>
                      <p:cNvPr id="0" name="图片 11264" descr="image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50925" y="2797175"/>
                        <a:ext cx="8846185" cy="19450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6950710" y="972185"/>
          <a:ext cx="2192020" cy="1258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" r:id="rId3" imgW="2190750" imgH="1257300" progId="PBrush">
                  <p:embed/>
                </p:oleObj>
              </mc:Choice>
              <mc:Fallback>
                <p:oleObj name="" r:id="rId3" imgW="2190750" imgH="1257300" progId="PBrush">
                  <p:embed/>
                  <p:pic>
                    <p:nvPicPr>
                      <p:cNvPr id="0" name="图片 5" descr="image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0710" y="972185"/>
                        <a:ext cx="2192020" cy="1258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0979" y="988067"/>
            <a:ext cx="8231638" cy="4526300"/>
          </a:xfrm>
        </p:spPr>
        <p:txBody>
          <a:bodyPr/>
          <a:p>
            <a:pPr marL="0" indent="0">
              <a:buNone/>
            </a:pP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）插入页眉与页脚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内容占位符 4"/>
          <p:cNvGraphicFramePr/>
          <p:nvPr>
            <p:ph idx="1"/>
          </p:nvPr>
        </p:nvGraphicFramePr>
        <p:xfrm>
          <a:off x="4834890" y="164465"/>
          <a:ext cx="5424170" cy="589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" r:id="rId1" imgW="6029325" imgH="6553200" progId="PBrush">
                  <p:embed/>
                </p:oleObj>
              </mc:Choice>
              <mc:Fallback>
                <p:oleObj name="" r:id="rId1" imgW="6029325" imgH="6553200" progId="PBrush">
                  <p:embed/>
                  <p:pic>
                    <p:nvPicPr>
                      <p:cNvPr id="0" name="图片 12288" descr="image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4890" y="164465"/>
                        <a:ext cx="5424170" cy="5895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48640" y="1233170"/>
            <a:ext cx="409448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dirty="0">
                <a:sym typeface="+mn-ea"/>
              </a:rPr>
              <a:t>首页不同的页眉和页脚</a:t>
            </a:r>
            <a:endParaRPr lang="zh-CN" altLang="en-US" sz="2800" dirty="0">
              <a:sym typeface="+mn-ea"/>
            </a:endParaRPr>
          </a:p>
          <a:p>
            <a:pPr algn="l"/>
            <a:r>
              <a:rPr lang="zh-CN" altLang="en-US" sz="2800" dirty="0">
                <a:sym typeface="+mn-ea"/>
              </a:rPr>
              <a:t>奇偶页不同的页眉和页脚</a:t>
            </a:r>
            <a:endParaRPr lang="zh-CN" altLang="en-US" sz="2800" dirty="0">
              <a:sym typeface="+mn-ea"/>
            </a:endParaRPr>
          </a:p>
        </p:txBody>
      </p:sp>
      <p:sp>
        <p:nvSpPr>
          <p:cNvPr id="8" name="右箭头 7"/>
          <p:cNvSpPr/>
          <p:nvPr/>
        </p:nvSpPr>
        <p:spPr>
          <a:xfrm rot="4140000">
            <a:off x="5541010" y="1343025"/>
            <a:ext cx="904875" cy="325755"/>
          </a:xfrm>
          <a:prstGeom prst="rightArrow">
            <a:avLst>
              <a:gd name="adj1" fmla="val 50000"/>
              <a:gd name="adj2" fmla="val 508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121" name="标题 6041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548640" y="2602230"/>
            <a:ext cx="5347970" cy="40513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2000" b="1" smtClean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利用页眉和页脚工具栏设置</a:t>
            </a:r>
            <a:endParaRPr lang="zh-CN" altLang="en-US" sz="2000" b="1" smtClean="0">
              <a:solidFill>
                <a:srgbClr val="0000FF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标题 6041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49438" y="301625"/>
            <a:ext cx="7858125" cy="404813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2000" b="1" smtClean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利用页面设置对话框设置</a:t>
            </a:r>
            <a:endParaRPr lang="zh-CN" altLang="en-US" sz="2000" b="1" smtClean="0">
              <a:solidFill>
                <a:srgbClr val="0000FF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0419" name="内容占位符 60418"/>
          <p:cNvSpPr>
            <a:spLocks noGrp="1" noRot="1" noChangeArrowheads="1"/>
          </p:cNvSpPr>
          <p:nvPr>
            <p:ph idx="1"/>
          </p:nvPr>
        </p:nvSpPr>
        <p:spPr bwMode="auto">
          <a:xfrm>
            <a:off x="1373188" y="1003300"/>
            <a:ext cx="3527425" cy="31686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627380" indent="-533400">
              <a:lnSpc>
                <a:spcPct val="120000"/>
              </a:lnSpc>
              <a:buFont typeface="Wingdings" panose="05000000000000000000" pitchFamily="2" charset="2"/>
              <a:buChar char="•"/>
            </a:pPr>
            <a:r>
              <a:rPr lang="zh-CN" altLang="en-US" sz="1600" b="1" smtClean="0">
                <a:latin typeface="宋体" panose="02010600030101010101" pitchFamily="2" charset="-122"/>
              </a:rPr>
              <a:t>选择“页面设置”按钮</a:t>
            </a:r>
            <a:endParaRPr lang="zh-CN" altLang="en-US" sz="1600" b="1" smtClean="0">
              <a:latin typeface="宋体" panose="02010600030101010101" pitchFamily="2" charset="-122"/>
            </a:endParaRPr>
          </a:p>
          <a:p>
            <a:pPr marL="627380" indent="-533400"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600" b="1" smtClean="0">
                <a:latin typeface="宋体" panose="02010600030101010101" pitchFamily="2" charset="-122"/>
              </a:rPr>
              <a:t>“版式”选项</a:t>
            </a:r>
            <a:endParaRPr lang="zh-CN" altLang="en-US" sz="1600" b="1" smtClean="0">
              <a:latin typeface="宋体" panose="02010600030101010101" pitchFamily="2" charset="-122"/>
            </a:endParaRPr>
          </a:p>
          <a:p>
            <a:pPr marL="627380" indent="-533400"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600" b="1" smtClean="0">
                <a:latin typeface="宋体" panose="02010600030101010101" pitchFamily="2" charset="-122"/>
              </a:rPr>
              <a:t>选择“奇偶页不同”</a:t>
            </a:r>
            <a:endParaRPr lang="zh-CN" altLang="en-US" sz="1600" b="1" smtClean="0">
              <a:latin typeface="宋体" panose="02010600030101010101" pitchFamily="2" charset="-122"/>
            </a:endParaRPr>
          </a:p>
          <a:p>
            <a:pPr marL="627380" indent="-533400"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endParaRPr lang="zh-CN" altLang="en-US" sz="1600" b="1" smtClean="0">
              <a:latin typeface="宋体" panose="02010600030101010101" pitchFamily="2" charset="-122"/>
            </a:endParaRPr>
          </a:p>
          <a:p>
            <a:pPr marL="379730" indent="-285750">
              <a:lnSpc>
                <a:spcPct val="120000"/>
              </a:lnSpc>
            </a:pPr>
            <a:r>
              <a:rPr lang="zh-CN" altLang="en-US" sz="1600" b="1" smtClean="0">
                <a:latin typeface="宋体" panose="02010600030101010101" pitchFamily="2" charset="-122"/>
                <a:sym typeface="+mn-ea"/>
              </a:rPr>
              <a:t>插入（视图）/页眉和页脚/选项</a:t>
            </a:r>
            <a:endParaRPr lang="zh-CN" altLang="en-US" sz="1600" b="1" smtClean="0">
              <a:latin typeface="宋体" panose="02010600030101010101" pitchFamily="2" charset="-122"/>
            </a:endParaRPr>
          </a:p>
          <a:p>
            <a:pPr marL="627380" indent="-533400"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endParaRPr lang="zh-CN" altLang="en-US" sz="1600" b="1" smtClean="0">
              <a:latin typeface="宋体" panose="02010600030101010101" pitchFamily="2" charset="-122"/>
            </a:endParaRPr>
          </a:p>
        </p:txBody>
      </p:sp>
      <p:pic>
        <p:nvPicPr>
          <p:cNvPr id="60420" name="图片 60419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461000" y="1003300"/>
            <a:ext cx="4594225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1" name="图片 604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3673" y="3433763"/>
            <a:ext cx="3133725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图片 604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51675" y="706438"/>
            <a:ext cx="4398963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26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fld id="{2A77A3E7-E440-43A7-B08A-8CAE11CB0C8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4915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446213" y="482600"/>
            <a:ext cx="6870700" cy="8445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2400" b="1" dirty="0">
                <a:sym typeface="+mn-ea"/>
              </a:rPr>
              <a:t>4</a:t>
            </a:r>
            <a:r>
              <a:rPr lang="zh-CN" altLang="en-US" sz="2400" b="1" dirty="0">
                <a:sym typeface="+mn-ea"/>
              </a:rPr>
              <a:t>）首字下沉</a:t>
            </a:r>
            <a:endParaRPr lang="zh-CN" altLang="en-US" sz="2400" b="1" smtClean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97282" name="图片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85913" y="1327150"/>
            <a:ext cx="70866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3" name="文本框 1"/>
          <p:cNvSpPr txBox="1">
            <a:spLocks noChangeArrowheads="1"/>
          </p:cNvSpPr>
          <p:nvPr/>
        </p:nvSpPr>
        <p:spPr bwMode="auto">
          <a:xfrm>
            <a:off x="8764588" y="1327150"/>
            <a:ext cx="2011362" cy="1463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注意：</a:t>
            </a:r>
            <a:endParaRPr lang="zh-CN" altLang="en-US"/>
          </a:p>
          <a:p>
            <a:r>
              <a:rPr lang="zh-CN" altLang="en-US"/>
              <a:t>首字下沉设置的时</a:t>
            </a:r>
            <a:endParaRPr lang="zh-CN" altLang="en-US"/>
          </a:p>
          <a:p>
            <a:r>
              <a:rPr lang="zh-CN" altLang="en-US"/>
              <a:t>候行间距不能设置</a:t>
            </a:r>
            <a:endParaRPr lang="zh-CN" altLang="en-US"/>
          </a:p>
          <a:p>
            <a:r>
              <a:rPr lang="zh-CN" altLang="en-US"/>
              <a:t>固定值！</a:t>
            </a:r>
            <a:endParaRPr lang="zh-CN" altLang="en-US"/>
          </a:p>
          <a:p>
            <a:r>
              <a:rPr lang="zh-CN" altLang="en-US"/>
              <a:t>示例如下：</a:t>
            </a:r>
            <a:endParaRPr lang="zh-CN" altLang="en-US"/>
          </a:p>
        </p:txBody>
      </p:sp>
      <p:pic>
        <p:nvPicPr>
          <p:cNvPr id="97284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29688" y="2790825"/>
            <a:ext cx="226695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5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B9B3B3A-B03A-4DF0-A29F-06D99374A09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  <p:bldLst>
      <p:bldP spid="49154" grpId="0" bldLvl="0"/>
      <p:bldP spid="49154" grpId="1" bldLvl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50177"/>
          <p:cNvSpPr>
            <a:spLocks noGrp="1" noRot="1"/>
          </p:cNvSpPr>
          <p:nvPr>
            <p:ph idx="1"/>
          </p:nvPr>
        </p:nvSpPr>
        <p:spPr>
          <a:xfrm>
            <a:off x="1634490" y="1028700"/>
            <a:ext cx="3602355" cy="3522345"/>
          </a:xfrm>
        </p:spPr>
        <p:txBody>
          <a:bodyPr anchor="t"/>
          <a:lstStyle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方法一：</a:t>
            </a:r>
            <a:endParaRPr lang="zh-CN" altLang="en-US" sz="1600" b="1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33400" indent="-533400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选择“格式</a:t>
            </a:r>
            <a:r>
              <a:rPr lang="en-US" altLang="zh-CN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首字下沉”命令</a:t>
            </a:r>
            <a:endParaRPr lang="zh-CN" altLang="en-US" sz="1600" b="1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533400" indent="-533400">
              <a:lnSpc>
                <a:spcPct val="14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在“首字下沉”对话诓中设置</a:t>
            </a:r>
            <a:endParaRPr lang="zh-CN" altLang="en-US" sz="1600" b="1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方法二：或者在工具栏中选择：插入</a:t>
            </a:r>
            <a:r>
              <a:rPr lang="en-US" altLang="zh-CN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600" b="1" noProof="1">
                <a:solidFill>
                  <a:schemeClr val="tx2"/>
                </a:solidFill>
                <a:latin typeface="宋体" panose="02010600030101010101" pitchFamily="2" charset="-122"/>
              </a:rPr>
              <a:t>首字下沉</a:t>
            </a:r>
            <a:endParaRPr lang="zh-CN" altLang="en-US" sz="1600" b="1" noProof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50179" name="文本框 50178"/>
          <p:cNvSpPr txBox="1">
            <a:spLocks noChangeArrowheads="1"/>
          </p:cNvSpPr>
          <p:nvPr/>
        </p:nvSpPr>
        <p:spPr bwMode="auto">
          <a:xfrm>
            <a:off x="879475" y="1028700"/>
            <a:ext cx="720725" cy="228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600">
                <a:ea typeface="华文新魏" pitchFamily="2" charset="-122"/>
              </a:rPr>
              <a:t>设置方法</a:t>
            </a:r>
            <a:endParaRPr lang="zh-CN" altLang="en-US" sz="3600">
              <a:ea typeface="华文新魏" pitchFamily="2" charset="-122"/>
            </a:endParaRPr>
          </a:p>
        </p:txBody>
      </p:sp>
      <p:pic>
        <p:nvPicPr>
          <p:cNvPr id="98307" name="图片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16855" y="521653"/>
            <a:ext cx="5762625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0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59121D1-A515-468F-9541-2D99723E4B24}" type="slidenum">
              <a:rPr lang="zh-CN" altLang="en-US"/>
            </a:fld>
            <a:endParaRPr lang="zh-CN" altLang="en-US"/>
          </a:p>
        </p:txBody>
      </p:sp>
      <p:pic>
        <p:nvPicPr>
          <p:cNvPr id="98309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4173" y="4550728"/>
            <a:ext cx="65722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4505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533525" y="596900"/>
            <a:ext cx="2224088" cy="649288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2000" b="1" dirty="0">
                <a:sym typeface="+mn-ea"/>
              </a:rPr>
              <a:t>5</a:t>
            </a:r>
            <a:r>
              <a:rPr lang="zh-CN" altLang="en-US" sz="2000" b="1" dirty="0">
                <a:sym typeface="+mn-ea"/>
              </a:rPr>
              <a:t>）分栏</a:t>
            </a:r>
            <a:endParaRPr lang="en-US" altLang="zh-CN" sz="2000" b="1" smtClean="0"/>
          </a:p>
        </p:txBody>
      </p:sp>
      <p:pic>
        <p:nvPicPr>
          <p:cNvPr id="95234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319588" y="596900"/>
            <a:ext cx="696912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5" name="标题 46081"/>
          <p:cNvSpPr>
            <a:spLocks noGrp="1" noRot="1" noChangeArrowheads="1"/>
          </p:cNvSpPr>
          <p:nvPr/>
        </p:nvSpPr>
        <p:spPr bwMode="auto">
          <a:xfrm>
            <a:off x="1028700" y="1246188"/>
            <a:ext cx="7585075" cy="454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zh-CN" altLang="en-US" sz="20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分栏方法</a:t>
            </a:r>
            <a:endParaRPr lang="zh-CN" altLang="en-US" sz="2000" b="1">
              <a:latin typeface="华文新魏" pitchFamily="2" charset="-122"/>
              <a:ea typeface="华文新魏" pitchFamily="2" charset="-122"/>
              <a:sym typeface="Calibri Light" panose="020F0302020204030204" pitchFamily="34" charset="0"/>
            </a:endParaRPr>
          </a:p>
        </p:txBody>
      </p:sp>
      <p:sp>
        <p:nvSpPr>
          <p:cNvPr id="95236" name="文本占位符 46082"/>
          <p:cNvSpPr>
            <a:spLocks noGrp="1" noRot="1" noChangeArrowheads="1"/>
          </p:cNvSpPr>
          <p:nvPr>
            <p:ph idx="1"/>
          </p:nvPr>
        </p:nvSpPr>
        <p:spPr bwMode="auto">
          <a:xfrm>
            <a:off x="843915" y="1978025"/>
            <a:ext cx="3402965" cy="263906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800" b="1" smtClean="0">
                <a:solidFill>
                  <a:srgbClr val="000000"/>
                </a:solidFill>
              </a:rPr>
              <a:t>1、利用“页面布局”工具栏</a:t>
            </a:r>
            <a:endParaRPr lang="zh-CN" altLang="en-US" sz="1800" b="1" smtClean="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b="1">
                <a:sym typeface="+mn-ea"/>
              </a:rPr>
              <a:t>⑴</a:t>
            </a:r>
            <a:r>
              <a:rPr lang="zh-CN" altLang="en-US" sz="1800" b="1">
                <a:sym typeface="+mn-ea"/>
              </a:rPr>
              <a:t>选择要分栏的段落</a:t>
            </a:r>
            <a:endParaRPr lang="zh-CN" altLang="en-US" sz="1800" b="1">
              <a:sym typeface="+mn-ea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b="1">
                <a:sym typeface="+mn-ea"/>
              </a:rPr>
              <a:t>⑵</a:t>
            </a:r>
            <a:r>
              <a:rPr lang="zh-CN" altLang="en-US" sz="1800" b="1">
                <a:sym typeface="+mn-ea"/>
              </a:rPr>
              <a:t>单击“分栏”按钮</a:t>
            </a:r>
            <a:endParaRPr lang="zh-CN" altLang="en-US" sz="1800" b="1"/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1800" b="1">
                <a:solidFill>
                  <a:srgbClr val="000000"/>
                </a:solidFill>
                <a:sym typeface="+mn-ea"/>
              </a:rPr>
              <a:t>、利用”格式“菜单</a:t>
            </a:r>
            <a:endParaRPr lang="zh-CN" altLang="en-US" sz="1800" b="1">
              <a:solidFill>
                <a:srgbClr val="000000"/>
              </a:solidFill>
              <a:sym typeface="+mn-ea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b="1">
                <a:sym typeface="+mn-ea"/>
              </a:rPr>
              <a:t>⑴</a:t>
            </a:r>
            <a:r>
              <a:rPr lang="zh-CN" altLang="en-US" sz="1800" b="1">
                <a:sym typeface="+mn-ea"/>
              </a:rPr>
              <a:t>选择要分栏的段落</a:t>
            </a:r>
            <a:endParaRPr lang="zh-CN" altLang="en-US" sz="1800" b="1"/>
          </a:p>
          <a:p>
            <a:pPr>
              <a:buFont typeface="Arial" panose="020B0604020202020204" pitchFamily="34" charset="0"/>
              <a:buNone/>
            </a:pPr>
            <a:r>
              <a:rPr lang="en-US" altLang="zh-CN" sz="1800" b="1">
                <a:sym typeface="+mn-ea"/>
              </a:rPr>
              <a:t>⑵</a:t>
            </a:r>
            <a:r>
              <a:rPr lang="zh-CN" altLang="en-US" sz="1800" b="1">
                <a:sym typeface="+mn-ea"/>
              </a:rPr>
              <a:t>通过“格式</a:t>
            </a:r>
            <a:r>
              <a:rPr lang="en-US" altLang="zh-CN" sz="1800" b="1">
                <a:sym typeface="+mn-ea"/>
              </a:rPr>
              <a:t>|</a:t>
            </a:r>
            <a:r>
              <a:rPr lang="zh-CN" altLang="en-US" sz="1800" b="1">
                <a:sym typeface="+mn-ea"/>
              </a:rPr>
              <a:t>分栏”命令菜单</a:t>
            </a:r>
            <a:endParaRPr lang="zh-CN" altLang="en-US" sz="1800" b="1"/>
          </a:p>
          <a:p>
            <a:pPr>
              <a:buFont typeface="Arial" panose="020B0604020202020204" pitchFamily="34" charset="0"/>
              <a:buNone/>
            </a:pPr>
            <a:endParaRPr lang="zh-CN" altLang="en-US" sz="1800" b="1">
              <a:solidFill>
                <a:srgbClr val="000000"/>
              </a:solidFill>
              <a:sym typeface="+mn-ea"/>
            </a:endParaRPr>
          </a:p>
          <a:p>
            <a:pPr>
              <a:buFont typeface="Arial" panose="020B0604020202020204" pitchFamily="34" charset="0"/>
              <a:buNone/>
            </a:pPr>
            <a:endParaRPr lang="zh-CN" altLang="en-US" sz="1800" b="1"/>
          </a:p>
          <a:p>
            <a:pPr>
              <a:buFont typeface="Arial" panose="020B0604020202020204" pitchFamily="34" charset="0"/>
              <a:buNone/>
            </a:pPr>
            <a:endParaRPr lang="zh-CN" altLang="en-US" sz="1800" b="1" smtClean="0">
              <a:solidFill>
                <a:srgbClr val="000000"/>
              </a:solidFill>
            </a:endParaRPr>
          </a:p>
        </p:txBody>
      </p:sp>
      <p:sp>
        <p:nvSpPr>
          <p:cNvPr id="46086" name="文本框 46085"/>
          <p:cNvSpPr txBox="1">
            <a:spLocks noChangeArrowheads="1"/>
          </p:cNvSpPr>
          <p:nvPr/>
        </p:nvSpPr>
        <p:spPr bwMode="auto">
          <a:xfrm>
            <a:off x="1489075" y="2625725"/>
            <a:ext cx="4124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b="1"/>
              <a:t> </a:t>
            </a:r>
            <a:endParaRPr lang="zh-CN" altLang="en-US" b="1"/>
          </a:p>
        </p:txBody>
      </p:sp>
      <p:sp>
        <p:nvSpPr>
          <p:cNvPr id="9524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1D2C16B-27AE-4152-9254-10D8587C5058}" type="slidenum">
              <a:rPr lang="zh-CN" altLang="en-US"/>
            </a:fld>
            <a:endParaRPr lang="zh-CN" altLang="en-US"/>
          </a:p>
        </p:txBody>
      </p:sp>
      <p:pic>
        <p:nvPicPr>
          <p:cNvPr id="96258" name="图片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4758" y="1572895"/>
            <a:ext cx="5894387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4680" y="900430"/>
            <a:ext cx="8231505" cy="41579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6</a:t>
            </a:r>
            <a:r>
              <a:rPr lang="zh-CN" altLang="en-US" b="1" dirty="0">
                <a:sym typeface="+mn-ea"/>
              </a:rPr>
              <a:t>）添加背景和水印</a:t>
            </a:r>
            <a:endParaRPr lang="zh-CN" altLang="en-US" b="1" dirty="0">
              <a:sym typeface="+mn-ea"/>
            </a:endParaRPr>
          </a:p>
          <a:p>
            <a:pPr marL="0" indent="0">
              <a:buNone/>
            </a:pPr>
            <a:r>
              <a:rPr lang="zh-CN" altLang="en-US" b="1" smtClean="0">
                <a:ea typeface="华文中宋" pitchFamily="2" charset="-122"/>
                <a:sym typeface="+mn-ea"/>
              </a:rPr>
              <a:t>设置背景：设置背景，web版式显示，打印时不显示</a:t>
            </a:r>
            <a:endParaRPr lang="zh-CN" altLang="en-US" b="1" smtClean="0">
              <a:ea typeface="华文中宋" pitchFamily="2" charset="-122"/>
            </a:endParaRPr>
          </a:p>
          <a:p>
            <a:pPr marL="0" indent="0">
              <a:buNone/>
            </a:pPr>
            <a:endParaRPr lang="zh-CN" altLang="en-US" b="1" dirty="0"/>
          </a:p>
          <a:p>
            <a:pPr marL="0" indent="0">
              <a:buNone/>
            </a:pPr>
            <a:r>
              <a:rPr lang="zh-CN" altLang="en-US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方法一：</a:t>
            </a:r>
            <a:endParaRPr lang="zh-CN" altLang="en-US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菜单格式/背景/填充效果</a:t>
            </a:r>
            <a:endParaRPr lang="zh-CN" altLang="en-US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方法二：</a:t>
            </a:r>
            <a:endParaRPr lang="zh-CN" altLang="en-US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工具栏页面布局</a:t>
            </a:r>
            <a:r>
              <a:rPr lang="en-US" altLang="zh-CN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-</a:t>
            </a:r>
            <a:r>
              <a:rPr lang="zh-CN" altLang="zh-CN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背景</a:t>
            </a:r>
            <a:endParaRPr lang="zh-CN" altLang="zh-CN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3737610" y="1939925"/>
          <a:ext cx="6167755" cy="418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" r:id="rId1" imgW="6162675" imgH="4181475" progId="PBrush">
                  <p:embed/>
                </p:oleObj>
              </mc:Choice>
              <mc:Fallback>
                <p:oleObj name="" r:id="rId1" imgW="6162675" imgH="4181475" progId="PBrush">
                  <p:embed/>
                  <p:pic>
                    <p:nvPicPr>
                      <p:cNvPr id="0" name="图片 13312" descr="image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7610" y="1939925"/>
                        <a:ext cx="6167755" cy="4184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7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6CBDF23-9822-4CE8-9BE2-7EB8FFD08526}" type="slidenum">
              <a:rPr lang="zh-CN" altLang="en-US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8160" y="1007745"/>
            <a:ext cx="4384040" cy="15297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b="1" smtClean="0">
                <a:ea typeface="华文中宋" pitchFamily="2" charset="-122"/>
                <a:sym typeface="+mn-ea"/>
              </a:rPr>
              <a:t>设置水印： 文字和图案水印，打印时显示</a:t>
            </a:r>
            <a:endParaRPr lang="zh-CN" altLang="en-US" b="1" smtClean="0">
              <a:ea typeface="华文中宋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>
                <a:solidFill>
                  <a:schemeClr val="tx1"/>
                </a:solidFill>
              </a:rPr>
              <a:t>方法一：菜单</a:t>
            </a:r>
            <a:r>
              <a:rPr lang="zh-CN" altLang="en-US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插入/水印</a:t>
            </a:r>
            <a:endParaRPr lang="zh-CN" altLang="en-US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b="1" smtClean="0">
                <a:solidFill>
                  <a:schemeClr val="tx1"/>
                </a:solidFill>
                <a:ea typeface="华文中宋" pitchFamily="2" charset="-122"/>
                <a:sym typeface="+mn-ea"/>
              </a:rPr>
              <a:t>方法二：工具栏插入</a:t>
            </a:r>
            <a:r>
              <a:rPr lang="en-US" altLang="zh-CN" b="1" smtClean="0">
                <a:ea typeface="华文中宋" pitchFamily="2" charset="-122"/>
                <a:sym typeface="+mn-ea"/>
              </a:rPr>
              <a:t>-</a:t>
            </a:r>
            <a:r>
              <a:rPr lang="zh-CN" altLang="en-US" b="1" smtClean="0">
                <a:ea typeface="华文中宋" pitchFamily="2" charset="-122"/>
                <a:sym typeface="+mn-ea"/>
              </a:rPr>
              <a:t>水印</a:t>
            </a:r>
            <a:endParaRPr lang="zh-CN" altLang="en-US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zh-CN" altLang="en-US" b="1" smtClean="0">
              <a:solidFill>
                <a:schemeClr val="tx1"/>
              </a:solidFill>
              <a:ea typeface="华文中宋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993958" y="472758"/>
            <a:ext cx="4630737" cy="4840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灯片编号占位符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C173CC1-8593-4B25-B024-393988A94B13}" type="slidenum">
              <a:rPr lang="zh-CN" altLang="en-US"/>
            </a:fld>
            <a:endParaRPr lang="zh-CN" altLang="en-US"/>
          </a:p>
        </p:txBody>
      </p:sp>
      <p:sp>
        <p:nvSpPr>
          <p:cNvPr id="137218" name="文本框 5"/>
          <p:cNvSpPr txBox="1">
            <a:spLocks noChangeArrowheads="1"/>
          </p:cNvSpPr>
          <p:nvPr/>
        </p:nvSpPr>
        <p:spPr bwMode="auto">
          <a:xfrm>
            <a:off x="1198563" y="942975"/>
            <a:ext cx="3535362" cy="228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/>
              <a:t>水印可以让我们的文档具</a:t>
            </a:r>
            <a:endParaRPr lang="zh-CN" altLang="en-US" sz="2400"/>
          </a:p>
          <a:p>
            <a:r>
              <a:rPr lang="zh-CN" altLang="en-US" sz="2400"/>
              <a:t>有更多的属性，比如防盗</a:t>
            </a:r>
            <a:endParaRPr lang="zh-CN" altLang="en-US" sz="2400"/>
          </a:p>
          <a:p>
            <a:r>
              <a:rPr lang="zh-CN" altLang="en-US" sz="2400"/>
              <a:t>版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文档背景的使用可以让我</a:t>
            </a:r>
            <a:endParaRPr lang="zh-CN" altLang="en-US" sz="2400"/>
          </a:p>
          <a:p>
            <a:r>
              <a:rPr lang="zh-CN" altLang="en-US" sz="2400"/>
              <a:t>们自己制作明信片。</a:t>
            </a:r>
            <a:endParaRPr lang="zh-CN" altLang="en-US" sz="2400"/>
          </a:p>
        </p:txBody>
      </p:sp>
      <p:pic>
        <p:nvPicPr>
          <p:cNvPr id="137219" name="图片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257800" y="814388"/>
            <a:ext cx="6456363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787400"/>
            <a:ext cx="588645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标题 40962"/>
          <p:cNvSpPr>
            <a:spLocks noGrp="1" noRot="1" noChangeArrowheads="1"/>
          </p:cNvSpPr>
          <p:nvPr/>
        </p:nvSpPr>
        <p:spPr bwMode="auto">
          <a:xfrm>
            <a:off x="362585" y="1566545"/>
            <a:ext cx="4397375" cy="22205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t" anchorCtr="0"/>
          <a:lstStyle/>
          <a:p>
            <a:pPr algn="l">
              <a:lnSpc>
                <a:spcPct val="90000"/>
              </a:lnSpc>
            </a:pPr>
            <a:r>
              <a:rPr lang="zh-CN" altLang="en-US" sz="18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段落</a:t>
            </a:r>
            <a:r>
              <a:rPr lang="en-US" altLang="zh-CN" sz="18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/</a:t>
            </a:r>
            <a:r>
              <a:rPr lang="zh-CN" altLang="zh-CN" sz="18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文字</a:t>
            </a:r>
            <a:r>
              <a:rPr lang="zh-CN" altLang="en-US" sz="18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边框和底纹</a:t>
            </a:r>
            <a:r>
              <a:rPr lang="zh-CN" altLang="en-US" sz="1800" b="1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 </a:t>
            </a:r>
            <a:r>
              <a:rPr lang="zh-CN" altLang="en-US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 </a:t>
            </a:r>
            <a:endParaRPr lang="zh-CN" altLang="en-US" sz="1800" b="1">
              <a:latin typeface="华文新魏" pitchFamily="2" charset="-122"/>
              <a:ea typeface="华文新魏" pitchFamily="2" charset="-122"/>
              <a:sym typeface="Calibri Light" panose="020F0302020204030204" pitchFamily="34" charset="0"/>
            </a:endParaRPr>
          </a:p>
          <a:p>
            <a:pPr algn="l">
              <a:lnSpc>
                <a:spcPct val="90000"/>
              </a:lnSpc>
            </a:pPr>
            <a:r>
              <a:rPr lang="zh-CN" altLang="en-US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 </a:t>
            </a:r>
            <a:r>
              <a:rPr lang="en-US" altLang="zh-CN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1</a:t>
            </a:r>
            <a:r>
              <a:rPr lang="zh-CN" altLang="en-US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）格式菜单</a:t>
            </a:r>
            <a:r>
              <a:rPr lang="en-US" altLang="zh-CN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/</a:t>
            </a:r>
            <a:r>
              <a:rPr lang="zh-CN" altLang="en-US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边框和底纹</a:t>
            </a:r>
            <a:endParaRPr lang="zh-CN" altLang="en-US" sz="1800" b="1">
              <a:latin typeface="华文新魏" pitchFamily="2" charset="-122"/>
              <a:ea typeface="华文新魏" pitchFamily="2" charset="-122"/>
              <a:sym typeface="Calibri Light" panose="020F0302020204030204" pitchFamily="34" charset="0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 2</a:t>
            </a:r>
            <a:r>
              <a:rPr lang="zh-CN" altLang="en-US" sz="1800" b="1">
                <a:latin typeface="华文新魏" pitchFamily="2" charset="-122"/>
                <a:ea typeface="华文新魏" pitchFamily="2" charset="-122"/>
                <a:sym typeface="Calibri Light" panose="020F0302020204030204" pitchFamily="34" charset="0"/>
              </a:rPr>
              <a:t>）</a:t>
            </a:r>
            <a:r>
              <a:rPr lang="zh-CN" altLang="en-US" sz="1800" b="1">
                <a:sym typeface="+mn-ea"/>
              </a:rPr>
              <a:t>工具栏点击位置：</a:t>
            </a:r>
            <a:endParaRPr lang="zh-CN" altLang="en-US" sz="1800" b="1">
              <a:latin typeface="华文新魏" pitchFamily="2" charset="-122"/>
              <a:ea typeface="华文新魏" pitchFamily="2" charset="-122"/>
              <a:sym typeface="Calibri Light" panose="020F0302020204030204" pitchFamily="34" charset="0"/>
            </a:endParaRPr>
          </a:p>
          <a:p>
            <a:pPr algn="l">
              <a:lnSpc>
                <a:spcPct val="90000"/>
              </a:lnSpc>
            </a:pPr>
            <a:endParaRPr lang="zh-CN" altLang="en-US" sz="1800" b="1">
              <a:latin typeface="华文新魏" pitchFamily="2" charset="-122"/>
              <a:ea typeface="华文新魏" pitchFamily="2" charset="-122"/>
              <a:sym typeface="Calibri Light" panose="020F0302020204030204" pitchFamily="34" charset="0"/>
            </a:endParaRPr>
          </a:p>
        </p:txBody>
      </p:sp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972175" y="565150"/>
            <a:ext cx="497205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6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7E4F844-ED1B-493D-8BA3-DE314F69BEA1}" type="slidenum">
              <a:rPr lang="zh-CN" altLang="en-US"/>
            </a:fld>
            <a:endParaRPr lang="zh-CN" altLang="en-US"/>
          </a:p>
        </p:txBody>
      </p:sp>
      <p:pic>
        <p:nvPicPr>
          <p:cNvPr id="88068" name="图片 1"/>
          <p:cNvPicPr>
            <a:picLocks noChangeAspect="1" noChangeArrowheads="1"/>
          </p:cNvPicPr>
          <p:nvPr/>
        </p:nvPicPr>
        <p:blipFill>
          <a:blip r:embed="rId2" cstate="print"/>
          <a:srcRect l="45981"/>
          <a:stretch>
            <a:fillRect/>
          </a:stretch>
        </p:blipFill>
        <p:spPr bwMode="auto">
          <a:xfrm>
            <a:off x="3637280" y="1417320"/>
            <a:ext cx="1928813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139190" y="926465"/>
            <a:ext cx="16891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ym typeface="+mn-ea"/>
              </a:rPr>
              <a:t>7</a:t>
            </a:r>
            <a:r>
              <a:rPr lang="zh-CN" altLang="en-US" b="1" dirty="0">
                <a:sym typeface="+mn-ea"/>
              </a:rPr>
              <a:t>）边框和底纹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图片 4198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82800" y="1128395"/>
            <a:ext cx="8628063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70" name="文本框 1"/>
          <p:cNvSpPr txBox="1">
            <a:spLocks noChangeArrowheads="1"/>
          </p:cNvSpPr>
          <p:nvPr/>
        </p:nvSpPr>
        <p:spPr bwMode="auto">
          <a:xfrm>
            <a:off x="882650" y="2062163"/>
            <a:ext cx="387350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600" b="1"/>
              <a:t>：</a:t>
            </a:r>
            <a:endParaRPr lang="zh-CN" altLang="en-US" sz="1600" b="1"/>
          </a:p>
        </p:txBody>
      </p:sp>
      <p:sp>
        <p:nvSpPr>
          <p:cNvPr id="88071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0356FC0-7135-4434-B5F6-D76975630A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文本框 43009"/>
          <p:cNvSpPr txBox="1">
            <a:spLocks noChangeArrowheads="1"/>
          </p:cNvSpPr>
          <p:nvPr/>
        </p:nvSpPr>
        <p:spPr bwMode="auto">
          <a:xfrm>
            <a:off x="1677988" y="1102360"/>
            <a:ext cx="4679950" cy="85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74955" indent="530225" latinLnBrk="1">
              <a:spcBef>
                <a:spcPct val="50000"/>
              </a:spcBef>
              <a:buClr>
                <a:schemeClr val="tx1"/>
              </a:buClr>
              <a:buFont typeface="Arial" panose="020B0604020202020204" pitchFamily="34" charset="0"/>
              <a:buAutoNum type="circleNumDbPlain"/>
            </a:pPr>
            <a:r>
              <a:rPr lang="zh-CN" altLang="en-US" sz="2000" b="1">
                <a:latin typeface="Gulim" panose="020B0600000101010101" pitchFamily="34" charset="-127"/>
              </a:rPr>
              <a:t>格式</a:t>
            </a:r>
            <a:r>
              <a:rPr lang="en-US" altLang="zh-CN" sz="2000" b="1">
                <a:latin typeface="Gulim" panose="020B0600000101010101" pitchFamily="34" charset="-127"/>
              </a:rPr>
              <a:t>/</a:t>
            </a:r>
            <a:r>
              <a:rPr lang="zh-CN" altLang="en-US" sz="2000" b="1">
                <a:latin typeface="Gulim" panose="020B0600000101010101" pitchFamily="34" charset="-127"/>
              </a:rPr>
              <a:t>边框和底纹</a:t>
            </a:r>
            <a:endParaRPr lang="zh-CN" altLang="en-US" sz="2000" b="1">
              <a:latin typeface="Gulim" panose="020B0600000101010101" pitchFamily="34" charset="-127"/>
            </a:endParaRPr>
          </a:p>
          <a:p>
            <a:pPr marL="274955" indent="530225" latinLnBrk="1">
              <a:spcBef>
                <a:spcPct val="50000"/>
              </a:spcBef>
              <a:buClr>
                <a:schemeClr val="tx1"/>
              </a:buClr>
              <a:buFont typeface="Arial" panose="020B0604020202020204" pitchFamily="34" charset="0"/>
              <a:buAutoNum type="circleNumDbPlain"/>
            </a:pPr>
            <a:r>
              <a:rPr lang="zh-CN" altLang="en-US" sz="2000" b="1">
                <a:latin typeface="Gulim" panose="020B0600000101010101" pitchFamily="34" charset="-127"/>
              </a:rPr>
              <a:t>选择“页面边框”选项卡</a:t>
            </a:r>
            <a:endParaRPr lang="zh-CN" altLang="en-US" sz="2000" b="1">
              <a:latin typeface="Gulim" panose="020B0600000101010101" pitchFamily="34" charset="-127"/>
            </a:endParaRPr>
          </a:p>
        </p:txBody>
      </p:sp>
      <p:sp>
        <p:nvSpPr>
          <p:cNvPr id="89090" name="标题 43010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514475" y="549275"/>
            <a:ext cx="6870700" cy="701675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zh-CN" altLang="en-US" sz="2000" b="1" smtClean="0">
                <a:latin typeface="华文新魏" pitchFamily="2" charset="-122"/>
                <a:ea typeface="华文新魏" pitchFamily="2" charset="-122"/>
              </a:rPr>
              <a:t>页面边框</a:t>
            </a:r>
            <a:endParaRPr lang="zh-CN" altLang="en-US" sz="2000" b="1" smtClean="0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43012" name="图片 4301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77988" y="2105025"/>
            <a:ext cx="8580437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092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5803016-BD44-46F9-B789-7122C954D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04683" y="700723"/>
            <a:ext cx="8382000" cy="489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1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76A3F9C-CB23-4449-8193-7469CE22448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2645" y="838835"/>
            <a:ext cx="7260590" cy="45262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脚注和尾注</a:t>
            </a:r>
            <a:endParaRPr lang="zh-CN" altLang="en-US" dirty="0">
              <a:sym typeface="+mn-ea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脚注和尾注是对文本的补充说明。脚注一般位于页面的底部，可以作为文档某处内容的注释；尾注一般位于文档的末尾，列出引文的出处等。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latin typeface="+mn-ea"/>
                <a:cs typeface="+mn-ea"/>
                <a:sym typeface="+mn-ea"/>
              </a:rPr>
              <a:t>1 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插入脚注和尾注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1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）将插入移到要插入脚注和尾注的位置。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2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）单击</a:t>
            </a:r>
            <a:r>
              <a:rPr lang="zh-CN" altLang="en-US" sz="1800" i="1" u="sng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【插入】菜单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中的</a:t>
            </a:r>
            <a:r>
              <a:rPr lang="zh-CN" altLang="en-US" sz="1800" i="1" u="sng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【引用</a:t>
            </a:r>
            <a:r>
              <a:rPr lang="zh-CN" altLang="en-US" sz="1800" i="1" u="sng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】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 －</a:t>
            </a:r>
            <a:r>
              <a:rPr lang="zh-CN" altLang="en-US" sz="1800" i="1" u="sng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【脚注和尾注</a:t>
            </a:r>
            <a:r>
              <a:rPr lang="zh-CN" altLang="en-US" sz="1800" i="1" u="sng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】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菜单项，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3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）选择【脚注】选项，可以插入脚注；如果要插入尾注，则选择【尾注】选项。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4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）如果选择了【编号方式】－“连续” ，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Word 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就会给所有脚注或尾注连续编号，当添加、删除、移动脚注或尾注引用标记时重新编号。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5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）如果要自定义脚注或尾注的引用标记，可以选择【自定义标记】，然后在后面的文本框中输入作为脚注或尾注的引用符号。如果键盘上没有这种符号，可以单击【符号】按钮，从【符号】对话框中选择一个合适的符号作为脚注或尾注即可。</a:t>
            </a:r>
            <a:endParaRPr lang="zh-CN" altLang="en-US" sz="1800" dirty="0">
              <a:latin typeface="+mn-ea"/>
              <a:cs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1800" dirty="0">
                <a:latin typeface="+mn-ea"/>
                <a:cs typeface="+mn-ea"/>
                <a:sym typeface="+mn-ea"/>
              </a:rPr>
              <a:t>（</a:t>
            </a:r>
            <a:r>
              <a:rPr lang="en-US" altLang="zh-CN" sz="1800" dirty="0">
                <a:latin typeface="+mn-ea"/>
                <a:cs typeface="+mn-ea"/>
                <a:sym typeface="+mn-ea"/>
              </a:rPr>
              <a:t>6</a:t>
            </a:r>
            <a:r>
              <a:rPr lang="zh-CN" altLang="en-US" sz="1800" dirty="0">
                <a:latin typeface="+mn-ea"/>
                <a:cs typeface="+mn-ea"/>
                <a:sym typeface="+mn-ea"/>
              </a:rPr>
              <a:t>）单击【确定】按钮后，就可以开始输入脚注或尾注文本。输入脚注或尾注文本的方式会因文档视图的不同而有所不同。</a:t>
            </a:r>
            <a:endParaRPr lang="zh-CN" altLang="en-US" sz="1800" dirty="0">
              <a:latin typeface="+mn-ea"/>
              <a:cs typeface="+mn-ea"/>
            </a:endParaRPr>
          </a:p>
          <a:p>
            <a:pPr marL="0" indent="0">
              <a:buNone/>
            </a:pPr>
            <a:endParaRPr lang="zh-CN" altLang="en-US" sz="1800">
              <a:latin typeface="+mn-ea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8103235" y="574040"/>
          <a:ext cx="3479165" cy="1124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" r:id="rId1" imgW="3476625" imgH="1123950" progId="PBrush">
                  <p:embed/>
                </p:oleObj>
              </mc:Choice>
              <mc:Fallback>
                <p:oleObj name="" r:id="rId1" imgW="3476625" imgH="1123950" progId="PBrush">
                  <p:embed/>
                  <p:pic>
                    <p:nvPicPr>
                      <p:cNvPr id="0" name="图片 14336" descr="image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03235" y="574040"/>
                        <a:ext cx="3479165" cy="1124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71814" y="1324611"/>
            <a:ext cx="8231638" cy="1143005"/>
          </a:xfrm>
        </p:spPr>
        <p:txBody>
          <a:bodyPr/>
          <a:lstStyle/>
          <a:p>
            <a:r>
              <a:rPr lang="zh-CN" altLang="en-US"/>
              <a:t>第二讲  表格和图文混排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53565" y="441325"/>
            <a:ext cx="6887845" cy="1143000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表格的制作</a:t>
            </a:r>
            <a:b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69590" y="1499235"/>
            <a:ext cx="5619115" cy="3188335"/>
          </a:xfrm>
        </p:spPr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1  </a:t>
            </a:r>
            <a:r>
              <a:rPr lang="zh-CN" altLang="en-US" b="1" dirty="0">
                <a:sym typeface="+mn-ea"/>
              </a:rPr>
              <a:t>新建表格</a:t>
            </a:r>
            <a:endParaRPr lang="zh-CN" altLang="en-US" b="1" dirty="0"/>
          </a:p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2  </a:t>
            </a:r>
            <a:r>
              <a:rPr lang="zh-CN" altLang="en-US" b="1" dirty="0">
                <a:sym typeface="+mn-ea"/>
              </a:rPr>
              <a:t>编辑表格</a:t>
            </a:r>
            <a:endParaRPr lang="zh-CN" altLang="en-US" b="1" dirty="0"/>
          </a:p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3  </a:t>
            </a:r>
            <a:r>
              <a:rPr lang="zh-CN" altLang="en-US" b="1" dirty="0">
                <a:sym typeface="+mn-ea"/>
              </a:rPr>
              <a:t>修饰表格</a:t>
            </a:r>
            <a:endParaRPr lang="zh-CN" altLang="en-US" b="1" dirty="0">
              <a:sym typeface="+mn-ea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4  </a:t>
            </a:r>
            <a:r>
              <a:rPr lang="zh-CN" altLang="en-US" b="1" dirty="0">
                <a:sym typeface="+mn-ea"/>
              </a:rPr>
              <a:t>表格排版</a:t>
            </a:r>
            <a:endParaRPr lang="zh-CN" altLang="en-US" b="1" dirty="0">
              <a:sym typeface="+mn-ea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b="1" dirty="0">
                <a:sym typeface="+mn-ea"/>
              </a:rPr>
              <a:t>5  表格中的数据处理</a:t>
            </a:r>
            <a:endParaRPr lang="zh-CN" altLang="en-US" b="1" dirty="0"/>
          </a:p>
          <a:p>
            <a:pPr>
              <a:lnSpc>
                <a:spcPct val="130000"/>
              </a:lnSpc>
              <a:buNone/>
            </a:pPr>
            <a:endParaRPr lang="zh-CN" altLang="en-US" b="1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6553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65313" y="374650"/>
            <a:ext cx="3827462" cy="8445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3600" b="1" smtClean="0"/>
              <a:t>1.</a:t>
            </a:r>
            <a:r>
              <a:rPr lang="zh-CN" altLang="en-US" sz="3600" b="1" smtClean="0"/>
              <a:t>新建表格</a:t>
            </a:r>
            <a:endParaRPr lang="zh-CN" altLang="en-US" sz="3600" b="1" smtClean="0"/>
          </a:p>
        </p:txBody>
      </p:sp>
      <p:pic>
        <p:nvPicPr>
          <p:cNvPr id="99330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122805" y="1755775"/>
            <a:ext cx="3094038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1" name="文本框 4"/>
          <p:cNvSpPr txBox="1">
            <a:spLocks noChangeArrowheads="1"/>
          </p:cNvSpPr>
          <p:nvPr/>
        </p:nvSpPr>
        <p:spPr bwMode="auto">
          <a:xfrm>
            <a:off x="1317625" y="1060450"/>
            <a:ext cx="305689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sym typeface="Arial" panose="020B0604020202020204" pitchFamily="34" charset="0"/>
              </a:rPr>
              <a:t>使用“插入/表格”工具栏：</a:t>
            </a:r>
            <a:endParaRPr lang="zh-CN" altLang="en-US" b="1">
              <a:latin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lang="en-US" altLang="zh-CN">
                <a:latin typeface="宋体" panose="02010600030101010101" pitchFamily="2" charset="-122"/>
                <a:sym typeface="Arial" panose="020B0604020202020204" pitchFamily="34" charset="0"/>
              </a:rPr>
              <a:t>1</a:t>
            </a:r>
            <a:r>
              <a:rPr lang="zh-CN" altLang="en-US">
                <a:latin typeface="宋体" panose="02010600030101010101" pitchFamily="2" charset="-122"/>
                <a:sym typeface="Arial" panose="020B0604020202020204" pitchFamily="34" charset="0"/>
              </a:rPr>
              <a:t>）拉选格子</a:t>
            </a:r>
            <a:endParaRPr lang="zh-CN" altLang="en-US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99332" name="图片 5"/>
          <p:cNvPicPr>
            <a:picLocks noChangeAspect="1" noChangeArrowheads="1"/>
          </p:cNvPicPr>
          <p:nvPr/>
        </p:nvPicPr>
        <p:blipFill>
          <a:blip r:embed="rId2" cstate="print"/>
          <a:srcRect l="30103" t="2403" r="12247" b="7484"/>
          <a:stretch>
            <a:fillRect/>
          </a:stretch>
        </p:blipFill>
        <p:spPr bwMode="auto">
          <a:xfrm>
            <a:off x="5692775" y="646113"/>
            <a:ext cx="5930900" cy="521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B4B9CA9-4817-454C-85A2-293A8837E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1969135" cy="4526280"/>
          </a:xfrm>
        </p:spPr>
        <p:txBody>
          <a:bodyPr/>
          <a:lstStyle/>
          <a:p>
            <a:pPr marL="0" indent="0">
              <a:buNone/>
            </a:pPr>
            <a:r>
              <a:rPr lang="en-US" altLang="zh-CN">
                <a:latin typeface="宋体" panose="02010600030101010101" pitchFamily="2" charset="-122"/>
                <a:sym typeface="Arial" panose="020B0604020202020204" pitchFamily="34" charset="0"/>
              </a:rPr>
              <a:t>2</a:t>
            </a:r>
            <a:r>
              <a:rPr lang="zh-CN" altLang="en-US">
                <a:latin typeface="宋体" panose="02010600030101010101" pitchFamily="2" charset="-122"/>
                <a:sym typeface="Arial" panose="020B0604020202020204" pitchFamily="34" charset="0"/>
              </a:rPr>
              <a:t>）插入表格</a:t>
            </a:r>
            <a:endParaRPr lang="zh-CN" altLang="en-US">
              <a:latin typeface="宋体" panose="02010600030101010101" pitchFamily="2" charset="-122"/>
              <a:sym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）绘制表格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pic>
        <p:nvPicPr>
          <p:cNvPr id="99330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52065" y="452755"/>
            <a:ext cx="3094038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对象 4"/>
          <p:cNvGraphicFramePr/>
          <p:nvPr/>
        </p:nvGraphicFramePr>
        <p:xfrm>
          <a:off x="5897245" y="452755"/>
          <a:ext cx="2801620" cy="3323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" r:id="rId2" imgW="2371725" imgH="2647950" progId="PBrush">
                  <p:embed/>
                </p:oleObj>
              </mc:Choice>
              <mc:Fallback>
                <p:oleObj name="" r:id="rId2" imgW="2371725" imgH="2647950" progId="PBrush">
                  <p:embed/>
                  <p:pic>
                    <p:nvPicPr>
                      <p:cNvPr id="0" name="图片 15360" descr="image10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97245" y="452755"/>
                        <a:ext cx="2801620" cy="3323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6553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65313" y="374650"/>
            <a:ext cx="3827462" cy="8445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3600" b="1" smtClean="0"/>
              <a:t>2.</a:t>
            </a:r>
            <a:r>
              <a:rPr lang="zh-CN" altLang="en-US" sz="3600" b="1" smtClean="0"/>
              <a:t>编辑表格</a:t>
            </a:r>
            <a:endParaRPr lang="zh-CN" altLang="en-US" sz="3600" b="1" smtClean="0"/>
          </a:p>
        </p:txBody>
      </p:sp>
      <p:sp>
        <p:nvSpPr>
          <p:cNvPr id="99331" name="文本框 4"/>
          <p:cNvSpPr txBox="1">
            <a:spLocks noChangeArrowheads="1"/>
          </p:cNvSpPr>
          <p:nvPr/>
        </p:nvSpPr>
        <p:spPr bwMode="auto">
          <a:xfrm>
            <a:off x="1317625" y="1060450"/>
            <a:ext cx="9615170" cy="258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在表格中输入内容</a:t>
            </a:r>
            <a:r>
              <a:rPr lang="zh-CN" altLang="en-US" dirty="0">
                <a:sym typeface="+mn-ea"/>
              </a:rPr>
              <a:t> </a:t>
            </a:r>
            <a:endParaRPr lang="zh-CN" altLang="en-US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选定表格</a:t>
            </a:r>
            <a:r>
              <a:rPr lang="zh-CN" altLang="en-US" dirty="0">
                <a:sym typeface="+mn-ea"/>
              </a:rPr>
              <a:t> </a:t>
            </a:r>
            <a:endParaRPr lang="zh-CN" altLang="en-US" dirty="0"/>
          </a:p>
          <a:p>
            <a:pPr lvl="1" indent="0" algn="l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	选择【表格工具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】</a:t>
            </a:r>
            <a:r>
              <a:rPr lang="en-US" altLang="zh-CN">
                <a:sym typeface="+mn-ea"/>
              </a:rPr>
              <a:t>|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【选择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】</a:t>
            </a:r>
            <a:r>
              <a:rPr lang="zh-CN" altLang="en-US" dirty="0">
                <a:sym typeface="+mn-ea"/>
              </a:rPr>
              <a:t>，在子菜单中选择可以选定相应的单元格、行、列、表格</a:t>
            </a:r>
            <a:endParaRPr lang="zh-CN" altLang="en-US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插入单元格、行和列</a:t>
            </a:r>
            <a:r>
              <a:rPr lang="zh-CN" altLang="en-US" dirty="0">
                <a:sym typeface="+mn-ea"/>
              </a:rPr>
              <a:t> </a:t>
            </a:r>
            <a:endParaRPr lang="zh-CN" altLang="en-US" dirty="0"/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删除表格、行、列、单元格</a:t>
            </a:r>
            <a:endParaRPr lang="zh-CN" altLang="en-US" dirty="0"/>
          </a:p>
          <a:p>
            <a:pPr lvl="1" indent="0" algn="l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   【表格工具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】</a:t>
            </a:r>
            <a:r>
              <a:rPr lang="en-US" altLang="zh-CN">
                <a:sym typeface="+mn-ea"/>
              </a:rPr>
              <a:t>|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【删除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】</a:t>
            </a:r>
            <a:endParaRPr lang="zh-CN" altLang="en-US">
              <a:latin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9933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B4B9CA9-4817-454C-85A2-293A8837EB6C}" type="slidenum">
              <a:rPr lang="zh-CN" altLang="en-US"/>
            </a:fld>
            <a:endParaRPr lang="zh-CN" altLang="en-US"/>
          </a:p>
        </p:txBody>
      </p:sp>
      <p:graphicFrame>
        <p:nvGraphicFramePr>
          <p:cNvPr id="2" name="对象 1"/>
          <p:cNvGraphicFramePr/>
          <p:nvPr/>
        </p:nvGraphicFramePr>
        <p:xfrm>
          <a:off x="6770370" y="2547620"/>
          <a:ext cx="2430780" cy="291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" r:id="rId1" imgW="2428875" imgH="2914650" progId="PBrush">
                  <p:embed/>
                </p:oleObj>
              </mc:Choice>
              <mc:Fallback>
                <p:oleObj name="" r:id="rId1" imgW="2428875" imgH="2914650" progId="PBrush">
                  <p:embed/>
                  <p:pic>
                    <p:nvPicPr>
                      <p:cNvPr id="0" name="图片 16384" descr="image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70370" y="2547620"/>
                        <a:ext cx="2430780" cy="2916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3328670" y="3766820"/>
          <a:ext cx="2364105" cy="179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" r:id="rId3" imgW="2362200" imgH="1790700" progId="PBrush">
                  <p:embed/>
                </p:oleObj>
              </mc:Choice>
              <mc:Fallback>
                <p:oleObj name="" r:id="rId3" imgW="2362200" imgH="1790700" progId="PBrush">
                  <p:embed/>
                  <p:pic>
                    <p:nvPicPr>
                      <p:cNvPr id="0" name="图片 16385" descr="image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8670" y="3766820"/>
                        <a:ext cx="2364105" cy="1791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sp>
        <p:nvSpPr>
          <p:cNvPr id="250884" name="矩形 250883"/>
          <p:cNvSpPr/>
          <p:nvPr/>
        </p:nvSpPr>
        <p:spPr>
          <a:xfrm>
            <a:off x="2519680" y="1927225"/>
            <a:ext cx="6689090" cy="1198880"/>
          </a:xfrm>
          <a:prstGeom prst="rect">
            <a:avLst/>
          </a:prstGeom>
          <a:noFill/>
          <a:ln w="22225" cap="sq" cmpd="sng">
            <a:solidFill>
              <a:schemeClr val="accent2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 anchor="ctr" anchorCtr="0">
            <a:spAutoFit/>
          </a:bodyPr>
          <a:lstStyle/>
          <a:p>
            <a:pPr eaLnBrk="1" hangingPunct="1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按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TAB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键向前移动；按</a:t>
            </a:r>
            <a:r>
              <a:rPr lang="en-US" altLang="zh-CN" sz="2400" b="1" err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Shift+TAB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键向后移动；也可用鼠标移动单击；当插入点在表格最后一个单元格时，再按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TAB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键，将自动增加一行。 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6553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65313" y="374650"/>
            <a:ext cx="3827462" cy="8445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3600" b="1" smtClean="0"/>
              <a:t>3.</a:t>
            </a:r>
            <a:r>
              <a:rPr lang="zh-CN" altLang="en-US" sz="3600" b="1" smtClean="0"/>
              <a:t>修</a:t>
            </a:r>
            <a:r>
              <a:rPr lang="zh-CN" altLang="en-US" sz="3600" b="1" smtClean="0">
                <a:sym typeface="+mn-ea"/>
              </a:rPr>
              <a:t>饰</a:t>
            </a:r>
            <a:r>
              <a:rPr lang="zh-CN" altLang="en-US" sz="3600" b="1" smtClean="0"/>
              <a:t>表格</a:t>
            </a:r>
            <a:endParaRPr lang="zh-CN" altLang="en-US" sz="3600" b="1" smtClean="0"/>
          </a:p>
        </p:txBody>
      </p:sp>
      <p:sp>
        <p:nvSpPr>
          <p:cNvPr id="99331" name="文本框 4"/>
          <p:cNvSpPr txBox="1">
            <a:spLocks noChangeArrowheads="1"/>
          </p:cNvSpPr>
          <p:nvPr/>
        </p:nvSpPr>
        <p:spPr bwMode="auto">
          <a:xfrm>
            <a:off x="1317625" y="1060450"/>
            <a:ext cx="5974080" cy="25533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）拆分单元格</a:t>
            </a:r>
            <a:endParaRPr lang="zh-CN" altLang="en-US" sz="2000" dirty="0"/>
          </a:p>
          <a:p>
            <a:pPr lvl="1" algn="l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光标定位于要拆分的单元格内</a:t>
            </a:r>
            <a:endParaRPr lang="zh-CN" altLang="en-US" sz="2000" dirty="0"/>
          </a:p>
          <a:p>
            <a:pPr lvl="1" algn="l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打开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表格工具</a:t>
            </a:r>
            <a:r>
              <a:rPr lang="en-US" altLang="zh-CN" sz="2000" dirty="0">
                <a:sym typeface="+mn-ea"/>
              </a:rPr>
              <a:t>]|[</a:t>
            </a:r>
            <a:r>
              <a:rPr lang="zh-CN" altLang="en-US" sz="2000" dirty="0">
                <a:sym typeface="+mn-ea"/>
              </a:rPr>
              <a:t>拆分单元格</a:t>
            </a:r>
            <a:r>
              <a:rPr lang="en-US" altLang="zh-CN" sz="2000">
                <a:sym typeface="+mn-ea"/>
              </a:rPr>
              <a:t>]</a:t>
            </a:r>
            <a:endParaRPr lang="en-US" altLang="zh-CN" sz="2000"/>
          </a:p>
          <a:p>
            <a:pPr algn="l">
              <a:lnSpc>
                <a:spcPct val="80000"/>
              </a:lnSpc>
            </a:pP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）合并单元格</a:t>
            </a:r>
            <a:endParaRPr lang="zh-CN" altLang="en-US" sz="2000" dirty="0"/>
          </a:p>
          <a:p>
            <a:pPr lvl="1" algn="l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选中要合并的若干单元格</a:t>
            </a:r>
            <a:endParaRPr lang="zh-CN" altLang="en-US" sz="2000" dirty="0"/>
          </a:p>
          <a:p>
            <a:pPr lvl="1" algn="l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打开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表格工具</a:t>
            </a:r>
            <a:r>
              <a:rPr lang="en-US" altLang="zh-CN" sz="2000" dirty="0">
                <a:sym typeface="+mn-ea"/>
              </a:rPr>
              <a:t>]|[</a:t>
            </a:r>
            <a:r>
              <a:rPr lang="zh-CN" altLang="en-US" sz="2000" dirty="0">
                <a:sym typeface="+mn-ea"/>
              </a:rPr>
              <a:t>合并单元格</a:t>
            </a:r>
            <a:r>
              <a:rPr lang="en-US" altLang="zh-CN" sz="2000">
                <a:sym typeface="+mn-ea"/>
              </a:rPr>
              <a:t>]</a:t>
            </a:r>
            <a:endParaRPr lang="en-US" altLang="zh-CN" sz="2000"/>
          </a:p>
          <a:p>
            <a:pPr algn="l">
              <a:lnSpc>
                <a:spcPct val="80000"/>
              </a:lnSpc>
            </a:pPr>
            <a:r>
              <a:rPr lang="en-US" altLang="zh-CN" sz="2000" dirty="0">
                <a:sym typeface="+mn-ea"/>
              </a:rPr>
              <a:t>3</a:t>
            </a:r>
            <a:r>
              <a:rPr lang="zh-CN" altLang="en-US" sz="2000" dirty="0">
                <a:sym typeface="+mn-ea"/>
              </a:rPr>
              <a:t>）拆分表格</a:t>
            </a:r>
            <a:endParaRPr lang="zh-CN" altLang="en-US" sz="2000" dirty="0"/>
          </a:p>
          <a:p>
            <a:pPr lvl="1" algn="l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将光标定位于要拆分的第二个表格的首个单元格</a:t>
            </a:r>
            <a:endParaRPr lang="zh-CN" altLang="en-US" sz="2000" dirty="0"/>
          </a:p>
          <a:p>
            <a:pPr lvl="1" algn="l">
              <a:lnSpc>
                <a:spcPct val="80000"/>
              </a:lnSpc>
            </a:pPr>
            <a:r>
              <a:rPr lang="zh-CN" altLang="en-US" sz="2000" dirty="0">
                <a:sym typeface="+mn-ea"/>
              </a:rPr>
              <a:t>打开</a:t>
            </a:r>
            <a:r>
              <a:rPr lang="en-US" altLang="zh-CN" sz="2000" dirty="0">
                <a:sym typeface="+mn-ea"/>
              </a:rPr>
              <a:t>[</a:t>
            </a:r>
            <a:r>
              <a:rPr lang="zh-CN" altLang="en-US" sz="2000" dirty="0">
                <a:sym typeface="+mn-ea"/>
              </a:rPr>
              <a:t>表格工具</a:t>
            </a:r>
            <a:r>
              <a:rPr lang="en-US" altLang="zh-CN" sz="2000" dirty="0">
                <a:sym typeface="+mn-ea"/>
              </a:rPr>
              <a:t>]|[</a:t>
            </a:r>
            <a:r>
              <a:rPr lang="zh-CN" altLang="en-US" sz="2000" dirty="0">
                <a:sym typeface="+mn-ea"/>
              </a:rPr>
              <a:t>拆分表格</a:t>
            </a:r>
            <a:r>
              <a:rPr lang="en-US" altLang="zh-CN" sz="2000">
                <a:sym typeface="+mn-ea"/>
              </a:rPr>
              <a:t>]</a:t>
            </a:r>
            <a:endParaRPr lang="en-US" altLang="zh-CN" sz="2000"/>
          </a:p>
          <a:p>
            <a:pPr algn="l">
              <a:lnSpc>
                <a:spcPct val="80000"/>
              </a:lnSpc>
            </a:pPr>
            <a:endParaRPr lang="zh-CN" altLang="en-US" sz="20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933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B4B9CA9-4817-454C-85A2-293A8837E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3" name="图片 3"/>
          <p:cNvPicPr>
            <a:picLocks noChangeAspect="1" noChangeArrowheads="1"/>
          </p:cNvPicPr>
          <p:nvPr/>
        </p:nvPicPr>
        <p:blipFill>
          <a:blip r:embed="rId1" cstate="print"/>
          <a:srcRect l="1535" r="4210" b="2779"/>
          <a:stretch>
            <a:fillRect/>
          </a:stretch>
        </p:blipFill>
        <p:spPr bwMode="auto">
          <a:xfrm>
            <a:off x="1428750" y="1223963"/>
            <a:ext cx="5459413" cy="489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354" name="文本框 4"/>
          <p:cNvSpPr txBox="1">
            <a:spLocks noChangeArrowheads="1"/>
          </p:cNvSpPr>
          <p:nvPr/>
        </p:nvSpPr>
        <p:spPr bwMode="auto">
          <a:xfrm>
            <a:off x="1738313" y="460375"/>
            <a:ext cx="521208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  <a:r>
              <a:rPr lang="zh-CN" altLang="en-US"/>
              <a:t>）绘制表格边框斜线</a:t>
            </a:r>
            <a:endParaRPr lang="zh-CN" altLang="en-US"/>
          </a:p>
          <a:p>
            <a:r>
              <a:rPr lang="zh-CN" altLang="en-US"/>
              <a:t>设计表格的时候我们会经常遇到，需要斜线表头。</a:t>
            </a:r>
            <a:endParaRPr lang="zh-CN" altLang="en-US"/>
          </a:p>
          <a:p>
            <a:r>
              <a:rPr lang="zh-CN" altLang="en-US"/>
              <a:t>设置斜线表头方法，同时了解和斜线边框的不同</a:t>
            </a:r>
            <a:endParaRPr lang="zh-CN" altLang="en-US"/>
          </a:p>
        </p:txBody>
      </p:sp>
      <p:pic>
        <p:nvPicPr>
          <p:cNvPr id="100355" name="图片 5"/>
          <p:cNvPicPr>
            <a:picLocks noChangeAspect="1" noChangeArrowheads="1"/>
          </p:cNvPicPr>
          <p:nvPr/>
        </p:nvPicPr>
        <p:blipFill>
          <a:blip r:embed="rId2" cstate="print"/>
          <a:srcRect r="68001" b="15500"/>
          <a:stretch>
            <a:fillRect/>
          </a:stretch>
        </p:blipFill>
        <p:spPr bwMode="auto">
          <a:xfrm>
            <a:off x="7734300" y="973138"/>
            <a:ext cx="1882775" cy="128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箭头连接符 7"/>
          <p:cNvCxnSpPr/>
          <p:nvPr/>
        </p:nvCxnSpPr>
        <p:spPr>
          <a:xfrm>
            <a:off x="6873875" y="1760538"/>
            <a:ext cx="92551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357" name="图片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99388" y="4176713"/>
            <a:ext cx="26289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358" name="图片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99388" y="3290888"/>
            <a:ext cx="272415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359" name="文本框 4"/>
          <p:cNvSpPr txBox="1">
            <a:spLocks noChangeArrowheads="1"/>
          </p:cNvSpPr>
          <p:nvPr/>
        </p:nvSpPr>
        <p:spPr bwMode="auto">
          <a:xfrm>
            <a:off x="7667625" y="2790825"/>
            <a:ext cx="155416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设置</a:t>
            </a:r>
            <a:r>
              <a:rPr lang="zh-CN" altLang="en-US">
                <a:sym typeface="宋体" panose="02010600030101010101" pitchFamily="2" charset="-122"/>
              </a:rPr>
              <a:t>斜线</a:t>
            </a:r>
            <a:r>
              <a:rPr lang="zh-CN" altLang="en-US"/>
              <a:t>表头</a:t>
            </a:r>
            <a:endParaRPr lang="zh-CN" altLang="en-US"/>
          </a:p>
        </p:txBody>
      </p:sp>
      <p:sp>
        <p:nvSpPr>
          <p:cNvPr id="100360" name="文本框 5"/>
          <p:cNvSpPr txBox="1">
            <a:spLocks noChangeArrowheads="1"/>
          </p:cNvSpPr>
          <p:nvPr/>
        </p:nvSpPr>
        <p:spPr bwMode="auto">
          <a:xfrm>
            <a:off x="7667625" y="460375"/>
            <a:ext cx="406876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这里斜线边框和斜线表头是不一样的！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00361" name="图片 6"/>
          <p:cNvPicPr>
            <a:picLocks noChangeAspect="1" noChangeArrowheads="1"/>
          </p:cNvPicPr>
          <p:nvPr/>
        </p:nvPicPr>
        <p:blipFill>
          <a:blip r:embed="rId5" cstate="print"/>
          <a:srcRect l="15167"/>
          <a:stretch>
            <a:fillRect/>
          </a:stretch>
        </p:blipFill>
        <p:spPr bwMode="auto">
          <a:xfrm>
            <a:off x="9929813" y="1241425"/>
            <a:ext cx="1938337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接箭头连接符 8"/>
          <p:cNvCxnSpPr>
            <a:stCxn id="100360" idx="2"/>
            <a:endCxn id="0" idx="0"/>
          </p:cNvCxnSpPr>
          <p:nvPr/>
        </p:nvCxnSpPr>
        <p:spPr>
          <a:xfrm>
            <a:off x="9702800" y="825500"/>
            <a:ext cx="1196975" cy="4159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B47DCBA-E1CB-4ECC-99A9-D4675F0DBDE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7014" y="882657"/>
            <a:ext cx="8231638" cy="45263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）自动套用格式的应用</a:t>
            </a:r>
            <a:endParaRPr lang="zh-CN" altLang="en-US" dirty="0">
              <a:sym typeface="+mn-ea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sym typeface="+mn-ea"/>
              </a:rPr>
              <a:t>选中该表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zh-CN" altLang="en-US" dirty="0">
                <a:sym typeface="+mn-ea"/>
              </a:rPr>
              <a:t>打开</a:t>
            </a:r>
            <a:r>
              <a:rPr lang="en-US" altLang="zh-CN" dirty="0">
                <a:sym typeface="+mn-ea"/>
              </a:rPr>
              <a:t>[</a:t>
            </a:r>
            <a:r>
              <a:rPr lang="zh-CN" altLang="en-US" dirty="0">
                <a:sym typeface="+mn-ea"/>
              </a:rPr>
              <a:t>表格样式</a:t>
            </a:r>
            <a:r>
              <a:rPr lang="en-US" altLang="zh-CN" dirty="0">
                <a:sym typeface="+mn-ea"/>
              </a:rPr>
              <a:t>]</a:t>
            </a:r>
            <a:r>
              <a:rPr lang="zh-CN" altLang="en-US" dirty="0">
                <a:sym typeface="+mn-ea"/>
              </a:rPr>
              <a:t>工具选项卡，单击</a:t>
            </a:r>
            <a:r>
              <a:rPr lang="en-US" altLang="zh-CN" dirty="0">
                <a:sym typeface="+mn-ea"/>
              </a:rPr>
              <a:t>[</a:t>
            </a:r>
            <a:r>
              <a:rPr lang="zh-CN" altLang="en-US" dirty="0">
                <a:sym typeface="+mn-ea"/>
              </a:rPr>
              <a:t>表格样式</a:t>
            </a:r>
            <a:r>
              <a:rPr lang="en-US" altLang="zh-CN" dirty="0">
                <a:sym typeface="+mn-ea"/>
              </a:rPr>
              <a:t>]</a:t>
            </a:r>
            <a:r>
              <a:rPr lang="zh-CN" altLang="en-US" dirty="0">
                <a:sym typeface="+mn-ea"/>
              </a:rPr>
              <a:t>功能区的表格样式 右下角的快翻按钮，选择完成。</a:t>
            </a:r>
            <a:endParaRPr lang="zh-CN" altLang="en-US"/>
          </a:p>
          <a:p>
            <a:pPr marL="0" indent="0">
              <a:buNone/>
            </a:pPr>
            <a:endParaRPr lang="zh-CN" altLang="en-US" dirty="0">
              <a:solidFill>
                <a:schemeClr val="hlink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6)</a:t>
            </a:r>
            <a:r>
              <a:rPr lang="zh-CN" altLang="en-US" dirty="0">
                <a:sym typeface="+mn-ea"/>
              </a:rPr>
              <a:t>调整表格的行高和列宽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）自动调整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）手动调整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拖动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)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）精确调整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表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格属性）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graphicFrame>
        <p:nvGraphicFramePr>
          <p:cNvPr id="5" name="对象 4"/>
          <p:cNvGraphicFramePr/>
          <p:nvPr/>
        </p:nvGraphicFramePr>
        <p:xfrm>
          <a:off x="4297680" y="2530475"/>
          <a:ext cx="3193415" cy="1953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" r:id="rId1" imgW="3190875" imgH="1952625" progId="PBrush">
                  <p:embed/>
                </p:oleObj>
              </mc:Choice>
              <mc:Fallback>
                <p:oleObj name="" r:id="rId1" imgW="3190875" imgH="1952625" progId="PBrush">
                  <p:embed/>
                  <p:pic>
                    <p:nvPicPr>
                      <p:cNvPr id="0" name="图片 17408" descr="image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7680" y="2530475"/>
                        <a:ext cx="3193415" cy="1953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14335" y="2145030"/>
            <a:ext cx="2986405" cy="355028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6553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865313" y="374650"/>
            <a:ext cx="3827462" cy="8445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3600" b="1" smtClean="0"/>
              <a:t>4.</a:t>
            </a:r>
            <a:r>
              <a:rPr lang="en-US" altLang="zh-CN" sz="3600" b="1" smtClean="0">
                <a:sym typeface="+mn-ea"/>
              </a:rPr>
              <a:t>表格排版</a:t>
            </a:r>
            <a:endParaRPr lang="zh-CN" altLang="en-US" sz="3600" b="1" smtClean="0"/>
          </a:p>
        </p:txBody>
      </p:sp>
      <p:sp>
        <p:nvSpPr>
          <p:cNvPr id="99331" name="文本框 4"/>
          <p:cNvSpPr txBox="1">
            <a:spLocks noChangeArrowheads="1"/>
          </p:cNvSpPr>
          <p:nvPr/>
        </p:nvSpPr>
        <p:spPr bwMode="auto">
          <a:xfrm>
            <a:off x="1317625" y="1219200"/>
            <a:ext cx="4399280" cy="2306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）表格中文字的对齐</a:t>
            </a:r>
            <a:endParaRPr lang="zh-CN" altLang="en-US" sz="2000" dirty="0"/>
          </a:p>
          <a:p>
            <a:pPr lvl="1" algn="l"/>
            <a:r>
              <a:rPr lang="zh-CN" altLang="en-US" sz="2000" dirty="0">
                <a:sym typeface="+mn-ea"/>
              </a:rPr>
              <a:t>水平对齐</a:t>
            </a:r>
            <a:endParaRPr lang="zh-CN" altLang="en-US" sz="2000" dirty="0"/>
          </a:p>
          <a:p>
            <a:pPr lvl="1" algn="l"/>
            <a:r>
              <a:rPr lang="zh-CN" altLang="en-US" sz="2000" dirty="0">
                <a:sym typeface="+mn-ea"/>
              </a:rPr>
              <a:t>垂直对齐</a:t>
            </a:r>
            <a:endParaRPr lang="zh-CN" altLang="en-US" sz="2000" dirty="0"/>
          </a:p>
          <a:p>
            <a:pPr lvl="2" algn="l"/>
            <a:r>
              <a:rPr lang="zh-CN" altLang="en-US" sz="2000" dirty="0">
                <a:sym typeface="+mn-ea"/>
              </a:rPr>
              <a:t>选中需垂直对齐内容的单元格</a:t>
            </a:r>
            <a:endParaRPr lang="zh-CN" altLang="en-US" sz="2000" dirty="0"/>
          </a:p>
          <a:p>
            <a:pPr algn="l">
              <a:lnSpc>
                <a:spcPct val="130000"/>
              </a:lnSpc>
            </a:pPr>
            <a:r>
              <a:rPr lang="zh-CN" altLang="en-US" sz="2000" b="1" smtClean="0">
                <a:latin typeface="宋体" panose="02010600030101010101" pitchFamily="2" charset="-122"/>
                <a:sym typeface="+mn-ea"/>
              </a:rPr>
              <a:t>利用“表格工具”工具栏</a:t>
            </a:r>
            <a:endParaRPr lang="zh-CN" altLang="en-US" sz="2000" b="1" smtClean="0">
              <a:latin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b="1" smtClean="0">
                <a:latin typeface="宋体" panose="02010600030101010101" pitchFamily="2" charset="-122"/>
                <a:sym typeface="+mn-ea"/>
              </a:rPr>
              <a:t>表格工具/表格属性，单元格选项</a:t>
            </a:r>
            <a:endParaRPr lang="zh-CN" altLang="en-US" sz="2000"/>
          </a:p>
          <a:p>
            <a:pPr algn="l">
              <a:lnSpc>
                <a:spcPct val="80000"/>
              </a:lnSpc>
            </a:pPr>
            <a:endParaRPr lang="zh-CN" altLang="en-US" sz="20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9333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B4B9CA9-4817-454C-85A2-293A8837EB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内容占位符 80897"/>
          <p:cNvSpPr>
            <a:spLocks noGrp="1" noRot="1" noChangeArrowheads="1"/>
          </p:cNvSpPr>
          <p:nvPr>
            <p:ph idx="1"/>
          </p:nvPr>
        </p:nvSpPr>
        <p:spPr bwMode="auto">
          <a:xfrm>
            <a:off x="1695450" y="766763"/>
            <a:ext cx="6824663" cy="1360487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30000"/>
              </a:lnSpc>
            </a:pPr>
            <a:r>
              <a:rPr lang="zh-CN" altLang="en-US" sz="2400" b="1" smtClean="0">
                <a:latin typeface="宋体" panose="02010600030101010101" pitchFamily="2" charset="-122"/>
              </a:rPr>
              <a:t>利用“表格工具”工具栏</a:t>
            </a:r>
            <a:endParaRPr lang="zh-CN" altLang="en-US" sz="2400" b="1" smtClean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smtClean="0">
                <a:latin typeface="宋体" panose="02010600030101010101" pitchFamily="2" charset="-122"/>
              </a:rPr>
              <a:t>表格工具/表格属性，单元格选项</a:t>
            </a:r>
            <a:endParaRPr lang="zh-CN" altLang="en-US" sz="2400" b="1" smtClean="0">
              <a:latin typeface="宋体" panose="02010600030101010101" pitchFamily="2" charset="-122"/>
            </a:endParaRPr>
          </a:p>
        </p:txBody>
      </p:sp>
      <p:pic>
        <p:nvPicPr>
          <p:cNvPr id="80900" name="图片 80899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73975" y="852805"/>
            <a:ext cx="28797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1" name="图片 809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9325" y="2782888"/>
            <a:ext cx="5776913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2" name="图片 809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7750" y="4295775"/>
            <a:ext cx="6346825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598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D4FC654-79F5-4B24-A8B0-31A75BCDFC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zh-CN" altLang="en-US" dirty="0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3185" y="1642110"/>
            <a:ext cx="7260590" cy="357314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在排版时，有时需要将表格和文字混排，根据不同的需要，要将表格放到文档的不同位置，这就需要设置表格的对齐方式和文字的环绕方式，方法如下：</a:t>
            </a:r>
            <a:endParaRPr lang="zh-CN" altLang="en-US" dirty="0">
              <a:latin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sp>
        <p:nvSpPr>
          <p:cNvPr id="109570" name="矩形 79874"/>
          <p:cNvSpPr>
            <a:spLocks noChangeArrowheads="1"/>
          </p:cNvSpPr>
          <p:nvPr/>
        </p:nvSpPr>
        <p:spPr bwMode="auto">
          <a:xfrm>
            <a:off x="1675130" y="607060"/>
            <a:ext cx="5997575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4000" b="1">
                <a:latin typeface="华文新魏" pitchFamily="2" charset="-122"/>
                <a:ea typeface="华文新魏" pitchFamily="2" charset="-122"/>
              </a:rPr>
              <a:t>2)</a:t>
            </a:r>
            <a:r>
              <a:rPr lang="zh-CN" altLang="en-US" sz="4000" b="1">
                <a:latin typeface="华文新魏" pitchFamily="2" charset="-122"/>
                <a:ea typeface="华文新魏" pitchFamily="2" charset="-122"/>
              </a:rPr>
              <a:t>表格的对齐和定位</a:t>
            </a:r>
            <a:endParaRPr lang="zh-CN" altLang="en-US" sz="4000" b="1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文本占位符 79873"/>
          <p:cNvSpPr>
            <a:spLocks noGrp="1" noRot="1" noChangeArrowheads="1"/>
          </p:cNvSpPr>
          <p:nvPr>
            <p:ph idx="1"/>
          </p:nvPr>
        </p:nvSpPr>
        <p:spPr bwMode="auto">
          <a:xfrm>
            <a:off x="1701165" y="760095"/>
            <a:ext cx="4869815" cy="2324735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30000"/>
              </a:lnSpc>
            </a:pPr>
            <a:r>
              <a:rPr lang="zh-CN" altLang="en-US" sz="2000" b="1" smtClean="0">
                <a:latin typeface="宋体" panose="02010600030101010101" pitchFamily="2" charset="-122"/>
              </a:rPr>
              <a:t>直接用鼠标拖曳</a:t>
            </a:r>
            <a:endParaRPr lang="zh-CN" altLang="en-US" sz="2000" b="1" smtClean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smtClean="0">
                <a:latin typeface="宋体" panose="02010600030101010101" pitchFamily="2" charset="-122"/>
              </a:rPr>
              <a:t>利用“表格工具|表格属性”命令</a:t>
            </a:r>
            <a:endParaRPr lang="zh-CN" altLang="en-US" sz="2000" b="1" smtClean="0">
              <a:latin typeface="宋体" panose="02010600030101010101" pitchFamily="2" charset="-122"/>
            </a:endParaRPr>
          </a:p>
        </p:txBody>
      </p:sp>
      <p:grpSp>
        <p:nvGrpSpPr>
          <p:cNvPr id="79876" name="组合 79875"/>
          <p:cNvGrpSpPr/>
          <p:nvPr/>
        </p:nvGrpSpPr>
        <p:grpSpPr bwMode="auto">
          <a:xfrm>
            <a:off x="4297363" y="1844675"/>
            <a:ext cx="6156325" cy="4178300"/>
            <a:chOff x="0" y="0"/>
            <a:chExt cx="4218" cy="2767"/>
          </a:xfrm>
        </p:grpSpPr>
        <p:pic>
          <p:nvPicPr>
            <p:cNvPr id="109572" name="图片 79876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179" y="0"/>
              <a:ext cx="2535" cy="2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573" name="圆角矩形标注 79877"/>
            <p:cNvSpPr>
              <a:spLocks noChangeArrowheads="1"/>
            </p:cNvSpPr>
            <p:nvPr/>
          </p:nvSpPr>
          <p:spPr bwMode="auto">
            <a:xfrm>
              <a:off x="0" y="1134"/>
              <a:ext cx="1128" cy="444"/>
            </a:xfrm>
            <a:prstGeom prst="wedgeRoundRectCallout">
              <a:avLst>
                <a:gd name="adj1" fmla="val 77218"/>
                <a:gd name="adj2" fmla="val -58333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400" b="1"/>
                <a:t>表格靠左</a:t>
              </a:r>
              <a:endParaRPr lang="zh-CN" altLang="en-US" sz="2400" b="1"/>
            </a:p>
          </p:txBody>
        </p:sp>
        <p:sp>
          <p:nvSpPr>
            <p:cNvPr id="109574" name="圆角矩形标注 79878"/>
            <p:cNvSpPr>
              <a:spLocks noChangeArrowheads="1"/>
            </p:cNvSpPr>
            <p:nvPr/>
          </p:nvSpPr>
          <p:spPr bwMode="auto">
            <a:xfrm>
              <a:off x="3090" y="1170"/>
              <a:ext cx="1128" cy="443"/>
            </a:xfrm>
            <a:prstGeom prst="wedgeRoundRectCallout">
              <a:avLst>
                <a:gd name="adj1" fmla="val -83593"/>
                <a:gd name="adj2" fmla="val -53806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400" b="1"/>
                <a:t>表格靠右</a:t>
              </a:r>
              <a:endParaRPr lang="zh-CN" altLang="en-US" sz="2400" b="1"/>
            </a:p>
          </p:txBody>
        </p:sp>
        <p:sp>
          <p:nvSpPr>
            <p:cNvPr id="109575" name="圆角矩形标注 79879"/>
            <p:cNvSpPr>
              <a:spLocks noChangeArrowheads="1"/>
            </p:cNvSpPr>
            <p:nvPr/>
          </p:nvSpPr>
          <p:spPr bwMode="auto">
            <a:xfrm>
              <a:off x="2535" y="1774"/>
              <a:ext cx="1128" cy="444"/>
            </a:xfrm>
            <a:prstGeom prst="wedgeRoundRectCallout">
              <a:avLst>
                <a:gd name="adj1" fmla="val -73764"/>
                <a:gd name="adj2" fmla="val -181866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ctr"/>
              <a:r>
                <a:rPr lang="zh-CN" altLang="en-US" sz="2400" b="1"/>
                <a:t>表格居中</a:t>
              </a:r>
              <a:endParaRPr lang="zh-CN" altLang="en-US" sz="2400" b="1"/>
            </a:p>
          </p:txBody>
        </p:sp>
      </p:grpSp>
      <p:pic>
        <p:nvPicPr>
          <p:cNvPr id="109576" name="图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0628" y="2978468"/>
            <a:ext cx="20478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577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56F1FDF-1D49-49F1-AD59-41AD3B2C31D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内容占位符 81921"/>
          <p:cNvSpPr>
            <a:spLocks noGrp="1" noRot="1" noChangeArrowheads="1"/>
          </p:cNvSpPr>
          <p:nvPr>
            <p:ph idx="1"/>
          </p:nvPr>
        </p:nvSpPr>
        <p:spPr bwMode="auto">
          <a:xfrm>
            <a:off x="2352675" y="908050"/>
            <a:ext cx="6445250" cy="12890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30000"/>
              </a:lnSpc>
            </a:pPr>
            <a:r>
              <a:rPr lang="zh-CN" altLang="en-US" b="1" smtClean="0">
                <a:latin typeface="宋体" panose="02010600030101010101" pitchFamily="2" charset="-122"/>
              </a:rPr>
              <a:t>利用“表格样式”工具栏</a:t>
            </a:r>
            <a:endParaRPr lang="zh-CN" altLang="en-US" b="1" smtClean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smtClean="0">
                <a:latin typeface="宋体" panose="02010600030101010101" pitchFamily="2" charset="-122"/>
              </a:rPr>
              <a:t>利用“格式</a:t>
            </a:r>
            <a:r>
              <a:rPr lang="en-US" altLang="zh-CN" b="1" smtClean="0">
                <a:latin typeface="宋体" panose="02010600030101010101" pitchFamily="2" charset="-122"/>
              </a:rPr>
              <a:t>|</a:t>
            </a:r>
            <a:r>
              <a:rPr lang="zh-CN" altLang="en-US" b="1" smtClean="0">
                <a:latin typeface="宋体" panose="02010600030101010101" pitchFamily="2" charset="-122"/>
              </a:rPr>
              <a:t>边框和底纹”命令</a:t>
            </a:r>
            <a:endParaRPr lang="zh-CN" altLang="en-US" b="1" smtClean="0">
              <a:latin typeface="宋体" panose="02010600030101010101" pitchFamily="2" charset="-122"/>
            </a:endParaRPr>
          </a:p>
        </p:txBody>
      </p:sp>
      <p:sp>
        <p:nvSpPr>
          <p:cNvPr id="81923" name="矩形 81922"/>
          <p:cNvSpPr>
            <a:spLocks noChangeArrowheads="1"/>
          </p:cNvSpPr>
          <p:nvPr/>
        </p:nvSpPr>
        <p:spPr bwMode="auto">
          <a:xfrm>
            <a:off x="3073400" y="188913"/>
            <a:ext cx="5997575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4000" b="1">
                <a:latin typeface="华文新魏" pitchFamily="2" charset="-122"/>
                <a:ea typeface="华文新魏" pitchFamily="2" charset="-122"/>
              </a:rPr>
              <a:t>3)</a:t>
            </a:r>
            <a:r>
              <a:rPr lang="zh-CN" altLang="en-US" sz="4000" b="1">
                <a:latin typeface="华文新魏" pitchFamily="2" charset="-122"/>
                <a:ea typeface="华文新魏" pitchFamily="2" charset="-122"/>
              </a:rPr>
              <a:t>设置表格框线和底纹</a:t>
            </a:r>
            <a:endParaRPr lang="zh-CN" altLang="en-US" sz="4000" b="1"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81924" name="图片 8192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02225" y="2087563"/>
            <a:ext cx="4970463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5" name="图片 8192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9525" y="2197100"/>
            <a:ext cx="2990850" cy="163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1621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2C1467F-9246-4D1A-81C3-8D7BB9B560A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uiExpand="1" build="p"/>
      <p:bldP spid="81923" grpId="0" bldLvl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82945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535113" y="481013"/>
            <a:ext cx="6870700" cy="8445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4000" b="1">
                <a:latin typeface="华文新魏" pitchFamily="2" charset="-122"/>
                <a:ea typeface="华文新魏" pitchFamily="2" charset="-122"/>
                <a:cs typeface="+mn-cs"/>
              </a:rPr>
              <a:t>4)表格和文本之间相互转换</a:t>
            </a:r>
            <a:endParaRPr lang="zh-CN" altLang="en-US" b="1" smtClean="0">
              <a:solidFill>
                <a:srgbClr val="0000FF"/>
              </a:solidFill>
            </a:endParaRPr>
          </a:p>
        </p:txBody>
      </p:sp>
      <p:pic>
        <p:nvPicPr>
          <p:cNvPr id="114693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77988" y="1325563"/>
            <a:ext cx="20574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694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B529AEC7-549E-43CC-9F4B-7C465E09E7C2}" type="slidenum">
              <a:rPr lang="zh-CN" altLang="en-US"/>
            </a:fld>
            <a:endParaRPr lang="zh-CN" altLang="en-US"/>
          </a:p>
        </p:txBody>
      </p:sp>
      <p:pic>
        <p:nvPicPr>
          <p:cNvPr id="112641" name="图片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5898" y="1511618"/>
            <a:ext cx="571500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bldLvl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A367E25-EC4C-41A9-87B2-7DF9B5A076F1}" type="slidenum">
              <a:rPr lang="zh-CN" altLang="en-US"/>
            </a:fld>
            <a:endParaRPr lang="zh-CN" altLang="en-US"/>
          </a:p>
        </p:txBody>
      </p:sp>
      <p:pic>
        <p:nvPicPr>
          <p:cNvPr id="115714" name="图片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06400" y="1352550"/>
            <a:ext cx="45434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15" name="文本框 5"/>
          <p:cNvSpPr txBox="1">
            <a:spLocks noChangeArrowheads="1"/>
          </p:cNvSpPr>
          <p:nvPr/>
        </p:nvSpPr>
        <p:spPr bwMode="auto">
          <a:xfrm>
            <a:off x="546100" y="987425"/>
            <a:ext cx="224155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选择转换后的分隔符</a:t>
            </a:r>
            <a:endParaRPr lang="zh-CN" altLang="en-US"/>
          </a:p>
        </p:txBody>
      </p:sp>
      <p:pic>
        <p:nvPicPr>
          <p:cNvPr id="115716" name="图片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0475" y="584200"/>
            <a:ext cx="4029075" cy="276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17" name="文本框 7"/>
          <p:cNvSpPr txBox="1">
            <a:spLocks noChangeArrowheads="1"/>
          </p:cNvSpPr>
          <p:nvPr/>
        </p:nvSpPr>
        <p:spPr bwMode="auto">
          <a:xfrm>
            <a:off x="5437188" y="220663"/>
            <a:ext cx="2925762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转换的表和转换之后的对比</a:t>
            </a:r>
            <a:endParaRPr lang="zh-CN" altLang="en-US"/>
          </a:p>
        </p:txBody>
      </p:sp>
      <p:pic>
        <p:nvPicPr>
          <p:cNvPr id="115718" name="图片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8963" y="3489325"/>
            <a:ext cx="4983162" cy="2579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19" name="文本框 9"/>
          <p:cNvSpPr txBox="1">
            <a:spLocks noChangeArrowheads="1"/>
          </p:cNvSpPr>
          <p:nvPr/>
        </p:nvSpPr>
        <p:spPr bwMode="auto">
          <a:xfrm>
            <a:off x="8489950" y="3055938"/>
            <a:ext cx="201295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把文字再转成表格</a:t>
            </a:r>
            <a:endParaRPr lang="zh-CN" altLang="en-US"/>
          </a:p>
        </p:txBody>
      </p:sp>
      <p:sp>
        <p:nvSpPr>
          <p:cNvPr id="115720" name="文本框 1"/>
          <p:cNvSpPr txBox="1">
            <a:spLocks noChangeArrowheads="1"/>
          </p:cNvSpPr>
          <p:nvPr/>
        </p:nvSpPr>
        <p:spPr bwMode="auto">
          <a:xfrm>
            <a:off x="528638" y="5124450"/>
            <a:ext cx="4297362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在文本和表格转换的时候注意选择好分隔</a:t>
            </a:r>
            <a:endParaRPr lang="zh-CN" altLang="en-US"/>
          </a:p>
          <a:p>
            <a:r>
              <a:rPr lang="zh-CN" altLang="en-US"/>
              <a:t>符，以便电脑自动进行转换时进行识别（</a:t>
            </a:r>
            <a:endParaRPr lang="zh-CN" altLang="en-US"/>
          </a:p>
          <a:p>
            <a:r>
              <a:rPr lang="zh-CN" altLang="en-US"/>
              <a:t>一般情况下软件自动识别）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89275" y="633095"/>
            <a:ext cx="5599430" cy="784860"/>
          </a:xfrm>
        </p:spPr>
        <p:txBody>
          <a:bodyPr/>
          <a:lstStyle/>
          <a:p>
            <a:r>
              <a:rPr lang="zh-CN" altLang="zh-CN"/>
              <a:t>例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pic>
        <p:nvPicPr>
          <p:cNvPr id="94213" name="内容占位符 94212" descr="RTX截图未命名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828165" y="1417955"/>
            <a:ext cx="5610225" cy="2809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4555" y="405130"/>
            <a:ext cx="6534150" cy="101282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5.</a:t>
            </a:r>
            <a:r>
              <a:rPr lang="zh-CN" altLang="en-US" dirty="0">
                <a:sym typeface="+mn-ea"/>
              </a:rPr>
              <a:t>表格中的数据处理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/>
            </a:fld>
            <a:endParaRPr lang="zh-CN" altLang="en-US"/>
          </a:p>
        </p:txBody>
      </p:sp>
      <p:pic>
        <p:nvPicPr>
          <p:cNvPr id="112643" name="图片 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90700" y="1530985"/>
            <a:ext cx="2413635" cy="36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44" name="图片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3555" y="1530985"/>
            <a:ext cx="2863850" cy="2880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文本框 3"/>
          <p:cNvSpPr txBox="1">
            <a:spLocks noChangeArrowheads="1"/>
          </p:cNvSpPr>
          <p:nvPr/>
        </p:nvSpPr>
        <p:spPr bwMode="auto">
          <a:xfrm>
            <a:off x="1430338" y="690245"/>
            <a:ext cx="4011930" cy="1783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</a:rPr>
              <a:t>文档中的表格进行公式运算的操作</a:t>
            </a:r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/>
              <a:t>方法：</a:t>
            </a:r>
            <a:endParaRPr lang="zh-CN" altLang="en-US"/>
          </a:p>
          <a:p>
            <a:r>
              <a:rPr lang="zh-CN" altLang="en-US"/>
              <a:t>选中表格</a:t>
            </a:r>
            <a:r>
              <a:rPr lang="en-US" altLang="zh-CN"/>
              <a:t>---</a:t>
            </a:r>
            <a:r>
              <a:rPr lang="zh-CN" altLang="en-US"/>
              <a:t>点击工具栏中</a:t>
            </a:r>
            <a:r>
              <a:rPr lang="en-US" altLang="zh-CN"/>
              <a:t>“</a:t>
            </a:r>
            <a:r>
              <a:rPr lang="zh-CN" altLang="en-US"/>
              <a:t>表格工</a:t>
            </a:r>
            <a:endParaRPr lang="zh-CN" altLang="en-US"/>
          </a:p>
          <a:p>
            <a:r>
              <a:rPr lang="zh-CN" altLang="en-US"/>
              <a:t>具</a:t>
            </a:r>
            <a:r>
              <a:rPr lang="en-US" altLang="zh-CN"/>
              <a:t>”---</a:t>
            </a:r>
            <a:r>
              <a:rPr lang="zh-CN" altLang="en-US"/>
              <a:t>选择</a:t>
            </a:r>
            <a:r>
              <a:rPr lang="en-US" altLang="zh-CN"/>
              <a:t>“fx</a:t>
            </a:r>
            <a:r>
              <a:rPr lang="zh-CN" altLang="en-US"/>
              <a:t>公式</a:t>
            </a:r>
            <a:r>
              <a:rPr lang="en-US" altLang="zh-CN"/>
              <a:t>”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13666" name="图片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637338" y="990600"/>
            <a:ext cx="5287962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667" name="文本框 5"/>
          <p:cNvSpPr txBox="1">
            <a:spLocks noChangeArrowheads="1"/>
          </p:cNvSpPr>
          <p:nvPr/>
        </p:nvSpPr>
        <p:spPr bwMode="auto">
          <a:xfrm>
            <a:off x="1430338" y="1995170"/>
            <a:ext cx="3559175" cy="40309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1600"/>
              <a:t>以求和为例：</a:t>
            </a:r>
            <a:endParaRPr lang="zh-CN" altLang="en-US" sz="1600"/>
          </a:p>
          <a:p>
            <a:r>
              <a:rPr lang="zh-CN" altLang="en-US" sz="1600"/>
              <a:t>打开“公式”对话框，在“公式”栏中输入公式（左侧求和：=SUM(LEFT)），然后单击“确定”。</a:t>
            </a:r>
            <a:endParaRPr lang="zh-CN" altLang="en-US" sz="1600"/>
          </a:p>
          <a:p>
            <a:r>
              <a:rPr lang="zh-CN" altLang="en-US" sz="1600"/>
              <a:t>说明：</a:t>
            </a:r>
            <a:endParaRPr lang="zh-CN" altLang="en-US" sz="1600"/>
          </a:p>
          <a:p>
            <a:r>
              <a:rPr lang="zh-CN" altLang="en-US" sz="1600"/>
              <a:t>右侧求和：=SUM(RIGHT)</a:t>
            </a:r>
            <a:endParaRPr lang="zh-CN" altLang="en-US" sz="1600"/>
          </a:p>
          <a:p>
            <a:r>
              <a:rPr lang="zh-CN" altLang="en-US" sz="1600"/>
              <a:t>上方求和：=SUM(ABOVE)</a:t>
            </a:r>
            <a:endParaRPr lang="zh-CN" altLang="en-US" sz="1600"/>
          </a:p>
          <a:p>
            <a:r>
              <a:rPr lang="zh-CN" altLang="en-US" sz="1600"/>
              <a:t>下方求和：=SUM(BELOW)</a:t>
            </a:r>
            <a:endParaRPr lang="zh-CN" altLang="en-US" sz="1600"/>
          </a:p>
          <a:p>
            <a:r>
              <a:rPr lang="zh-CN" altLang="en-US" sz="1600"/>
              <a:t>以上不需要记，只需要按照公式中的</a:t>
            </a:r>
            <a:r>
              <a:rPr lang="en-US" altLang="zh-CN" sz="1600"/>
              <a:t>“</a:t>
            </a:r>
            <a:r>
              <a:rPr lang="zh-CN" altLang="en-US" sz="1600"/>
              <a:t>辅助</a:t>
            </a:r>
            <a:r>
              <a:rPr lang="en-US" altLang="zh-CN" sz="1600"/>
              <a:t>”</a:t>
            </a:r>
            <a:r>
              <a:rPr lang="zh-CN" altLang="en-US" sz="1600"/>
              <a:t>功能进行选择即可操作。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常用函数：求和</a:t>
            </a:r>
            <a:r>
              <a:rPr lang="en-US" altLang="zh-CN" sz="1600"/>
              <a:t>(SUM)</a:t>
            </a:r>
            <a:r>
              <a:rPr lang="zh-CN" altLang="en-US" sz="1600"/>
              <a:t>、求均值</a:t>
            </a:r>
            <a:r>
              <a:rPr lang="en-US" altLang="zh-CN" sz="1600"/>
              <a:t>(AVERAGE)</a:t>
            </a:r>
            <a:r>
              <a:rPr lang="zh-CN" altLang="en-US" sz="1600"/>
              <a:t>、</a:t>
            </a:r>
            <a:r>
              <a:rPr lang="zh-CN" altLang="en-US" sz="1600" dirty="0">
                <a:sym typeface="+mn-ea"/>
              </a:rPr>
              <a:t>求最大数（</a:t>
            </a:r>
            <a:r>
              <a:rPr lang="en-US" altLang="zh-CN" sz="1600">
                <a:sym typeface="+mn-ea"/>
              </a:rPr>
              <a:t>max</a:t>
            </a:r>
            <a:r>
              <a:rPr lang="zh-CN" altLang="en-US" sz="1600">
                <a:sym typeface="+mn-ea"/>
              </a:rPr>
              <a:t>）</a:t>
            </a:r>
            <a:endParaRPr lang="en-US" altLang="zh-CN" sz="1600"/>
          </a:p>
          <a:p>
            <a:r>
              <a:rPr lang="zh-CN" altLang="en-US" sz="1600" dirty="0">
                <a:sym typeface="+mn-ea"/>
              </a:rPr>
              <a:t>求最小数（</a:t>
            </a:r>
            <a:r>
              <a:rPr lang="en-US" altLang="zh-CN" sz="1600">
                <a:sym typeface="+mn-ea"/>
              </a:rPr>
              <a:t>min</a:t>
            </a:r>
            <a:r>
              <a:rPr lang="zh-CN" altLang="en-US" sz="1600">
                <a:sym typeface="+mn-ea"/>
              </a:rPr>
              <a:t>）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更多函数有兴趣的可以下来自行学习</a:t>
            </a:r>
            <a:endParaRPr lang="zh-CN" altLang="en-US" sz="1600"/>
          </a:p>
        </p:txBody>
      </p:sp>
      <p:sp>
        <p:nvSpPr>
          <p:cNvPr id="113668" name="文本框 6"/>
          <p:cNvSpPr txBox="1">
            <a:spLocks noChangeArrowheads="1"/>
          </p:cNvSpPr>
          <p:nvPr/>
        </p:nvSpPr>
        <p:spPr bwMode="auto">
          <a:xfrm>
            <a:off x="6637338" y="623888"/>
            <a:ext cx="1096962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如图所示</a:t>
            </a:r>
            <a:endParaRPr lang="zh-CN" altLang="en-US"/>
          </a:p>
        </p:txBody>
      </p:sp>
      <p:sp>
        <p:nvSpPr>
          <p:cNvPr id="113669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337DAD2-EA9F-407A-985A-233370BC043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53565" y="441325"/>
            <a:ext cx="6887845" cy="1143000"/>
          </a:xfrm>
        </p:spPr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图文混排</a:t>
            </a:r>
            <a:b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69590" y="1499235"/>
            <a:ext cx="5619115" cy="3188335"/>
          </a:xfrm>
        </p:spPr>
        <p:txBody>
          <a:bodyPr/>
          <a:lstStyle/>
          <a:p>
            <a:pPr indent="0">
              <a:lnSpc>
                <a:spcPct val="130000"/>
              </a:lnSpc>
              <a:buNone/>
            </a:pPr>
            <a:r>
              <a:rPr lang="en-US" altLang="zh-CN" b="1" dirty="0">
                <a:sym typeface="+mn-ea"/>
              </a:rPr>
              <a:t>1  </a:t>
            </a:r>
            <a:r>
              <a:rPr lang="zh-CN" altLang="en-US" b="1" smtClean="0">
                <a:sym typeface="+mn-ea"/>
              </a:rPr>
              <a:t>插入图片</a:t>
            </a:r>
            <a:endParaRPr lang="zh-CN" altLang="en-US" b="1" smtClean="0"/>
          </a:p>
          <a:p>
            <a:pPr indent="0">
              <a:lnSpc>
                <a:spcPct val="130000"/>
              </a:lnSpc>
              <a:buNone/>
            </a:pPr>
            <a:r>
              <a:rPr lang="en-US" altLang="zh-CN" b="1" smtClean="0">
                <a:sym typeface="+mn-ea"/>
              </a:rPr>
              <a:t>2  </a:t>
            </a:r>
            <a:r>
              <a:rPr lang="zh-CN" altLang="en-US" b="1" smtClean="0">
                <a:sym typeface="+mn-ea"/>
              </a:rPr>
              <a:t>图片格式的设置</a:t>
            </a:r>
            <a:endParaRPr lang="zh-CN" altLang="en-US" b="1" smtClean="0"/>
          </a:p>
          <a:p>
            <a:pPr indent="0">
              <a:lnSpc>
                <a:spcPct val="130000"/>
              </a:lnSpc>
              <a:buNone/>
            </a:pPr>
            <a:r>
              <a:rPr lang="en-US" altLang="zh-CN" b="1" smtClean="0">
                <a:sym typeface="+mn-ea"/>
              </a:rPr>
              <a:t>3  </a:t>
            </a:r>
            <a:r>
              <a:rPr lang="zh-CN" altLang="en-US" b="1" smtClean="0">
                <a:sym typeface="+mn-ea"/>
              </a:rPr>
              <a:t>其他图形对象</a:t>
            </a:r>
            <a:endParaRPr lang="zh-CN" altLang="en-US" b="1" smtClean="0"/>
          </a:p>
          <a:p>
            <a:pPr marL="0" indent="0">
              <a:lnSpc>
                <a:spcPct val="130000"/>
              </a:lnSpc>
              <a:buNone/>
            </a:pPr>
            <a:endParaRPr lang="zh-CN" altLang="en-US" b="1" dirty="0"/>
          </a:p>
          <a:p>
            <a:pPr>
              <a:lnSpc>
                <a:spcPct val="130000"/>
              </a:lnSpc>
              <a:buNone/>
            </a:pPr>
            <a:endParaRPr lang="zh-CN" altLang="en-US" b="1" dirty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A651BF-20AB-4BD4-A678-65CC2090E1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8499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163638" y="1073150"/>
            <a:ext cx="8229600" cy="628650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4800" b="1" smtClean="0"/>
              <a:t>1</a:t>
            </a:r>
            <a:r>
              <a:rPr lang="zh-CN" altLang="en-US" sz="4800" b="1" smtClean="0"/>
              <a:t>、</a:t>
            </a:r>
            <a:r>
              <a:rPr lang="zh-CN" altLang="en-US" sz="4800" b="1" smtClean="0">
                <a:sym typeface="+mn-ea"/>
              </a:rPr>
              <a:t>插入</a:t>
            </a:r>
            <a:r>
              <a:rPr lang="zh-CN" altLang="en-US" sz="4800" b="1" smtClean="0"/>
              <a:t>图片</a:t>
            </a:r>
            <a:endParaRPr lang="zh-CN" altLang="en-US" sz="4800" b="1" smtClean="0"/>
          </a:p>
        </p:txBody>
      </p:sp>
      <p:sp>
        <p:nvSpPr>
          <p:cNvPr id="84995" name="内容占位符 84994"/>
          <p:cNvSpPr>
            <a:spLocks noGrp="1" noRot="1" noChangeArrowheads="1"/>
          </p:cNvSpPr>
          <p:nvPr>
            <p:ph idx="1"/>
          </p:nvPr>
        </p:nvSpPr>
        <p:spPr bwMode="auto">
          <a:xfrm>
            <a:off x="1481455" y="1809750"/>
            <a:ext cx="5257800" cy="3275330"/>
          </a:xfrm>
          <a:blipFill dpi="0" rotWithShape="1">
            <a:blip r:embed="rId1" cstate="print"/>
            <a:srcRect/>
            <a:tile tx="0" ty="0" sx="100000" sy="100000" flip="none" algn="tl"/>
          </a:blipFill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60045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600" b="1" smtClean="0">
                <a:latin typeface="宋体" panose="02010600030101010101" pitchFamily="2" charset="-122"/>
              </a:rPr>
              <a:t>1</a:t>
            </a:r>
            <a:r>
              <a:rPr lang="zh-CN" altLang="en-US" sz="3600" b="1" smtClean="0">
                <a:latin typeface="宋体" panose="02010600030101010101" pitchFamily="2" charset="-122"/>
              </a:rPr>
              <a:t>）插入图片</a:t>
            </a:r>
            <a:endParaRPr lang="zh-CN" altLang="en-US" sz="3600" b="1" smtClean="0">
              <a:latin typeface="宋体" panose="02010600030101010101" pitchFamily="2" charset="-122"/>
            </a:endParaRPr>
          </a:p>
          <a:p>
            <a:pPr marL="360045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600" b="1" smtClean="0">
                <a:latin typeface="宋体" panose="02010600030101010101" pitchFamily="2" charset="-122"/>
              </a:rPr>
              <a:t>2</a:t>
            </a:r>
            <a:r>
              <a:rPr lang="zh-CN" altLang="en-US" sz="3600" b="1" smtClean="0">
                <a:latin typeface="宋体" panose="02010600030101010101" pitchFamily="2" charset="-122"/>
              </a:rPr>
              <a:t>）插入艺术字</a:t>
            </a:r>
            <a:endParaRPr lang="zh-CN" altLang="en-US" sz="3600" b="1" smtClean="0">
              <a:latin typeface="宋体" panose="02010600030101010101" pitchFamily="2" charset="-122"/>
            </a:endParaRPr>
          </a:p>
          <a:p>
            <a:pPr marL="360045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600" b="1" smtClean="0">
                <a:latin typeface="宋体" panose="02010600030101010101" pitchFamily="2" charset="-122"/>
              </a:rPr>
              <a:t>3</a:t>
            </a:r>
            <a:r>
              <a:rPr lang="zh-CN" altLang="en-US" sz="3600" b="1" smtClean="0">
                <a:latin typeface="宋体" panose="02010600030101010101" pitchFamily="2" charset="-122"/>
              </a:rPr>
              <a:t>）插入自选图形</a:t>
            </a:r>
            <a:endParaRPr lang="zh-CN" altLang="en-US" sz="3600" b="1" smtClean="0">
              <a:latin typeface="宋体" panose="02010600030101010101" pitchFamily="2" charset="-122"/>
            </a:endParaRPr>
          </a:p>
          <a:p>
            <a:pPr marL="360045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3600" b="1" smtClean="0">
                <a:latin typeface="宋体" panose="02010600030101010101" pitchFamily="2" charset="-122"/>
              </a:rPr>
              <a:t>4</a:t>
            </a:r>
            <a:r>
              <a:rPr lang="zh-CN" altLang="en-US" sz="3600" b="1" smtClean="0">
                <a:latin typeface="宋体" panose="02010600030101010101" pitchFamily="2" charset="-122"/>
              </a:rPr>
              <a:t>）文本框</a:t>
            </a:r>
            <a:endParaRPr lang="zh-CN" altLang="en-US" sz="3600" b="1" smtClean="0">
              <a:latin typeface="宋体" panose="02010600030101010101" pitchFamily="2" charset="-122"/>
            </a:endParaRPr>
          </a:p>
          <a:p>
            <a:pPr marL="360045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sz="3600" b="1" smtClean="0">
              <a:latin typeface="宋体" panose="02010600030101010101" pitchFamily="2" charset="-122"/>
            </a:endParaRPr>
          </a:p>
        </p:txBody>
      </p:sp>
      <p:sp>
        <p:nvSpPr>
          <p:cNvPr id="117763" name="文本框 1"/>
          <p:cNvSpPr txBox="1">
            <a:spLocks noChangeArrowheads="1"/>
          </p:cNvSpPr>
          <p:nvPr/>
        </p:nvSpPr>
        <p:spPr bwMode="auto">
          <a:xfrm>
            <a:off x="1572578" y="5192395"/>
            <a:ext cx="4525962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注意：也可以对图片进行拖拽，放进文档中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7764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A00EF77-4453-4558-B81A-31F43B32A9EA}" type="slidenum">
              <a:rPr lang="zh-CN" altLang="en-US"/>
            </a:fld>
            <a:endParaRPr lang="zh-CN" altLang="en-US"/>
          </a:p>
        </p:txBody>
      </p:sp>
      <p:pic>
        <p:nvPicPr>
          <p:cNvPr id="117765" name="图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16738" y="1809750"/>
            <a:ext cx="4351337" cy="108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ldLvl="0"/>
      <p:bldP spid="84994" grpId="1" bldLvl="0"/>
      <p:bldP spid="84994" grpId="2" bldLvl="0" animBg="1"/>
      <p:bldP spid="84995" grpId="0" build="p"/>
      <p:bldP spid="84995" grpId="1" build="p"/>
      <p:bldP spid="84995" grpId="2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8601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1778000" y="333375"/>
            <a:ext cx="7129463" cy="719138"/>
          </a:xfrm>
          <a:noFill/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r>
              <a:rPr lang="en-US" altLang="zh-CN" sz="3200" b="1" smtClean="0"/>
              <a:t>2</a:t>
            </a:r>
            <a:r>
              <a:rPr lang="zh-CN" altLang="en-US" sz="3200" b="1" smtClean="0"/>
              <a:t>、设置图片格式</a:t>
            </a:r>
            <a:endParaRPr lang="zh-CN" altLang="en-US" sz="3200" b="1" smtClean="0"/>
          </a:p>
        </p:txBody>
      </p:sp>
      <p:pic>
        <p:nvPicPr>
          <p:cNvPr id="118786" name="图片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25475" y="1052513"/>
            <a:ext cx="10942638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787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E44D8AB-3251-464E-A39F-89065E1292B9}" type="slidenum">
              <a:rPr lang="zh-CN" altLang="en-US"/>
            </a:fld>
            <a:endParaRPr lang="zh-CN" altLang="en-US"/>
          </a:p>
        </p:txBody>
      </p:sp>
      <p:sp>
        <p:nvSpPr>
          <p:cNvPr id="118788" name="文本框 2"/>
          <p:cNvSpPr txBox="1">
            <a:spLocks noChangeArrowheads="1"/>
          </p:cNvSpPr>
          <p:nvPr/>
        </p:nvSpPr>
        <p:spPr bwMode="auto">
          <a:xfrm>
            <a:off x="1011238" y="4551363"/>
            <a:ext cx="5059362" cy="1463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常用的功能：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、压缩图片；</a:t>
            </a:r>
            <a:r>
              <a:rPr lang="en-US" altLang="zh-CN"/>
              <a:t>2</a:t>
            </a:r>
            <a:r>
              <a:rPr lang="zh-CN" altLang="en-US"/>
              <a:t>、进行裁剪</a:t>
            </a:r>
            <a:endParaRPr lang="zh-CN" altLang="en-US"/>
          </a:p>
          <a:p>
            <a:r>
              <a:rPr lang="zh-CN" altLang="en-US"/>
              <a:t>压缩步骤不能省，否则将使整个文档特别大。</a:t>
            </a:r>
            <a:endParaRPr lang="zh-CN" altLang="en-US"/>
          </a:p>
          <a:p>
            <a:r>
              <a:rPr lang="zh-CN" altLang="en-US">
                <a:sym typeface="宋体" panose="02010600030101010101" pitchFamily="2" charset="-122"/>
              </a:rPr>
              <a:t>很多网站把</a:t>
            </a:r>
            <a:r>
              <a:rPr lang="zh-CN" altLang="en-US"/>
              <a:t>上传文章的图片限制大小为</a:t>
            </a:r>
            <a:r>
              <a:rPr lang="en-US" altLang="zh-CN"/>
              <a:t>100K</a:t>
            </a:r>
            <a:r>
              <a:rPr lang="zh-CN" altLang="en-US"/>
              <a:t>内。</a:t>
            </a:r>
            <a:endParaRPr lang="zh-CN" altLang="en-US"/>
          </a:p>
          <a:p>
            <a:r>
              <a:rPr lang="zh-CN" altLang="en-US"/>
              <a:t>其他功能根据情况使用。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ldLvl="0"/>
      <p:bldP spid="86018" grpId="1" bldLvl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09" name="图片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41363" y="1233488"/>
            <a:ext cx="6105525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9810" name="文本框 4"/>
          <p:cNvSpPr txBox="1">
            <a:spLocks noChangeArrowheads="1"/>
          </p:cNvSpPr>
          <p:nvPr/>
        </p:nvSpPr>
        <p:spPr bwMode="auto">
          <a:xfrm>
            <a:off x="1946275" y="693738"/>
            <a:ext cx="384016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修改图片大小适应文档：压缩、裁剪</a:t>
            </a:r>
            <a:endParaRPr lang="zh-CN" altLang="en-US"/>
          </a:p>
        </p:txBody>
      </p:sp>
      <p:sp>
        <p:nvSpPr>
          <p:cNvPr id="119811" name="文本框 6"/>
          <p:cNvSpPr txBox="1">
            <a:spLocks noChangeArrowheads="1"/>
          </p:cNvSpPr>
          <p:nvPr/>
        </p:nvSpPr>
        <p:spPr bwMode="auto">
          <a:xfrm>
            <a:off x="7491413" y="744538"/>
            <a:ext cx="3840162" cy="6397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图片修改后还可以另存为，以导出图</a:t>
            </a:r>
            <a:endParaRPr lang="zh-CN" altLang="en-US"/>
          </a:p>
          <a:p>
            <a:r>
              <a:rPr lang="zh-CN" altLang="en-US"/>
              <a:t>片，达到处理图片的效果</a:t>
            </a:r>
            <a:endParaRPr lang="zh-CN" altLang="en-US"/>
          </a:p>
        </p:txBody>
      </p:sp>
      <p:sp>
        <p:nvSpPr>
          <p:cNvPr id="119812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085A0B7-0F51-4F7A-8EA9-12F0F66388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92400" y="2133600"/>
            <a:ext cx="7407275" cy="13096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/>
            <a:r>
              <a:rPr lang="zh-CN" altLang="en-US" sz="8000" b="1" noProof="1"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谢谢大家！</a:t>
            </a:r>
            <a:endParaRPr lang="zh-CN" altLang="en-US" sz="8000" b="1" noProof="1"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9682" name="灯片编号占位符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B3B0DFC-E97A-4F8F-99CF-C19CF42AEE8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文本框 2"/>
          <p:cNvSpPr>
            <a:spLocks noChangeArrowheads="1"/>
          </p:cNvSpPr>
          <p:nvPr/>
        </p:nvSpPr>
        <p:spPr bwMode="auto">
          <a:xfrm>
            <a:off x="501650" y="1354138"/>
            <a:ext cx="3382963" cy="65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36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文档排版好帮手</a:t>
            </a:r>
            <a:endParaRPr lang="en-US" altLang="zh-CN">
              <a:latin typeface="Calibri" panose="020F0502020204030204" pitchFamily="34" charset="0"/>
            </a:endParaRPr>
          </a:p>
        </p:txBody>
      </p:sp>
      <p:cxnSp>
        <p:nvCxnSpPr>
          <p:cNvPr id="72706" name="AutoShape 3"/>
          <p:cNvCxnSpPr>
            <a:cxnSpLocks noChangeShapeType="1"/>
          </p:cNvCxnSpPr>
          <p:nvPr/>
        </p:nvCxnSpPr>
        <p:spPr bwMode="auto">
          <a:xfrm>
            <a:off x="525463" y="1863725"/>
            <a:ext cx="3341687" cy="6350"/>
          </a:xfrm>
          <a:prstGeom prst="straightConnector1">
            <a:avLst/>
          </a:prstGeom>
          <a:noFill/>
          <a:ln w="6350">
            <a:solidFill>
              <a:srgbClr val="6C0000">
                <a:alpha val="50980"/>
              </a:srgbClr>
            </a:solidFill>
            <a:miter lim="800000"/>
          </a:ln>
        </p:spPr>
      </p:cxnSp>
      <p:sp>
        <p:nvSpPr>
          <p:cNvPr id="72707" name="TextBox 12"/>
          <p:cNvSpPr>
            <a:spLocks noChangeArrowheads="1"/>
          </p:cNvSpPr>
          <p:nvPr/>
        </p:nvSpPr>
        <p:spPr bwMode="auto">
          <a:xfrm>
            <a:off x="501650" y="1936750"/>
            <a:ext cx="4921250" cy="2651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快速删除空行</a:t>
            </a: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段首快速缩进2字符</a:t>
            </a: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智能整理文档</a:t>
            </a: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Calibri" panose="020F0502020204030204" pitchFamily="34" charset="0"/>
                <a:ea typeface="微软雅黑" panose="020B0503020204020204" pitchFamily="34" charset="-122"/>
              </a:rPr>
              <a:t>更多</a:t>
            </a:r>
            <a:r>
              <a:rPr lang="zh-CN" altLang="en-US" sz="2800">
                <a:ea typeface="微软雅黑" panose="020B0503020204020204" pitchFamily="34" charset="-122"/>
                <a:sym typeface="Arial" panose="020B0604020202020204" pitchFamily="34" charset="0"/>
              </a:rPr>
              <a:t>……</a:t>
            </a:r>
            <a:endParaRPr lang="zh-CN" altLang="en-US" sz="28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1510" name="图片 3"/>
          <p:cNvPicPr>
            <a:picLocks noChangeAspect="1" noChangeArrowheads="1"/>
          </p:cNvPicPr>
          <p:nvPr/>
        </p:nvPicPr>
        <p:blipFill>
          <a:blip r:embed="rId1" cstate="print"/>
          <a:srcRect t="1131" r="5948" b="1021"/>
          <a:stretch>
            <a:fillRect/>
          </a:stretch>
        </p:blipFill>
        <p:spPr bwMode="auto">
          <a:xfrm>
            <a:off x="4787900" y="1300163"/>
            <a:ext cx="2359025" cy="4360862"/>
          </a:xfrm>
          <a:prstGeom prst="rect">
            <a:avLst/>
          </a:prstGeom>
          <a:noFill/>
          <a:ln w="28575">
            <a:solidFill>
              <a:srgbClr val="69C1F1"/>
            </a:solidFill>
            <a:miter lim="800000"/>
            <a:headEnd/>
            <a:tailEnd/>
          </a:ln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8788" y="1487488"/>
            <a:ext cx="5521325" cy="321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2338" y="1844675"/>
            <a:ext cx="600075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1" name="文本框 1"/>
          <p:cNvSpPr txBox="1">
            <a:spLocks noChangeArrowheads="1"/>
          </p:cNvSpPr>
          <p:nvPr/>
        </p:nvSpPr>
        <p:spPr bwMode="auto">
          <a:xfrm>
            <a:off x="4808538" y="831850"/>
            <a:ext cx="2468562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开始工具栏</a:t>
            </a:r>
            <a:r>
              <a:rPr lang="en-US" altLang="zh-CN"/>
              <a:t>---</a:t>
            </a:r>
            <a:r>
              <a:rPr lang="zh-CN" altLang="en-US"/>
              <a:t>文字工具</a:t>
            </a:r>
            <a:endParaRPr lang="zh-CN" altLang="en-US"/>
          </a:p>
        </p:txBody>
      </p:sp>
      <p:sp>
        <p:nvSpPr>
          <p:cNvPr id="72712" name="灯片编号占位符 2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405586B-DB7A-41B9-AA42-FA08F6498E0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7137</Words>
  <Application>WPS 演示</Application>
  <PresentationFormat>自定义</PresentationFormat>
  <Paragraphs>938</Paragraphs>
  <Slides>98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23</vt:i4>
      </vt:variant>
      <vt:variant>
        <vt:lpstr>幻灯片标题</vt:lpstr>
      </vt:variant>
      <vt:variant>
        <vt:i4>98</vt:i4>
      </vt:variant>
    </vt:vector>
  </HeadingPairs>
  <TitlesOfParts>
    <vt:vector size="147" baseType="lpstr">
      <vt:lpstr>Arial</vt:lpstr>
      <vt:lpstr>宋体</vt:lpstr>
      <vt:lpstr>Wingdings</vt:lpstr>
      <vt:lpstr>Calibri</vt:lpstr>
      <vt:lpstr>Calibri Light</vt:lpstr>
      <vt:lpstr>Broadway</vt:lpstr>
      <vt:lpstr>AMGDT</vt:lpstr>
      <vt:lpstr>楷体</vt:lpstr>
      <vt:lpstr>经典繁仿黑</vt:lpstr>
      <vt:lpstr>黑体</vt:lpstr>
      <vt:lpstr>微软雅黑</vt:lpstr>
      <vt:lpstr>Arial Unicode MS</vt:lpstr>
      <vt:lpstr>华文细黑</vt:lpstr>
      <vt:lpstr>Arial Rounded MT Bold</vt:lpstr>
      <vt:lpstr>Arial Unicode MS</vt:lpstr>
      <vt:lpstr>Times New Roman</vt:lpstr>
      <vt:lpstr>Times New Roman</vt:lpstr>
      <vt:lpstr>Arial</vt:lpstr>
      <vt:lpstr>Tahoma</vt:lpstr>
      <vt:lpstr>华文新魏</vt:lpstr>
      <vt:lpstr>Gulim</vt:lpstr>
      <vt:lpstr>华文中宋</vt:lpstr>
      <vt:lpstr>Wingdings</vt:lpstr>
      <vt:lpstr>1_Office 主题</vt:lpstr>
      <vt:lpstr>7_Office 主题</vt:lpstr>
      <vt:lpstr>7_Office 主题</vt:lpstr>
      <vt:lpstr>Paint.Picture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Equations</vt:lpstr>
      <vt:lpstr>PBrush</vt:lpstr>
      <vt:lpstr>PowerPoint 演示文稿</vt:lpstr>
      <vt:lpstr>PowerPoint 演示文稿</vt:lpstr>
      <vt:lpstr>一、WPS Office简介  1.与MS Office对比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wps 文字的窗口界面</vt:lpstr>
      <vt:lpstr>PowerPoint 演示文稿</vt:lpstr>
      <vt:lpstr>PowerPoint 演示文稿</vt:lpstr>
      <vt:lpstr>1、新建文档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Wps的显示模式</vt:lpstr>
      <vt:lpstr>文档的编辑</vt:lpstr>
      <vt:lpstr>1  文本的输入</vt:lpstr>
      <vt:lpstr>PowerPoint 演示文稿</vt:lpstr>
      <vt:lpstr>2  文本的选取</vt:lpstr>
      <vt:lpstr>用鼠标选定文本区域 </vt:lpstr>
      <vt:lpstr>3  文本的修改</vt:lpstr>
      <vt:lpstr>4  插入符号</vt:lpstr>
      <vt:lpstr>5  撤消与恢复</vt:lpstr>
      <vt:lpstr>6   删除、移动、复制与粘贴</vt:lpstr>
      <vt:lpstr>PowerPoint 演示文稿</vt:lpstr>
      <vt:lpstr>PowerPoint 演示文稿</vt:lpstr>
      <vt:lpstr>8  查找与替换</vt:lpstr>
      <vt:lpstr>PowerPoint 演示文稿</vt:lpstr>
      <vt:lpstr>查找</vt:lpstr>
      <vt:lpstr>PowerPoint 演示文稿</vt:lpstr>
      <vt:lpstr>PowerPoint 演示文稿</vt:lpstr>
      <vt:lpstr>PowerPoint 演示文稿</vt:lpstr>
      <vt:lpstr>文档的美化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添加项目符号和编号</vt:lpstr>
      <vt:lpstr>自定义项目符号和编号</vt:lpstr>
      <vt:lpstr>PowerPoint 演示文稿</vt:lpstr>
      <vt:lpstr>PowerPoint 演示文稿</vt:lpstr>
      <vt:lpstr>文件/页面设置（页边距、纸张）</vt:lpstr>
      <vt:lpstr>PowerPoint 演示文稿</vt:lpstr>
      <vt:lpstr>PowerPoint 演示文稿</vt:lpstr>
      <vt:lpstr>文件/页面设置（文档网格）</vt:lpstr>
      <vt:lpstr>PowerPoint 演示文稿</vt:lpstr>
      <vt:lpstr>PowerPoint 演示文稿</vt:lpstr>
      <vt:lpstr>PowerPoint 演示文稿</vt:lpstr>
      <vt:lpstr>利用页眉和页脚工具栏设置</vt:lpstr>
      <vt:lpstr>利用页面设置对话框设置</vt:lpstr>
      <vt:lpstr>4）首字下沉</vt:lpstr>
      <vt:lpstr>PowerPoint 演示文稿</vt:lpstr>
      <vt:lpstr>5）分栏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页面边框</vt:lpstr>
      <vt:lpstr>PowerPoint 演示文稿</vt:lpstr>
      <vt:lpstr>PowerPoint 演示文稿</vt:lpstr>
      <vt:lpstr>第二讲  表格和图文混排</vt:lpstr>
      <vt:lpstr>表格的制作 </vt:lpstr>
      <vt:lpstr>1.新建表格</vt:lpstr>
      <vt:lpstr>PowerPoint 演示文稿</vt:lpstr>
      <vt:lpstr>2.编辑表格</vt:lpstr>
      <vt:lpstr>PowerPoint 演示文稿</vt:lpstr>
      <vt:lpstr>3.修饰表格</vt:lpstr>
      <vt:lpstr>PowerPoint 演示文稿</vt:lpstr>
      <vt:lpstr>PowerPoint 演示文稿</vt:lpstr>
      <vt:lpstr>4.表格排版</vt:lpstr>
      <vt:lpstr>PowerPoint 演示文稿</vt:lpstr>
      <vt:lpstr> </vt:lpstr>
      <vt:lpstr>PowerPoint 演示文稿</vt:lpstr>
      <vt:lpstr>PowerPoint 演示文稿</vt:lpstr>
      <vt:lpstr>4)表格和文本之间相互转换</vt:lpstr>
      <vt:lpstr>PowerPoint 演示文稿</vt:lpstr>
      <vt:lpstr>例</vt:lpstr>
      <vt:lpstr>5.表格中的数据处理</vt:lpstr>
      <vt:lpstr>PowerPoint 演示文稿</vt:lpstr>
      <vt:lpstr>图文混排 </vt:lpstr>
      <vt:lpstr>1、插入图片</vt:lpstr>
      <vt:lpstr>2、设置图片格式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Yeda</dc:creator>
  <cp:lastModifiedBy>Administrator</cp:lastModifiedBy>
  <cp:revision>582</cp:revision>
  <dcterms:created xsi:type="dcterms:W3CDTF">2006-08-16T00:00:00Z</dcterms:created>
  <dcterms:modified xsi:type="dcterms:W3CDTF">2019-10-07T05:29:58Z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