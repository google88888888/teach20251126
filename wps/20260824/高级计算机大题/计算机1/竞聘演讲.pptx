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 id="2147483672" r:id="rId9"/>
    <p:sldMasterId id="2147483674" r:id="rId10"/>
    <p:sldMasterId id="2147483676" r:id="rId11"/>
    <p:sldMasterId id="2147483678" r:id="rId12"/>
    <p:sldMasterId id="2147483680" r:id="rId13"/>
    <p:sldMasterId id="2147483682" r:id="rId14"/>
    <p:sldMasterId id="2147483684" r:id="rId15"/>
    <p:sldMasterId id="2147483686" r:id="rId16"/>
    <p:sldMasterId id="2147483688" r:id="rId17"/>
    <p:sldMasterId id="2147483690" r:id="rId18"/>
    <p:sldMasterId id="2147483692" r:id="rId19"/>
    <p:sldMasterId id="2147483694" r:id="rId20"/>
    <p:sldMasterId id="2147483696" r:id="rId21"/>
    <p:sldMasterId id="2147483698" r:id="rId22"/>
    <p:sldMasterId id="2147483700" r:id="rId23"/>
    <p:sldMasterId id="2147483702" r:id="rId24"/>
  </p:sldMasterIdLst>
  <p:notesMasterIdLst>
    <p:notesMasterId r:id="rId26"/>
  </p:notesMasterIdLst>
  <p:sldIdLst>
    <p:sldId id="277" r:id="rId25"/>
    <p:sldId id="278" r:id="rId27"/>
    <p:sldId id="279" r:id="rId28"/>
    <p:sldId id="280" r:id="rId29"/>
    <p:sldId id="281" r:id="rId30"/>
    <p:sldId id="282" r:id="rId31"/>
    <p:sldId id="283" r:id="rId32"/>
    <p:sldId id="284" r:id="rId33"/>
    <p:sldId id="285" r:id="rId34"/>
    <p:sldId id="286" r:id="rId3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8"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8"/>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10.xml"/><Relationship Id="rId34" Type="http://schemas.openxmlformats.org/officeDocument/2006/relationships/slide" Target="slides/slide9.xml"/><Relationship Id="rId33" Type="http://schemas.openxmlformats.org/officeDocument/2006/relationships/slide" Target="slides/slide8.xml"/><Relationship Id="rId32" Type="http://schemas.openxmlformats.org/officeDocument/2006/relationships/slide" Target="slides/slide7.xml"/><Relationship Id="rId31" Type="http://schemas.openxmlformats.org/officeDocument/2006/relationships/slide" Target="slides/slide6.xml"/><Relationship Id="rId30" Type="http://schemas.openxmlformats.org/officeDocument/2006/relationships/slide" Target="slides/slide5.xml"/><Relationship Id="rId3" Type="http://schemas.openxmlformats.org/officeDocument/2006/relationships/slideMaster" Target="slideMasters/slideMaster2.xml"/><Relationship Id="rId29" Type="http://schemas.openxmlformats.org/officeDocument/2006/relationships/slide" Target="slides/slide4.xml"/><Relationship Id="rId28" Type="http://schemas.openxmlformats.org/officeDocument/2006/relationships/slide" Target="slides/slide3.xml"/><Relationship Id="rId27" Type="http://schemas.openxmlformats.org/officeDocument/2006/relationships/slide" Target="slides/slide2.xml"/><Relationship Id="rId26" Type="http://schemas.openxmlformats.org/officeDocument/2006/relationships/notesMaster" Target="notesMasters/notesMaster1.xml"/><Relationship Id="rId25" Type="http://schemas.openxmlformats.org/officeDocument/2006/relationships/slide" Target="slides/slide1.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2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2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2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2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2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2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2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3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31.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3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7"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1"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3"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7"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9"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1"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3"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7"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9"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1"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3"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5"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7"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9"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1"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5" name="Shape 5"/>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3" r:id="rId1"/>
  </p:sldLayoutIdLst>
  <mc:AlternateContent xmlns:mc="http://schemas.openxmlformats.org/markup-compatibility/2006">
    <mc:Choice xmlns:p14="http://schemas.microsoft.com/office/powerpoint/2010/main" Requires="p14">
      <p:transition spd="slow" p14:dur="1500" advTm="3000">
        <p:blinds dir="vert"/>
      </p:transition>
    </mc:Choice>
    <mc:Fallback>
      <p:transition spd="slow" advTm="3000">
        <p:blinds dir="vert"/>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slide" Target="slide3.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notesSlide" Target="../notesSlides/notesSlide2.xml"/><Relationship Id="rId2" Type="http://schemas.openxmlformats.org/officeDocument/2006/relationships/tags" Target="../tags/tag2.xml"/><Relationship Id="rId19" Type="http://schemas.openxmlformats.org/officeDocument/2006/relationships/slideLayout" Target="../slideLayouts/slideLayout25.xml"/><Relationship Id="rId18" Type="http://schemas.openxmlformats.org/officeDocument/2006/relationships/tags" Target="../tags/tag15.xml"/><Relationship Id="rId17" Type="http://schemas.openxmlformats.org/officeDocument/2006/relationships/slide" Target="slide8.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slide" Target="slide5.xml"/><Relationship Id="rId10" Type="http://schemas.openxmlformats.org/officeDocument/2006/relationships/tags" Target="../tags/tag9.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1" Type="http://schemas.openxmlformats.org/officeDocument/2006/relationships/notesSlide" Target="../notesSlides/notesSlide3.xml"/><Relationship Id="rId10" Type="http://schemas.openxmlformats.org/officeDocument/2006/relationships/slideLayout" Target="../slideLayouts/slideLayout26.xml"/><Relationship Id="rId1" Type="http://schemas.openxmlformats.org/officeDocument/2006/relationships/tags" Target="../tags/tag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AutoShape 5"/>
          <p:cNvSpPr/>
          <p:nvPr/>
        </p:nvSpPr>
        <p:spPr>
          <a:xfrm>
            <a:off x="1905000" y="2286000"/>
            <a:ext cx="9525000" cy="1270000"/>
          </a:xfrm>
          <a:prstGeom prst="rect">
            <a:avLst/>
          </a:prstGeom>
          <a:noFill/>
          <a:ln w="12700" cap="flat" cmpd="sng">
            <a:noFill/>
            <a:prstDash val="solid"/>
            <a:round/>
          </a:ln>
          <a:effectLst>
            <a:outerShdw blurRad="101600" dist="50800" dir="2700000" algn="tl" rotWithShape="0">
              <a:srgbClr val="000000">
                <a:alpha val="15000"/>
              </a:srgbClr>
            </a:outerShdw>
          </a:effectLst>
        </p:spPr>
        <p:txBody>
          <a:bodyPr vert="horz" wrap="square" lIns="0" tIns="0" rIns="0" bIns="0" rtlCol="0" anchor="ctr" anchorCtr="0"/>
          <a:lstStyle/>
          <a:p>
            <a:pPr marL="0" indent="0" algn="l" defTabSz="914400">
              <a:lnSpc>
                <a:spcPct val="125000"/>
              </a:lnSpc>
              <a:spcBef>
                <a:spcPts val="0"/>
              </a:spcBef>
              <a:spcAft>
                <a:spcPts val="0"/>
              </a:spcAft>
              <a:defRPr/>
            </a:pPr>
            <a:r>
              <a:rPr lang="en-US" sz="4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岗位竞聘材料</a:t>
            </a:r>
            <a:endParaRPr lang="en-US" sz="4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905000" y="3810000"/>
            <a:ext cx="9525000" cy="762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2800" b="1" i="0" u="none" strike="noStrike" kern="0">
                <a:solidFill>
                  <a:srgbClr val="004D40">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竞聘岗位：运营总监</a:t>
            </a:r>
            <a:endParaRPr lang="en-US" sz="2800" b="1" i="0" u="none" strike="noStrike" kern="0">
              <a:solidFill>
                <a:srgbClr val="004D40">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1905000" y="4889500"/>
            <a:ext cx="8890000" cy="635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00000"/>
              </a:lnSpc>
              <a:spcBef>
                <a:spcPts val="0"/>
              </a:spcBef>
              <a:spcAft>
                <a:spcPts val="0"/>
              </a:spcAft>
              <a:defRPr/>
            </a:pPr>
            <a:r>
              <a:rPr lang="en-US" sz="1800" b="0" i="0" u="none" strike="noStrike" kern="0">
                <a:solidFill>
                  <a:srgbClr val="1F2937">
                    <a:alpha val="74902"/>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以专业赋能管理 · 以数据驱动决策 · 以创新引领增长，为企业创造可持续价值</a:t>
            </a:r>
            <a:endParaRPr lang="en-US" sz="1800" b="0" i="0" u="none" strike="noStrike" kern="0">
              <a:solidFill>
                <a:srgbClr val="1F2937">
                  <a:alpha val="74902"/>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AutoShape 8"/>
          <p:cNvSpPr/>
          <p:nvPr/>
        </p:nvSpPr>
        <p:spPr>
          <a:xfrm>
            <a:off x="1905000" y="5842000"/>
            <a:ext cx="8890000" cy="508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600" b="0" i="0" u="none" strike="noStrike" kern="0">
                <a:solidFill>
                  <a:srgbClr val="004D40">
                    <a:alpha val="6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竞聘人：赵琳 </a:t>
            </a:r>
            <a:endParaRPr lang="en-US" sz="1600" b="0" i="0" u="none" strike="noStrike" kern="0">
              <a:solidFill>
                <a:srgbClr val="004D40">
                  <a:alpha val="6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2730">
        <p:blinds dir="vert"/>
      </p:transition>
    </mc:Choice>
    <mc:Fallback>
      <p:transition spd="slow" advTm="2730">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36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目录</a:t>
            </a:r>
            <a:endParaRPr lang="en-US" sz="36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custDataLst>
              <p:tags r:id="rId1"/>
            </p:custDataLst>
          </p:nvPr>
        </p:nvSpPr>
        <p:spPr>
          <a:xfrm>
            <a:off x="762000" y="2286000"/>
            <a:ext cx="3302000" cy="2921000"/>
          </a:xfrm>
          <a:prstGeom prst="roundRect">
            <a:avLst>
              <a:gd name="adj" fmla="val 0"/>
            </a:avLst>
          </a:prstGeom>
          <a:solidFill>
            <a:srgbClr val="FFFFFF">
              <a:alpha val="50000"/>
            </a:srgbClr>
          </a:solidFill>
          <a:ln w="12700" cap="flat" cmpd="sng">
            <a:solidFill>
              <a:srgbClr val="004D40">
                <a:alpha val="30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AutoShape 5"/>
          <p:cNvSpPr/>
          <p:nvPr>
            <p:custDataLst>
              <p:tags r:id="rId2"/>
            </p:custDataLst>
          </p:nvPr>
        </p:nvSpPr>
        <p:spPr>
          <a:xfrm>
            <a:off x="1016000" y="2540000"/>
            <a:ext cx="2286000" cy="762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40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lang="en-US" sz="40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custDataLst>
              <p:tags r:id="rId3"/>
            </p:custDataLst>
          </p:nvPr>
        </p:nvPicPr>
        <p:blipFill>
          <a:blip/>
          <a:stretch>
            <a:fillRect/>
          </a:stretch>
        </p:blipFill>
        <p:spPr>
          <a:xfrm>
            <a:off x="3302000" y="2641600"/>
            <a:ext cx="406400" cy="406400"/>
          </a:xfrm>
          <a:prstGeom prst="rect">
            <a:avLst/>
          </a:prstGeom>
        </p:spPr>
      </p:pic>
      <p:sp>
        <p:nvSpPr>
          <p:cNvPr id="7" name="AutoShape 7"/>
          <p:cNvSpPr/>
          <p:nvPr>
            <p:custDataLst>
              <p:tags r:id="rId4"/>
            </p:custDataLst>
          </p:nvPr>
        </p:nvSpPr>
        <p:spPr>
          <a:xfrm>
            <a:off x="1016000" y="3556000"/>
            <a:ext cx="2794000" cy="4445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20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hlinkClick r:id="rId5" tooltip="" action="ppaction://hlinksldjump"/>
              </a:rPr>
              <a:t>自我介绍</a:t>
            </a:r>
            <a:endParaRPr lang="en-US" sz="20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AutoShape 8"/>
          <p:cNvSpPr/>
          <p:nvPr>
            <p:custDataLst>
              <p:tags r:id="rId6"/>
            </p:custDataLst>
          </p:nvPr>
        </p:nvSpPr>
        <p:spPr>
          <a:xfrm>
            <a:off x="1016000" y="4191000"/>
            <a:ext cx="2794000" cy="1016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17000"/>
              </a:lnSpc>
              <a:spcBef>
                <a:spcPts val="0"/>
              </a:spcBef>
              <a:spcAft>
                <a:spcPts val="0"/>
              </a:spcAft>
              <a:defRPr/>
            </a:pPr>
            <a:r>
              <a:rPr lang="en-US" sz="14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深度解析个人核心优势与职业成长履历，全面展现与运营总监岗位高度契合的综合素质与专业积淀。</a:t>
            </a:r>
            <a:endParaRPr lang="en-US" sz="14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AutoShape 9"/>
          <p:cNvSpPr/>
          <p:nvPr>
            <p:custDataLst>
              <p:tags r:id="rId7"/>
            </p:custDataLst>
          </p:nvPr>
        </p:nvSpPr>
        <p:spPr>
          <a:xfrm>
            <a:off x="4445000" y="2286000"/>
            <a:ext cx="3302000" cy="2921000"/>
          </a:xfrm>
          <a:prstGeom prst="roundRect">
            <a:avLst>
              <a:gd name="adj" fmla="val 0"/>
            </a:avLst>
          </a:prstGeom>
          <a:solidFill>
            <a:srgbClr val="FFFFFF">
              <a:alpha val="50000"/>
            </a:srgbClr>
          </a:solidFill>
          <a:ln w="12700" cap="flat" cmpd="sng">
            <a:solidFill>
              <a:srgbClr val="004D40">
                <a:alpha val="30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custDataLst>
              <p:tags r:id="rId8"/>
            </p:custDataLst>
          </p:nvPr>
        </p:nvSpPr>
        <p:spPr>
          <a:xfrm>
            <a:off x="4699000" y="2540000"/>
            <a:ext cx="2286000" cy="762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40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lang="en-US" sz="40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1" name="Picture 11"/>
          <p:cNvPicPr>
            <a:picLocks noChangeAspect="1"/>
          </p:cNvPicPr>
          <p:nvPr>
            <p:custDataLst>
              <p:tags r:id="rId9"/>
            </p:custDataLst>
          </p:nvPr>
        </p:nvPicPr>
        <p:blipFill>
          <a:blip/>
          <a:stretch>
            <a:fillRect/>
          </a:stretch>
        </p:blipFill>
        <p:spPr>
          <a:xfrm>
            <a:off x="6985000" y="2641600"/>
            <a:ext cx="406400" cy="406400"/>
          </a:xfrm>
          <a:prstGeom prst="rect">
            <a:avLst/>
          </a:prstGeom>
        </p:spPr>
      </p:pic>
      <p:sp>
        <p:nvSpPr>
          <p:cNvPr id="12" name="AutoShape 12"/>
          <p:cNvSpPr/>
          <p:nvPr>
            <p:custDataLst>
              <p:tags r:id="rId10"/>
            </p:custDataLst>
          </p:nvPr>
        </p:nvSpPr>
        <p:spPr>
          <a:xfrm>
            <a:off x="4699000" y="3556000"/>
            <a:ext cx="2794000" cy="4445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20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hlinkClick r:id="rId11" tooltip="" action="ppaction://hlinksldjump"/>
              </a:rPr>
              <a:t>业绩复盘</a:t>
            </a:r>
            <a:endParaRPr lang="en-US" sz="20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AutoShape 13"/>
          <p:cNvSpPr/>
          <p:nvPr>
            <p:custDataLst>
              <p:tags r:id="rId12"/>
            </p:custDataLst>
          </p:nvPr>
        </p:nvSpPr>
        <p:spPr>
          <a:xfrm>
            <a:off x="4699000" y="4191000"/>
            <a:ext cx="2794000" cy="1016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17000"/>
              </a:lnSpc>
              <a:spcBef>
                <a:spcPts val="0"/>
              </a:spcBef>
              <a:spcAft>
                <a:spcPts val="0"/>
              </a:spcAft>
              <a:defRPr/>
            </a:pPr>
            <a:r>
              <a:rPr lang="en-US" sz="14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回顾过往核心项目成果与关键业务数据表现，以结果为导向，用事实与数据印证业务操盘能力与价值贡献。</a:t>
            </a:r>
            <a:endParaRPr lang="en-US" sz="14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AutoShape 14"/>
          <p:cNvSpPr/>
          <p:nvPr>
            <p:custDataLst>
              <p:tags r:id="rId13"/>
            </p:custDataLst>
          </p:nvPr>
        </p:nvSpPr>
        <p:spPr>
          <a:xfrm>
            <a:off x="8128000" y="2286000"/>
            <a:ext cx="3302000" cy="2921000"/>
          </a:xfrm>
          <a:prstGeom prst="roundRect">
            <a:avLst>
              <a:gd name="adj" fmla="val 0"/>
            </a:avLst>
          </a:prstGeom>
          <a:solidFill>
            <a:srgbClr val="FFFFFF">
              <a:alpha val="50000"/>
            </a:srgbClr>
          </a:solidFill>
          <a:ln w="12700" cap="flat" cmpd="sng">
            <a:solidFill>
              <a:srgbClr val="004D40">
                <a:alpha val="30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custDataLst>
              <p:tags r:id="rId14"/>
            </p:custDataLst>
          </p:nvPr>
        </p:nvSpPr>
        <p:spPr>
          <a:xfrm>
            <a:off x="8382000" y="2540000"/>
            <a:ext cx="2286000" cy="762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40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lang="en-US" sz="40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6" name="Picture 16"/>
          <p:cNvPicPr>
            <a:picLocks noChangeAspect="1"/>
          </p:cNvPicPr>
          <p:nvPr>
            <p:custDataLst>
              <p:tags r:id="rId15"/>
            </p:custDataLst>
          </p:nvPr>
        </p:nvPicPr>
        <p:blipFill>
          <a:blip/>
          <a:stretch>
            <a:fillRect/>
          </a:stretch>
        </p:blipFill>
        <p:spPr>
          <a:xfrm>
            <a:off x="10668000" y="2641600"/>
            <a:ext cx="406400" cy="406400"/>
          </a:xfrm>
          <a:prstGeom prst="rect">
            <a:avLst/>
          </a:prstGeom>
        </p:spPr>
      </p:pic>
      <p:sp>
        <p:nvSpPr>
          <p:cNvPr id="17" name="AutoShape 17"/>
          <p:cNvSpPr/>
          <p:nvPr>
            <p:custDataLst>
              <p:tags r:id="rId16"/>
            </p:custDataLst>
          </p:nvPr>
        </p:nvSpPr>
        <p:spPr>
          <a:xfrm>
            <a:off x="8382000" y="3556000"/>
            <a:ext cx="2794000" cy="4445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20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hlinkClick r:id="rId17" tooltip="" action="ppaction://hlinksldjump"/>
              </a:rPr>
              <a:t>未来规划</a:t>
            </a:r>
            <a:endParaRPr lang="en-US" sz="20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AutoShape 18"/>
          <p:cNvSpPr/>
          <p:nvPr>
            <p:custDataLst>
              <p:tags r:id="rId18"/>
            </p:custDataLst>
          </p:nvPr>
        </p:nvSpPr>
        <p:spPr>
          <a:xfrm>
            <a:off x="8382000" y="4191000"/>
            <a:ext cx="2794000" cy="1016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17000"/>
              </a:lnSpc>
              <a:spcBef>
                <a:spcPts val="0"/>
              </a:spcBef>
              <a:spcAft>
                <a:spcPts val="0"/>
              </a:spcAft>
              <a:defRPr/>
            </a:pPr>
            <a:r>
              <a:rPr lang="en-US" sz="14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基于公司现状与行业趋势，构建运营体系升级蓝图，明确战略落地路径与业务增长的实施规划。</a:t>
            </a:r>
            <a:endParaRPr lang="en-US" sz="14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AutoShape 19"/>
          <p:cNvSpPr/>
          <p:nvPr/>
        </p:nvSpPr>
        <p:spPr>
          <a:xfrm>
            <a:off x="762000" y="5778500"/>
            <a:ext cx="10668000" cy="508000"/>
          </a:xfrm>
          <a:prstGeom prst="rect">
            <a:avLst/>
          </a:prstGeom>
          <a:noFill/>
          <a:ln w="12700" cap="flat" cmpd="sng">
            <a:noFill/>
            <a:prstDash val="solid"/>
            <a:round/>
          </a:ln>
        </p:spPr>
        <p:txBody>
          <a:bodyPr vert="horz" wrap="square" lIns="0" tIns="0" rIns="0" bIns="0" rtlCol="0" anchor="ctr" anchorCtr="0"/>
          <a:lstStyle/>
          <a:p>
            <a:pPr marL="0" indent="0" algn="ctr" defTabSz="914400">
              <a:lnSpc>
                <a:spcPct val="125000"/>
              </a:lnSpc>
              <a:spcBef>
                <a:spcPts val="0"/>
              </a:spcBef>
              <a:spcAft>
                <a:spcPts val="0"/>
              </a:spcAft>
              <a:defRPr/>
            </a:pPr>
            <a:r>
              <a:rPr lang="en-US" sz="1600" b="1" i="0" u="none" strike="noStrike" kern="0">
                <a:solidFill>
                  <a:srgbClr val="004D40">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 以专业为基赋能业务，以规划为引引领未来，共绘发展新篇章 ——</a:t>
            </a:r>
            <a:endParaRPr lang="en-US" sz="1600" b="1" i="0" u="none" strike="noStrike" kern="0">
              <a:solidFill>
                <a:srgbClr val="004D40">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0" name="AutoShape 20"/>
          <p:cNvSpPr/>
          <p:nvPr/>
        </p:nvSpPr>
        <p:spPr>
          <a:xfrm>
            <a:off x="762000" y="6350000"/>
            <a:ext cx="2540000" cy="254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200" b="0" i="0" u="none" strike="noStrike" kern="0">
                <a:solidFill>
                  <a:srgbClr val="555555"/>
                </a:solidFill>
                <a:latin typeface="Noto Sans SC"/>
                <a:ea typeface="Noto Sans SC"/>
                <a:cs typeface="Noto Sans SC"/>
                <a:sym typeface="Noto Sans SC"/>
              </a:rPr>
              <a:t>竞聘演讲</a:t>
            </a:r>
            <a:endParaRPr lang="en-US" sz="1200" b="0" i="0" u="none" strike="noStrike" kern="0">
              <a:solidFill>
                <a:srgbClr val="555555"/>
              </a:solidFill>
              <a:latin typeface="Noto Sans SC"/>
              <a:ea typeface="Noto Sans SC"/>
              <a:cs typeface="Noto Sans SC"/>
              <a:sym typeface="Noto Sans SC"/>
            </a:endParaRPr>
          </a:p>
        </p:txBody>
      </p:sp>
      <p:sp>
        <p:nvSpPr>
          <p:cNvPr id="21" name="AutoShape 21"/>
          <p:cNvSpPr/>
          <p:nvPr/>
        </p:nvSpPr>
        <p:spPr>
          <a:xfrm>
            <a:off x="10795000" y="6350000"/>
            <a:ext cx="635000" cy="254000"/>
          </a:xfrm>
          <a:prstGeom prst="rect">
            <a:avLst/>
          </a:prstGeom>
          <a:noFill/>
          <a:ln w="12700" cap="flat" cmpd="sng">
            <a:noFill/>
            <a:prstDash val="solid"/>
            <a:round/>
          </a:ln>
        </p:spPr>
        <p:txBody>
          <a:bodyPr vert="horz" wrap="square" lIns="0" tIns="0" rIns="0" bIns="0" rtlCol="0" anchor="ctr" anchorCtr="0"/>
          <a:lstStyle/>
          <a:p>
            <a:pPr marL="0" indent="0" algn="r" defTabSz="914400">
              <a:lnSpc>
                <a:spcPct val="125000"/>
              </a:lnSpc>
              <a:spcBef>
                <a:spcPts val="0"/>
              </a:spcBef>
              <a:spcAft>
                <a:spcPts val="0"/>
              </a:spcAft>
              <a:defRPr/>
            </a:pPr>
            <a:r>
              <a:rPr lang="en-US" sz="1200" b="0" i="0" u="none" strike="noStrike" kern="0">
                <a:solidFill>
                  <a:srgbClr val="555555"/>
                </a:solidFill>
                <a:latin typeface="Times New Roman" panose="02020603050405020304" charset="0"/>
                <a:ea typeface="Noto Sans SC"/>
                <a:cs typeface="Times New Roman" panose="02020603050405020304" charset="0"/>
                <a:sym typeface="Noto Sans SC"/>
              </a:rPr>
              <a:t>1</a:t>
            </a:r>
            <a:endParaRPr lang="en-US" sz="1200" b="0" i="0" u="none" strike="noStrike" kern="0">
              <a:solidFill>
                <a:srgbClr val="555555"/>
              </a:solidFill>
              <a:latin typeface="Times New Roman" panose="02020603050405020304" charset="0"/>
              <a:ea typeface="Noto Sans SC"/>
              <a:cs typeface="Times New Roman" panose="02020603050405020304" charset="0"/>
              <a:sym typeface="Noto Sans SC"/>
            </a:endParaRPr>
          </a:p>
        </p:txBody>
      </p:sp>
    </p:spTree>
  </p:cSld>
  <p:clrMapOvr>
    <a:masterClrMapping/>
  </p:clrMapOvr>
  <mc:AlternateContent xmlns:mc="http://schemas.openxmlformats.org/markup-compatibility/2006">
    <mc:Choice xmlns:p14="http://schemas.microsoft.com/office/powerpoint/2010/main" Requires="p14">
      <p:transition spd="slow" p14:dur="1500" advTm="2893">
        <p:blinds dir="vert"/>
      </p:transition>
    </mc:Choice>
    <mc:Fallback>
      <p:transition spd="slow" advTm="2893">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36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自我介绍与核心优势</a:t>
            </a:r>
            <a:endParaRPr lang="en-US" sz="36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nvSpPr>
        <p:spPr>
          <a:xfrm>
            <a:off x="762000" y="4826000"/>
            <a:ext cx="4064000" cy="1143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17000"/>
              </a:lnSpc>
              <a:spcBef>
                <a:spcPts val="0"/>
              </a:spcBef>
              <a:spcAft>
                <a:spcPts val="0"/>
              </a:spcAft>
              <a:defRPr/>
            </a:pPr>
            <a:r>
              <a:rPr lang="en-US" sz="1400" b="0" i="1" u="none" strike="noStrike" kern="0">
                <a:solidFill>
                  <a:srgbClr val="333333">
                    <a:alpha val="85098"/>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“以数据洞察为驱动，以用户价值为核心，在复杂多变的市场环境中精准捕捉增长机遇，打造高效、可复制的运营增长模型。”</a:t>
            </a:r>
            <a:endParaRPr lang="en-US" sz="1400" b="0" i="1" u="none" strike="noStrike" kern="0">
              <a:solidFill>
                <a:srgbClr val="333333">
                  <a:alpha val="85098"/>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5207000" y="1778000"/>
            <a:ext cx="6350000" cy="1714500"/>
          </a:xfrm>
          <a:prstGeom prst="roundRect">
            <a:avLst>
              <a:gd name="adj" fmla="val 0"/>
            </a:avLst>
          </a:prstGeom>
          <a:solidFill>
            <a:srgbClr val="004D40">
              <a:alpha val="6000"/>
            </a:srgbClr>
          </a:solidFill>
          <a:ln w="12700" cap="flat" cmpd="sng">
            <a:solidFill>
              <a:srgbClr val="004D40">
                <a:alpha val="15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5397500" y="1930400"/>
            <a:ext cx="5969000" cy="1524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08000"/>
              </a:lnSpc>
              <a:spcBef>
                <a:spcPts val="0"/>
              </a:spcBef>
              <a:spcAft>
                <a:spcPts val="0"/>
              </a:spcAft>
              <a:defRPr/>
            </a:pPr>
            <a:r>
              <a:rPr lang="en-US" sz="1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个人档案</a:t>
            </a:r>
            <a:endParaRPr lang="en-US" sz="1100" kern="0">
              <a:solidFill>
                <a:srgbClr val="000000"/>
              </a:solidFill>
              <a:latin typeface="Arial" panose="020B0604020202020204"/>
              <a:ea typeface="Arial" panose="020B0604020202020204"/>
              <a:cs typeface="Arial" panose="020B0604020202020204"/>
              <a:sym typeface="Arial" panose="020B0604020202020204"/>
            </a:endParaRPr>
          </a:p>
          <a:p>
            <a:pPr marL="0" indent="0" algn="l" defTabSz="914400">
              <a:lnSpc>
                <a:spcPct val="125000"/>
              </a:lnSpc>
              <a:spcBef>
                <a:spcPts val="0"/>
              </a:spcBef>
              <a:spcAft>
                <a:spcPts val="0"/>
              </a:spcAft>
            </a:pPr>
            <a:r>
              <a:rPr lang="en-US" sz="14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姓名：</a:t>
            </a:r>
            <a:r>
              <a:rPr lang="en-US" sz="1400" b="0"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赵琳 | </a:t>
            </a:r>
            <a:r>
              <a:rPr lang="en-US" sz="14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职位：</a:t>
            </a:r>
            <a:r>
              <a:rPr lang="en-US" sz="1400" b="0"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高级运营经理</a:t>
            </a:r>
            <a:endParaRPr lang="en-US" sz="1400" b="0"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defTabSz="914400">
              <a:lnSpc>
                <a:spcPct val="117000"/>
              </a:lnSpc>
              <a:spcBef>
                <a:spcPts val="0"/>
              </a:spcBef>
              <a:spcAft>
                <a:spcPts val="0"/>
              </a:spcAft>
            </a:pPr>
            <a:r>
              <a:rPr lang="en-US" sz="13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拥有5年资深运营管理经验，深度参与并主导公司核心业务的用户增长体系搭建与全流程运营管理，具备从0到1的项目落地与规模化复制能力，擅长将运营策略转化为实际业务成果。</a:t>
            </a:r>
            <a:endParaRPr lang="en-US" sz="13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AutoShape 8"/>
          <p:cNvSpPr/>
          <p:nvPr>
            <p:custDataLst>
              <p:tags r:id="rId1"/>
            </p:custDataLst>
          </p:nvPr>
        </p:nvSpPr>
        <p:spPr>
          <a:xfrm>
            <a:off x="5207000" y="3746500"/>
            <a:ext cx="3111500" cy="2349500"/>
          </a:xfrm>
          <a:prstGeom prst="roundRect">
            <a:avLst>
              <a:gd name="adj" fmla="val 0"/>
            </a:avLst>
          </a:prstGeom>
          <a:solidFill>
            <a:srgbClr val="FFFFFF">
              <a:alpha val="75000"/>
            </a:srgbClr>
          </a:solidFill>
          <a:ln w="12700" cap="flat" cmpd="sng">
            <a:solidFill>
              <a:srgbClr val="004D40">
                <a:alpha val="10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pic>
        <p:nvPicPr>
          <p:cNvPr id="9" name="Picture 9"/>
          <p:cNvPicPr>
            <a:picLocks noChangeAspect="1"/>
          </p:cNvPicPr>
          <p:nvPr>
            <p:custDataLst>
              <p:tags r:id="rId2"/>
            </p:custDataLst>
          </p:nvPr>
        </p:nvPicPr>
        <p:blipFill>
          <a:blip/>
          <a:stretch>
            <a:fillRect/>
          </a:stretch>
        </p:blipFill>
        <p:spPr>
          <a:xfrm>
            <a:off x="5397500" y="3937000"/>
            <a:ext cx="304800" cy="304800"/>
          </a:xfrm>
          <a:prstGeom prst="rect">
            <a:avLst/>
          </a:prstGeom>
        </p:spPr>
      </p:pic>
      <p:sp>
        <p:nvSpPr>
          <p:cNvPr id="10" name="AutoShape 10"/>
          <p:cNvSpPr/>
          <p:nvPr>
            <p:custDataLst>
              <p:tags r:id="rId3"/>
            </p:custDataLst>
          </p:nvPr>
        </p:nvSpPr>
        <p:spPr>
          <a:xfrm>
            <a:off x="5778500" y="3911600"/>
            <a:ext cx="2476500" cy="381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6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系统化策略思维</a:t>
            </a:r>
            <a:endParaRPr lang="en-US" sz="16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AutoShape 11"/>
          <p:cNvSpPr/>
          <p:nvPr>
            <p:custDataLst>
              <p:tags r:id="rId4"/>
            </p:custDataLst>
          </p:nvPr>
        </p:nvSpPr>
        <p:spPr>
          <a:xfrm>
            <a:off x="5397500" y="4445000"/>
            <a:ext cx="2730500" cy="15875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17000"/>
              </a:lnSpc>
              <a:spcBef>
                <a:spcPts val="0"/>
              </a:spcBef>
              <a:spcAft>
                <a:spcPts val="0"/>
              </a:spcAft>
              <a:defRPr/>
            </a:pPr>
            <a:r>
              <a:rPr lang="en-US" sz="1300" b="0" i="0" u="none" strike="noStrike" kern="0">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具备宏观视野，善于围绕用户全生命周期（获客、激活、留存、变现）制定一体化增长策略。通过多维度数据分析优化资源配置，构建可持续的业务增长模型，确保运营动作与长期商业目标一致。</a:t>
            </a:r>
            <a:endParaRPr lang="en-US" sz="1300" b="0" i="0" u="none" strike="noStrike" kern="0">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AutoShape 12"/>
          <p:cNvSpPr/>
          <p:nvPr>
            <p:custDataLst>
              <p:tags r:id="rId5"/>
            </p:custDataLst>
          </p:nvPr>
        </p:nvSpPr>
        <p:spPr>
          <a:xfrm>
            <a:off x="8445500" y="3746500"/>
            <a:ext cx="3111500" cy="2349500"/>
          </a:xfrm>
          <a:prstGeom prst="roundRect">
            <a:avLst>
              <a:gd name="adj" fmla="val 0"/>
            </a:avLst>
          </a:prstGeom>
          <a:solidFill>
            <a:srgbClr val="FFFFFF">
              <a:alpha val="75000"/>
            </a:srgbClr>
          </a:solidFill>
          <a:ln w="12700" cap="flat" cmpd="sng">
            <a:solidFill>
              <a:srgbClr val="004D40">
                <a:alpha val="10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pic>
        <p:nvPicPr>
          <p:cNvPr id="13" name="Picture 13"/>
          <p:cNvPicPr>
            <a:picLocks noChangeAspect="1"/>
          </p:cNvPicPr>
          <p:nvPr>
            <p:custDataLst>
              <p:tags r:id="rId6"/>
            </p:custDataLst>
          </p:nvPr>
        </p:nvPicPr>
        <p:blipFill>
          <a:blip/>
          <a:stretch>
            <a:fillRect/>
          </a:stretch>
        </p:blipFill>
        <p:spPr>
          <a:xfrm>
            <a:off x="8636000" y="3937000"/>
            <a:ext cx="304800" cy="304800"/>
          </a:xfrm>
          <a:prstGeom prst="rect">
            <a:avLst/>
          </a:prstGeom>
        </p:spPr>
      </p:pic>
      <p:sp>
        <p:nvSpPr>
          <p:cNvPr id="14" name="AutoShape 14"/>
          <p:cNvSpPr/>
          <p:nvPr>
            <p:custDataLst>
              <p:tags r:id="rId7"/>
            </p:custDataLst>
          </p:nvPr>
        </p:nvSpPr>
        <p:spPr>
          <a:xfrm>
            <a:off x="9017000" y="3911600"/>
            <a:ext cx="2476500" cy="381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6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全链路运营能力</a:t>
            </a:r>
            <a:endParaRPr lang="en-US" sz="16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 name="AutoShape 15"/>
          <p:cNvSpPr/>
          <p:nvPr>
            <p:custDataLst>
              <p:tags r:id="rId8"/>
            </p:custDataLst>
          </p:nvPr>
        </p:nvSpPr>
        <p:spPr>
          <a:xfrm>
            <a:off x="8636000" y="4445000"/>
            <a:ext cx="2730500" cy="15875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17000"/>
              </a:lnSpc>
              <a:spcBef>
                <a:spcPts val="0"/>
              </a:spcBef>
              <a:spcAft>
                <a:spcPts val="0"/>
              </a:spcAft>
              <a:defRPr/>
            </a:pPr>
            <a:r>
              <a:rPr lang="en-US" sz="1300" b="0" i="0" u="none" strike="noStrike" kern="0">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打通从前端引流获客到后端留存变现的完整业务闭环。协调市场、产品、销售等跨部门协同，优化各环节转化效率，解决运营断点问题，实现从流量到留量再到商业价值的最大化转化。</a:t>
            </a:r>
            <a:endParaRPr lang="en-US" sz="1300" b="0" i="0" u="none" strike="noStrike" kern="0">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AutoShape 16"/>
          <p:cNvSpPr/>
          <p:nvPr/>
        </p:nvSpPr>
        <p:spPr>
          <a:xfrm>
            <a:off x="762000" y="6413500"/>
            <a:ext cx="2540000" cy="254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200" b="0" i="0" u="none" strike="noStrike" kern="0">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竞聘演讲</a:t>
            </a:r>
            <a:endParaRPr lang="en-US" sz="1200" b="0" i="0" u="none" strike="noStrike" kern="0">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AutoShape 17"/>
          <p:cNvSpPr/>
          <p:nvPr/>
        </p:nvSpPr>
        <p:spPr>
          <a:xfrm>
            <a:off x="10795000" y="6413500"/>
            <a:ext cx="635000" cy="254000"/>
          </a:xfrm>
          <a:prstGeom prst="rect">
            <a:avLst/>
          </a:prstGeom>
          <a:noFill/>
          <a:ln w="12700" cap="flat" cmpd="sng">
            <a:noFill/>
            <a:prstDash val="solid"/>
            <a:round/>
          </a:ln>
        </p:spPr>
        <p:txBody>
          <a:bodyPr vert="horz" wrap="square" lIns="0" tIns="0" rIns="0" bIns="0" rtlCol="0" anchor="ctr" anchorCtr="0"/>
          <a:lstStyle/>
          <a:p>
            <a:pPr marL="0" indent="0" algn="r" defTabSz="914400">
              <a:lnSpc>
                <a:spcPct val="125000"/>
              </a:lnSpc>
              <a:spcBef>
                <a:spcPts val="0"/>
              </a:spcBef>
              <a:spcAft>
                <a:spcPts val="0"/>
              </a:spcAft>
              <a:defRPr/>
            </a:pPr>
            <a:r>
              <a:rPr lang="en-US" sz="1200" b="0" i="0" u="none" strike="noStrike" kern="0">
                <a:solidFill>
                  <a:srgbClr val="666666"/>
                </a:solidFill>
                <a:latin typeface="Times New Roman" panose="02020603050405020304" charset="0"/>
                <a:ea typeface="微软雅黑" panose="020B0503020204020204" charset="-122"/>
                <a:cs typeface="Times New Roman" panose="02020603050405020304" charset="0"/>
                <a:sym typeface="微软雅黑" panose="020B0503020204020204" charset="-122"/>
              </a:rPr>
              <a:t>2</a:t>
            </a:r>
            <a:endParaRPr lang="en-US" sz="1200" b="0" i="0" u="none" strike="noStrike" kern="0">
              <a:solidFill>
                <a:srgbClr val="666666"/>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1500" advTm="3168">
        <p:blinds dir="vert"/>
      </p:transition>
    </mc:Choice>
    <mc:Fallback>
      <p:transition spd="slow" advTm="3168">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0-#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0-#ppt_w/2"/>
                                          </p:val>
                                        </p:tav>
                                        <p:tav tm="100000">
                                          <p:val>
                                            <p:strVal val="#ppt_x"/>
                                          </p:val>
                                        </p:tav>
                                      </p:tavLst>
                                    </p:anim>
                                    <p:anim calcmode="lin" valueType="num">
                                      <p:cBhvr additive="base">
                                        <p:cTn id="28" dur="500" fill="hold"/>
                                        <p:tgtEl>
                                          <p:spTgt spid="9"/>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0-#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0-#ppt_w/2"/>
                                          </p:val>
                                        </p:tav>
                                        <p:tav tm="100000">
                                          <p:val>
                                            <p:strVal val="#ppt_x"/>
                                          </p:val>
                                        </p:tav>
                                      </p:tavLst>
                                    </p:anim>
                                    <p:anim calcmode="lin" valueType="num">
                                      <p:cBhvr additive="base">
                                        <p:cTn id="36" dur="5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0-#ppt_w/2"/>
                                          </p:val>
                                        </p:tav>
                                        <p:tav tm="100000">
                                          <p:val>
                                            <p:strVal val="#ppt_x"/>
                                          </p:val>
                                        </p:tav>
                                      </p:tavLst>
                                    </p:anim>
                                    <p:anim calcmode="lin" valueType="num">
                                      <p:cBhvr additive="base">
                                        <p:cTn id="40" dur="500" fill="hold"/>
                                        <p:tgtEl>
                                          <p:spTgt spid="12"/>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0-#ppt_w/2"/>
                                          </p:val>
                                        </p:tav>
                                        <p:tav tm="100000">
                                          <p:val>
                                            <p:strVal val="#ppt_x"/>
                                          </p:val>
                                        </p:tav>
                                      </p:tavLst>
                                    </p:anim>
                                    <p:anim calcmode="lin" valueType="num">
                                      <p:cBhvr additive="base">
                                        <p:cTn id="44" dur="500" fill="hold"/>
                                        <p:tgtEl>
                                          <p:spTgt spid="13"/>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0-#ppt_w/2"/>
                                          </p:val>
                                        </p:tav>
                                        <p:tav tm="100000">
                                          <p:val>
                                            <p:strVal val="#ppt_x"/>
                                          </p:val>
                                        </p:tav>
                                      </p:tavLst>
                                    </p:anim>
                                    <p:anim calcmode="lin" valueType="num">
                                      <p:cBhvr additive="base">
                                        <p:cTn id="48" dur="500" fill="hold"/>
                                        <p:tgtEl>
                                          <p:spTgt spid="14"/>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0-#ppt_w/2"/>
                                          </p:val>
                                        </p:tav>
                                        <p:tav tm="100000">
                                          <p:val>
                                            <p:strVal val="#ppt_x"/>
                                          </p:val>
                                        </p:tav>
                                      </p:tavLst>
                                    </p:anim>
                                    <p:anim calcmode="lin" valueType="num">
                                      <p:cBhvr additive="base">
                                        <p:cTn id="52" dur="500" fill="hold"/>
                                        <p:tgtEl>
                                          <p:spTgt spid="15"/>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0-#ppt_w/2"/>
                                          </p:val>
                                        </p:tav>
                                        <p:tav tm="100000">
                                          <p:val>
                                            <p:strVal val="#ppt_x"/>
                                          </p:val>
                                        </p:tav>
                                      </p:tavLst>
                                    </p:anim>
                                    <p:anim calcmode="lin" valueType="num">
                                      <p:cBhvr additive="base">
                                        <p:cTn id="56" dur="500" fill="hold"/>
                                        <p:tgtEl>
                                          <p:spTgt spid="16"/>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00" fill="hold"/>
                                        <p:tgtEl>
                                          <p:spTgt spid="17"/>
                                        </p:tgtEl>
                                        <p:attrNameLst>
                                          <p:attrName>ppt_x</p:attrName>
                                        </p:attrNameLst>
                                      </p:cBhvr>
                                      <p:tavLst>
                                        <p:tav tm="0">
                                          <p:val>
                                            <p:strVal val="0-#ppt_w/2"/>
                                          </p:val>
                                        </p:tav>
                                        <p:tav tm="100000">
                                          <p:val>
                                            <p:strVal val="#ppt_x"/>
                                          </p:val>
                                        </p:tav>
                                      </p:tavLst>
                                    </p:anim>
                                    <p:anim calcmode="lin" valueType="num">
                                      <p:cBhvr additive="base">
                                        <p:cTn id="60"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animBg="1"/>
      <p:bldP spid="7" grpId="0"/>
      <p:bldP spid="8" grpId="0" animBg="1"/>
      <p:bldP spid="10" grpId="0"/>
      <p:bldP spid="11" grpId="0"/>
      <p:bldP spid="12" grpId="0" animBg="1"/>
      <p:bldP spid="14" grpId="0"/>
      <p:bldP spid="15" grpId="0"/>
      <p:bldP spid="16" grpId="0"/>
      <p:bldP spid="17" grpId="0"/>
      <p:bldP spid="3" grpId="1"/>
      <p:bldP spid="5" grpId="1"/>
      <p:bldP spid="6" grpId="1" animBg="1"/>
      <p:bldP spid="7" grpId="1"/>
      <p:bldP spid="8" grpId="1" animBg="1"/>
      <p:bldP spid="10" grpId="1"/>
      <p:bldP spid="11" grpId="1"/>
      <p:bldP spid="12" grpId="1" animBg="1"/>
      <p:bldP spid="14" grpId="1"/>
      <p:bldP spid="15" grpId="1"/>
      <p:bldP spid="16" grpId="1"/>
      <p:bldP spid="17"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3600" b="0"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自我介绍与核心优势</a:t>
            </a:r>
            <a:endParaRPr lang="en-US" sz="3600" b="0"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nvSpPr>
        <p:spPr>
          <a:xfrm>
            <a:off x="762000" y="2286000"/>
            <a:ext cx="5207000" cy="3429000"/>
          </a:xfrm>
          <a:prstGeom prst="roundRect">
            <a:avLst>
              <a:gd name="adj" fmla="val 0"/>
            </a:avLst>
          </a:prstGeom>
          <a:solidFill>
            <a:srgbClr val="FFFFFF">
              <a:alpha val="65000"/>
            </a:srgbClr>
          </a:solidFill>
          <a:ln w="12700" cap="flat" cmpd="sng">
            <a:solidFill>
              <a:srgbClr val="004D40">
                <a:alpha val="20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pic>
        <p:nvPicPr>
          <p:cNvPr id="5" name="Picture 5"/>
          <p:cNvPicPr>
            <a:picLocks noChangeAspect="1"/>
          </p:cNvPicPr>
          <p:nvPr/>
        </p:nvPicPr>
        <p:blipFill>
          <a:blip/>
          <a:stretch>
            <a:fillRect/>
          </a:stretch>
        </p:blipFill>
        <p:spPr>
          <a:xfrm>
            <a:off x="1079500" y="2667000"/>
            <a:ext cx="609600" cy="609600"/>
          </a:xfrm>
          <a:prstGeom prst="rect">
            <a:avLst/>
          </a:prstGeom>
        </p:spPr>
      </p:pic>
      <p:sp>
        <p:nvSpPr>
          <p:cNvPr id="6" name="AutoShape 6"/>
          <p:cNvSpPr/>
          <p:nvPr/>
        </p:nvSpPr>
        <p:spPr>
          <a:xfrm>
            <a:off x="1905000" y="2717800"/>
            <a:ext cx="3683000" cy="508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22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数据驱动决策</a:t>
            </a:r>
            <a:endParaRPr lang="en-US" sz="22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7" name="Connector 7"/>
          <p:cNvCxnSpPr/>
          <p:nvPr/>
        </p:nvCxnSpPr>
        <p:spPr>
          <a:xfrm rot="-9549">
            <a:off x="1079509" y="3549650"/>
            <a:ext cx="4572000" cy="12700"/>
          </a:xfrm>
          <a:prstGeom prst="line">
            <a:avLst/>
          </a:prstGeom>
          <a:solidFill>
            <a:srgbClr val="DEE0E3">
              <a:alpha val="100000"/>
            </a:srgbClr>
          </a:solidFill>
          <a:ln w="12700" cap="flat" cmpd="sng">
            <a:solidFill>
              <a:srgbClr val="004D40">
                <a:alpha val="15000"/>
              </a:srgbClr>
            </a:solidFill>
            <a:prstDash val="solid"/>
            <a:round/>
            <a:headEnd type="none" w="med" len="med"/>
            <a:tailEnd type="none" w="med" len="med"/>
          </a:ln>
        </p:spPr>
      </p:cxnSp>
      <p:sp>
        <p:nvSpPr>
          <p:cNvPr id="8" name="AutoShape 8"/>
          <p:cNvSpPr/>
          <p:nvPr/>
        </p:nvSpPr>
        <p:spPr>
          <a:xfrm>
            <a:off x="1079500" y="3810000"/>
            <a:ext cx="4572000" cy="1651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5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rPr>
              <a:t>擅长通过多维度数据分析洞察业务本质问题，精准定位增长机会点。以数据为锚点驱动运营策略的持续优化与敏捷迭代，摒弃经验主义，实现业务的精细化运营与科学管理，让每一步决策都有据可依。</a:t>
            </a:r>
            <a:endParaRPr lang="en-US" sz="15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AutoShape 9"/>
          <p:cNvSpPr/>
          <p:nvPr/>
        </p:nvSpPr>
        <p:spPr>
          <a:xfrm>
            <a:off x="6223000" y="2286000"/>
            <a:ext cx="5207000" cy="3429000"/>
          </a:xfrm>
          <a:prstGeom prst="roundRect">
            <a:avLst>
              <a:gd name="adj" fmla="val 0"/>
            </a:avLst>
          </a:prstGeom>
          <a:solidFill>
            <a:srgbClr val="FFFFFF">
              <a:alpha val="65000"/>
            </a:srgbClr>
          </a:solidFill>
          <a:ln w="12700" cap="flat" cmpd="sng">
            <a:solidFill>
              <a:srgbClr val="004D40">
                <a:alpha val="20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pic>
        <p:nvPicPr>
          <p:cNvPr id="10" name="Picture 10"/>
          <p:cNvPicPr>
            <a:picLocks noChangeAspect="1"/>
          </p:cNvPicPr>
          <p:nvPr/>
        </p:nvPicPr>
        <p:blipFill>
          <a:blip/>
          <a:stretch>
            <a:fillRect/>
          </a:stretch>
        </p:blipFill>
        <p:spPr>
          <a:xfrm>
            <a:off x="6540500" y="2667000"/>
            <a:ext cx="609600" cy="609600"/>
          </a:xfrm>
          <a:prstGeom prst="rect">
            <a:avLst/>
          </a:prstGeom>
        </p:spPr>
      </p:pic>
      <p:sp>
        <p:nvSpPr>
          <p:cNvPr id="11" name="AutoShape 11"/>
          <p:cNvSpPr/>
          <p:nvPr/>
        </p:nvSpPr>
        <p:spPr>
          <a:xfrm>
            <a:off x="7366000" y="2717800"/>
            <a:ext cx="3683000" cy="508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22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结果导向与执行力</a:t>
            </a:r>
            <a:endParaRPr lang="en-US" sz="22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2" name="Connector 12"/>
          <p:cNvCxnSpPr/>
          <p:nvPr/>
        </p:nvCxnSpPr>
        <p:spPr>
          <a:xfrm rot="-9549">
            <a:off x="6540509" y="3549650"/>
            <a:ext cx="4572000" cy="12700"/>
          </a:xfrm>
          <a:prstGeom prst="line">
            <a:avLst/>
          </a:prstGeom>
          <a:solidFill>
            <a:srgbClr val="DEE0E3">
              <a:alpha val="100000"/>
            </a:srgbClr>
          </a:solidFill>
          <a:ln w="12700" cap="flat" cmpd="sng">
            <a:solidFill>
              <a:srgbClr val="004D40">
                <a:alpha val="15000"/>
              </a:srgbClr>
            </a:solidFill>
            <a:prstDash val="solid"/>
            <a:round/>
            <a:headEnd type="none" w="med" len="med"/>
            <a:tailEnd type="none" w="med" len="med"/>
          </a:ln>
        </p:spPr>
      </p:cxnSp>
      <p:sp>
        <p:nvSpPr>
          <p:cNvPr id="13" name="AutoShape 13"/>
          <p:cNvSpPr/>
          <p:nvPr/>
        </p:nvSpPr>
        <p:spPr>
          <a:xfrm>
            <a:off x="6540500" y="3810000"/>
            <a:ext cx="4572000" cy="1651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5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rPr>
              <a:t>始终以最终业务成果为目标导向，具备极强的目标拆解与落地能力。在复杂项目中，能够高效统筹资源，强化跨部门协同与沟通，突破执行壁垒，确保战略规划从蓝图到现实的高效转化，交付可量化的业务价值。</a:t>
            </a:r>
            <a:endParaRPr lang="en-US" sz="15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AutoShape 14"/>
          <p:cNvSpPr/>
          <p:nvPr/>
        </p:nvSpPr>
        <p:spPr>
          <a:xfrm>
            <a:off x="762000" y="6223000"/>
            <a:ext cx="2540000" cy="381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400" b="0" i="0" u="none" strike="noStrike" kern="0">
                <a:solidFill>
                  <a:srgbClr val="666666"/>
                </a:solidFill>
                <a:latin typeface="方正仿宋简体" panose="03000509000000000000" charset="-122"/>
                <a:ea typeface="方正仿宋简体" panose="03000509000000000000" charset="-122"/>
                <a:cs typeface="微软雅黑" panose="020B0503020204020204" charset="-122"/>
                <a:sym typeface="微软雅黑" panose="020B0503020204020204" charset="-122"/>
              </a:rPr>
              <a:t>竞聘演讲</a:t>
            </a:r>
            <a:endParaRPr lang="en-US" sz="1400" b="0" i="0" u="none" strike="noStrike" kern="0">
              <a:solidFill>
                <a:srgbClr val="666666"/>
              </a:solidFill>
              <a:latin typeface="方正仿宋简体" panose="03000509000000000000" charset="-122"/>
              <a:ea typeface="方正仿宋简体" panose="03000509000000000000" charset="-122"/>
              <a:cs typeface="微软雅黑" panose="020B0503020204020204" charset="-122"/>
              <a:sym typeface="微软雅黑" panose="020B0503020204020204" charset="-122"/>
            </a:endParaRPr>
          </a:p>
        </p:txBody>
      </p:sp>
      <p:sp>
        <p:nvSpPr>
          <p:cNvPr id="15" name="AutoShape 15"/>
          <p:cNvSpPr/>
          <p:nvPr/>
        </p:nvSpPr>
        <p:spPr>
          <a:xfrm>
            <a:off x="10795000" y="6223000"/>
            <a:ext cx="635000" cy="381000"/>
          </a:xfrm>
          <a:prstGeom prst="rect">
            <a:avLst/>
          </a:prstGeom>
          <a:noFill/>
          <a:ln w="12700" cap="flat" cmpd="sng">
            <a:noFill/>
            <a:prstDash val="solid"/>
            <a:round/>
          </a:ln>
        </p:spPr>
        <p:txBody>
          <a:bodyPr vert="horz" wrap="square" lIns="0" tIns="0" rIns="0" bIns="0" rtlCol="0" anchor="ctr" anchorCtr="0"/>
          <a:lstStyle/>
          <a:p>
            <a:pPr marL="0" indent="0" algn="r" defTabSz="914400">
              <a:lnSpc>
                <a:spcPct val="125000"/>
              </a:lnSpc>
              <a:spcBef>
                <a:spcPts val="0"/>
              </a:spcBef>
              <a:spcAft>
                <a:spcPts val="0"/>
              </a:spcAft>
              <a:defRPr/>
            </a:pPr>
            <a:r>
              <a:rPr lang="en-US" sz="1400" b="0" i="0" u="none" strike="noStrike" kern="0">
                <a:solidFill>
                  <a:srgbClr val="666666"/>
                </a:solidFill>
                <a:latin typeface="Times New Roman" panose="02020603050405020304" charset="0"/>
                <a:ea typeface="微软雅黑" panose="020B0503020204020204" charset="-122"/>
                <a:cs typeface="Times New Roman" panose="02020603050405020304" charset="0"/>
                <a:sym typeface="微软雅黑" panose="020B0503020204020204" charset="-122"/>
              </a:rPr>
              <a:t>3</a:t>
            </a:r>
            <a:endParaRPr lang="en-US" sz="1400" b="0" i="0" u="none" strike="noStrike" kern="0">
              <a:solidFill>
                <a:srgbClr val="666666"/>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601">
        <p:blinds dir="vert"/>
      </p:transition>
    </mc:Choice>
    <mc:Fallback>
      <p:transition spd="slow" advTm="3601">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AutoShape 3"/>
          <p:cNvSpPr/>
          <p:nvPr/>
        </p:nvSpPr>
        <p:spPr>
          <a:xfrm>
            <a:off x="0" y="2476500"/>
            <a:ext cx="12192000" cy="1905000"/>
          </a:xfrm>
          <a:prstGeom prst="rect">
            <a:avLst/>
          </a:prstGeom>
          <a:noFill/>
          <a:ln w="12700" cap="flat" cmpd="sng">
            <a:noFill/>
            <a:prstDash val="solid"/>
            <a:round/>
          </a:ln>
        </p:spPr>
        <p:txBody>
          <a:bodyPr vert="horz" wrap="square" lIns="0" tIns="0" rIns="0" bIns="0" rtlCol="0" anchor="ctr" anchorCtr="0"/>
          <a:lstStyle/>
          <a:p>
            <a:pPr marL="0" algn="ctr" defTabSz="914400">
              <a:lnSpc>
                <a:spcPct val="125000"/>
              </a:lnSpc>
              <a:spcBef>
                <a:spcPts val="0"/>
              </a:spcBef>
              <a:spcAft>
                <a:spcPts val="0"/>
              </a:spcAft>
              <a:buSzTx/>
              <a:defRPr/>
            </a:pPr>
            <a:r>
              <a:rPr lang="en-US" sz="4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过往核心业绩复盘</a:t>
            </a:r>
            <a:endParaRPr lang="en-US" sz="4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nvSpPr>
        <p:spPr>
          <a:xfrm>
            <a:off x="508000" y="6223000"/>
            <a:ext cx="2540000" cy="381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400" b="0" i="0" u="none" strike="noStrike" kern="0">
                <a:solidFill>
                  <a:schemeClr val="tx1">
                    <a:alpha val="85098"/>
                  </a:schemeClr>
                </a:solidFill>
                <a:latin typeface="方正仿宋简体" panose="03000509000000000000" charset="-122"/>
                <a:ea typeface="方正仿宋简体" panose="03000509000000000000" charset="-122"/>
                <a:cs typeface="Noto Sans SC"/>
                <a:sym typeface="Noto Sans SC"/>
              </a:rPr>
              <a:t>竞聘演讲</a:t>
            </a:r>
            <a:endParaRPr lang="en-US" sz="1400" b="0" i="0" u="none" strike="noStrike" kern="0">
              <a:solidFill>
                <a:schemeClr val="tx1">
                  <a:alpha val="85098"/>
                </a:schemeClr>
              </a:solidFill>
              <a:latin typeface="方正仿宋简体" panose="03000509000000000000" charset="-122"/>
              <a:ea typeface="方正仿宋简体" panose="03000509000000000000" charset="-122"/>
              <a:cs typeface="Noto Sans SC"/>
              <a:sym typeface="Noto Sans SC"/>
            </a:endParaRPr>
          </a:p>
        </p:txBody>
      </p:sp>
      <p:sp>
        <p:nvSpPr>
          <p:cNvPr id="5" name="AutoShape 5"/>
          <p:cNvSpPr/>
          <p:nvPr/>
        </p:nvSpPr>
        <p:spPr>
          <a:xfrm>
            <a:off x="10414000" y="6223000"/>
            <a:ext cx="1270000" cy="381000"/>
          </a:xfrm>
          <a:prstGeom prst="rect">
            <a:avLst/>
          </a:prstGeom>
          <a:noFill/>
          <a:ln w="12700" cap="flat" cmpd="sng">
            <a:noFill/>
            <a:prstDash val="solid"/>
            <a:round/>
          </a:ln>
        </p:spPr>
        <p:txBody>
          <a:bodyPr vert="horz" wrap="square" lIns="0" tIns="0" rIns="0" bIns="0" rtlCol="0" anchor="ctr" anchorCtr="0"/>
          <a:lstStyle/>
          <a:p>
            <a:pPr marL="0" indent="0" algn="r" defTabSz="914400">
              <a:lnSpc>
                <a:spcPct val="125000"/>
              </a:lnSpc>
              <a:spcBef>
                <a:spcPts val="0"/>
              </a:spcBef>
              <a:spcAft>
                <a:spcPts val="0"/>
              </a:spcAft>
              <a:defRPr/>
            </a:pPr>
            <a:r>
              <a:rPr lang="en-US" sz="1400" b="0" i="0" u="none" strike="noStrike" kern="0">
                <a:solidFill>
                  <a:schemeClr val="tx1">
                    <a:alpha val="85098"/>
                  </a:schemeClr>
                </a:solidFill>
                <a:latin typeface="Times New Roman" panose="02020603050405020304" charset="0"/>
                <a:ea typeface="Noto Sans SC"/>
                <a:cs typeface="Times New Roman" panose="02020603050405020304" charset="0"/>
                <a:sym typeface="Noto Sans SC"/>
              </a:rPr>
              <a:t>4</a:t>
            </a:r>
            <a:endParaRPr lang="en-US" sz="1400" b="0" i="0" u="none" strike="noStrike" kern="0">
              <a:solidFill>
                <a:schemeClr val="tx1">
                  <a:alpha val="85098"/>
                </a:schemeClr>
              </a:solidFill>
              <a:latin typeface="Times New Roman" panose="02020603050405020304" charset="0"/>
              <a:ea typeface="Noto Sans SC"/>
              <a:cs typeface="Times New Roman" panose="02020603050405020304" charset="0"/>
              <a:sym typeface="Noto Sans SC"/>
            </a:endParaRPr>
          </a:p>
        </p:txBody>
      </p:sp>
    </p:spTree>
  </p:cSld>
  <p:clrMapOvr>
    <a:masterClrMapping/>
  </p:clrMapOvr>
  <mc:AlternateContent xmlns:mc="http://schemas.openxmlformats.org/markup-compatibility/2006">
    <mc:Choice xmlns:p14="http://schemas.microsoft.com/office/powerpoint/2010/main" Requires="p14">
      <p:transition spd="slow" p14:dur="1500" advTm="2650">
        <p:blinds dir="vert"/>
      </p:transition>
    </mc:Choice>
    <mc:Fallback>
      <p:transition spd="slow" advTm="2650">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36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项目概述与关键举措</a:t>
            </a:r>
            <a:endParaRPr lang="en-US" sz="3600" b="1"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nvSpPr>
        <p:spPr>
          <a:xfrm>
            <a:off x="762000" y="1714500"/>
            <a:ext cx="10668000" cy="1460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AutoShape 5"/>
          <p:cNvSpPr/>
          <p:nvPr/>
        </p:nvSpPr>
        <p:spPr>
          <a:xfrm>
            <a:off x="1016000" y="1879600"/>
            <a:ext cx="4953000" cy="12065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00000"/>
              </a:lnSpc>
              <a:spcBef>
                <a:spcPts val="0"/>
              </a:spcBef>
              <a:spcAft>
                <a:spcPts val="0"/>
              </a:spcAft>
              <a:defRPr/>
            </a:pPr>
            <a:r>
              <a:rPr lang="en-US" sz="1800" b="1" i="0" u="none" strike="noStrike" kern="0">
                <a:solidFill>
                  <a:srgbClr val="004D40"/>
                </a:solidFill>
                <a:latin typeface="Noto Sans SC"/>
                <a:ea typeface="Noto Sans SC"/>
                <a:cs typeface="Noto Sans SC"/>
                <a:sym typeface="Noto Sans SC"/>
              </a:rPr>
              <a:t>🎯 项目目标</a:t>
            </a:r>
            <a:endParaRPr lang="en-US" sz="1100" kern="0">
              <a:solidFill>
                <a:srgbClr val="000000"/>
              </a:solidFill>
              <a:latin typeface="Arial" panose="020B0604020202020204"/>
              <a:ea typeface="Arial" panose="020B0604020202020204"/>
              <a:cs typeface="Arial" panose="020B0604020202020204"/>
              <a:sym typeface="Arial" panose="020B0604020202020204"/>
            </a:endParaRPr>
          </a:p>
          <a:p>
            <a:pPr marL="0" indent="0" algn="l" defTabSz="914400">
              <a:lnSpc>
                <a:spcPct val="117000"/>
              </a:lnSpc>
              <a:spcBef>
                <a:spcPts val="0"/>
              </a:spcBef>
              <a:spcAft>
                <a:spcPts val="0"/>
              </a:spcAft>
            </a:pPr>
            <a:r>
              <a:rPr lang="en-US" sz="1400" b="0" i="0" u="none" strike="noStrike" kern="0">
                <a:solidFill>
                  <a:srgbClr val="505050"/>
                </a:solidFill>
                <a:latin typeface="Noto Sans SC"/>
                <a:ea typeface="Noto Sans SC"/>
                <a:cs typeface="Noto Sans SC"/>
                <a:sym typeface="Noto Sans SC"/>
              </a:rPr>
              <a:t>突破当前用户增长瓶颈，夯实业务发展的用户基本盘，通过全链路的优化与创新，实现用户规模的显著提升与用户质量的同步飞跃。</a:t>
            </a:r>
            <a:endParaRPr lang="en-US" sz="1400" b="0" i="0" u="none" strike="noStrike" kern="0">
              <a:solidFill>
                <a:srgbClr val="505050"/>
              </a:solidFill>
              <a:latin typeface="Noto Sans SC"/>
              <a:ea typeface="Noto Sans SC"/>
              <a:cs typeface="Noto Sans SC"/>
              <a:sym typeface="Noto Sans SC"/>
            </a:endParaRPr>
          </a:p>
        </p:txBody>
      </p:sp>
      <p:cxnSp>
        <p:nvCxnSpPr>
          <p:cNvPr id="6" name="Connector 6"/>
          <p:cNvCxnSpPr/>
          <p:nvPr/>
        </p:nvCxnSpPr>
        <p:spPr>
          <a:xfrm rot="5359557">
            <a:off x="5556250" y="2438437"/>
            <a:ext cx="10795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7" name="AutoShape 7"/>
          <p:cNvSpPr/>
          <p:nvPr/>
        </p:nvSpPr>
        <p:spPr>
          <a:xfrm>
            <a:off x="6350000" y="1879600"/>
            <a:ext cx="4953000" cy="12065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00000"/>
              </a:lnSpc>
              <a:spcBef>
                <a:spcPts val="0"/>
              </a:spcBef>
              <a:spcAft>
                <a:spcPts val="0"/>
              </a:spcAft>
              <a:defRPr/>
            </a:pPr>
            <a:r>
              <a:rPr lang="en-US" sz="1800" b="1" i="0" u="none" strike="noStrike" kern="0">
                <a:solidFill>
                  <a:srgbClr val="004D40"/>
                </a:solidFill>
                <a:latin typeface="Noto Sans SC"/>
                <a:ea typeface="Noto Sans SC"/>
                <a:cs typeface="Noto Sans SC"/>
                <a:sym typeface="Noto Sans SC"/>
              </a:rPr>
              <a:t>🧩 核心策略</a:t>
            </a:r>
            <a:endParaRPr lang="en-US" sz="1100" kern="0">
              <a:solidFill>
                <a:srgbClr val="000000"/>
              </a:solidFill>
              <a:latin typeface="Arial" panose="020B0604020202020204"/>
              <a:ea typeface="Arial" panose="020B0604020202020204"/>
              <a:cs typeface="Arial" panose="020B0604020202020204"/>
              <a:sym typeface="Arial" panose="020B0604020202020204"/>
            </a:endParaRPr>
          </a:p>
          <a:p>
            <a:pPr marL="0" indent="0" algn="l" defTabSz="914400">
              <a:lnSpc>
                <a:spcPct val="117000"/>
              </a:lnSpc>
              <a:spcBef>
                <a:spcPts val="0"/>
              </a:spcBef>
              <a:spcAft>
                <a:spcPts val="0"/>
              </a:spcAft>
            </a:pPr>
            <a:r>
              <a:rPr lang="en-US" sz="1400" b="0" i="0" u="none" strike="noStrike" kern="0">
                <a:solidFill>
                  <a:srgbClr val="505050"/>
                </a:solidFill>
                <a:latin typeface="Noto Sans SC"/>
                <a:ea typeface="Noto Sans SC"/>
                <a:cs typeface="Noto Sans SC"/>
                <a:sym typeface="Noto Sans SC"/>
              </a:rPr>
              <a:t>围绕用户生命周期的“获客、激活、留存”三大关键阶段，构建系统化、闭环式的增长模型，打通从流量获取到价值变现的全流程。</a:t>
            </a:r>
            <a:endParaRPr lang="en-US" sz="1400" b="0" i="0" u="none" strike="noStrike" kern="0">
              <a:solidFill>
                <a:srgbClr val="505050"/>
              </a:solidFill>
              <a:latin typeface="Noto Sans SC"/>
              <a:ea typeface="Noto Sans SC"/>
              <a:cs typeface="Noto Sans SC"/>
              <a:sym typeface="Noto Sans SC"/>
            </a:endParaRPr>
          </a:p>
        </p:txBody>
      </p:sp>
      <p:sp>
        <p:nvSpPr>
          <p:cNvPr id="8" name="AutoShape 8"/>
          <p:cNvSpPr/>
          <p:nvPr/>
        </p:nvSpPr>
        <p:spPr>
          <a:xfrm>
            <a:off x="762000" y="3429000"/>
            <a:ext cx="5207000" cy="1460500"/>
          </a:xfrm>
          <a:prstGeom prst="roundRect">
            <a:avLst>
              <a:gd name="adj" fmla="val 0"/>
            </a:avLst>
          </a:prstGeom>
          <a:solidFill>
            <a:srgbClr val="FFFFFF">
              <a:alpha val="75000"/>
            </a:srgbClr>
          </a:solidFill>
          <a:ln w="12700" cap="flat" cmpd="sng">
            <a:solidFill>
              <a:srgbClr val="004D40">
                <a:alpha val="15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pic>
        <p:nvPicPr>
          <p:cNvPr id="9" name="Picture 9"/>
          <p:cNvPicPr>
            <a:picLocks noChangeAspect="1"/>
          </p:cNvPicPr>
          <p:nvPr/>
        </p:nvPicPr>
        <p:blipFill>
          <a:blip/>
          <a:stretch>
            <a:fillRect/>
          </a:stretch>
        </p:blipFill>
        <p:spPr>
          <a:xfrm>
            <a:off x="1016000" y="3619500"/>
            <a:ext cx="406400" cy="406400"/>
          </a:xfrm>
          <a:prstGeom prst="rect">
            <a:avLst/>
          </a:prstGeom>
        </p:spPr>
      </p:pic>
      <p:sp>
        <p:nvSpPr>
          <p:cNvPr id="10" name="AutoShape 10"/>
          <p:cNvSpPr/>
          <p:nvPr/>
        </p:nvSpPr>
        <p:spPr>
          <a:xfrm>
            <a:off x="1587500" y="3619500"/>
            <a:ext cx="4254500" cy="3556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600" b="1" i="0" u="none" strike="noStrike" kern="0">
                <a:solidFill>
                  <a:srgbClr val="004D40"/>
                </a:solidFill>
                <a:latin typeface="Noto Sans SC"/>
                <a:ea typeface="Noto Sans SC"/>
                <a:cs typeface="Noto Sans SC"/>
                <a:sym typeface="Noto Sans SC"/>
              </a:rPr>
              <a:t>优化渠道投放策略</a:t>
            </a:r>
            <a:endParaRPr lang="en-US" sz="1600" b="1" i="0" u="none" strike="noStrike" kern="0">
              <a:solidFill>
                <a:srgbClr val="004D40"/>
              </a:solidFill>
              <a:latin typeface="Noto Sans SC"/>
              <a:ea typeface="Noto Sans SC"/>
              <a:cs typeface="Noto Sans SC"/>
              <a:sym typeface="Noto Sans SC"/>
            </a:endParaRPr>
          </a:p>
        </p:txBody>
      </p:sp>
      <p:sp>
        <p:nvSpPr>
          <p:cNvPr id="11" name="AutoShape 11"/>
          <p:cNvSpPr/>
          <p:nvPr/>
        </p:nvSpPr>
        <p:spPr>
          <a:xfrm>
            <a:off x="1587500" y="4064000"/>
            <a:ext cx="4254500" cy="762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08000"/>
              </a:lnSpc>
              <a:spcBef>
                <a:spcPts val="0"/>
              </a:spcBef>
              <a:spcAft>
                <a:spcPts val="0"/>
              </a:spcAft>
              <a:defRPr/>
            </a:pPr>
            <a:r>
              <a:rPr lang="en-US" sz="1300" b="0" i="0" u="none" strike="noStrike" kern="0">
                <a:solidFill>
                  <a:srgbClr val="4B4B4B"/>
                </a:solidFill>
                <a:latin typeface="Noto Sans SC"/>
                <a:ea typeface="Noto Sans SC"/>
                <a:cs typeface="Noto Sans SC"/>
                <a:sym typeface="Noto Sans SC"/>
              </a:rPr>
              <a:t>深度分析各渠道ROI表现，动态调整投放组合与预算分配，坚决聚焦高转化、高留存的优质渠道，实现获客成本的精细化管控。</a:t>
            </a:r>
            <a:endParaRPr lang="en-US" sz="1300" b="0" i="0" u="none" strike="noStrike" kern="0">
              <a:solidFill>
                <a:srgbClr val="4B4B4B"/>
              </a:solidFill>
              <a:latin typeface="Noto Sans SC"/>
              <a:ea typeface="Noto Sans SC"/>
              <a:cs typeface="Noto Sans SC"/>
              <a:sym typeface="Noto Sans SC"/>
            </a:endParaRPr>
          </a:p>
        </p:txBody>
      </p:sp>
      <p:sp>
        <p:nvSpPr>
          <p:cNvPr id="12" name="AutoShape 12"/>
          <p:cNvSpPr/>
          <p:nvPr/>
        </p:nvSpPr>
        <p:spPr>
          <a:xfrm>
            <a:off x="6223000" y="3429000"/>
            <a:ext cx="5207000" cy="1460500"/>
          </a:xfrm>
          <a:prstGeom prst="roundRect">
            <a:avLst>
              <a:gd name="adj" fmla="val 0"/>
            </a:avLst>
          </a:prstGeom>
          <a:solidFill>
            <a:srgbClr val="FFFFFF">
              <a:alpha val="75000"/>
            </a:srgbClr>
          </a:solidFill>
          <a:ln w="12700" cap="flat" cmpd="sng">
            <a:solidFill>
              <a:srgbClr val="004D40">
                <a:alpha val="15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pic>
        <p:nvPicPr>
          <p:cNvPr id="13" name="Picture 13"/>
          <p:cNvPicPr>
            <a:picLocks noChangeAspect="1"/>
          </p:cNvPicPr>
          <p:nvPr/>
        </p:nvPicPr>
        <p:blipFill>
          <a:blip/>
          <a:stretch>
            <a:fillRect/>
          </a:stretch>
        </p:blipFill>
        <p:spPr>
          <a:xfrm>
            <a:off x="6477000" y="3619500"/>
            <a:ext cx="406400" cy="406400"/>
          </a:xfrm>
          <a:prstGeom prst="rect">
            <a:avLst/>
          </a:prstGeom>
        </p:spPr>
      </p:pic>
      <p:sp>
        <p:nvSpPr>
          <p:cNvPr id="14" name="AutoShape 14"/>
          <p:cNvSpPr/>
          <p:nvPr/>
        </p:nvSpPr>
        <p:spPr>
          <a:xfrm>
            <a:off x="7048500" y="3619500"/>
            <a:ext cx="4254500" cy="3556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600" b="1" i="0" u="none" strike="noStrike" kern="0">
                <a:solidFill>
                  <a:srgbClr val="004D40"/>
                </a:solidFill>
                <a:latin typeface="Noto Sans SC"/>
                <a:ea typeface="Noto Sans SC"/>
                <a:cs typeface="Noto Sans SC"/>
                <a:sym typeface="Noto Sans SC"/>
              </a:rPr>
              <a:t>迭代产品体验与路径</a:t>
            </a:r>
            <a:endParaRPr lang="en-US" sz="1600" b="1" i="0" u="none" strike="noStrike" kern="0">
              <a:solidFill>
                <a:srgbClr val="004D40"/>
              </a:solidFill>
              <a:latin typeface="Noto Sans SC"/>
              <a:ea typeface="Noto Sans SC"/>
              <a:cs typeface="Noto Sans SC"/>
              <a:sym typeface="Noto Sans SC"/>
            </a:endParaRPr>
          </a:p>
        </p:txBody>
      </p:sp>
      <p:sp>
        <p:nvSpPr>
          <p:cNvPr id="15" name="AutoShape 15"/>
          <p:cNvSpPr/>
          <p:nvPr/>
        </p:nvSpPr>
        <p:spPr>
          <a:xfrm>
            <a:off x="7048500" y="4064000"/>
            <a:ext cx="4254500" cy="762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08000"/>
              </a:lnSpc>
              <a:spcBef>
                <a:spcPts val="0"/>
              </a:spcBef>
              <a:spcAft>
                <a:spcPts val="0"/>
              </a:spcAft>
              <a:defRPr/>
            </a:pPr>
            <a:r>
              <a:rPr lang="en-US" sz="1300" b="0" i="0" u="none" strike="noStrike" kern="0">
                <a:solidFill>
                  <a:srgbClr val="4B4B4B"/>
                </a:solidFill>
                <a:latin typeface="Noto Sans SC"/>
                <a:ea typeface="Noto Sans SC"/>
                <a:cs typeface="Noto Sans SC"/>
                <a:sym typeface="Noto Sans SC"/>
              </a:rPr>
              <a:t>基于用户行为数据洞察痛点，重点优化注册、新手引导及核心功能转化路径，简化操作流程，有效降低用户流失率，提升激活效率。</a:t>
            </a:r>
            <a:endParaRPr lang="en-US" sz="1300" b="0" i="0" u="none" strike="noStrike" kern="0">
              <a:solidFill>
                <a:srgbClr val="4B4B4B"/>
              </a:solidFill>
              <a:latin typeface="Noto Sans SC"/>
              <a:ea typeface="Noto Sans SC"/>
              <a:cs typeface="Noto Sans SC"/>
              <a:sym typeface="Noto Sans SC"/>
            </a:endParaRPr>
          </a:p>
        </p:txBody>
      </p:sp>
      <p:sp>
        <p:nvSpPr>
          <p:cNvPr id="16" name="AutoShape 16"/>
          <p:cNvSpPr/>
          <p:nvPr/>
        </p:nvSpPr>
        <p:spPr>
          <a:xfrm>
            <a:off x="762000" y="5080000"/>
            <a:ext cx="5207000" cy="1460500"/>
          </a:xfrm>
          <a:prstGeom prst="roundRect">
            <a:avLst>
              <a:gd name="adj" fmla="val 0"/>
            </a:avLst>
          </a:prstGeom>
          <a:solidFill>
            <a:srgbClr val="FFFFFF">
              <a:alpha val="75000"/>
            </a:srgbClr>
          </a:solidFill>
          <a:ln w="12700" cap="flat" cmpd="sng">
            <a:solidFill>
              <a:srgbClr val="004D40">
                <a:alpha val="15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pic>
        <p:nvPicPr>
          <p:cNvPr id="17" name="Picture 17"/>
          <p:cNvPicPr>
            <a:picLocks noChangeAspect="1"/>
          </p:cNvPicPr>
          <p:nvPr/>
        </p:nvPicPr>
        <p:blipFill>
          <a:blip/>
          <a:stretch>
            <a:fillRect/>
          </a:stretch>
        </p:blipFill>
        <p:spPr>
          <a:xfrm>
            <a:off x="1016000" y="5270500"/>
            <a:ext cx="406400" cy="406400"/>
          </a:xfrm>
          <a:prstGeom prst="rect">
            <a:avLst/>
          </a:prstGeom>
        </p:spPr>
      </p:pic>
      <p:sp>
        <p:nvSpPr>
          <p:cNvPr id="18" name="AutoShape 18"/>
          <p:cNvSpPr/>
          <p:nvPr/>
        </p:nvSpPr>
        <p:spPr>
          <a:xfrm>
            <a:off x="1587500" y="5270500"/>
            <a:ext cx="4254500" cy="3556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600" b="1" i="0" u="none" strike="noStrike" kern="0">
                <a:solidFill>
                  <a:srgbClr val="004D40"/>
                </a:solidFill>
                <a:latin typeface="Noto Sans SC"/>
                <a:ea typeface="Noto Sans SC"/>
                <a:cs typeface="Noto Sans SC"/>
                <a:sym typeface="Noto Sans SC"/>
              </a:rPr>
              <a:t>完善用户精细化运营</a:t>
            </a:r>
            <a:endParaRPr lang="en-US" sz="1600" b="1" i="0" u="none" strike="noStrike" kern="0">
              <a:solidFill>
                <a:srgbClr val="004D40"/>
              </a:solidFill>
              <a:latin typeface="Noto Sans SC"/>
              <a:ea typeface="Noto Sans SC"/>
              <a:cs typeface="Noto Sans SC"/>
              <a:sym typeface="Noto Sans SC"/>
            </a:endParaRPr>
          </a:p>
        </p:txBody>
      </p:sp>
      <p:sp>
        <p:nvSpPr>
          <p:cNvPr id="19" name="AutoShape 19"/>
          <p:cNvSpPr/>
          <p:nvPr/>
        </p:nvSpPr>
        <p:spPr>
          <a:xfrm>
            <a:off x="1587500" y="5715000"/>
            <a:ext cx="4254500" cy="762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08000"/>
              </a:lnSpc>
              <a:spcBef>
                <a:spcPts val="0"/>
              </a:spcBef>
              <a:spcAft>
                <a:spcPts val="0"/>
              </a:spcAft>
              <a:defRPr/>
            </a:pPr>
            <a:r>
              <a:rPr lang="en-US" sz="1300" b="0" i="0" u="none" strike="noStrike" kern="0">
                <a:solidFill>
                  <a:srgbClr val="4B4B4B"/>
                </a:solidFill>
                <a:latin typeface="Noto Sans SC"/>
                <a:ea typeface="Noto Sans SC"/>
                <a:cs typeface="Noto Sans SC"/>
                <a:sym typeface="Noto Sans SC"/>
              </a:rPr>
              <a:t>建立多维度用户分层体系，针对不同生命周期、活跃度与价值的用户群体，制定差异化的触达策略与激励机制，增强用户粘性。</a:t>
            </a:r>
            <a:endParaRPr lang="en-US" sz="1300" b="0" i="0" u="none" strike="noStrike" kern="0">
              <a:solidFill>
                <a:srgbClr val="4B4B4B"/>
              </a:solidFill>
              <a:latin typeface="Noto Sans SC"/>
              <a:ea typeface="Noto Sans SC"/>
              <a:cs typeface="Noto Sans SC"/>
              <a:sym typeface="Noto Sans SC"/>
            </a:endParaRPr>
          </a:p>
        </p:txBody>
      </p:sp>
      <p:sp>
        <p:nvSpPr>
          <p:cNvPr id="20" name="AutoShape 20"/>
          <p:cNvSpPr/>
          <p:nvPr/>
        </p:nvSpPr>
        <p:spPr>
          <a:xfrm>
            <a:off x="6223000" y="5080000"/>
            <a:ext cx="5207000" cy="1460500"/>
          </a:xfrm>
          <a:prstGeom prst="roundRect">
            <a:avLst>
              <a:gd name="adj" fmla="val 0"/>
            </a:avLst>
          </a:prstGeom>
          <a:solidFill>
            <a:srgbClr val="FFFFFF">
              <a:alpha val="75000"/>
            </a:srgbClr>
          </a:solidFill>
          <a:ln w="12700" cap="flat" cmpd="sng">
            <a:solidFill>
              <a:srgbClr val="004D40">
                <a:alpha val="15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pic>
        <p:nvPicPr>
          <p:cNvPr id="21" name="Picture 21"/>
          <p:cNvPicPr>
            <a:picLocks noChangeAspect="1"/>
          </p:cNvPicPr>
          <p:nvPr/>
        </p:nvPicPr>
        <p:blipFill>
          <a:blip/>
          <a:stretch>
            <a:fillRect/>
          </a:stretch>
        </p:blipFill>
        <p:spPr>
          <a:xfrm>
            <a:off x="6477000" y="5270500"/>
            <a:ext cx="406400" cy="406400"/>
          </a:xfrm>
          <a:prstGeom prst="rect">
            <a:avLst/>
          </a:prstGeom>
        </p:spPr>
      </p:pic>
      <p:sp>
        <p:nvSpPr>
          <p:cNvPr id="22" name="AutoShape 22"/>
          <p:cNvSpPr/>
          <p:nvPr/>
        </p:nvSpPr>
        <p:spPr>
          <a:xfrm>
            <a:off x="7048500" y="5270500"/>
            <a:ext cx="4254500" cy="3556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600" b="1" i="0" u="none" strike="noStrike" kern="0">
                <a:solidFill>
                  <a:srgbClr val="004D40"/>
                </a:solidFill>
                <a:latin typeface="Noto Sans SC"/>
                <a:ea typeface="Noto Sans SC"/>
                <a:cs typeface="Noto Sans SC"/>
                <a:sym typeface="Noto Sans SC"/>
              </a:rPr>
              <a:t>深挖存量用户价值</a:t>
            </a:r>
            <a:endParaRPr lang="en-US" sz="1600" b="1" i="0" u="none" strike="noStrike" kern="0">
              <a:solidFill>
                <a:srgbClr val="004D40"/>
              </a:solidFill>
              <a:latin typeface="Noto Sans SC"/>
              <a:ea typeface="Noto Sans SC"/>
              <a:cs typeface="Noto Sans SC"/>
              <a:sym typeface="Noto Sans SC"/>
            </a:endParaRPr>
          </a:p>
        </p:txBody>
      </p:sp>
      <p:sp>
        <p:nvSpPr>
          <p:cNvPr id="23" name="AutoShape 23"/>
          <p:cNvSpPr/>
          <p:nvPr/>
        </p:nvSpPr>
        <p:spPr>
          <a:xfrm>
            <a:off x="7048500" y="5715000"/>
            <a:ext cx="4254500" cy="762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08000"/>
              </a:lnSpc>
              <a:spcBef>
                <a:spcPts val="0"/>
              </a:spcBef>
              <a:spcAft>
                <a:spcPts val="0"/>
              </a:spcAft>
              <a:defRPr/>
            </a:pPr>
            <a:r>
              <a:rPr lang="en-US" sz="1300" b="0" i="0" u="none" strike="noStrike" kern="0">
                <a:solidFill>
                  <a:srgbClr val="4B4B4B"/>
                </a:solidFill>
                <a:latin typeface="Noto Sans SC"/>
                <a:ea typeface="Noto Sans SC"/>
                <a:cs typeface="Noto Sans SC"/>
                <a:sym typeface="Noto Sans SC"/>
              </a:rPr>
              <a:t>通过交叉销售、增值服务拓展及会员体系升级，挖掘单客价值，提升用户ARPU值与生命周期总价值(LTV)，释放存量市场潜力。</a:t>
            </a:r>
            <a:endParaRPr lang="en-US" sz="1300" b="0" i="0" u="none" strike="noStrike" kern="0">
              <a:solidFill>
                <a:srgbClr val="4B4B4B"/>
              </a:solidFill>
              <a:latin typeface="Noto Sans SC"/>
              <a:ea typeface="Noto Sans SC"/>
              <a:cs typeface="Noto Sans SC"/>
              <a:sym typeface="Noto Sans SC"/>
            </a:endParaRPr>
          </a:p>
        </p:txBody>
      </p:sp>
      <p:sp>
        <p:nvSpPr>
          <p:cNvPr id="24" name="AutoShape 24"/>
          <p:cNvSpPr/>
          <p:nvPr/>
        </p:nvSpPr>
        <p:spPr>
          <a:xfrm>
            <a:off x="297180" y="6520815"/>
            <a:ext cx="2540000" cy="254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200" b="0" i="0" u="none" strike="noStrike" kern="0">
                <a:solidFill>
                  <a:srgbClr val="666666"/>
                </a:solidFill>
                <a:latin typeface="方正仿宋简体" panose="03000509000000000000" charset="-122"/>
                <a:ea typeface="方正仿宋简体" panose="03000509000000000000" charset="-122"/>
                <a:cs typeface="Noto Sans SC"/>
                <a:sym typeface="Noto Sans SC"/>
              </a:rPr>
              <a:t>竞聘演讲</a:t>
            </a:r>
            <a:endParaRPr lang="en-US" sz="1200" b="0" i="0" u="none" strike="noStrike" kern="0">
              <a:solidFill>
                <a:srgbClr val="666666"/>
              </a:solidFill>
              <a:latin typeface="方正仿宋简体" panose="03000509000000000000" charset="-122"/>
              <a:ea typeface="方正仿宋简体" panose="03000509000000000000" charset="-122"/>
              <a:cs typeface="Noto Sans SC"/>
              <a:sym typeface="Noto Sans SC"/>
            </a:endParaRPr>
          </a:p>
        </p:txBody>
      </p:sp>
      <p:sp>
        <p:nvSpPr>
          <p:cNvPr id="25" name="AutoShape 25"/>
          <p:cNvSpPr/>
          <p:nvPr/>
        </p:nvSpPr>
        <p:spPr>
          <a:xfrm>
            <a:off x="10339070" y="6413500"/>
            <a:ext cx="1270000" cy="254000"/>
          </a:xfrm>
          <a:prstGeom prst="rect">
            <a:avLst/>
          </a:prstGeom>
          <a:noFill/>
          <a:ln w="12700" cap="flat" cmpd="sng">
            <a:noFill/>
            <a:prstDash val="solid"/>
            <a:round/>
          </a:ln>
        </p:spPr>
        <p:txBody>
          <a:bodyPr vert="horz" wrap="square" lIns="0" tIns="0" rIns="0" bIns="0" rtlCol="0" anchor="ctr" anchorCtr="0"/>
          <a:lstStyle/>
          <a:p>
            <a:pPr marL="0" indent="0" algn="r" defTabSz="914400">
              <a:lnSpc>
                <a:spcPct val="125000"/>
              </a:lnSpc>
              <a:spcBef>
                <a:spcPts val="0"/>
              </a:spcBef>
              <a:spcAft>
                <a:spcPts val="0"/>
              </a:spcAft>
              <a:defRPr/>
            </a:pPr>
            <a:r>
              <a:rPr lang="en-US" sz="1200" b="0" i="0" u="none" strike="noStrike" kern="0">
                <a:solidFill>
                  <a:srgbClr val="666666"/>
                </a:solidFill>
                <a:latin typeface="Times New Roman" panose="02020603050405020304" charset="0"/>
                <a:ea typeface="Noto Sans SC"/>
                <a:cs typeface="Times New Roman" panose="02020603050405020304" charset="0"/>
                <a:sym typeface="Noto Sans SC"/>
              </a:rPr>
              <a:t>5</a:t>
            </a:r>
            <a:endParaRPr lang="en-US" sz="1200" b="0" i="0" u="none" strike="noStrike" kern="0">
              <a:solidFill>
                <a:srgbClr val="666666"/>
              </a:solidFill>
              <a:latin typeface="Times New Roman" panose="02020603050405020304" charset="0"/>
              <a:ea typeface="Noto Sans SC"/>
              <a:cs typeface="Times New Roman" panose="02020603050405020304" charset="0"/>
              <a:sym typeface="Noto Sans SC"/>
            </a:endParaRPr>
          </a:p>
        </p:txBody>
      </p:sp>
    </p:spTree>
  </p:cSld>
  <p:clrMapOvr>
    <a:masterClrMapping/>
  </p:clrMapOvr>
  <mc:AlternateContent xmlns:mc="http://schemas.openxmlformats.org/markup-compatibility/2006">
    <mc:Choice xmlns:p14="http://schemas.microsoft.com/office/powerpoint/2010/main" Requires="p14">
      <p:transition spd="slow" p14:dur="1500" advTm="2588">
        <p:blinds dir="vert"/>
      </p:transition>
    </mc:Choice>
    <mc:Fallback>
      <p:transition spd="slow" advTm="2588">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3600" b="0"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核心成果与价值</a:t>
            </a:r>
            <a:endParaRPr lang="en-US" sz="3600" b="0"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nvSpPr>
        <p:spPr>
          <a:xfrm>
            <a:off x="4826000" y="2032000"/>
            <a:ext cx="6604000" cy="1587500"/>
          </a:xfrm>
          <a:prstGeom prst="roundRect">
            <a:avLst>
              <a:gd name="adj" fmla="val 0"/>
            </a:avLst>
          </a:prstGeom>
          <a:solidFill>
            <a:srgbClr val="004D40">
              <a:alpha val="6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pic>
        <p:nvPicPr>
          <p:cNvPr id="6" name="Picture 6"/>
          <p:cNvPicPr>
            <a:picLocks noChangeAspect="1"/>
          </p:cNvPicPr>
          <p:nvPr/>
        </p:nvPicPr>
        <p:blipFill>
          <a:blip/>
          <a:stretch>
            <a:fillRect/>
          </a:stretch>
        </p:blipFill>
        <p:spPr>
          <a:xfrm>
            <a:off x="5080000" y="2222500"/>
            <a:ext cx="406400" cy="406400"/>
          </a:xfrm>
          <a:prstGeom prst="rect">
            <a:avLst/>
          </a:prstGeom>
        </p:spPr>
      </p:pic>
      <p:sp>
        <p:nvSpPr>
          <p:cNvPr id="7" name="AutoShape 7"/>
          <p:cNvSpPr/>
          <p:nvPr/>
        </p:nvSpPr>
        <p:spPr>
          <a:xfrm>
            <a:off x="5651500" y="2235200"/>
            <a:ext cx="5715000" cy="381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量化成果：用户规模跨越式增长</a:t>
            </a:r>
            <a:endParaRPr lang="en-US" sz="1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AutoShape 8"/>
          <p:cNvSpPr/>
          <p:nvPr/>
        </p:nvSpPr>
        <p:spPr>
          <a:xfrm>
            <a:off x="5080000" y="2730500"/>
            <a:ext cx="6096000" cy="8255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08000"/>
              </a:lnSpc>
              <a:spcBef>
                <a:spcPts val="0"/>
              </a:spcBef>
              <a:spcAft>
                <a:spcPts val="0"/>
              </a:spcAft>
              <a:defRPr/>
            </a:pPr>
            <a:r>
              <a:rPr lang="en-US" sz="14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通过精细化运营与全渠道发力，成功实现年度活跃用户规模提升 </a:t>
            </a:r>
            <a:r>
              <a:rPr lang="en-US" sz="14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40%</a:t>
            </a:r>
            <a:r>
              <a:rPr lang="en-US" sz="14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rPr>
              <a:t>，有效突破增长瓶颈，验证了业务模式的强劲生命力与市场潜力。</a:t>
            </a:r>
            <a:endParaRPr lang="en-US" sz="14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AutoShape 9"/>
          <p:cNvSpPr/>
          <p:nvPr/>
        </p:nvSpPr>
        <p:spPr>
          <a:xfrm>
            <a:off x="4826000" y="3873500"/>
            <a:ext cx="6604000" cy="2159000"/>
          </a:xfrm>
          <a:prstGeom prst="roundRect">
            <a:avLst>
              <a:gd name="adj" fmla="val 0"/>
            </a:avLst>
          </a:prstGeom>
          <a:solidFill>
            <a:srgbClr val="004D40">
              <a:alpha val="6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pic>
        <p:nvPicPr>
          <p:cNvPr id="10" name="Picture 10"/>
          <p:cNvPicPr>
            <a:picLocks noChangeAspect="1"/>
          </p:cNvPicPr>
          <p:nvPr/>
        </p:nvPicPr>
        <p:blipFill>
          <a:blip/>
          <a:stretch>
            <a:fillRect/>
          </a:stretch>
        </p:blipFill>
        <p:spPr>
          <a:xfrm>
            <a:off x="5080000" y="4064000"/>
            <a:ext cx="406400" cy="406400"/>
          </a:xfrm>
          <a:prstGeom prst="rect">
            <a:avLst/>
          </a:prstGeom>
        </p:spPr>
      </p:pic>
      <p:sp>
        <p:nvSpPr>
          <p:cNvPr id="11" name="AutoShape 11"/>
          <p:cNvSpPr/>
          <p:nvPr/>
        </p:nvSpPr>
        <p:spPr>
          <a:xfrm>
            <a:off x="5651500" y="4076700"/>
            <a:ext cx="5715000" cy="381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战略价值：构建长效增长底盘</a:t>
            </a:r>
            <a:endParaRPr lang="en-US" sz="1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AutoShape 12"/>
          <p:cNvSpPr/>
          <p:nvPr/>
        </p:nvSpPr>
        <p:spPr>
          <a:xfrm>
            <a:off x="5080000" y="4572000"/>
            <a:ext cx="6096000" cy="1397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17000"/>
              </a:lnSpc>
              <a:spcBef>
                <a:spcPts val="0"/>
              </a:spcBef>
              <a:spcAft>
                <a:spcPts val="0"/>
              </a:spcAft>
              <a:defRPr/>
            </a:pPr>
            <a:r>
              <a:rPr lang="en-US" sz="14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400" b="1"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rPr>
              <a:t>闭环打通：</a:t>
            </a:r>
            <a:r>
              <a:rPr lang="en-US" sz="14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rPr>
              <a:t>构建了从引流获客、转化激活到留存复购的完整运营闭环，沉淀出一套可复制的标准化增长模型。</a:t>
            </a:r>
            <a:endParaRPr lang="en-US" sz="1100" kern="0">
              <a:solidFill>
                <a:srgbClr val="000000"/>
              </a:solidFill>
              <a:latin typeface="Arial" panose="020B0604020202020204"/>
              <a:ea typeface="Arial" panose="020B0604020202020204"/>
              <a:cs typeface="Arial" panose="020B0604020202020204"/>
              <a:sym typeface="Arial" panose="020B0604020202020204"/>
            </a:endParaRPr>
          </a:p>
          <a:p>
            <a:pPr marL="0" indent="0" algn="l" defTabSz="914400">
              <a:lnSpc>
                <a:spcPct val="117000"/>
              </a:lnSpc>
              <a:spcBef>
                <a:spcPts val="0"/>
              </a:spcBef>
              <a:spcAft>
                <a:spcPts val="0"/>
              </a:spcAft>
            </a:pPr>
            <a:r>
              <a:rPr lang="en-US" sz="14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400" b="1"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rPr>
              <a:t>价值沉淀：</a:t>
            </a:r>
            <a:r>
              <a:rPr lang="en-US" sz="14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rPr>
              <a:t>夯实了业务的用户基本盘，为后续的商业化变现、产品生态扩展及品牌影响力提升奠定了坚实的用户基础与数据支撑。</a:t>
            </a:r>
            <a:endParaRPr lang="en-US" sz="14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AutoShape 13"/>
          <p:cNvSpPr/>
          <p:nvPr/>
        </p:nvSpPr>
        <p:spPr>
          <a:xfrm>
            <a:off x="762000" y="6223000"/>
            <a:ext cx="10668000" cy="12700"/>
          </a:xfrm>
          <a:prstGeom prst="roundRect">
            <a:avLst>
              <a:gd name="adj" fmla="val 0"/>
            </a:avLst>
          </a:prstGeom>
          <a:solidFill>
            <a:srgbClr val="004D40">
              <a:alpha val="20000"/>
            </a:srgbClr>
          </a:solidFill>
          <a:ln w="25400" cap="flat" cmpd="sng">
            <a:noFill/>
            <a:prstDash val="solid"/>
            <a:round/>
          </a:ln>
        </p:spPr>
        <p:txBody>
          <a:bodyPr vert="horz" wrap="square" lIns="0" tIns="0" rIns="0" bIns="0" rtlCol="0" anchor="ctr" anchorCtr="0"/>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4" name="AutoShape 14"/>
          <p:cNvSpPr/>
          <p:nvPr/>
        </p:nvSpPr>
        <p:spPr>
          <a:xfrm>
            <a:off x="762000" y="6413500"/>
            <a:ext cx="2540000" cy="254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200" b="0" i="0" u="none" strike="noStrike" kern="0">
                <a:solidFill>
                  <a:srgbClr val="666666"/>
                </a:solidFill>
                <a:latin typeface="方正仿宋简体" panose="03000509000000000000" charset="-122"/>
                <a:ea typeface="方正仿宋简体" panose="03000509000000000000" charset="-122"/>
                <a:cs typeface="Noto Sans SC"/>
                <a:sym typeface="Noto Sans SC"/>
              </a:rPr>
              <a:t>竞聘演讲</a:t>
            </a:r>
            <a:endParaRPr lang="en-US" sz="1200" b="0" i="0" u="none" strike="noStrike" kern="0">
              <a:solidFill>
                <a:srgbClr val="666666"/>
              </a:solidFill>
              <a:latin typeface="方正仿宋简体" panose="03000509000000000000" charset="-122"/>
              <a:ea typeface="方正仿宋简体" panose="03000509000000000000" charset="-122"/>
              <a:cs typeface="Noto Sans SC"/>
              <a:sym typeface="Noto Sans SC"/>
            </a:endParaRPr>
          </a:p>
        </p:txBody>
      </p:sp>
      <p:sp>
        <p:nvSpPr>
          <p:cNvPr id="15" name="AutoShape 15"/>
          <p:cNvSpPr/>
          <p:nvPr/>
        </p:nvSpPr>
        <p:spPr>
          <a:xfrm>
            <a:off x="10160000" y="6413500"/>
            <a:ext cx="1270000" cy="254000"/>
          </a:xfrm>
          <a:prstGeom prst="rect">
            <a:avLst/>
          </a:prstGeom>
          <a:noFill/>
          <a:ln w="12700" cap="flat" cmpd="sng">
            <a:noFill/>
            <a:prstDash val="solid"/>
            <a:round/>
          </a:ln>
        </p:spPr>
        <p:txBody>
          <a:bodyPr vert="horz" wrap="square" lIns="0" tIns="0" rIns="0" bIns="0" rtlCol="0" anchor="ctr" anchorCtr="0"/>
          <a:lstStyle/>
          <a:p>
            <a:pPr marL="0" indent="0" algn="r" defTabSz="914400">
              <a:lnSpc>
                <a:spcPct val="125000"/>
              </a:lnSpc>
              <a:spcBef>
                <a:spcPts val="0"/>
              </a:spcBef>
              <a:spcAft>
                <a:spcPts val="0"/>
              </a:spcAft>
              <a:defRPr/>
            </a:pPr>
            <a:r>
              <a:rPr lang="en-US" sz="1200" b="0" i="0" u="none" strike="noStrike" kern="0">
                <a:solidFill>
                  <a:srgbClr val="666666"/>
                </a:solidFill>
                <a:latin typeface="Times New Roman" panose="02020603050405020304" charset="0"/>
                <a:ea typeface="Noto Sans SC"/>
                <a:cs typeface="Times New Roman" panose="02020603050405020304" charset="0"/>
                <a:sym typeface="Noto Sans SC"/>
              </a:rPr>
              <a:t>6</a:t>
            </a:r>
            <a:endParaRPr lang="en-US" sz="1200" b="0" i="0" u="none" strike="noStrike" kern="0">
              <a:solidFill>
                <a:srgbClr val="666666"/>
              </a:solidFill>
              <a:latin typeface="Times New Roman" panose="02020603050405020304" charset="0"/>
              <a:ea typeface="Noto Sans SC"/>
              <a:cs typeface="Times New Roman" panose="02020603050405020304" charset="0"/>
              <a:sym typeface="Noto Sans SC"/>
            </a:endParaRPr>
          </a:p>
        </p:txBody>
      </p:sp>
    </p:spTree>
  </p:cSld>
  <p:clrMapOvr>
    <a:masterClrMapping/>
  </p:clrMapOvr>
  <mc:AlternateContent xmlns:mc="http://schemas.openxmlformats.org/markup-compatibility/2006">
    <mc:Choice xmlns:p14="http://schemas.microsoft.com/office/powerpoint/2010/main" Requires="p14">
      <p:transition spd="slow" p14:dur="1500" advTm="3111">
        <p:blinds dir="vert"/>
      </p:transition>
    </mc:Choice>
    <mc:Fallback>
      <p:transition spd="slow" advTm="3111">
        <p:blinds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AutoShape 3"/>
          <p:cNvSpPr/>
          <p:nvPr/>
        </p:nvSpPr>
        <p:spPr>
          <a:xfrm>
            <a:off x="0" y="2476500"/>
            <a:ext cx="12192000" cy="1905000"/>
          </a:xfrm>
          <a:prstGeom prst="rect">
            <a:avLst/>
          </a:prstGeom>
          <a:noFill/>
          <a:ln w="12700" cap="flat" cmpd="sng">
            <a:noFill/>
            <a:prstDash val="solid"/>
            <a:round/>
          </a:ln>
        </p:spPr>
        <p:txBody>
          <a:bodyPr vert="horz" wrap="square" lIns="0" tIns="0" rIns="0" bIns="0" rtlCol="0" anchor="ctr" anchorCtr="0"/>
          <a:lstStyle/>
          <a:p>
            <a:pPr marL="0" algn="ctr" defTabSz="914400">
              <a:lnSpc>
                <a:spcPct val="125000"/>
              </a:lnSpc>
              <a:spcBef>
                <a:spcPts val="0"/>
              </a:spcBef>
              <a:spcAft>
                <a:spcPts val="0"/>
              </a:spcAft>
              <a:buSzTx/>
              <a:defRPr/>
            </a:pPr>
            <a:r>
              <a:rPr lang="en-US" sz="4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未来工作规划与目标</a:t>
            </a:r>
            <a:endParaRPr lang="en-US" sz="4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nvSpPr>
        <p:spPr>
          <a:xfrm>
            <a:off x="508000" y="6223000"/>
            <a:ext cx="2540000" cy="381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400" b="0" i="0" u="none" strike="noStrike" kern="0">
                <a:solidFill>
                  <a:schemeClr val="tx1">
                    <a:alpha val="85098"/>
                  </a:schemeClr>
                </a:solidFill>
                <a:latin typeface="方正仿宋简体" panose="03000509000000000000" charset="-122"/>
                <a:ea typeface="方正仿宋简体" panose="03000509000000000000" charset="-122"/>
                <a:cs typeface="Noto Sans SC"/>
                <a:sym typeface="Noto Sans SC"/>
              </a:rPr>
              <a:t>竞聘演讲</a:t>
            </a:r>
            <a:endParaRPr lang="en-US" sz="1400" b="0" i="0" u="none" strike="noStrike" kern="0">
              <a:solidFill>
                <a:schemeClr val="tx1">
                  <a:alpha val="85098"/>
                </a:schemeClr>
              </a:solidFill>
              <a:latin typeface="方正仿宋简体" panose="03000509000000000000" charset="-122"/>
              <a:ea typeface="方正仿宋简体" panose="03000509000000000000" charset="-122"/>
              <a:cs typeface="Noto Sans SC"/>
              <a:sym typeface="Noto Sans SC"/>
            </a:endParaRPr>
          </a:p>
        </p:txBody>
      </p:sp>
      <p:sp>
        <p:nvSpPr>
          <p:cNvPr id="5" name="AutoShape 5"/>
          <p:cNvSpPr/>
          <p:nvPr/>
        </p:nvSpPr>
        <p:spPr>
          <a:xfrm>
            <a:off x="10414000" y="6223000"/>
            <a:ext cx="1270000" cy="381000"/>
          </a:xfrm>
          <a:prstGeom prst="rect">
            <a:avLst/>
          </a:prstGeom>
          <a:noFill/>
          <a:ln w="12700" cap="flat" cmpd="sng">
            <a:noFill/>
            <a:prstDash val="solid"/>
            <a:round/>
          </a:ln>
        </p:spPr>
        <p:txBody>
          <a:bodyPr vert="horz" wrap="square" lIns="0" tIns="0" rIns="0" bIns="0" rtlCol="0" anchor="ctr" anchorCtr="0"/>
          <a:lstStyle/>
          <a:p>
            <a:pPr marL="0" indent="0" algn="r" defTabSz="914400">
              <a:lnSpc>
                <a:spcPct val="125000"/>
              </a:lnSpc>
              <a:spcBef>
                <a:spcPts val="0"/>
              </a:spcBef>
              <a:spcAft>
                <a:spcPts val="0"/>
              </a:spcAft>
              <a:defRPr/>
            </a:pPr>
            <a:r>
              <a:rPr lang="en-US" sz="1400" b="0" i="0" u="none" strike="noStrike" kern="0">
                <a:solidFill>
                  <a:schemeClr val="tx1">
                    <a:alpha val="85098"/>
                  </a:schemeClr>
                </a:solidFill>
                <a:latin typeface="Times New Roman" panose="02020603050405020304" charset="0"/>
                <a:ea typeface="Noto Sans SC"/>
                <a:cs typeface="Times New Roman" panose="02020603050405020304" charset="0"/>
                <a:sym typeface="Noto Sans SC"/>
              </a:rPr>
              <a:t>7</a:t>
            </a:r>
            <a:endParaRPr lang="en-US" sz="1400" b="0" i="0" u="none" strike="noStrike" kern="0">
              <a:solidFill>
                <a:schemeClr val="tx1">
                  <a:alpha val="85098"/>
                </a:schemeClr>
              </a:solidFill>
              <a:latin typeface="Times New Roman" panose="02020603050405020304" charset="0"/>
              <a:ea typeface="Noto Sans SC"/>
              <a:cs typeface="Times New Roman" panose="02020603050405020304" charset="0"/>
              <a:sym typeface="Noto Sans SC"/>
            </a:endParaRPr>
          </a:p>
        </p:txBody>
      </p:sp>
    </p:spTree>
  </p:cSld>
  <p:clrMapOvr>
    <a:masterClrMapping/>
  </p:clrMapOvr>
  <mc:AlternateContent xmlns:mc="http://schemas.openxmlformats.org/markup-compatibility/2006">
    <mc:Choice xmlns:p14="http://schemas.microsoft.com/office/powerpoint/2010/main" Requires="p14">
      <p:transition spd="slow" p14:dur="1500" advTm="2946">
        <p:blinds dir="vert"/>
      </p:transition>
    </mc:Choice>
    <mc:Fallback>
      <p:transition spd="slow" advTm="2946">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3600" b="0"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核心目标与三大举措</a:t>
            </a:r>
            <a:endParaRPr lang="en-US" sz="3600" b="0" i="0" u="none" strike="noStrike" kern="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nvSpPr>
        <p:spPr>
          <a:xfrm>
            <a:off x="762000" y="1651000"/>
            <a:ext cx="10668000" cy="1206500"/>
          </a:xfrm>
          <a:prstGeom prst="roundRect">
            <a:avLst>
              <a:gd name="adj" fmla="val 0"/>
            </a:avLst>
          </a:prstGeom>
          <a:solidFill>
            <a:srgbClr val="004D40">
              <a:alpha val="8000"/>
            </a:srgbClr>
          </a:solidFill>
          <a:ln w="12700" cap="flat" cmpd="sng">
            <a:solidFill>
              <a:srgbClr val="004D40">
                <a:alpha val="20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AutoShape 5"/>
          <p:cNvSpPr/>
          <p:nvPr/>
        </p:nvSpPr>
        <p:spPr>
          <a:xfrm>
            <a:off x="952500" y="1803400"/>
            <a:ext cx="10287000" cy="1016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17000"/>
              </a:lnSpc>
              <a:spcBef>
                <a:spcPts val="0"/>
              </a:spcBef>
              <a:spcAft>
                <a:spcPts val="0"/>
              </a:spcAft>
              <a:defRPr/>
            </a:pPr>
            <a:r>
              <a:rPr lang="en-US" sz="16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核心目标：</a:t>
            </a:r>
            <a:r>
              <a:rPr lang="en-US" sz="1600" b="0" i="0" u="none" strike="noStrike" kern="0">
                <a:solidFill>
                  <a:srgbClr val="1F2329"/>
                </a:solidFill>
                <a:latin typeface="Noto Sans SC"/>
                <a:ea typeface="Noto Sans SC"/>
                <a:cs typeface="Noto Sans SC"/>
                <a:sym typeface="Noto Sans SC"/>
              </a:rPr>
              <a:t> </a:t>
            </a:r>
            <a:r>
              <a:rPr lang="en-US" sz="15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rPr>
              <a:t>推动运营模式从“经验驱动”向“数据驱动”全面转型，构建高效智能的运营体系，通过精准策略与资源优化，力争在</a:t>
            </a:r>
            <a:r>
              <a:rPr lang="en-US" sz="1600" b="0" i="0" u="none" strike="noStrike" kern="0">
                <a:solidFill>
                  <a:srgbClr val="1F2329"/>
                </a:solidFill>
                <a:latin typeface="Noto Sans SC"/>
                <a:ea typeface="Noto Sans SC"/>
                <a:cs typeface="Noto Sans SC"/>
                <a:sym typeface="Noto Sans SC"/>
              </a:rPr>
              <a:t> </a:t>
            </a:r>
            <a:r>
              <a:rPr lang="en-US" sz="1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半年内实现整体ROI提升20%</a:t>
            </a:r>
            <a:r>
              <a:rPr lang="en-US" sz="1600" b="0" i="0" u="none" strike="noStrike" kern="0">
                <a:solidFill>
                  <a:srgbClr val="1F2329"/>
                </a:solidFill>
                <a:latin typeface="Noto Sans SC"/>
                <a:ea typeface="Noto Sans SC"/>
                <a:cs typeface="Noto Sans SC"/>
                <a:sym typeface="Noto Sans SC"/>
              </a:rPr>
              <a:t> </a:t>
            </a:r>
            <a:r>
              <a:rPr lang="en-US" sz="15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rPr>
              <a:t>，实现业务增长与效率提升的双赢。</a:t>
            </a:r>
            <a:endParaRPr lang="en-US" sz="1500" b="0" i="0" u="none" strike="noStrike" kern="0">
              <a:solidFill>
                <a:srgbClr val="44444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4445000" y="3111500"/>
            <a:ext cx="6731000" cy="1041400"/>
          </a:xfrm>
          <a:prstGeom prst="roundRect">
            <a:avLst>
              <a:gd name="adj" fmla="val 0"/>
            </a:avLst>
          </a:prstGeom>
          <a:solidFill>
            <a:srgbClr val="FFFFFF">
              <a:alpha val="65000"/>
            </a:srgbClr>
          </a:solidFill>
          <a:ln w="12700" cap="flat" cmpd="sng">
            <a:solidFill>
              <a:srgbClr val="004D40">
                <a:alpha val="15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pic>
        <p:nvPicPr>
          <p:cNvPr id="8" name="Picture 8"/>
          <p:cNvPicPr>
            <a:picLocks noChangeAspect="1"/>
          </p:cNvPicPr>
          <p:nvPr/>
        </p:nvPicPr>
        <p:blipFill>
          <a:blip/>
          <a:stretch>
            <a:fillRect/>
          </a:stretch>
        </p:blipFill>
        <p:spPr>
          <a:xfrm>
            <a:off x="4635500" y="3302000"/>
            <a:ext cx="406400" cy="406400"/>
          </a:xfrm>
          <a:prstGeom prst="rect">
            <a:avLst/>
          </a:prstGeom>
        </p:spPr>
      </p:pic>
      <p:sp>
        <p:nvSpPr>
          <p:cNvPr id="9" name="AutoShape 9"/>
          <p:cNvSpPr/>
          <p:nvPr/>
        </p:nvSpPr>
        <p:spPr>
          <a:xfrm>
            <a:off x="5207000" y="3200400"/>
            <a:ext cx="5842000" cy="889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00000"/>
              </a:lnSpc>
              <a:spcBef>
                <a:spcPts val="0"/>
              </a:spcBef>
              <a:spcAft>
                <a:spcPts val="0"/>
              </a:spcAft>
              <a:defRPr/>
            </a:pPr>
            <a:r>
              <a:rPr lang="en-US" sz="16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01 搭建全链路数据反馈闭环</a:t>
            </a:r>
            <a:endParaRPr lang="en-US" sz="1100" kern="0">
              <a:solidFill>
                <a:srgbClr val="000000"/>
              </a:solidFill>
              <a:latin typeface="Arial" panose="020B0604020202020204"/>
              <a:ea typeface="Arial" panose="020B0604020202020204"/>
              <a:cs typeface="Arial" panose="020B0604020202020204"/>
              <a:sym typeface="Arial" panose="020B0604020202020204"/>
            </a:endParaRPr>
          </a:p>
          <a:p>
            <a:pPr marL="0" indent="0" algn="l" defTabSz="914400">
              <a:lnSpc>
                <a:spcPct val="108000"/>
              </a:lnSpc>
              <a:spcBef>
                <a:spcPts val="0"/>
              </a:spcBef>
              <a:spcAft>
                <a:spcPts val="0"/>
              </a:spcAft>
            </a:pPr>
            <a:r>
              <a:rPr lang="en-US" sz="13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打通数据采集、清洗、分析与应用的全流程链路，建立“日监测、周复盘、月沉淀”的常态化机制，确保数据从业务中来、到业务中去，形成闭环迭代的良性循环。</a:t>
            </a:r>
            <a:endParaRPr lang="en-US" sz="13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AutoShape 10"/>
          <p:cNvSpPr/>
          <p:nvPr/>
        </p:nvSpPr>
        <p:spPr>
          <a:xfrm>
            <a:off x="4445000" y="4229100"/>
            <a:ext cx="6731000" cy="1041400"/>
          </a:xfrm>
          <a:prstGeom prst="roundRect">
            <a:avLst>
              <a:gd name="adj" fmla="val 0"/>
            </a:avLst>
          </a:prstGeom>
          <a:solidFill>
            <a:srgbClr val="FFFFFF">
              <a:alpha val="65000"/>
            </a:srgbClr>
          </a:solidFill>
          <a:ln w="12700" cap="flat" cmpd="sng">
            <a:solidFill>
              <a:srgbClr val="004D40">
                <a:alpha val="15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pic>
        <p:nvPicPr>
          <p:cNvPr id="11" name="Picture 11"/>
          <p:cNvPicPr>
            <a:picLocks noChangeAspect="1"/>
          </p:cNvPicPr>
          <p:nvPr/>
        </p:nvPicPr>
        <p:blipFill>
          <a:blip/>
          <a:stretch>
            <a:fillRect/>
          </a:stretch>
        </p:blipFill>
        <p:spPr>
          <a:xfrm>
            <a:off x="4635500" y="4419600"/>
            <a:ext cx="406400" cy="406400"/>
          </a:xfrm>
          <a:prstGeom prst="rect">
            <a:avLst/>
          </a:prstGeom>
        </p:spPr>
      </p:pic>
      <p:sp>
        <p:nvSpPr>
          <p:cNvPr id="12" name="AutoShape 12"/>
          <p:cNvSpPr/>
          <p:nvPr/>
        </p:nvSpPr>
        <p:spPr>
          <a:xfrm>
            <a:off x="5207000" y="4318000"/>
            <a:ext cx="5842000" cy="889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00000"/>
              </a:lnSpc>
              <a:spcBef>
                <a:spcPts val="0"/>
              </a:spcBef>
              <a:spcAft>
                <a:spcPts val="0"/>
              </a:spcAft>
              <a:defRPr/>
            </a:pPr>
            <a:r>
              <a:rPr lang="en-US" sz="16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02 数据驱动资源优化与策略迭代</a:t>
            </a:r>
            <a:endParaRPr lang="en-US" sz="1100" kern="0">
              <a:solidFill>
                <a:srgbClr val="000000"/>
              </a:solidFill>
              <a:latin typeface="Arial" panose="020B0604020202020204"/>
              <a:ea typeface="Arial" panose="020B0604020202020204"/>
              <a:cs typeface="Arial" panose="020B0604020202020204"/>
              <a:sym typeface="Arial" panose="020B0604020202020204"/>
            </a:endParaRPr>
          </a:p>
          <a:p>
            <a:pPr marL="0" indent="0" algn="l" defTabSz="914400">
              <a:lnSpc>
                <a:spcPct val="108000"/>
              </a:lnSpc>
              <a:spcBef>
                <a:spcPts val="0"/>
              </a:spcBef>
              <a:spcAft>
                <a:spcPts val="0"/>
              </a:spcAft>
            </a:pPr>
            <a:r>
              <a:rPr lang="en-US" sz="13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基于数据转化率与投入产出比动态调整渠道与投放资源；建立标准化A/B测试体系，快速验证创意、人群与策略效果，精准聚焦高ROI动作，淘汰低效资源浪费。</a:t>
            </a:r>
            <a:endParaRPr lang="en-US" sz="13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AutoShape 13"/>
          <p:cNvSpPr/>
          <p:nvPr/>
        </p:nvSpPr>
        <p:spPr>
          <a:xfrm>
            <a:off x="4445000" y="5346700"/>
            <a:ext cx="6731000" cy="1041400"/>
          </a:xfrm>
          <a:prstGeom prst="roundRect">
            <a:avLst>
              <a:gd name="adj" fmla="val 0"/>
            </a:avLst>
          </a:prstGeom>
          <a:solidFill>
            <a:srgbClr val="FFFFFF">
              <a:alpha val="65000"/>
            </a:srgbClr>
          </a:solidFill>
          <a:ln w="12700" cap="flat" cmpd="sng">
            <a:solidFill>
              <a:srgbClr val="004D40">
                <a:alpha val="15000"/>
              </a:srgbClr>
            </a:solid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pic>
        <p:nvPicPr>
          <p:cNvPr id="14" name="Picture 14"/>
          <p:cNvPicPr>
            <a:picLocks noChangeAspect="1"/>
          </p:cNvPicPr>
          <p:nvPr/>
        </p:nvPicPr>
        <p:blipFill>
          <a:blip/>
          <a:stretch>
            <a:fillRect/>
          </a:stretch>
        </p:blipFill>
        <p:spPr>
          <a:xfrm>
            <a:off x="4635500" y="5537200"/>
            <a:ext cx="406400" cy="406400"/>
          </a:xfrm>
          <a:prstGeom prst="rect">
            <a:avLst/>
          </a:prstGeom>
        </p:spPr>
      </p:pic>
      <p:sp>
        <p:nvSpPr>
          <p:cNvPr id="15" name="AutoShape 15"/>
          <p:cNvSpPr/>
          <p:nvPr/>
        </p:nvSpPr>
        <p:spPr>
          <a:xfrm>
            <a:off x="5207000" y="5435600"/>
            <a:ext cx="5842000" cy="889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00000"/>
              </a:lnSpc>
              <a:spcBef>
                <a:spcPts val="0"/>
              </a:spcBef>
              <a:spcAft>
                <a:spcPts val="0"/>
              </a:spcAft>
              <a:defRPr/>
            </a:pPr>
            <a:r>
              <a:rPr lang="en-US" sz="16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03 赋能业务提质增效与决策升级</a:t>
            </a:r>
            <a:endParaRPr lang="en-US" sz="1100" kern="0">
              <a:solidFill>
                <a:srgbClr val="000000"/>
              </a:solidFill>
              <a:latin typeface="Arial" panose="020B0604020202020204"/>
              <a:ea typeface="Arial" panose="020B0604020202020204"/>
              <a:cs typeface="Arial" panose="020B0604020202020204"/>
              <a:sym typeface="Arial" panose="020B0604020202020204"/>
            </a:endParaRPr>
          </a:p>
          <a:p>
            <a:pPr marL="0" indent="0" algn="l" defTabSz="914400">
              <a:lnSpc>
                <a:spcPct val="108000"/>
              </a:lnSpc>
              <a:spcBef>
                <a:spcPts val="0"/>
              </a:spcBef>
              <a:spcAft>
                <a:spcPts val="0"/>
              </a:spcAft>
            </a:pPr>
            <a:r>
              <a:rPr lang="en-US" sz="13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沉淀数据资产为业务决策提供科学支撑，规避经验主义偏差；引入自动化运营工具替代重复性人工操作，释放人力聚焦高价值策略规划，全面提升运营人效与响应速度。</a:t>
            </a:r>
            <a:endParaRPr lang="en-US" sz="1300" b="0" i="0" u="none" strike="noStrike" kern="0">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AutoShape 4"/>
          <p:cNvSpPr/>
          <p:nvPr/>
        </p:nvSpPr>
        <p:spPr>
          <a:xfrm>
            <a:off x="400685" y="6477000"/>
            <a:ext cx="2540000" cy="381000"/>
          </a:xfrm>
          <a:prstGeom prst="rect">
            <a:avLst/>
          </a:prstGeom>
          <a:noFill/>
          <a:ln w="12700" cap="flat" cmpd="sng">
            <a:noFill/>
            <a:prstDash val="solid"/>
            <a:round/>
          </a:ln>
        </p:spPr>
        <p:txBody>
          <a:bodyPr vert="horz" wrap="square" lIns="0" tIns="0" rIns="0" bIns="0" rtlCol="0" anchor="ctr" anchorCtr="0"/>
          <a:lstStyle/>
          <a:p>
            <a:pPr marL="0" indent="0" algn="l" defTabSz="914400">
              <a:lnSpc>
                <a:spcPct val="125000"/>
              </a:lnSpc>
              <a:spcBef>
                <a:spcPts val="0"/>
              </a:spcBef>
              <a:spcAft>
                <a:spcPts val="0"/>
              </a:spcAft>
              <a:defRPr/>
            </a:pPr>
            <a:r>
              <a:rPr lang="en-US" sz="1400" b="0" i="0" u="none" strike="noStrike" kern="0">
                <a:solidFill>
                  <a:schemeClr val="tx1">
                    <a:alpha val="85098"/>
                  </a:schemeClr>
                </a:solidFill>
                <a:latin typeface="方正仿宋简体" panose="03000509000000000000" charset="-122"/>
                <a:ea typeface="方正仿宋简体" panose="03000509000000000000" charset="-122"/>
                <a:cs typeface="Noto Sans SC"/>
                <a:sym typeface="Noto Sans SC"/>
              </a:rPr>
              <a:t>竞聘演讲</a:t>
            </a:r>
            <a:endParaRPr lang="en-US" sz="1400" b="0" i="0" u="none" strike="noStrike" kern="0">
              <a:solidFill>
                <a:schemeClr val="tx1">
                  <a:alpha val="85098"/>
                </a:schemeClr>
              </a:solidFill>
              <a:latin typeface="方正仿宋简体" panose="03000509000000000000" charset="-122"/>
              <a:ea typeface="方正仿宋简体" panose="03000509000000000000" charset="-122"/>
              <a:cs typeface="Noto Sans SC"/>
              <a:sym typeface="Noto Sans SC"/>
            </a:endParaRPr>
          </a:p>
        </p:txBody>
      </p:sp>
      <p:sp>
        <p:nvSpPr>
          <p:cNvPr id="17" name="AutoShape 5"/>
          <p:cNvSpPr/>
          <p:nvPr/>
        </p:nvSpPr>
        <p:spPr>
          <a:xfrm>
            <a:off x="10306685" y="6477000"/>
            <a:ext cx="1270000" cy="381000"/>
          </a:xfrm>
          <a:prstGeom prst="rect">
            <a:avLst/>
          </a:prstGeom>
          <a:noFill/>
          <a:ln w="12700" cap="flat" cmpd="sng">
            <a:noFill/>
            <a:prstDash val="solid"/>
            <a:round/>
          </a:ln>
        </p:spPr>
        <p:txBody>
          <a:bodyPr vert="horz" wrap="square" lIns="0" tIns="0" rIns="0" bIns="0" rtlCol="0" anchor="ctr" anchorCtr="0"/>
          <a:lstStyle/>
          <a:p>
            <a:pPr marL="0" indent="0" algn="r" defTabSz="914400">
              <a:lnSpc>
                <a:spcPct val="125000"/>
              </a:lnSpc>
              <a:spcBef>
                <a:spcPts val="0"/>
              </a:spcBef>
              <a:spcAft>
                <a:spcPts val="0"/>
              </a:spcAft>
              <a:defRPr/>
            </a:pPr>
            <a:r>
              <a:rPr lang="en-US" sz="1400" b="0" i="0" u="none" strike="noStrike" kern="0">
                <a:solidFill>
                  <a:schemeClr val="tx1">
                    <a:alpha val="85098"/>
                  </a:schemeClr>
                </a:solidFill>
                <a:latin typeface="Times New Roman" panose="02020603050405020304" charset="0"/>
                <a:ea typeface="Noto Sans SC"/>
                <a:cs typeface="Times New Roman" panose="02020603050405020304" charset="0"/>
                <a:sym typeface="Noto Sans SC"/>
              </a:rPr>
              <a:t>8</a:t>
            </a:r>
            <a:endParaRPr lang="en-US" sz="1400" b="0" i="0" u="none" strike="noStrike" kern="0">
              <a:solidFill>
                <a:schemeClr val="tx1">
                  <a:alpha val="85098"/>
                </a:schemeClr>
              </a:solidFill>
              <a:latin typeface="Times New Roman" panose="02020603050405020304" charset="0"/>
              <a:ea typeface="Noto Sans SC"/>
              <a:cs typeface="Times New Roman" panose="02020603050405020304" charset="0"/>
              <a:sym typeface="Noto Sans SC"/>
            </a:endParaRPr>
          </a:p>
        </p:txBody>
      </p:sp>
    </p:spTree>
  </p:cSld>
  <p:clrMapOvr>
    <a:masterClrMapping/>
  </p:clrMapOvr>
  <mc:AlternateContent xmlns:mc="http://schemas.openxmlformats.org/markup-compatibility/2006">
    <mc:Choice xmlns:p14="http://schemas.microsoft.com/office/powerpoint/2010/main" Requires="p14">
      <p:transition spd="slow" p14:dur="1500" advTm="2933">
        <p:blinds dir="vert"/>
      </p:transition>
    </mc:Choice>
    <mc:Fallback>
      <p:transition spd="slow" advTm="2933">
        <p:blinds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AutoShape 3"/>
          <p:cNvSpPr/>
          <p:nvPr/>
        </p:nvSpPr>
        <p:spPr>
          <a:xfrm>
            <a:off x="0" y="2413000"/>
            <a:ext cx="12192000" cy="1524000"/>
          </a:xfrm>
          <a:prstGeom prst="rect">
            <a:avLst/>
          </a:prstGeom>
          <a:noFill/>
          <a:ln w="12700" cap="flat" cmpd="sng">
            <a:noFill/>
            <a:prstDash val="solid"/>
            <a:round/>
          </a:ln>
        </p:spPr>
        <p:txBody>
          <a:bodyPr vert="horz" wrap="square" lIns="0" tIns="0" rIns="0" bIns="0" rtlCol="0" anchor="ctr" anchorCtr="0"/>
          <a:lstStyle/>
          <a:p>
            <a:pPr marL="0" algn="ctr" defTabSz="914400">
              <a:lnSpc>
                <a:spcPct val="125000"/>
              </a:lnSpc>
              <a:spcBef>
                <a:spcPts val="0"/>
              </a:spcBef>
              <a:spcAft>
                <a:spcPts val="0"/>
              </a:spcAft>
              <a:buSzTx/>
              <a:defRPr/>
            </a:pPr>
            <a:r>
              <a:rPr lang="en-US" sz="66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感谢聆听</a:t>
            </a:r>
            <a:endParaRPr lang="en-US" sz="66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nvSpPr>
        <p:spPr>
          <a:xfrm>
            <a:off x="0" y="4191000"/>
            <a:ext cx="12192000" cy="1016000"/>
          </a:xfrm>
          <a:prstGeom prst="rect">
            <a:avLst/>
          </a:prstGeom>
          <a:noFill/>
          <a:ln w="12700" cap="flat" cmpd="sng">
            <a:noFill/>
            <a:prstDash val="solid"/>
            <a:round/>
          </a:ln>
        </p:spPr>
        <p:txBody>
          <a:bodyPr vert="horz" wrap="square" lIns="0" tIns="0" rIns="0" bIns="0" rtlCol="0" anchor="ctr" anchorCtr="0"/>
          <a:lstStyle/>
          <a:p>
            <a:pPr marL="0" algn="ctr" defTabSz="914400">
              <a:lnSpc>
                <a:spcPct val="125000"/>
              </a:lnSpc>
              <a:spcBef>
                <a:spcPts val="0"/>
              </a:spcBef>
              <a:spcAft>
                <a:spcPts val="0"/>
              </a:spcAft>
              <a:buSzTx/>
              <a:defRPr/>
            </a:pPr>
            <a:r>
              <a:rPr lang="en-US" sz="1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期待与您共创未来</a:t>
            </a:r>
            <a:endParaRPr lang="en-US" sz="1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nvSpPr>
        <p:spPr>
          <a:xfrm>
            <a:off x="0" y="6223000"/>
            <a:ext cx="12192000" cy="381000"/>
          </a:xfrm>
          <a:prstGeom prst="rect">
            <a:avLst/>
          </a:prstGeom>
          <a:noFill/>
          <a:ln w="12700" cap="flat" cmpd="sng">
            <a:noFill/>
            <a:prstDash val="solid"/>
            <a:round/>
          </a:ln>
        </p:spPr>
        <p:txBody>
          <a:bodyPr vert="horz" wrap="square" lIns="0" tIns="0" rIns="0" bIns="0" rtlCol="0" anchor="ctr" anchorCtr="0"/>
          <a:lstStyle/>
          <a:p>
            <a:pPr marL="0" indent="0" algn="ctr" defTabSz="914400">
              <a:lnSpc>
                <a:spcPct val="125000"/>
              </a:lnSpc>
              <a:spcBef>
                <a:spcPts val="0"/>
              </a:spcBef>
              <a:spcAft>
                <a:spcPts val="0"/>
              </a:spcAft>
              <a:defRPr/>
            </a:pPr>
            <a:r>
              <a:rPr lang="en-US" sz="1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rPr>
              <a:t>竞聘演讲 | 9</a:t>
            </a:r>
            <a:endParaRPr lang="en-US" sz="1800" b="1" i="0" u="none" strike="noStrike" kern="0">
              <a:solidFill>
                <a:srgbClr val="004D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2887">
        <p:blinds dir="vert"/>
      </p:transition>
    </mc:Choice>
    <mc:Fallback>
      <p:transition spd="slow" advTm="2887">
        <p:blinds dir="vert"/>
      </p:transition>
    </mc:Fallback>
  </mc:AlternateContent>
</p:sld>
</file>

<file path=ppt/tags/tag1.xml><?xml version="1.0" encoding="utf-8"?>
<p:tagLst xmlns:p="http://schemas.openxmlformats.org/presentationml/2006/main">
  <p:tag name="KSO_WM_DIAGRAM_VIRTUALLY_FRAME" val="{&quot;height&quot;:230,&quot;left&quot;:60,&quot;top&quot;:180,&quot;width&quot;:840}"/>
</p:tagLst>
</file>

<file path=ppt/tags/tag2.xml><?xml version="1.0" encoding="utf-8"?>
<p:tagLst xmlns:p="http://schemas.openxmlformats.org/presentationml/2006/main">
  <p:tag name="KSO_WM_DIAGRAM_VIRTUALLY_FRAME" val="{&quot;height&quot;:230,&quot;left&quot;:60,&quot;top&quot;:180,&quot;width&quot;:840}"/>
</p:tagLst>
</file>

<file path=ppt/tags/tag3.xml><?xml version="1.0" encoding="utf-8"?>
<p:tagLst xmlns:p="http://schemas.openxmlformats.org/presentationml/2006/main">
  <p:tag name="KSO_WM_DIAGRAM_VIRTUALLY_FRAME" val="{&quot;height&quot;:230,&quot;left&quot;:60,&quot;top&quot;:180,&quot;width&quot;:840}"/>
</p:tagLst>
</file>

<file path=ppt/tags/tag4.xml><?xml version="1.0" encoding="utf-8"?>
<p:tagLst xmlns:p="http://schemas.openxmlformats.org/presentationml/2006/main">
  <p:tag name="KSO_WM_DIAGRAM_VIRTUALLY_FRAME" val="{&quot;height&quot;:230,&quot;left&quot;:60,&quot;top&quot;:180,&quot;width&quot;:840}"/>
</p:tagLst>
</file>

<file path=ppt/tags/tag5.xml><?xml version="1.0" encoding="utf-8"?>
<p:tagLst xmlns:p="http://schemas.openxmlformats.org/presentationml/2006/main">
  <p:tag name="KSO_WM_DIAGRAM_VIRTUALLY_FRAME" val="{&quot;height&quot;:230,&quot;left&quot;:60,&quot;top&quot;:180,&quot;width&quot;:840}"/>
</p:tagLst>
</file>

<file path=ppt/tags/tag6.xml><?xml version="1.0" encoding="utf-8"?>
<p:tagLst xmlns:p="http://schemas.openxmlformats.org/presentationml/2006/main">
  <p:tag name="KSO_WM_DIAGRAM_VIRTUALLY_FRAME" val="{&quot;height&quot;:230,&quot;left&quot;:60,&quot;top&quot;:180,&quot;width&quot;:840}"/>
</p:tagLst>
</file>

<file path=ppt/tags/tag7.xml><?xml version="1.0" encoding="utf-8"?>
<p:tagLst xmlns:p="http://schemas.openxmlformats.org/presentationml/2006/main">
  <p:tag name="KSO_WM_DIAGRAM_VIRTUALLY_FRAME" val="{&quot;height&quot;:230,&quot;left&quot;:60,&quot;top&quot;:180,&quot;width&quot;:840}"/>
</p:tagLst>
</file>

<file path=ppt/tags/tag8.xml><?xml version="1.0" encoding="utf-8"?>
<p:tagLst xmlns:p="http://schemas.openxmlformats.org/presentationml/2006/main">
  <p:tag name="KSO_WM_DIAGRAM_VIRTUALLY_FRAME" val="{&quot;height&quot;:230,&quot;left&quot;:60,&quot;top&quot;:180,&quot;width&quot;:840}"/>
</p:tagLst>
</file>

<file path=ppt/tags/tag9.xml><?xml version="1.0" encoding="utf-8"?>
<p:tagLst xmlns:p="http://schemas.openxmlformats.org/presentationml/2006/main">
  <p:tag name="KSO_WM_DIAGRAM_VIRTUALLY_FRAME" val="{&quot;height&quot;:230,&quot;left&quot;:60,&quot;top&quot;:180,&quot;width&quot;:840}"/>
</p:tagLst>
</file>

<file path=ppt/tags/tag10.xml><?xml version="1.0" encoding="utf-8"?>
<p:tagLst xmlns:p="http://schemas.openxmlformats.org/presentationml/2006/main">
  <p:tag name="KSO_WM_DIAGRAM_VIRTUALLY_FRAME" val="{&quot;height&quot;:230,&quot;left&quot;:60,&quot;top&quot;:180,&quot;width&quot;:840}"/>
</p:tagLst>
</file>

<file path=ppt/tags/tag11.xml><?xml version="1.0" encoding="utf-8"?>
<p:tagLst xmlns:p="http://schemas.openxmlformats.org/presentationml/2006/main">
  <p:tag name="KSO_WM_DIAGRAM_VIRTUALLY_FRAME" val="{&quot;height&quot;:230,&quot;left&quot;:60,&quot;top&quot;:180,&quot;width&quot;:840}"/>
</p:tagLst>
</file>

<file path=ppt/tags/tag12.xml><?xml version="1.0" encoding="utf-8"?>
<p:tagLst xmlns:p="http://schemas.openxmlformats.org/presentationml/2006/main">
  <p:tag name="KSO_WM_DIAGRAM_VIRTUALLY_FRAME" val="{&quot;height&quot;:230,&quot;left&quot;:60,&quot;top&quot;:180,&quot;width&quot;:840}"/>
</p:tagLst>
</file>

<file path=ppt/tags/tag13.xml><?xml version="1.0" encoding="utf-8"?>
<p:tagLst xmlns:p="http://schemas.openxmlformats.org/presentationml/2006/main">
  <p:tag name="KSO_WM_DIAGRAM_VIRTUALLY_FRAME" val="{&quot;height&quot;:230,&quot;left&quot;:60,&quot;top&quot;:180,&quot;width&quot;:840}"/>
</p:tagLst>
</file>

<file path=ppt/tags/tag14.xml><?xml version="1.0" encoding="utf-8"?>
<p:tagLst xmlns:p="http://schemas.openxmlformats.org/presentationml/2006/main">
  <p:tag name="KSO_WM_DIAGRAM_VIRTUALLY_FRAME" val="{&quot;height&quot;:230,&quot;left&quot;:60,&quot;top&quot;:180,&quot;width&quot;:840}"/>
</p:tagLst>
</file>

<file path=ppt/tags/tag15.xml><?xml version="1.0" encoding="utf-8"?>
<p:tagLst xmlns:p="http://schemas.openxmlformats.org/presentationml/2006/main">
  <p:tag name="KSO_WM_DIAGRAM_VIRTUALLY_FRAME" val="{&quot;height&quot;:230,&quot;left&quot;:60,&quot;top&quot;:180,&quot;width&quot;:840}"/>
</p:tagLst>
</file>

<file path=ppt/tags/tag16.xml><?xml version="1.0" encoding="utf-8"?>
<p:tagLst xmlns:p="http://schemas.openxmlformats.org/presentationml/2006/main">
  <p:tag name="KSO_WM_DIAGRAM_VIRTUALLY_FRAME" val="{&quot;height&quot;:185,&quot;left&quot;:410,&quot;top&quot;:295,&quot;width&quot;:500}"/>
</p:tagLst>
</file>

<file path=ppt/tags/tag17.xml><?xml version="1.0" encoding="utf-8"?>
<p:tagLst xmlns:p="http://schemas.openxmlformats.org/presentationml/2006/main">
  <p:tag name="KSO_WM_DIAGRAM_VIRTUALLY_FRAME" val="{&quot;height&quot;:185,&quot;left&quot;:410,&quot;top&quot;:295,&quot;width&quot;:500}"/>
</p:tagLst>
</file>

<file path=ppt/tags/tag18.xml><?xml version="1.0" encoding="utf-8"?>
<p:tagLst xmlns:p="http://schemas.openxmlformats.org/presentationml/2006/main">
  <p:tag name="KSO_WM_DIAGRAM_VIRTUALLY_FRAME" val="{&quot;height&quot;:185,&quot;left&quot;:410,&quot;top&quot;:295,&quot;width&quot;:500}"/>
</p:tagLst>
</file>

<file path=ppt/tags/tag19.xml><?xml version="1.0" encoding="utf-8"?>
<p:tagLst xmlns:p="http://schemas.openxmlformats.org/presentationml/2006/main">
  <p:tag name="KSO_WM_DIAGRAM_VIRTUALLY_FRAME" val="{&quot;height&quot;:185,&quot;left&quot;:410,&quot;top&quot;:295,&quot;width&quot;:500}"/>
</p:tagLst>
</file>

<file path=ppt/tags/tag20.xml><?xml version="1.0" encoding="utf-8"?>
<p:tagLst xmlns:p="http://schemas.openxmlformats.org/presentationml/2006/main">
  <p:tag name="KSO_WM_DIAGRAM_VIRTUALLY_FRAME" val="{&quot;height&quot;:185,&quot;left&quot;:410,&quot;top&quot;:295,&quot;width&quot;:500}"/>
</p:tagLst>
</file>

<file path=ppt/tags/tag21.xml><?xml version="1.0" encoding="utf-8"?>
<p:tagLst xmlns:p="http://schemas.openxmlformats.org/presentationml/2006/main">
  <p:tag name="KSO_WM_DIAGRAM_VIRTUALLY_FRAME" val="{&quot;height&quot;:185,&quot;left&quot;:410,&quot;top&quot;:295,&quot;width&quot;:500}"/>
</p:tagLst>
</file>

<file path=ppt/tags/tag22.xml><?xml version="1.0" encoding="utf-8"?>
<p:tagLst xmlns:p="http://schemas.openxmlformats.org/presentationml/2006/main">
  <p:tag name="KSO_WM_DIAGRAM_VIRTUALLY_FRAME" val="{&quot;height&quot;:185,&quot;left&quot;:410,&quot;top&quot;:295,&quot;width&quot;:500}"/>
</p:tagLst>
</file>

<file path=ppt/tags/tag23.xml><?xml version="1.0" encoding="utf-8"?>
<p:tagLst xmlns:p="http://schemas.openxmlformats.org/presentationml/2006/main">
  <p:tag name="KSO_WM_DIAGRAM_VIRTUALLY_FRAME" val="{&quot;height&quot;:185,&quot;left&quot;:410,&quot;top&quot;:295,&quot;width&quot;:500}"/>
</p:tagLst>
</file>

<file path=ppt/tags/tag24.xml><?xml version="1.0" encoding="utf-8"?>
<p:tagLst xmlns:p="http://schemas.openxmlformats.org/presentationml/2006/main">
  <p:tag name="TIMING" val="|1.046"/>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9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0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1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7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20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2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3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5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18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14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1_默认主题">
  <a:themeElements>
    <a:clrScheme name="">
      <a:dk1>
        <a:srgbClr val="000000"/>
      </a:dk1>
      <a:lt1>
        <a:srgbClr val="FFFFFF"/>
      </a:lt1>
      <a:dk2>
        <a:srgbClr val="1A1A1A"/>
      </a:dk2>
      <a:lt2>
        <a:srgbClr val="F5F5F5"/>
      </a:lt2>
      <a:accent1>
        <a:srgbClr val="E6F2FF"/>
      </a:accent1>
      <a:accent2>
        <a:srgbClr val="CCE5FF"/>
      </a:accent2>
      <a:accent3>
        <a:srgbClr val="B3D9FF"/>
      </a:accent3>
      <a:accent4>
        <a:srgbClr val="99CCFF"/>
      </a:accent4>
      <a:accent5>
        <a:srgbClr val="80BFFF"/>
      </a:accent5>
      <a:accent6>
        <a:srgbClr val="66B2FF"/>
      </a:accent6>
      <a:hlink>
        <a:srgbClr val="0066CC"/>
      </a:hlink>
      <a:folHlink>
        <a:srgbClr val="004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1848</Words>
  <Application>WPS 演示</Application>
  <PresentationFormat/>
  <Paragraphs>146</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23</vt:i4>
      </vt:variant>
      <vt:variant>
        <vt:lpstr>幻灯片标题</vt:lpstr>
      </vt:variant>
      <vt:variant>
        <vt:i4>10</vt:i4>
      </vt:variant>
    </vt:vector>
  </HeadingPairs>
  <TitlesOfParts>
    <vt:vector size="44" baseType="lpstr">
      <vt:lpstr>Arial</vt:lpstr>
      <vt:lpstr>宋体</vt:lpstr>
      <vt:lpstr>Wingdings</vt:lpstr>
      <vt:lpstr>Arial</vt:lpstr>
      <vt:lpstr>微软雅黑</vt:lpstr>
      <vt:lpstr>Noto Sans SC</vt:lpstr>
      <vt:lpstr>Segoe Print</vt:lpstr>
      <vt:lpstr>Arial Unicode MS</vt:lpstr>
      <vt:lpstr>Noto Sans SC</vt:lpstr>
      <vt:lpstr>方正仿宋简体</vt:lpstr>
      <vt:lpstr>Times New Roman</vt:lpstr>
      <vt:lpstr>Office 主题​​</vt:lpstr>
      <vt:lpstr>默认主题</vt:lpstr>
      <vt:lpstr>1_默认主题</vt:lpstr>
      <vt:lpstr>2_默认主题</vt:lpstr>
      <vt:lpstr>3_默认主题</vt:lpstr>
      <vt:lpstr>4_默认主题</vt:lpstr>
      <vt:lpstr>5_默认主题</vt:lpstr>
      <vt:lpstr>6_默认主题</vt:lpstr>
      <vt:lpstr>7_默认主题</vt:lpstr>
      <vt:lpstr>8_默认主题</vt:lpstr>
      <vt:lpstr>9_默认主题</vt:lpstr>
      <vt:lpstr>10_默认主题</vt:lpstr>
      <vt:lpstr>11_默认主题</vt:lpstr>
      <vt:lpstr>17_默认主题</vt:lpstr>
      <vt:lpstr>20_默认主题</vt:lpstr>
      <vt:lpstr>16_默认主题</vt:lpstr>
      <vt:lpstr>12_默认主题</vt:lpstr>
      <vt:lpstr>13_默认主题</vt:lpstr>
      <vt:lpstr>19_默认主题</vt:lpstr>
      <vt:lpstr>15_默认主题</vt:lpstr>
      <vt:lpstr>18_默认主题</vt:lpstr>
      <vt:lpstr>14_默认主题</vt:lpstr>
      <vt:lpstr>21_默认主题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我没退役</cp:lastModifiedBy>
  <cp:revision>1</cp:revision>
  <dcterms:created xsi:type="dcterms:W3CDTF">2026-08-20T02:57:10Z</dcterms:created>
  <dcterms:modified xsi:type="dcterms:W3CDTF">2026-08-20T02:57:10Z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{"Label":"1","ContentProducer":"001191110102MACQD9K64010000","ProduceID":"7675938947499166692","ReservedCode1":"","ContentPropagator":"","PropagateID":"","ReservedCode2":""}</vt:lpwstr>
  </property>
  <property fmtid="{D5CDD505-2E9C-101B-9397-08002B2CF9AE}" pid="3" name="KSOProductBuildVer">
    <vt:lpwstr>2052-12.1.0.28043</vt:lpwstr>
  </property>
  <property fmtid="{D5CDD505-2E9C-101B-9397-08002B2CF9AE}" pid="4" name="ICV">
    <vt:lpwstr>FCEC4ED258A841F395491C8C99DA1F1A_12</vt:lpwstr>
  </property>
</Properties>
</file>