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990000"/>
    <a:srgbClr val="FFCCFF"/>
    <a:srgbClr val="800000"/>
    <a:srgbClr val="FF0000"/>
    <a:srgbClr val="66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87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223CF-A4E6-40DC-8294-BFE158AD5057}" type="doc">
      <dgm:prSet loTypeId="urn:microsoft.com/office/officeart/2005/8/layout/process1" loCatId="process" qsTypeId="urn:microsoft.com/office/officeart/2005/8/quickstyle/3d3" qsCatId="3D" csTypeId="urn:microsoft.com/office/officeart/2005/8/colors/accent2_3" csCatId="accent2" phldr="1"/>
      <dgm:spPr/>
      <dgm:t>
        <a:bodyPr/>
        <a:lstStyle/>
        <a:p>
          <a:endParaRPr lang="zh-CN" altLang="en-US"/>
        </a:p>
      </dgm:t>
    </dgm:pt>
    <dgm:pt modelId="{EEED4549-BC90-4A44-BF52-A382872C8B3A}">
      <dgm:prSet phldrT="[文本]" phldr="0" custT="1"/>
      <dgm:spPr/>
      <dgm:t>
        <a:bodyPr/>
        <a:lstStyle/>
        <a:p>
          <a:r>
            <a:rPr lang="zh-CN" altLang="en-US" sz="4000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rPr>
            <a:t>顶</a:t>
          </a:r>
        </a:p>
      </dgm:t>
    </dgm:pt>
    <dgm:pt modelId="{2B570CC8-56FF-4492-BD0B-152C97C0D5D9}" type="parTrans" cxnId="{D9D32CAC-CE7F-43EC-BE96-8936D7CD267F}">
      <dgm:prSet/>
      <dgm:spPr/>
      <dgm:t>
        <a:bodyPr/>
        <a:lstStyle/>
        <a:p>
          <a:endParaRPr lang="zh-CN" altLang="en-US" sz="40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gm:t>
    </dgm:pt>
    <dgm:pt modelId="{4D22FE75-B63A-43EB-B1D4-7B821B50B0D9}" type="sibTrans" cxnId="{D9D32CAC-CE7F-43EC-BE96-8936D7CD267F}">
      <dgm:prSet custT="1"/>
      <dgm:spPr/>
      <dgm:t>
        <a:bodyPr/>
        <a:lstStyle/>
        <a:p>
          <a:endParaRPr lang="zh-CN" altLang="en-US" sz="40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gm:t>
    </dgm:pt>
    <dgm:pt modelId="{4CB5A5F9-8C52-4F5D-AC48-60950D82AC92}">
      <dgm:prSet phldrT="[文本]" custT="1"/>
      <dgm:spPr/>
      <dgm:t>
        <a:bodyPr/>
        <a:lstStyle/>
        <a:p>
          <a:r>
            <a:rPr lang="zh-CN" altLang="en-US" sz="4000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rPr>
            <a:t>花</a:t>
          </a:r>
        </a:p>
      </dgm:t>
    </dgm:pt>
    <dgm:pt modelId="{9DE461F8-4BD7-4C24-A9D2-E1931D670050}" type="parTrans" cxnId="{0F07428F-133A-49B2-9B98-EA9547804FB9}">
      <dgm:prSet/>
      <dgm:spPr/>
      <dgm:t>
        <a:bodyPr/>
        <a:lstStyle/>
        <a:p>
          <a:endParaRPr lang="zh-CN" altLang="en-US" sz="40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gm:t>
    </dgm:pt>
    <dgm:pt modelId="{65802D09-CE3F-4CEC-B6C5-DA3AE4C56E97}" type="sibTrans" cxnId="{0F07428F-133A-49B2-9B98-EA9547804FB9}">
      <dgm:prSet custT="1"/>
      <dgm:spPr/>
      <dgm:t>
        <a:bodyPr/>
        <a:lstStyle/>
        <a:p>
          <a:endParaRPr lang="zh-CN" altLang="en-US" sz="40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gm:t>
    </dgm:pt>
    <dgm:pt modelId="{6A7CA2F1-387C-4355-B5D6-B4B2412FAE3A}">
      <dgm:prSet phldrT="[文本]" custT="1"/>
      <dgm:spPr/>
      <dgm:t>
        <a:bodyPr/>
        <a:lstStyle/>
        <a:p>
          <a:r>
            <a:rPr lang="zh-CN" altLang="en-US" sz="4000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rPr>
            <a:t>缀</a:t>
          </a:r>
        </a:p>
      </dgm:t>
    </dgm:pt>
    <dgm:pt modelId="{AC398582-6E00-48AD-A55B-72A76FE40F2C}" type="parTrans" cxnId="{1A0C92A5-09C1-4C00-BF24-A7FB662FCCD5}">
      <dgm:prSet/>
      <dgm:spPr/>
      <dgm:t>
        <a:bodyPr/>
        <a:lstStyle/>
        <a:p>
          <a:endParaRPr lang="zh-CN" altLang="en-US" sz="40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gm:t>
    </dgm:pt>
    <dgm:pt modelId="{2FA53BEA-4438-4748-B214-C0E75272E5AE}" type="sibTrans" cxnId="{1A0C92A5-09C1-4C00-BF24-A7FB662FCCD5}">
      <dgm:prSet/>
      <dgm:spPr/>
      <dgm:t>
        <a:bodyPr/>
        <a:lstStyle/>
        <a:p>
          <a:endParaRPr lang="zh-CN" altLang="en-US" sz="40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gm:t>
    </dgm:pt>
    <dgm:pt modelId="{990124C1-41B4-45ED-A67D-FA393E45D9D6}" type="pres">
      <dgm:prSet presAssocID="{C65223CF-A4E6-40DC-8294-BFE158AD5057}" presName="Name0" presStyleCnt="0">
        <dgm:presLayoutVars>
          <dgm:dir/>
          <dgm:resizeHandles val="exact"/>
        </dgm:presLayoutVars>
      </dgm:prSet>
      <dgm:spPr/>
    </dgm:pt>
    <dgm:pt modelId="{8BD7701F-A111-45BD-AB5B-67F0A0535A28}" type="pres">
      <dgm:prSet presAssocID="{EEED4549-BC90-4A44-BF52-A382872C8B3A}" presName="node" presStyleLbl="node1" presStyleIdx="0" presStyleCnt="3">
        <dgm:presLayoutVars>
          <dgm:bulletEnabled val="1"/>
        </dgm:presLayoutVars>
      </dgm:prSet>
      <dgm:spPr/>
    </dgm:pt>
    <dgm:pt modelId="{67493F7B-19E1-4ED7-8DE3-FE4C1392ABA4}" type="pres">
      <dgm:prSet presAssocID="{4D22FE75-B63A-43EB-B1D4-7B821B50B0D9}" presName="sibTrans" presStyleLbl="sibTrans2D1" presStyleIdx="0" presStyleCnt="2"/>
      <dgm:spPr/>
    </dgm:pt>
    <dgm:pt modelId="{36A668B5-FC3C-47C0-851F-7B814E231A16}" type="pres">
      <dgm:prSet presAssocID="{4D22FE75-B63A-43EB-B1D4-7B821B50B0D9}" presName="connectorText" presStyleLbl="sibTrans2D1" presStyleIdx="0" presStyleCnt="2"/>
      <dgm:spPr/>
    </dgm:pt>
    <dgm:pt modelId="{6BBED15C-0016-4E11-9B39-F7B2BB048108}" type="pres">
      <dgm:prSet presAssocID="{4CB5A5F9-8C52-4F5D-AC48-60950D82AC92}" presName="node" presStyleLbl="node1" presStyleIdx="1" presStyleCnt="3">
        <dgm:presLayoutVars>
          <dgm:bulletEnabled val="1"/>
        </dgm:presLayoutVars>
      </dgm:prSet>
      <dgm:spPr/>
    </dgm:pt>
    <dgm:pt modelId="{31A5FE84-28B6-48FA-A99D-DFB37B3FBBDF}" type="pres">
      <dgm:prSet presAssocID="{65802D09-CE3F-4CEC-B6C5-DA3AE4C56E97}" presName="sibTrans" presStyleLbl="sibTrans2D1" presStyleIdx="1" presStyleCnt="2"/>
      <dgm:spPr/>
    </dgm:pt>
    <dgm:pt modelId="{53DA9C25-4B5B-4C31-9B6A-06FB8E6E2DDC}" type="pres">
      <dgm:prSet presAssocID="{65802D09-CE3F-4CEC-B6C5-DA3AE4C56E97}" presName="connectorText" presStyleLbl="sibTrans2D1" presStyleIdx="1" presStyleCnt="2"/>
      <dgm:spPr/>
    </dgm:pt>
    <dgm:pt modelId="{4BCE47CD-F5F3-4190-9904-D4C628C5F3B3}" type="pres">
      <dgm:prSet presAssocID="{6A7CA2F1-387C-4355-B5D6-B4B2412FAE3A}" presName="node" presStyleLbl="node1" presStyleIdx="2" presStyleCnt="3">
        <dgm:presLayoutVars>
          <dgm:bulletEnabled val="1"/>
        </dgm:presLayoutVars>
      </dgm:prSet>
      <dgm:spPr/>
    </dgm:pt>
  </dgm:ptLst>
  <dgm:cxnLst>
    <dgm:cxn modelId="{7D8BAB34-8D05-48A5-A3FF-9DF974631541}" type="presOf" srcId="{4D22FE75-B63A-43EB-B1D4-7B821B50B0D9}" destId="{67493F7B-19E1-4ED7-8DE3-FE4C1392ABA4}" srcOrd="0" destOrd="0" presId="urn:microsoft.com/office/officeart/2005/8/layout/process1"/>
    <dgm:cxn modelId="{C32F425E-053F-4E86-BF84-30FB267F0824}" type="presOf" srcId="{65802D09-CE3F-4CEC-B6C5-DA3AE4C56E97}" destId="{53DA9C25-4B5B-4C31-9B6A-06FB8E6E2DDC}" srcOrd="1" destOrd="0" presId="urn:microsoft.com/office/officeart/2005/8/layout/process1"/>
    <dgm:cxn modelId="{20837154-F66A-4E9A-8E78-4DC8E939DD3B}" type="presOf" srcId="{4CB5A5F9-8C52-4F5D-AC48-60950D82AC92}" destId="{6BBED15C-0016-4E11-9B39-F7B2BB048108}" srcOrd="0" destOrd="0" presId="urn:microsoft.com/office/officeart/2005/8/layout/process1"/>
    <dgm:cxn modelId="{89EA5384-E7D2-4F1D-965B-7ACF26D0424F}" type="presOf" srcId="{C65223CF-A4E6-40DC-8294-BFE158AD5057}" destId="{990124C1-41B4-45ED-A67D-FA393E45D9D6}" srcOrd="0" destOrd="0" presId="urn:microsoft.com/office/officeart/2005/8/layout/process1"/>
    <dgm:cxn modelId="{0F07428F-133A-49B2-9B98-EA9547804FB9}" srcId="{C65223CF-A4E6-40DC-8294-BFE158AD5057}" destId="{4CB5A5F9-8C52-4F5D-AC48-60950D82AC92}" srcOrd="1" destOrd="0" parTransId="{9DE461F8-4BD7-4C24-A9D2-E1931D670050}" sibTransId="{65802D09-CE3F-4CEC-B6C5-DA3AE4C56E97}"/>
    <dgm:cxn modelId="{1A0C92A5-09C1-4C00-BF24-A7FB662FCCD5}" srcId="{C65223CF-A4E6-40DC-8294-BFE158AD5057}" destId="{6A7CA2F1-387C-4355-B5D6-B4B2412FAE3A}" srcOrd="2" destOrd="0" parTransId="{AC398582-6E00-48AD-A55B-72A76FE40F2C}" sibTransId="{2FA53BEA-4438-4748-B214-C0E75272E5AE}"/>
    <dgm:cxn modelId="{D9D32CAC-CE7F-43EC-BE96-8936D7CD267F}" srcId="{C65223CF-A4E6-40DC-8294-BFE158AD5057}" destId="{EEED4549-BC90-4A44-BF52-A382872C8B3A}" srcOrd="0" destOrd="0" parTransId="{2B570CC8-56FF-4492-BD0B-152C97C0D5D9}" sibTransId="{4D22FE75-B63A-43EB-B1D4-7B821B50B0D9}"/>
    <dgm:cxn modelId="{E90BD8AD-92D9-4D0A-9DA3-4310A9AE8570}" type="presOf" srcId="{65802D09-CE3F-4CEC-B6C5-DA3AE4C56E97}" destId="{31A5FE84-28B6-48FA-A99D-DFB37B3FBBDF}" srcOrd="0" destOrd="0" presId="urn:microsoft.com/office/officeart/2005/8/layout/process1"/>
    <dgm:cxn modelId="{F32BF5B1-0673-4C73-A136-DB4EA8040EC5}" type="presOf" srcId="{6A7CA2F1-387C-4355-B5D6-B4B2412FAE3A}" destId="{4BCE47CD-F5F3-4190-9904-D4C628C5F3B3}" srcOrd="0" destOrd="0" presId="urn:microsoft.com/office/officeart/2005/8/layout/process1"/>
    <dgm:cxn modelId="{D374CCCE-61F1-4E30-92A4-A37BAB55C93F}" type="presOf" srcId="{EEED4549-BC90-4A44-BF52-A382872C8B3A}" destId="{8BD7701F-A111-45BD-AB5B-67F0A0535A28}" srcOrd="0" destOrd="0" presId="urn:microsoft.com/office/officeart/2005/8/layout/process1"/>
    <dgm:cxn modelId="{69497CD4-4DA0-4037-B963-7BACCE617A63}" type="presOf" srcId="{4D22FE75-B63A-43EB-B1D4-7B821B50B0D9}" destId="{36A668B5-FC3C-47C0-851F-7B814E231A16}" srcOrd="1" destOrd="0" presId="urn:microsoft.com/office/officeart/2005/8/layout/process1"/>
    <dgm:cxn modelId="{0888A8BC-EB88-4B84-A837-1D3C3C4552D7}" type="presParOf" srcId="{990124C1-41B4-45ED-A67D-FA393E45D9D6}" destId="{8BD7701F-A111-45BD-AB5B-67F0A0535A28}" srcOrd="0" destOrd="0" presId="urn:microsoft.com/office/officeart/2005/8/layout/process1"/>
    <dgm:cxn modelId="{888BCDA5-48FD-430F-9FDC-B1FEF64DB604}" type="presParOf" srcId="{990124C1-41B4-45ED-A67D-FA393E45D9D6}" destId="{67493F7B-19E1-4ED7-8DE3-FE4C1392ABA4}" srcOrd="1" destOrd="0" presId="urn:microsoft.com/office/officeart/2005/8/layout/process1"/>
    <dgm:cxn modelId="{EDC53B1B-3DC1-4998-A6BF-59B5B0FD96DA}" type="presParOf" srcId="{67493F7B-19E1-4ED7-8DE3-FE4C1392ABA4}" destId="{36A668B5-FC3C-47C0-851F-7B814E231A16}" srcOrd="0" destOrd="0" presId="urn:microsoft.com/office/officeart/2005/8/layout/process1"/>
    <dgm:cxn modelId="{53C8332B-6E09-4012-BF24-7F70EFB7625E}" type="presParOf" srcId="{990124C1-41B4-45ED-A67D-FA393E45D9D6}" destId="{6BBED15C-0016-4E11-9B39-F7B2BB048108}" srcOrd="2" destOrd="0" presId="urn:microsoft.com/office/officeart/2005/8/layout/process1"/>
    <dgm:cxn modelId="{62F14BA3-CF54-4353-8EB8-DB956913B0CA}" type="presParOf" srcId="{990124C1-41B4-45ED-A67D-FA393E45D9D6}" destId="{31A5FE84-28B6-48FA-A99D-DFB37B3FBBDF}" srcOrd="3" destOrd="0" presId="urn:microsoft.com/office/officeart/2005/8/layout/process1"/>
    <dgm:cxn modelId="{16E8C5A7-E912-431A-94A2-D8D93502234D}" type="presParOf" srcId="{31A5FE84-28B6-48FA-A99D-DFB37B3FBBDF}" destId="{53DA9C25-4B5B-4C31-9B6A-06FB8E6E2DDC}" srcOrd="0" destOrd="0" presId="urn:microsoft.com/office/officeart/2005/8/layout/process1"/>
    <dgm:cxn modelId="{00013341-DDB5-4D17-8BBF-3B3022086777}" type="presParOf" srcId="{990124C1-41B4-45ED-A67D-FA393E45D9D6}" destId="{4BCE47CD-F5F3-4190-9904-D4C628C5F3B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7701F-A111-45BD-AB5B-67F0A0535A28}">
      <dsp:nvSpPr>
        <dsp:cNvPr id="0" name=""/>
        <dsp:cNvSpPr/>
      </dsp:nvSpPr>
      <dsp:spPr>
        <a:xfrm>
          <a:off x="5357" y="1529063"/>
          <a:ext cx="1601390" cy="100587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rPr>
            <a:t>顶</a:t>
          </a:r>
        </a:p>
      </dsp:txBody>
      <dsp:txXfrm>
        <a:off x="34818" y="1558524"/>
        <a:ext cx="1542468" cy="946951"/>
      </dsp:txXfrm>
    </dsp:sp>
    <dsp:sp modelId="{67493F7B-19E1-4ED7-8DE3-FE4C1392ABA4}">
      <dsp:nvSpPr>
        <dsp:cNvPr id="0" name=""/>
        <dsp:cNvSpPr/>
      </dsp:nvSpPr>
      <dsp:spPr>
        <a:xfrm>
          <a:off x="1766887" y="1833427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000" kern="12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sp:txBody>
      <dsp:txXfrm>
        <a:off x="1766887" y="1912856"/>
        <a:ext cx="237646" cy="238286"/>
      </dsp:txXfrm>
    </dsp:sp>
    <dsp:sp modelId="{6BBED15C-0016-4E11-9B39-F7B2BB048108}">
      <dsp:nvSpPr>
        <dsp:cNvPr id="0" name=""/>
        <dsp:cNvSpPr/>
      </dsp:nvSpPr>
      <dsp:spPr>
        <a:xfrm>
          <a:off x="2247304" y="1529063"/>
          <a:ext cx="1601390" cy="100587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-5541"/>
            <a:lumOff val="1422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rPr>
            <a:t>花</a:t>
          </a:r>
        </a:p>
      </dsp:txBody>
      <dsp:txXfrm>
        <a:off x="2276765" y="1558524"/>
        <a:ext cx="1542468" cy="946951"/>
      </dsp:txXfrm>
    </dsp:sp>
    <dsp:sp modelId="{31A5FE84-28B6-48FA-A99D-DFB37B3FBBDF}">
      <dsp:nvSpPr>
        <dsp:cNvPr id="0" name=""/>
        <dsp:cNvSpPr/>
      </dsp:nvSpPr>
      <dsp:spPr>
        <a:xfrm>
          <a:off x="4008834" y="1833427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-10729"/>
            <a:lumOff val="2590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000" kern="1200">
            <a:solidFill>
              <a:srgbClr val="FFC000"/>
            </a:solidFill>
            <a:latin typeface="华文琥珀" panose="02010800040101010101" pitchFamily="2" charset="-122"/>
            <a:ea typeface="华文琥珀" panose="02010800040101010101" pitchFamily="2" charset="-122"/>
          </a:endParaRPr>
        </a:p>
      </dsp:txBody>
      <dsp:txXfrm>
        <a:off x="4008834" y="1912856"/>
        <a:ext cx="237646" cy="238286"/>
      </dsp:txXfrm>
    </dsp:sp>
    <dsp:sp modelId="{4BCE47CD-F5F3-4190-9904-D4C628C5F3B3}">
      <dsp:nvSpPr>
        <dsp:cNvPr id="0" name=""/>
        <dsp:cNvSpPr/>
      </dsp:nvSpPr>
      <dsp:spPr>
        <a:xfrm>
          <a:off x="4489251" y="1529063"/>
          <a:ext cx="1601390" cy="100587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-11081"/>
            <a:lumOff val="2844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rPr>
            <a:t>缀</a:t>
          </a:r>
        </a:p>
      </dsp:txBody>
      <dsp:txXfrm>
        <a:off x="4518712" y="1558524"/>
        <a:ext cx="1542468" cy="9469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34959-08D7-4213-B4FB-A304D834E28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FF166-56DE-4EAA-9D56-C754878C4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6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CDD14ED-4D16-4CAD-8CC7-25A37CCFBF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64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01D5E94-D68B-48D6-8FFD-631B7F99BD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05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04C6F11-E834-479E-A143-AA3C122B61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0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AFDF18F-2E7D-4D11-9415-5815698104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1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5013B1C-30E0-4B88-8CAC-2CFEB6B295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17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74D1A3A-2F4F-4E38-8E3E-8BF55A4942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5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30B0EF1-DA42-4F4C-AE3C-8473960033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828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ECE8CCA-2356-49FB-8C67-033F21B4A4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527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789C629-9373-473A-8C46-257C595554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49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218291F-9D2E-4325-8E54-3E35EC95C3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57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0733EF2-042A-4E7E-955B-CCC5080A55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01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13">
            <a:alphaModFix amt="60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Marker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2400">
                <a:solidFill>
                  <a:srgbClr val="00B050"/>
                </a:solidFill>
                <a:latin typeface="华文隶书" panose="02010800040101010101" pitchFamily="2" charset="-122"/>
                <a:ea typeface="华文隶书" panose="02010800040101010101" pitchFamily="2" charset="-122"/>
              </a:defRPr>
            </a:lvl1pPr>
          </a:lstStyle>
          <a:p>
            <a:r>
              <a:rPr lang="zh-CN" altLang="en-US"/>
              <a:t>中国剪纸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1143000" y="609600"/>
            <a:ext cx="75438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6600" b="1" dirty="0">
                <a:solidFill>
                  <a:srgbClr val="FF0000"/>
                </a:solidFill>
                <a:ea typeface="华文彩云" pitchFamily="2" charset="-122"/>
              </a:rPr>
              <a:t>中国剪纸挂串制作</a:t>
            </a:r>
          </a:p>
        </p:txBody>
      </p:sp>
      <p:pic>
        <p:nvPicPr>
          <p:cNvPr id="2052" name="Picture 4" descr="剪纸1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F6060"/>
              </a:clrFrom>
              <a:clrTo>
                <a:srgbClr val="EF606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171700"/>
            <a:ext cx="30480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0568D7-B196-74AF-9DC5-8FC4557D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:sndAc>
          <p:stSnd>
            <p:snd r:embed="rId2" name="click.wav"/>
          </p:stSnd>
        </p:sndAc>
      </p:transition>
    </mc:Choice>
    <mc:Fallback>
      <p:transition spd="slow" advTm="0">
        <p:sndAc>
          <p:stSnd>
            <p:snd r:embed="rId2" name="click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577850"/>
            <a:ext cx="5486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600" b="1">
                <a:solidFill>
                  <a:srgbClr val="990000"/>
                </a:solidFill>
                <a:ea typeface="隶书" pitchFamily="49" charset="-122"/>
              </a:rPr>
              <a:t>剪纸作品欣赏</a:t>
            </a:r>
          </a:p>
        </p:txBody>
      </p:sp>
      <p:pic>
        <p:nvPicPr>
          <p:cNvPr id="3075" name="Picture 3" descr="剪纸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14563"/>
            <a:ext cx="2895600" cy="273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剪纸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088" y="2628900"/>
            <a:ext cx="1636712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剪纸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2133600"/>
            <a:ext cx="28892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AC4DCE-5465-A02B-CB90-400FACCD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剪纸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14400"/>
            <a:ext cx="3475038" cy="259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剪纸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05200"/>
            <a:ext cx="28035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剪纸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313" y="3733800"/>
            <a:ext cx="207168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剪纸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308475"/>
            <a:ext cx="2532063" cy="186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剪纸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13208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剪纸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1143000"/>
            <a:ext cx="17145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A2EF02-276A-5B23-90DD-8A54FDB4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剪纸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3276600" cy="308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剪纸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757238"/>
            <a:ext cx="3124200" cy="29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剪纸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38600"/>
            <a:ext cx="3463925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7" descr="剪纸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238" y="4114800"/>
            <a:ext cx="2468562" cy="236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86B2D7-286B-2AFA-D58B-CF8175E0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609600" y="304800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33400" y="6096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ea typeface="隶书" pitchFamily="49" charset="-122"/>
              </a:rPr>
              <a:t>一、三种剪刻法：阴刻、阳刻、阴阳混合刻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295400" y="1447800"/>
            <a:ext cx="5257800" cy="277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剪刻要决：先刻后剪</a:t>
            </a: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                     先里后处</a:t>
            </a: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                     先细后粗</a:t>
            </a: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                     千剪万剪剪不断</a:t>
            </a:r>
          </a:p>
        </p:txBody>
      </p:sp>
      <p:pic>
        <p:nvPicPr>
          <p:cNvPr id="5125" name="Picture 5" descr="剪纸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46563"/>
            <a:ext cx="3048000" cy="22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剪纸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43400"/>
            <a:ext cx="2286000" cy="223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剪纸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254500"/>
            <a:ext cx="25146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52D9E5-DA3F-0DC5-C84A-5BAE3BCB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457200"/>
            <a:ext cx="8610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二、中国剪纸挂串：应用串挂方式将剪纸作品</a:t>
            </a: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                  连接在一起的装饰物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1161" y="1957065"/>
            <a:ext cx="738664" cy="2934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ea typeface="楷体_GB2312" pitchFamily="49" charset="-122"/>
              </a:rPr>
              <a:t>剪纸挂串部件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3276600" y="2414265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781800" y="2001515"/>
            <a:ext cx="114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6600FF"/>
                </a:solidFill>
                <a:ea typeface="楷体_GB2312" pitchFamily="49" charset="-122"/>
              </a:rPr>
              <a:t>顶</a:t>
            </a: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3276600" y="3481065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6858000" y="3023865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6600FF"/>
                </a:solidFill>
                <a:ea typeface="楷体_GB2312" pitchFamily="49" charset="-122"/>
              </a:rPr>
              <a:t>花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3276600" y="4547865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6858000" y="4120828"/>
            <a:ext cx="1676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6600FF"/>
                </a:solidFill>
                <a:ea typeface="楷体_GB2312" pitchFamily="49" charset="-122"/>
              </a:rPr>
              <a:t>缀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6A4818-7003-64F7-A8E2-255A6241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C7790558-E60B-0776-6F5E-2A189F0524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36556"/>
              </p:ext>
            </p:extLst>
          </p:nvPr>
        </p:nvGraphicFramePr>
        <p:xfrm>
          <a:off x="1524000" y="237854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6553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三、步骤和方法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68313" y="1066800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1</a:t>
            </a:r>
            <a:r>
              <a:rPr lang="zh-CN" altLang="en-US" b="1">
                <a:solidFill>
                  <a:srgbClr val="990000"/>
                </a:solidFill>
              </a:rPr>
              <a:t>、折纸：用各色彩纸按照图中所示折成四面对称剪纸。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457200" y="1776413"/>
            <a:ext cx="86868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2</a:t>
            </a:r>
            <a:r>
              <a:rPr lang="zh-CN" altLang="en-US" b="1">
                <a:solidFill>
                  <a:srgbClr val="990000"/>
                </a:solidFill>
              </a:rPr>
              <a:t>、画图：在折叠好的纸上分别把图</a:t>
            </a:r>
            <a:r>
              <a:rPr lang="en-US" altLang="zh-CN" b="1">
                <a:solidFill>
                  <a:srgbClr val="990000"/>
                </a:solidFill>
              </a:rPr>
              <a:t>1—7</a:t>
            </a:r>
            <a:r>
              <a:rPr lang="zh-CN" altLang="en-US" b="1">
                <a:solidFill>
                  <a:srgbClr val="990000"/>
                </a:solidFill>
              </a:rPr>
              <a:t>中的五种图案画在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990000"/>
                </a:solidFill>
              </a:rPr>
              <a:t>                   不同的彩纸上。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457200" y="2924175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3</a:t>
            </a:r>
            <a:r>
              <a:rPr lang="zh-CN" altLang="en-US" b="1">
                <a:solidFill>
                  <a:srgbClr val="990000"/>
                </a:solidFill>
              </a:rPr>
              <a:t>、剪刻：在画好的纸样上进行剪刻。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457200" y="3644900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4</a:t>
            </a:r>
            <a:r>
              <a:rPr lang="zh-CN" altLang="en-US" b="1">
                <a:solidFill>
                  <a:srgbClr val="990000"/>
                </a:solidFill>
              </a:rPr>
              <a:t>、粘贴：把线夹在剪纸中间，重叠粘贴。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57200" y="4365625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5</a:t>
            </a:r>
            <a:r>
              <a:rPr lang="zh-CN" altLang="en-US" b="1">
                <a:solidFill>
                  <a:srgbClr val="990000"/>
                </a:solidFill>
              </a:rPr>
              <a:t>、点缀：下面结穗，上面打结，即可制作完成。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BA2418-B91C-0168-23A4-B59468D3B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  <p:sp>
        <p:nvSpPr>
          <p:cNvPr id="5" name="动作按钮: 后退或前一项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CE5B58E-2C04-E698-7BAE-BEAB253C1FCB}"/>
              </a:ext>
            </a:extLst>
          </p:cNvPr>
          <p:cNvSpPr/>
          <p:nvPr/>
        </p:nvSpPr>
        <p:spPr bwMode="auto">
          <a:xfrm>
            <a:off x="1331640" y="5445224"/>
            <a:ext cx="720000" cy="540000"/>
          </a:xfrm>
          <a:prstGeom prst="actionButtonBackPrevious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6" name="动作按钮: 转到结尾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2C7AFD1-8D2A-F520-A94F-C7CFFE415A99}"/>
              </a:ext>
            </a:extLst>
          </p:cNvPr>
          <p:cNvSpPr/>
          <p:nvPr/>
        </p:nvSpPr>
        <p:spPr bwMode="auto">
          <a:xfrm>
            <a:off x="2699792" y="5445224"/>
            <a:ext cx="720000" cy="540000"/>
          </a:xfrm>
          <a:prstGeom prst="actionButtonEnd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762000" y="425450"/>
            <a:ext cx="6705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四、注意事项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62000" y="1385888"/>
            <a:ext cx="838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、对称剪纸，重叠粘贴必须平整，线要粘牢。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762000" y="2071688"/>
            <a:ext cx="708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、细致、准确、切忌剪断或刻断。</a:t>
            </a:r>
          </a:p>
        </p:txBody>
      </p:sp>
      <p:pic>
        <p:nvPicPr>
          <p:cNvPr id="8200" name="Picture 8" descr="剪纸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8" y="3429000"/>
            <a:ext cx="337343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1" name="Picture 9" descr="剪纸二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050" y="3352800"/>
            <a:ext cx="30035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3" name="Picture 11" descr="剪纸三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163" y="3352800"/>
            <a:ext cx="289083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B52D13-5D31-F366-15C0-34F347A5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670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五、课堂安全</a:t>
            </a:r>
            <a:r>
              <a:rPr lang="en-US" altLang="zh-CN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人人遵守）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838200" y="12954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、在刻纸时，桌面上垫上一本废书。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838200" y="22098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、手指不要紧提捏刀口，控制用刀的力度。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838200" y="31242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、不准用刀对乱刻画。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838200" y="40386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、刻刀割伤手指时，及时报告教师。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961E01-4E7B-C44A-2532-D38D1C1E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5CBDC6-122C-F5C6-633A-BC3E3CB70CE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366243"/>
            <a:ext cx="2880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6324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六、分析和评价</a:t>
            </a:r>
          </a:p>
        </p:txBody>
      </p:sp>
      <p:graphicFrame>
        <p:nvGraphicFramePr>
          <p:cNvPr id="10350" name="Group 110"/>
          <p:cNvGraphicFramePr>
            <a:graphicFrameLocks noGrp="1"/>
          </p:cNvGraphicFramePr>
          <p:nvPr/>
        </p:nvGraphicFramePr>
        <p:xfrm>
          <a:off x="533400" y="1066800"/>
          <a:ext cx="8305800" cy="500596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项目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内容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评价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0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技术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、在操作中是否先刻后剪、先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 细后粗、先里后外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、整体效果是否协调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劳动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表现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、带工具情况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、场景整理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、注意安全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CCF56B-6CC0-442C-5D29-CA83F8D9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中国剪纸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60348D7CB6F872ADD66C55292F18B66EF98E6DEE81223FB6CFF164019C2FE7A5" val="[{&quot;GradientColorId&quot;:&quot;&quot;,&quot;IsFree&quot;:true,&quot;IsGradient&quot;:false,&quot;ImagePath&quot;:&quot;&quot;,&quot;GradientColor&quot;:null,&quot;SimpleColor&quot;:&quot;#00B050&quot;}]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Pages>0</Pages>
  <Words>458</Words>
  <Characters>0</Characters>
  <Application>Microsoft Office PowerPoint</Application>
  <DocSecurity>0</DocSecurity>
  <PresentationFormat>全屏显示(4:3)</PresentationFormat>
  <Lines>0</Lines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华文彩云</vt:lpstr>
      <vt:lpstr>华文琥珀</vt:lpstr>
      <vt:lpstr>华文隶书</vt:lpstr>
      <vt:lpstr>楷体_GB2312</vt:lpstr>
      <vt:lpstr>隶书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紫薯干</cp:lastModifiedBy>
  <cp:revision>10</cp:revision>
  <cp:lastPrinted>1601-01-01T00:00:00Z</cp:lastPrinted>
  <dcterms:modified xsi:type="dcterms:W3CDTF">2026-08-09T07:29:18Z</dcterms:modified>
  <cp:category/>
</cp:coreProperties>
</file>