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81" r:id="rId3"/>
    <p:sldId id="382" r:id="rId5"/>
    <p:sldId id="409" r:id="rId6"/>
    <p:sldId id="384" r:id="rId7"/>
    <p:sldId id="385" r:id="rId8"/>
    <p:sldId id="386" r:id="rId9"/>
    <p:sldId id="407" r:id="rId10"/>
    <p:sldId id="392" r:id="rId11"/>
    <p:sldId id="393" r:id="rId12"/>
    <p:sldId id="394" r:id="rId13"/>
    <p:sldId id="395" r:id="rId14"/>
    <p:sldId id="396" r:id="rId15"/>
    <p:sldId id="400" r:id="rId16"/>
    <p:sldId id="401" r:id="rId17"/>
    <p:sldId id="402" r:id="rId18"/>
    <p:sldId id="403" r:id="rId19"/>
    <p:sldId id="404" r:id="rId20"/>
    <p:sldId id="405" r:id="rId21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6a676dba-36c9-4d2c-9a07-d9e0d889dbe3}">
          <p14:sldIdLst>
            <p14:sldId id="381"/>
            <p14:sldId id="382"/>
            <p14:sldId id="409"/>
          </p14:sldIdLst>
        </p14:section>
        <p14:section name="如何防溺水" id="{c568c118-906e-403d-a076-a5d64372bfc3}">
          <p14:sldIdLst>
            <p14:sldId id="384"/>
            <p14:sldId id="385"/>
            <p14:sldId id="386"/>
            <p14:sldId id="407"/>
          </p14:sldIdLst>
        </p14:section>
        <p14:section name="溺水施救方法" id="{7ce0c163-7eb0-4263-b21d-5b991e9fc6de}">
          <p14:sldIdLst>
            <p14:sldId id="392"/>
            <p14:sldId id="393"/>
            <p14:sldId id="394"/>
          </p14:sldIdLst>
        </p14:section>
        <p14:section name="哪些地方易溺水" id="{5a196f2c-61b5-4a79-b22c-167a01e84032}">
          <p14:sldIdLst>
            <p14:sldId id="395"/>
            <p14:sldId id="396"/>
            <p14:sldId id="400"/>
          </p14:sldIdLst>
        </p14:section>
        <p14:section name="如何教育孩子" id="{b54ac0d5-d4d5-429a-a130-f142bbc47b98}">
          <p14:sldIdLst>
            <p14:sldId id="401"/>
            <p14:sldId id="402"/>
            <p14:sldId id="403"/>
            <p14:sldId id="404"/>
            <p14:sldId id="40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present/>
    <p:sldAll/>
  </p:showPr>
  <p:clrMru>
    <a:srgbClr val="0070CE"/>
    <a:srgbClr val="0D8BBD"/>
    <a:srgbClr val="0D687D"/>
    <a:srgbClr val="019FE8"/>
    <a:srgbClr val="FFFFFF"/>
    <a:srgbClr val="DCDCDC"/>
    <a:srgbClr val="F0F0F0"/>
    <a:srgbClr val="E6E6E6"/>
    <a:srgbClr val="C8C8C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5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gs" Target="tags/tag68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0B8526-0940-48C8-9FA1-9BF4F2C473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0B8526-0940-48C8-9FA1-9BF4F2C473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0B8526-0940-48C8-9FA1-9BF4F2C473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0B8526-0940-48C8-9FA1-9BF4F2C473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1">
          <a:blip r:embed="rId2">
            <a:alphaModFix amt="8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1198800" y="914400"/>
            <a:ext cx="9799200" cy="2570400"/>
          </a:xfrm>
          <a:effectLst/>
        </p:spPr>
        <p:txBody>
          <a:bodyPr lIns="90000" tIns="46800" rIns="90000" bIns="46800" anchor="b" anchorCtr="0">
            <a:normAutofit/>
          </a:bodyPr>
          <a:lstStyle>
            <a:lvl1pPr algn="ctr">
              <a:defRPr sz="8000" b="0" u="none" strike="noStrike" kern="1200" cap="none" spc="300" normalizeH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uFillTx/>
                <a:latin typeface="华文琥珀" panose="02010800040101010101" charset="-122"/>
                <a:ea typeface="华文琥珀" panose="020108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62.xml"/><Relationship Id="rId18" Type="http://schemas.openxmlformats.org/officeDocument/2006/relationships/tags" Target="../tags/tag61.xml"/><Relationship Id="rId17" Type="http://schemas.openxmlformats.org/officeDocument/2006/relationships/tags" Target="../tags/tag60.xml"/><Relationship Id="rId16" Type="http://schemas.openxmlformats.org/officeDocument/2006/relationships/tags" Target="../tags/tag59.xml"/><Relationship Id="rId15" Type="http://schemas.openxmlformats.org/officeDocument/2006/relationships/tags" Target="../tags/tag58.xml"/><Relationship Id="rId14" Type="http://schemas.openxmlformats.org/officeDocument/2006/relationships/tags" Target="../tags/tag57.xml"/><Relationship Id="rId13" Type="http://schemas.openxmlformats.org/officeDocument/2006/relationships/image" Target="../media/image2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>
            <a:alphaModFix amt="5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slide" Target="slide14.xml"/><Relationship Id="rId4" Type="http://schemas.openxmlformats.org/officeDocument/2006/relationships/slide" Target="slide11.xml"/><Relationship Id="rId3" Type="http://schemas.openxmlformats.org/officeDocument/2006/relationships/slide" Target="slide8.xml"/><Relationship Id="rId2" Type="http://schemas.openxmlformats.org/officeDocument/2006/relationships/slide" Target="slide4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slide" Target="slide3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3.xml"/><Relationship Id="rId2" Type="http://schemas.openxmlformats.org/officeDocument/2006/relationships/image" Target="../media/image17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slide" Target="slide3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slide" Target="slide3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tags" Target="../tags/tag67.xml"/><Relationship Id="rId7" Type="http://schemas.openxmlformats.org/officeDocument/2006/relationships/image" Target="../media/image9.png"/><Relationship Id="rId6" Type="http://schemas.openxmlformats.org/officeDocument/2006/relationships/tags" Target="../tags/tag66.xml"/><Relationship Id="rId5" Type="http://schemas.openxmlformats.org/officeDocument/2006/relationships/image" Target="../media/image8.png"/><Relationship Id="rId4" Type="http://schemas.openxmlformats.org/officeDocument/2006/relationships/tags" Target="../tags/tag65.xml"/><Relationship Id="rId3" Type="http://schemas.openxmlformats.org/officeDocument/2006/relationships/slide" Target="slide3.xml"/><Relationship Id="rId2" Type="http://schemas.openxmlformats.org/officeDocument/2006/relationships/image" Target="../media/image7.png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63419" y="-968992"/>
            <a:ext cx="3223194" cy="3029803"/>
          </a:xfrm>
          <a:prstGeom prst="rect">
            <a:avLst/>
          </a:prstGeom>
        </p:spPr>
      </p:pic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2" name="标题 11"/>
          <p:cNvSpPr/>
          <p:nvPr>
            <p:ph type="ctrTitle"/>
          </p:nvPr>
        </p:nvSpPr>
        <p:spPr/>
        <p:txBody>
          <a:bodyPr>
            <a:normAutofit/>
          </a:bodyPr>
          <a:p>
            <a:r>
              <a:rPr lang="zh-CN" altLang="en-US"/>
              <a:t>小学生</a:t>
            </a:r>
            <a:br>
              <a:rPr lang="zh-CN" altLang="en-US"/>
            </a:br>
            <a:r>
              <a:rPr lang="zh-CN" altLang="en-US"/>
              <a:t>防溺水安全知识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10000">
        <p:wipe dir="u"/>
      </p:transition>
    </mc:Choice>
    <mc:Fallback>
      <p:transition spd="slow" advClick="0" advTm="10000">
        <p:wipe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307524" y="-609600"/>
            <a:ext cx="7398135" cy="6855926"/>
          </a:xfrm>
          <a:prstGeom prst="rect">
            <a:avLst/>
          </a:prstGeom>
        </p:spPr>
      </p:pic>
      <p:pic>
        <p:nvPicPr>
          <p:cNvPr id="3" name="图片 2" descr="图片包含 房间, 赌场, 场景&#10;&#10;描述已自动生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1314" y="994611"/>
            <a:ext cx="5863389" cy="5863389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63270" y="1403350"/>
            <a:ext cx="5085715" cy="28301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 fontAlgn="auto" hangingPunct="0">
              <a:lnSpc>
                <a:spcPct val="200000"/>
              </a:lnSpc>
              <a:spcAft>
                <a:spcPts val="1200"/>
              </a:spcAft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溺水是造成中小学生意外死亡的第一杀手！</a:t>
            </a:r>
            <a:endParaRPr lang="en-US" altLang="zh-CN" sz="20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just" fontAlgn="auto" hangingPunct="0">
              <a:lnSpc>
                <a:spcPct val="200000"/>
              </a:lnSpc>
              <a:spcAft>
                <a:spcPts val="1200"/>
              </a:spcAft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在此，我们希望广大家长务必增强安全意识和监护意识，切实承担起监护责任，加强对孩子的教育和管理。那么，如何避免悲剧发生？遇到儿童溺水怎么办？这里，提供一些“防溺水”知识。</a:t>
            </a:r>
            <a:endParaRPr lang="zh-CN" altLang="en-US" sz="1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10000">
        <p:wipe dir="u"/>
      </p:transition>
    </mc:Choice>
    <mc:Fallback>
      <p:transition spd="slow" advClick="0" advTm="10000">
        <p:wipe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flipH="1">
            <a:off x="373273" y="1441471"/>
            <a:ext cx="4962105" cy="496210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13904" y="787899"/>
            <a:ext cx="4858604" cy="110680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目录 </a:t>
            </a:r>
            <a:r>
              <a:rPr lang="en-US" altLang="zh-CN" sz="36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CONTNTES</a:t>
            </a:r>
            <a:endParaRPr lang="zh-CN" altLang="en-US" sz="6600" b="1" dirty="0"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: 圆角 6">
            <a:hlinkClick r:id="rId2" action="ppaction://hlinksldjump"/>
          </p:cNvPr>
          <p:cNvSpPr/>
          <p:nvPr/>
        </p:nvSpPr>
        <p:spPr>
          <a:xfrm>
            <a:off x="6542786" y="1173913"/>
            <a:ext cx="4312693" cy="743926"/>
          </a:xfrm>
          <a:prstGeom prst="roundRect">
            <a:avLst>
              <a:gd name="adj" fmla="val 29509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r>
              <a:rPr lang="zh-CN" altLang="en-US" sz="32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、如 何 防 溺 水</a:t>
            </a:r>
            <a:endParaRPr lang="zh-CN" altLang="en-US" sz="32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: 圆角 9">
            <a:hlinkClick r:id="rId3" action="ppaction://hlinksldjump"/>
          </p:cNvPr>
          <p:cNvSpPr/>
          <p:nvPr/>
        </p:nvSpPr>
        <p:spPr>
          <a:xfrm>
            <a:off x="6542786" y="2405435"/>
            <a:ext cx="4312693" cy="743926"/>
          </a:xfrm>
          <a:prstGeom prst="roundRect">
            <a:avLst>
              <a:gd name="adj" fmla="val 29509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r>
              <a:rPr lang="zh-CN" altLang="en-US" sz="32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、溺水施救方法</a:t>
            </a:r>
            <a:endParaRPr lang="zh-CN" altLang="en-US" sz="32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10">
            <a:hlinkClick r:id="rId4" action="ppaction://hlinksldjump"/>
          </p:cNvPr>
          <p:cNvSpPr/>
          <p:nvPr/>
        </p:nvSpPr>
        <p:spPr>
          <a:xfrm>
            <a:off x="6542786" y="3636957"/>
            <a:ext cx="4312693" cy="743926"/>
          </a:xfrm>
          <a:prstGeom prst="roundRect">
            <a:avLst>
              <a:gd name="adj" fmla="val 29509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r>
              <a:rPr lang="zh-CN" altLang="en-US" sz="32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、哪些地方易溺水</a:t>
            </a:r>
            <a:endParaRPr lang="zh-CN" altLang="en-US" sz="32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: 圆角 11">
            <a:hlinkClick r:id="rId5" action="ppaction://hlinksldjump"/>
          </p:cNvPr>
          <p:cNvSpPr/>
          <p:nvPr/>
        </p:nvSpPr>
        <p:spPr>
          <a:xfrm>
            <a:off x="6542786" y="4868480"/>
            <a:ext cx="4312693" cy="743926"/>
          </a:xfrm>
          <a:prstGeom prst="roundRect">
            <a:avLst>
              <a:gd name="adj" fmla="val 29509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r>
              <a:rPr lang="zh-CN" altLang="en-US" sz="32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、如何教育孩子</a:t>
            </a:r>
            <a:endParaRPr lang="zh-CN" altLang="en-US" sz="32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10000">
        <p:wipe dir="u"/>
      </p:transition>
    </mc:Choice>
    <mc:Fallback>
      <p:transition spd="slow" advClick="0" advTm="10000">
        <p:wipe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7" grpId="0" bldLvl="0" animBg="1"/>
      <p:bldP spid="10" grpId="0" bldLvl="0" animBg="1"/>
      <p:bldP spid="11" grpId="0" bldLvl="0" animBg="1"/>
      <p:bldP spid="12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73457" y="1514900"/>
            <a:ext cx="5513514" cy="4804013"/>
          </a:xfrm>
          <a:prstGeom prst="rect">
            <a:avLst/>
          </a:prstGeom>
        </p:spPr>
      </p:pic>
      <p:sp>
        <p:nvSpPr>
          <p:cNvPr id="4" name="矩形 3">
            <a:hlinkClick r:id="rId2" action="ppaction://hlinksldjump"/>
          </p:cNvPr>
          <p:cNvSpPr/>
          <p:nvPr/>
        </p:nvSpPr>
        <p:spPr>
          <a:xfrm>
            <a:off x="1464862" y="2255245"/>
            <a:ext cx="4048840" cy="1014730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  <p:txBody>
          <a:bodyPr wrap="square">
            <a:spAutoFit/>
          </a:bodyPr>
          <a:lstStyle/>
          <a:p>
            <a:pPr algn="ctr"/>
            <a:r>
              <a:rPr lang="zh-CN" altLang="en-US" sz="60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如何防溺水</a:t>
            </a:r>
            <a:endParaRPr lang="zh-CN" altLang="en-US" sz="60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882185" y="539114"/>
            <a:ext cx="6660114" cy="597765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-168435"/>
            <a:ext cx="2421517" cy="242151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478884" y="3321640"/>
            <a:ext cx="1403301" cy="13792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10000">
        <p:checker dir="vert"/>
      </p:transition>
    </mc:Choice>
    <mc:Fallback>
      <p:transition spd="slow" advClick="0" advTm="10000">
        <p:checke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9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9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9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 uiExpand="1" build="allAtOnce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72955" y="176572"/>
            <a:ext cx="1173708" cy="928896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446662" y="348633"/>
            <a:ext cx="4926841" cy="583565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lang="zh-CN" altLang="en-US" sz="32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牢记防溺水措施”六不准”</a:t>
            </a:r>
            <a:endParaRPr lang="zh-CN" altLang="en-US" sz="32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1425906" y="1497780"/>
            <a:ext cx="4905186" cy="4214045"/>
          </a:xfrm>
          <a:prstGeom prst="rect">
            <a:avLst/>
          </a:prstGeom>
        </p:spPr>
      </p:pic>
      <p:sp>
        <p:nvSpPr>
          <p:cNvPr id="8" name="矩形: 圆角 7"/>
          <p:cNvSpPr/>
          <p:nvPr/>
        </p:nvSpPr>
        <p:spPr>
          <a:xfrm>
            <a:off x="6509987" y="1856034"/>
            <a:ext cx="4858602" cy="576679"/>
          </a:xfrm>
          <a:prstGeom prst="roundRect">
            <a:avLst>
              <a:gd name="adj" fmla="val 29509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不准私自下水游泳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6509987" y="2975151"/>
            <a:ext cx="4858602" cy="576679"/>
          </a:xfrm>
          <a:prstGeom prst="roundRect">
            <a:avLst>
              <a:gd name="adj" fmla="val 29509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不准擅自与他人结伴游泳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6509987" y="4094267"/>
            <a:ext cx="4858602" cy="998023"/>
          </a:xfrm>
          <a:prstGeom prst="roundRect">
            <a:avLst>
              <a:gd name="adj" fmla="val 29509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不准在无家长或老师带队的情况下游泳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142487" y="4694831"/>
            <a:ext cx="2580946" cy="13511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10000">
        <p:wipe dir="u"/>
      </p:transition>
    </mc:Choice>
    <mc:Fallback>
      <p:transition spd="slow" advClick="0" advTm="10000">
        <p:wipe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9" grpId="0" bldLvl="0" animBg="1"/>
      <p:bldP spid="10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1"/>
          <p:cNvSpPr/>
          <p:nvPr/>
        </p:nvSpPr>
        <p:spPr>
          <a:xfrm>
            <a:off x="975813" y="2486534"/>
            <a:ext cx="2879677" cy="2879677"/>
          </a:xfrm>
          <a:prstGeom prst="ellipse">
            <a:avLst/>
          </a:prstGeom>
          <a:noFill/>
          <a:ln w="76200"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0" name="矩形 2"/>
          <p:cNvSpPr/>
          <p:nvPr/>
        </p:nvSpPr>
        <p:spPr>
          <a:xfrm>
            <a:off x="4626816" y="2486534"/>
            <a:ext cx="2879677" cy="2879677"/>
          </a:xfrm>
          <a:prstGeom prst="ellipse">
            <a:avLst/>
          </a:prstGeom>
          <a:noFill/>
          <a:ln w="76200"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2" name="矩形 3"/>
          <p:cNvSpPr/>
          <p:nvPr/>
        </p:nvSpPr>
        <p:spPr>
          <a:xfrm>
            <a:off x="8384954" y="2486534"/>
            <a:ext cx="2879677" cy="2879677"/>
          </a:xfrm>
          <a:prstGeom prst="ellipse">
            <a:avLst/>
          </a:prstGeom>
          <a:noFill/>
          <a:ln w="76200"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pic>
        <p:nvPicPr>
          <p:cNvPr id="3" name="图片 4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72955" y="176572"/>
            <a:ext cx="1173708" cy="928896"/>
          </a:xfrm>
          <a:prstGeom prst="rect">
            <a:avLst/>
          </a:prstGeom>
        </p:spPr>
      </p:pic>
      <p:pic>
        <p:nvPicPr>
          <p:cNvPr id="5" name="图片 5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685496" y="1920191"/>
            <a:ext cx="1460311" cy="14193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238917" y="1830748"/>
            <a:ext cx="1655475" cy="1598252"/>
          </a:xfrm>
          <a:prstGeom prst="rect">
            <a:avLst/>
          </a:prstGeom>
        </p:spPr>
      </p:pic>
      <p:pic>
        <p:nvPicPr>
          <p:cNvPr id="6" name="图片 7"/>
          <p:cNvPicPr>
            <a:picLocks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889920" y="1920191"/>
            <a:ext cx="1869744" cy="1419367"/>
          </a:xfrm>
          <a:prstGeom prst="rect">
            <a:avLst/>
          </a:prstGeom>
        </p:spPr>
      </p:pic>
      <p:sp>
        <p:nvSpPr>
          <p:cNvPr id="14" name="文本框 8"/>
          <p:cNvSpPr txBox="1"/>
          <p:nvPr/>
        </p:nvSpPr>
        <p:spPr>
          <a:xfrm>
            <a:off x="1163320" y="3339465"/>
            <a:ext cx="250571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不准到不熟悉的水域游泳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" name="文本框 9"/>
          <p:cNvSpPr txBox="1"/>
          <p:nvPr/>
        </p:nvSpPr>
        <p:spPr>
          <a:xfrm>
            <a:off x="4934585" y="3339465"/>
            <a:ext cx="237172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2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不准到无安全设施、无救护人员的水域游泳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6" name="文本框 10"/>
          <p:cNvSpPr txBox="1"/>
          <p:nvPr/>
        </p:nvSpPr>
        <p:spPr>
          <a:xfrm>
            <a:off x="8488680" y="3339465"/>
            <a:ext cx="267335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不准不会水性的学生擅自下水施救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7" name="文本框 11"/>
          <p:cNvSpPr txBox="1"/>
          <p:nvPr/>
        </p:nvSpPr>
        <p:spPr>
          <a:xfrm>
            <a:off x="1685290" y="349250"/>
            <a:ext cx="6167120" cy="5835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p>
            <a:pPr algn="l"/>
            <a:r>
              <a:rPr lang="zh-CN" altLang="en-US" sz="3200" b="1">
                <a:solidFill>
                  <a:srgbClr val="0070C0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牢记防溺水措施</a:t>
            </a:r>
            <a:r>
              <a:rPr lang="en-US" altLang="zh-CN" sz="3200" b="1">
                <a:solidFill>
                  <a:srgbClr val="0070C0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3200" b="1">
                <a:solidFill>
                  <a:srgbClr val="0070C0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六不准</a:t>
            </a:r>
            <a:r>
              <a:rPr lang="en-US" altLang="zh-CN" sz="3200" b="1">
                <a:solidFill>
                  <a:srgbClr val="0070C0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endParaRPr lang="en-US" altLang="zh-CN" sz="3200" b="1" dirty="0">
              <a:solidFill>
                <a:srgbClr val="0070C0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10000">
        <p:wipe dir="u"/>
      </p:transition>
    </mc:Choice>
    <mc:Fallback>
      <p:transition spd="slow" advClick="0" advTm="10000">
        <p:wipe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10" grpId="0" bldLvl="0" animBg="1"/>
      <p:bldP spid="12" grpId="0" bldLvl="0" animBg="1"/>
      <p:bldP spid="14" grpId="0"/>
      <p:bldP spid="15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72955" y="176572"/>
            <a:ext cx="1173708" cy="928896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696325" y="2935605"/>
            <a:ext cx="4098925" cy="409892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446663" y="348633"/>
            <a:ext cx="3957850" cy="583565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dist"/>
            <a:r>
              <a:rPr lang="en-US" altLang="zh-CN" sz="32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r>
              <a:rPr lang="zh-CN" altLang="en-US" sz="32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种迹象辨别溺水者</a:t>
            </a:r>
            <a:endParaRPr lang="zh-CN" altLang="en-US" sz="32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8" name="表格 7"/>
          <p:cNvGraphicFramePr/>
          <p:nvPr>
            <p:custDataLst>
              <p:tags r:id="rId3"/>
            </p:custDataLst>
          </p:nvPr>
        </p:nvGraphicFramePr>
        <p:xfrm>
          <a:off x="1071245" y="1287780"/>
          <a:ext cx="9908540" cy="440944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472565"/>
                <a:gridCol w="8435975"/>
              </a:tblGrid>
              <a:tr h="53911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/>
                        <a:t>序号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/>
                        <a:t>迹象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</a:tr>
              <a:tr h="55181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/>
                        <a:t>1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/>
                        <a:t>溺水者的嘴会没入水中再浮出水面，没有时间呼救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</a:tr>
              <a:tr h="540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/>
                        <a:t>2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/>
                        <a:t>溺水儿童手臂可能前伸，但无法划水向救援者移动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</a:tr>
              <a:tr h="5511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/>
                        <a:t>3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/>
                        <a:t>溺水者在水中是直立的，挣扎20-60秒之后下沉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</a:tr>
              <a:tr h="55181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/>
                        <a:t>4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/>
                        <a:t>溺水者眼神呆滞，无法专注或闭上眼睛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</a:tr>
              <a:tr h="55181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/>
                        <a:t>5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/>
                        <a:t>溺水儿童的头可能前倾，头在水中，嘴巴在水面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</a:tr>
              <a:tr h="5600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/>
                        <a:t>6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/>
                        <a:t>看起来像在发呆不像溺水，但如果对询问没有反应，就需要立即施出援手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</a:tr>
              <a:tr h="55181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/>
                        <a:t>7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/>
                        <a:t>小孩子戏水会发出很多声音，一旦安静无声要警醒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10000">
        <p:wipe dir="u"/>
      </p:transition>
    </mc:Choice>
    <mc:Fallback>
      <p:transition spd="slow" advClick="0" advTm="10000">
        <p:wipe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73457" y="1514900"/>
            <a:ext cx="5513514" cy="4804013"/>
          </a:xfrm>
          <a:prstGeom prst="rect">
            <a:avLst/>
          </a:prstGeom>
        </p:spPr>
      </p:pic>
      <p:sp>
        <p:nvSpPr>
          <p:cNvPr id="4" name="矩形 3">
            <a:hlinkClick r:id="rId2" action="ppaction://hlinksldjump"/>
          </p:cNvPr>
          <p:cNvSpPr/>
          <p:nvPr/>
        </p:nvSpPr>
        <p:spPr>
          <a:xfrm>
            <a:off x="1187115" y="2255245"/>
            <a:ext cx="4695069" cy="922020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  <p:txBody>
          <a:bodyPr wrap="square">
            <a:spAutoFit/>
          </a:bodyPr>
          <a:lstStyle/>
          <a:p>
            <a:pPr algn="ctr"/>
            <a:r>
              <a:rPr lang="zh-CN" altLang="en-US" sz="5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溺水施救方法</a:t>
            </a:r>
            <a:endParaRPr lang="zh-CN" altLang="en-US" sz="5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882185" y="539114"/>
            <a:ext cx="6660114" cy="597765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-168435"/>
            <a:ext cx="2421517" cy="242151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478884" y="3321640"/>
            <a:ext cx="1403301" cy="13792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10000">
        <p:checker dir="vert"/>
      </p:transition>
    </mc:Choice>
    <mc:Fallback>
      <p:transition spd="slow" advClick="0" advTm="10000">
        <p:checke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72955" y="176572"/>
            <a:ext cx="1173708" cy="928896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446663" y="348633"/>
            <a:ext cx="2465694" cy="583565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dist"/>
            <a:r>
              <a:rPr lang="zh-CN" altLang="en-US" sz="32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如何施救？</a:t>
            </a:r>
            <a:endParaRPr lang="zh-CN" altLang="en-US" sz="32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13555" y="1462936"/>
            <a:ext cx="4329230" cy="4329230"/>
          </a:xfrm>
          <a:prstGeom prst="rect">
            <a:avLst/>
          </a:prstGeom>
        </p:spPr>
      </p:pic>
      <p:sp>
        <p:nvSpPr>
          <p:cNvPr id="6" name="矩形: 圆角 5"/>
          <p:cNvSpPr/>
          <p:nvPr/>
        </p:nvSpPr>
        <p:spPr>
          <a:xfrm>
            <a:off x="823983" y="2210887"/>
            <a:ext cx="2913228" cy="1428159"/>
          </a:xfrm>
          <a:prstGeom prst="roundRect">
            <a:avLst>
              <a:gd name="adj" fmla="val 29509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迅速救上岸：最好从背部将落水者头部托起，或从上面拉起其胸部，使其面部露出水面，然后将其拖上岸</a:t>
            </a:r>
            <a:endParaRPr lang="zh-CN" altLang="en-US" sz="1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948501" y="1634098"/>
            <a:ext cx="664192" cy="664192"/>
          </a:xfrm>
          <a:prstGeom prst="ellipse">
            <a:avLst/>
          </a:prstGeom>
          <a:solidFill>
            <a:srgbClr val="0070C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823983" y="4364007"/>
            <a:ext cx="2913228" cy="1428159"/>
          </a:xfrm>
          <a:prstGeom prst="roundRect">
            <a:avLst>
              <a:gd name="adj" fmla="val 29509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清除口鼻堵塞物：让溺水者头朝下，撬开其牙齿，用手指清除口腔和鼻腔内杂物</a:t>
            </a:r>
            <a:endParaRPr lang="zh-CN" altLang="en-US" sz="1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948501" y="3787218"/>
            <a:ext cx="664192" cy="664192"/>
          </a:xfrm>
          <a:prstGeom prst="ellipse">
            <a:avLst/>
          </a:prstGeom>
          <a:solidFill>
            <a:srgbClr val="0070C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8619130" y="2219020"/>
            <a:ext cx="2913228" cy="1428159"/>
          </a:xfrm>
          <a:prstGeom prst="roundRect">
            <a:avLst>
              <a:gd name="adj" fmla="val 29509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倒出呼吸道内积水：救人者半跪，顶住溺水者的腹部，让溺水者头朝下，拍背</a:t>
            </a:r>
            <a:endParaRPr lang="zh-CN" altLang="en-US" sz="1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9743648" y="1642231"/>
            <a:ext cx="664192" cy="664192"/>
          </a:xfrm>
          <a:prstGeom prst="ellipse">
            <a:avLst/>
          </a:prstGeom>
          <a:solidFill>
            <a:srgbClr val="0070C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8619130" y="4372140"/>
            <a:ext cx="2913228" cy="1428159"/>
          </a:xfrm>
          <a:prstGeom prst="roundRect">
            <a:avLst>
              <a:gd name="adj" fmla="val 29509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人工呼吸：对呼吸及心跳微弱或心跳刚刚停止的溺水者，迅速进行人工呼吸，同时做胸外心脏按压</a:t>
            </a:r>
            <a:endParaRPr lang="zh-CN" altLang="en-US" sz="1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9743648" y="3795351"/>
            <a:ext cx="664192" cy="664192"/>
          </a:xfrm>
          <a:prstGeom prst="ellipse">
            <a:avLst/>
          </a:prstGeom>
          <a:solidFill>
            <a:srgbClr val="0070C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10000">
        <p:wipe dir="u"/>
      </p:transition>
    </mc:Choice>
    <mc:Fallback>
      <p:transition spd="slow" advClick="0" advTm="10000">
        <p:wipe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000"/>
                            </p:stCondLst>
                            <p:childTnLst>
                              <p:par>
                                <p:cTn id="5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72955" y="176572"/>
            <a:ext cx="1173708" cy="928896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446663" y="348633"/>
            <a:ext cx="2465694" cy="583565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dist"/>
            <a:r>
              <a:rPr lang="zh-CN" altLang="en-US" sz="32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如何施救？</a:t>
            </a:r>
            <a:endParaRPr lang="zh-CN" altLang="en-US" sz="32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859809" y="1883330"/>
            <a:ext cx="2019869" cy="1091882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吸 氧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2902422" y="1883330"/>
            <a:ext cx="7324295" cy="109188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现场有医疗条件，可对溺水者注射强心药物及吸氧。条件不足的，用手或针刺溺水者的人中等穴位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760664" y="2115403"/>
            <a:ext cx="1571527" cy="1571527"/>
          </a:xfrm>
          <a:prstGeom prst="rect">
            <a:avLst/>
          </a:prstGeom>
        </p:spPr>
      </p:pic>
      <p:sp>
        <p:nvSpPr>
          <p:cNvPr id="8" name="矩形: 圆角 7"/>
          <p:cNvSpPr/>
          <p:nvPr/>
        </p:nvSpPr>
        <p:spPr>
          <a:xfrm>
            <a:off x="859809" y="3650716"/>
            <a:ext cx="2019869" cy="1091882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脱下外套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2902422" y="3650716"/>
            <a:ext cx="7324295" cy="109188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如果溺水者身上穿着外套，要尽早脱下，湿漉漉的外套会带走身体热能，产生低温伤害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760664" y="3882789"/>
            <a:ext cx="1571527" cy="15715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10000">
        <p:wipe dir="u"/>
      </p:transition>
    </mc:Choice>
    <mc:Fallback>
      <p:transition spd="slow" advClick="0" advTm="10000">
        <p:wipe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8" grpId="0" bldLvl="0" animBg="1"/>
      <p:bldP spid="9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73457" y="1514900"/>
            <a:ext cx="5513514" cy="4804013"/>
          </a:xfrm>
          <a:prstGeom prst="rect">
            <a:avLst/>
          </a:prstGeom>
        </p:spPr>
      </p:pic>
      <p:sp>
        <p:nvSpPr>
          <p:cNvPr id="4" name="矩形 3">
            <a:hlinkClick r:id="rId2" action="ppaction://hlinksldjump"/>
          </p:cNvPr>
          <p:cNvSpPr/>
          <p:nvPr/>
        </p:nvSpPr>
        <p:spPr>
          <a:xfrm>
            <a:off x="1058779" y="2255245"/>
            <a:ext cx="5037221" cy="922020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  <p:txBody>
          <a:bodyPr wrap="square">
            <a:spAutoFit/>
          </a:bodyPr>
          <a:lstStyle/>
          <a:p>
            <a:pPr algn="ctr"/>
            <a:r>
              <a:rPr lang="zh-CN" altLang="en-US" sz="5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哪些地方易溺水</a:t>
            </a:r>
            <a:endParaRPr lang="zh-CN" altLang="en-US" sz="5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882185" y="539114"/>
            <a:ext cx="6660114" cy="597765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-168435"/>
            <a:ext cx="2421517" cy="242151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478884" y="3321640"/>
            <a:ext cx="1403301" cy="13792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10000">
        <p:checker dir="vert"/>
      </p:transition>
    </mc:Choice>
    <mc:Fallback>
      <p:transition spd="slow" advClick="0" advTm="10000">
        <p:checke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游泳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0000" y="2160000"/>
            <a:ext cx="5114290" cy="5114290"/>
          </a:xfrm>
          <a:prstGeom prst="rect">
            <a:avLst/>
          </a:prstGeom>
          <a:effectLst>
            <a:softEdge rad="508000"/>
          </a:effectLst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72955" y="176572"/>
            <a:ext cx="1173708" cy="928896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446663" y="348633"/>
            <a:ext cx="3193576" cy="583565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dist"/>
            <a:r>
              <a:rPr lang="zh-CN" altLang="en-US" sz="32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哪些地方易溺水</a:t>
            </a:r>
            <a:endParaRPr lang="zh-CN" altLang="en-US" sz="32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73248" y="176443"/>
            <a:ext cx="10904265" cy="7269509"/>
          </a:xfrm>
          <a:prstGeom prst="rect">
            <a:avLst/>
          </a:prstGeom>
          <a:effectLst/>
        </p:spPr>
      </p:pic>
      <p:sp>
        <p:nvSpPr>
          <p:cNvPr id="8" name="矩形 7"/>
          <p:cNvSpPr/>
          <p:nvPr/>
        </p:nvSpPr>
        <p:spPr>
          <a:xfrm>
            <a:off x="2992606" y="2319900"/>
            <a:ext cx="5186149" cy="2553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一般发生溺水的地点通常在：游泳池、水库、水坑、池塘、河流、溪边、海边等场所。</a:t>
            </a:r>
            <a:endParaRPr lang="en-US" altLang="zh-CN" sz="20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200000"/>
              </a:lnSpc>
            </a:pP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在溺水者当中，有的是不会游泳的人，也有的是一些会游泳、水性好的人。</a:t>
            </a:r>
            <a:endParaRPr lang="zh-CN" altLang="en-US" sz="20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10000">
        <p:wipe dir="u"/>
      </p:transition>
    </mc:Choice>
    <mc:Fallback>
      <p:transition spd="slow" advClick="0" advTm="10000">
        <p:wipe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72955" y="176572"/>
            <a:ext cx="1173708" cy="928896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446662" y="348633"/>
            <a:ext cx="4067033" cy="583565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dist"/>
            <a:r>
              <a:rPr lang="zh-CN" altLang="en-US" sz="32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野外水域为什么危险？</a:t>
            </a:r>
            <a:endParaRPr lang="zh-CN" altLang="en-US" sz="32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1122493" y="2744603"/>
            <a:ext cx="2897876" cy="317998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野外水域的未知因素多，游泳者往往对所在水域情况并不了解，有些水域看似平静，但水下经常会有漩涡、暗流，容易发生意外。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202" y="1269008"/>
            <a:ext cx="3466531" cy="2448060"/>
          </a:xfrm>
          <a:prstGeom prst="rect">
            <a:avLst/>
          </a:prstGeom>
        </p:spPr>
      </p:pic>
      <p:sp>
        <p:nvSpPr>
          <p:cNvPr id="11" name="矩形: 圆角 10"/>
          <p:cNvSpPr/>
          <p:nvPr/>
        </p:nvSpPr>
        <p:spPr>
          <a:xfrm>
            <a:off x="4880179" y="2735519"/>
            <a:ext cx="2897876" cy="317998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50000"/>
              </a:lnSpc>
            </a:pPr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野外人员稀少，一旦出现体力不支等意外情况，很难在第一时间被施救。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8543" y="1269008"/>
            <a:ext cx="1994914" cy="1994914"/>
          </a:xfrm>
          <a:prstGeom prst="rect">
            <a:avLst/>
          </a:prstGeom>
        </p:spPr>
      </p:pic>
      <p:sp>
        <p:nvSpPr>
          <p:cNvPr id="13" name="矩形: 圆角 12"/>
          <p:cNvSpPr/>
          <p:nvPr/>
        </p:nvSpPr>
        <p:spPr>
          <a:xfrm>
            <a:off x="8476168" y="2744603"/>
            <a:ext cx="2897876" cy="317998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50000"/>
              </a:lnSpc>
            </a:pPr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野外水质污染也比较多，游泳难免会喝水，对身体难免害处，有过敏体质的人也不适宜到这样的水域游泳。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7077" y="1087864"/>
            <a:ext cx="2176058" cy="21760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10000">
        <p:wipe dir="u"/>
      </p:transition>
    </mc:Choice>
    <mc:Fallback>
      <p:transition spd="slow" advClick="0" advTm="10000">
        <p:wipe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11" grpId="0" bldLvl="0" animBg="1"/>
      <p:bldP spid="13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/>
          <a:srcRect/>
          <a:stretch>
            <a:fillRect/>
          </a:stretch>
        </p:blipFill>
        <p:spPr>
          <a:xfrm>
            <a:off x="873457" y="1514900"/>
            <a:ext cx="5513514" cy="4804013"/>
          </a:xfrm>
          <a:prstGeom prst="rect">
            <a:avLst/>
          </a:prstGeom>
        </p:spPr>
      </p:pic>
      <p:sp>
        <p:nvSpPr>
          <p:cNvPr id="4" name="矩形 3">
            <a:hlinkClick r:id="rId3" action="ppaction://hlinksldjump"/>
          </p:cNvPr>
          <p:cNvSpPr/>
          <p:nvPr/>
        </p:nvSpPr>
        <p:spPr>
          <a:xfrm>
            <a:off x="1058779" y="2255245"/>
            <a:ext cx="5037221" cy="922020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  <p:txBody>
          <a:bodyPr wrap="square">
            <a:spAutoFit/>
          </a:bodyPr>
          <a:lstStyle/>
          <a:p>
            <a:pPr algn="ctr"/>
            <a:r>
              <a:rPr lang="zh-CN" altLang="en-US" sz="5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如何教育孩子</a:t>
            </a:r>
            <a:endParaRPr lang="zh-CN" altLang="en-US" sz="5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/>
          <a:stretch>
            <a:fillRect/>
          </a:stretch>
        </p:blipFill>
        <p:spPr>
          <a:xfrm>
            <a:off x="5882185" y="528319"/>
            <a:ext cx="6660114" cy="597765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/>
          <a:stretch>
            <a:fillRect/>
          </a:stretch>
        </p:blipFill>
        <p:spPr>
          <a:xfrm>
            <a:off x="0" y="-168435"/>
            <a:ext cx="2421517" cy="242151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>
            <a:off x="4478884" y="3321640"/>
            <a:ext cx="1403301" cy="13792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10000">
        <p:checker dir="vert"/>
      </p:transition>
    </mc:Choice>
    <mc:Fallback>
      <p:transition spd="slow" advClick="0" advTm="10000">
        <p:checke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>
            <a:off x="4926842" y="-815454"/>
            <a:ext cx="8488908" cy="8488908"/>
          </a:xfrm>
          <a:prstGeom prst="ellipse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72955" y="176572"/>
            <a:ext cx="1173708" cy="928896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446662" y="348633"/>
            <a:ext cx="6291619" cy="583565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dist"/>
            <a:r>
              <a:rPr lang="zh-CN" altLang="en-US" sz="32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盲目徒手救助溺水者非常危险！！</a:t>
            </a:r>
            <a:endParaRPr lang="zh-CN" altLang="en-US" sz="32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00752" y="1637034"/>
            <a:ext cx="6187857" cy="412523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6898106" y="1730136"/>
            <a:ext cx="5053024" cy="39382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50000"/>
              </a:lnSpc>
            </a:pPr>
            <a:r>
              <a:rPr lang="zh-CN" altLang="en-US" sz="20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救助溺水者是非常危险的行动，溺水者的本能是抓住一切可以抓住的东西，有经验的救生员不会很快的接近溺水者，太着急接近很容易被溺水者抱住而无法挣开，悲剧也就再次重演！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10000">
        <p:wipe dir="u"/>
      </p:transition>
    </mc:Choice>
    <mc:Fallback>
      <p:transition spd="slow" advClick="0" advTm="10000">
        <p:wipe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68184" y="1975625"/>
            <a:ext cx="6306882" cy="384765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72955" y="176572"/>
            <a:ext cx="1173708" cy="928896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446662" y="348633"/>
            <a:ext cx="6291619" cy="583565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dist"/>
            <a:r>
              <a:rPr lang="zh-CN" altLang="en-US" sz="32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如果遇见有人溺水，该如何施救？</a:t>
            </a:r>
            <a:endParaRPr lang="zh-CN" altLang="en-US" sz="32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879140" y="1950782"/>
            <a:ext cx="5589900" cy="928896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如果发现有人溺水，首先要大声呼救，叫更多的人来帮忙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879140" y="3264410"/>
            <a:ext cx="5589900" cy="928896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发现溺水者后，可充分利用现场器材，如绳、竿、木板、救生圈等救人。也可以将衣服连在一起当做绳索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879140" y="4578038"/>
            <a:ext cx="5589900" cy="928896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需要下水救溺水的人的时候，一定要大声告诉他，不要惊慌，有人在救你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10000">
        <p:wipe dir="u"/>
      </p:transition>
    </mc:Choice>
    <mc:Fallback>
      <p:transition spd="slow" advClick="0" advTm="10000">
        <p:wipe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9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72955" y="176572"/>
            <a:ext cx="1173708" cy="928896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446662" y="348633"/>
            <a:ext cx="6291619" cy="583565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dist"/>
            <a:r>
              <a:rPr lang="zh-CN" altLang="en-US" sz="32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如果遇见有人溺水，该如何施救？</a:t>
            </a:r>
            <a:endParaRPr lang="zh-CN" altLang="en-US" sz="32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72955" y="2239537"/>
            <a:ext cx="4826764" cy="3712895"/>
          </a:xfrm>
          <a:prstGeom prst="rect">
            <a:avLst/>
          </a:prstGeom>
        </p:spPr>
      </p:pic>
      <p:sp>
        <p:nvSpPr>
          <p:cNvPr id="6" name="矩形: 圆角 5"/>
          <p:cNvSpPr/>
          <p:nvPr/>
        </p:nvSpPr>
        <p:spPr>
          <a:xfrm>
            <a:off x="4290060" y="3995420"/>
            <a:ext cx="6969125" cy="109156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施救者若不熟悉水性或不了解现场水情，不应轻易下水，应呼救或报警。未成年人不宜下水救人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289945" y="2204114"/>
            <a:ext cx="6969457" cy="1568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下水救人时，不要从正面接近。救人者应绕到溺水者的背后或潜入水下，从其左腋下绕过胸部，然后握其右手，以仰游姿势将其拖向岸边，也可以在其背后拉腋窝拖带上岸</a:t>
            </a:r>
            <a:endParaRPr lang="zh-CN" altLang="en-US" sz="16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10000">
        <p:wipe dir="u"/>
      </p:transition>
    </mc:Choice>
    <mc:Fallback>
      <p:transition spd="slow" advClick="0" advTm="10000">
        <p:wipe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p>
            <a:r>
              <a:rPr lang="zh-CN" altLang="en-US"/>
              <a:t>感谢您的观看！</a:t>
            </a:r>
            <a:endParaRPr lang="zh-CN" altLang="en-US"/>
          </a:p>
        </p:txBody>
      </p:sp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63419" y="-968992"/>
            <a:ext cx="3223194" cy="30298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10000">
        <p:wipe dir="u"/>
      </p:transition>
    </mc:Choice>
    <mc:Fallback>
      <p:transition spd="slow" advClick="0" advTm="10000">
        <p:wipe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TABLE_BEAUTIFY" val="smartTable{7ffad2be-ee56-4d27-9a2e-b6d3101daee5}"/>
</p:tagLst>
</file>

<file path=ppt/tags/tag64.xml><?xml version="1.0" encoding="utf-8"?>
<p:tagLst xmlns:p="http://schemas.openxmlformats.org/presentationml/2006/main">
  <p:tag name="KSO_WM_UNIT_PLACING_PICTURE_USER_VIEWPORT" val="{&quot;height&quot;:7565.374803149606,&quot;width&quot;:8682.699212598425}"/>
</p:tagLst>
</file>

<file path=ppt/tags/tag65.xml><?xml version="1.0" encoding="utf-8"?>
<p:tagLst xmlns:p="http://schemas.openxmlformats.org/presentationml/2006/main">
  <p:tag name="KSO_WM_UNIT_PLACING_PICTURE_USER_VIEWPORT" val="{&quot;height&quot;:9413.63307086614,&quot;width&quot;:10488.368503937008}"/>
</p:tagLst>
</file>

<file path=ppt/tags/tag66.xml><?xml version="1.0" encoding="utf-8"?>
<p:tagLst xmlns:p="http://schemas.openxmlformats.org/presentationml/2006/main">
  <p:tag name="KSO_WM_UNIT_PLACING_PICTURE_USER_VIEWPORT" val="{&quot;height&quot;:3813.412598425197,&quot;width&quot;:3813.412598425197}"/>
</p:tagLst>
</file>

<file path=ppt/tags/tag67.xml><?xml version="1.0" encoding="utf-8"?>
<p:tagLst xmlns:p="http://schemas.openxmlformats.org/presentationml/2006/main">
  <p:tag name="KSO_WM_UNIT_PLACING_PICTURE_USER_VIEWPORT" val="{&quot;height&quot;:2172.0062992125986,&quot;width&quot;:2209.9228346456694}"/>
</p:tagLst>
</file>

<file path=ppt/tags/tag68.xml><?xml version="1.0" encoding="utf-8"?>
<p:tagLst xmlns:p="http://schemas.openxmlformats.org/presentationml/2006/main">
  <p:tag name="COMMONDATA" val="eyJoZGlkIjoiOTVmMzA3MzYwZWEzNDk4NWUwZjMyYzM4Mzg5N2ZkZWQifQ=="/>
  <p:tag name="KSO_WPP_MARK_KEY" val="ce54151a-bed8-4561-b0d0-95e478c88ddb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1309</Words>
  <Application>WPS 演示</Application>
  <PresentationFormat>宽屏</PresentationFormat>
  <Paragraphs>134</Paragraphs>
  <Slides>18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Arial</vt:lpstr>
      <vt:lpstr>宋体</vt:lpstr>
      <vt:lpstr>Wingdings</vt:lpstr>
      <vt:lpstr>Wingdings</vt:lpstr>
      <vt:lpstr>华文琥珀</vt:lpstr>
      <vt:lpstr>微软雅黑</vt:lpstr>
      <vt:lpstr>Arial Unicode MS</vt:lpstr>
      <vt:lpstr>Calibri</vt:lpstr>
      <vt:lpstr>Office 主题​​</vt:lpstr>
      <vt:lpstr>小学生 防溺水安全知识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感谢您的观看！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WPS_1563888677</cp:lastModifiedBy>
  <cp:revision>213</cp:revision>
  <dcterms:created xsi:type="dcterms:W3CDTF">2019-06-19T02:08:00Z</dcterms:created>
  <dcterms:modified xsi:type="dcterms:W3CDTF">2024-11-20T06:03:40Z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2052-11.1.0.10009</vt:lpwstr>
  </property>
  <property fmtid="{D5CDD505-2E9C-101B-9397-08002B2CF9AE}" pid="3" name="ICV">
    <vt:lpwstr>2E96DB7B88504A6E9CBB73FD1A349D17</vt:lpwstr>
  </property>
</Properties>
</file>