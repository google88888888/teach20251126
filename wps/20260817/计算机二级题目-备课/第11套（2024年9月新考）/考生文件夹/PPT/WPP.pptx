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81" r:id="rId3"/>
    <p:sldId id="382" r:id="rId5"/>
    <p:sldId id="409" r:id="rId6"/>
    <p:sldId id="384" r:id="rId7"/>
    <p:sldId id="385" r:id="rId8"/>
    <p:sldId id="386" r:id="rId9"/>
    <p:sldId id="407" r:id="rId10"/>
    <p:sldId id="392" r:id="rId11"/>
    <p:sldId id="393" r:id="rId12"/>
    <p:sldId id="394" r:id="rId13"/>
    <p:sldId id="395" r:id="rId14"/>
    <p:sldId id="396" r:id="rId15"/>
    <p:sldId id="400" r:id="rId16"/>
    <p:sldId id="401" r:id="rId17"/>
    <p:sldId id="402" r:id="rId18"/>
    <p:sldId id="403" r:id="rId19"/>
    <p:sldId id="404" r:id="rId20"/>
    <p:sldId id="405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070CE"/>
    <a:srgbClr val="0D8BBD"/>
    <a:srgbClr val="0D687D"/>
    <a:srgbClr val="019FE8"/>
    <a:srgbClr val="FFFFFF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5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67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B8526-0940-48C8-9FA1-9BF4F2C473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B8526-0940-48C8-9FA1-9BF4F2C473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B8526-0940-48C8-9FA1-9BF4F2C473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B8526-0940-48C8-9FA1-9BF4F2C473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  <a:effectLst/>
        </p:spPr>
        <p:txBody>
          <a:bodyPr lIns="90000" tIns="46800" rIns="90000" bIns="46800" anchor="b" anchorCtr="0">
            <a:normAutofit/>
          </a:bodyPr>
          <a:lstStyle>
            <a:lvl1pPr algn="ctr">
              <a:defRPr sz="8000" b="0" u="none" strike="noStrike" kern="1200" cap="none" spc="300" normalizeH="0">
                <a:solidFill>
                  <a:schemeClr val="tx1"/>
                </a:solidFill>
                <a:uFillTx/>
                <a:latin typeface="+mj-lt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2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3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4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5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6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7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8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9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0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1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Layouts/slideLayout12.xml><?xml version="1.0" encoding="utf-8"?>
<p:sldLayout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8.png"/><Relationship Id="rId7" Type="http://schemas.openxmlformats.org/officeDocument/2006/relationships/tags" Target="../tags/tag66.xml"/><Relationship Id="rId6" Type="http://schemas.openxmlformats.org/officeDocument/2006/relationships/image" Target="../media/image7.png"/><Relationship Id="rId5" Type="http://schemas.openxmlformats.org/officeDocument/2006/relationships/tags" Target="../tags/tag65.xml"/><Relationship Id="rId4" Type="http://schemas.openxmlformats.org/officeDocument/2006/relationships/image" Target="../media/image6.png"/><Relationship Id="rId3" Type="http://schemas.openxmlformats.org/officeDocument/2006/relationships/tags" Target="../tags/tag64.xml"/><Relationship Id="rId2" Type="http://schemas.openxmlformats.org/officeDocument/2006/relationships/image" Target="../media/image5.png"/><Relationship Id="rId1" Type="http://schemas.openxmlformats.org/officeDocument/2006/relationships/tags" Target="../tags/tag6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3419" y="-968992"/>
            <a:ext cx="3223194" cy="3029803"/>
          </a:xfrm>
          <a:prstGeom prst="rect">
            <a:avLst/>
          </a:prstGeom>
        </p:spPr>
      </p:pic>
      <p:sp>
        <p:nvSpPr>
          <p:cNvPr id="12" name="标题 11"/>
          <p:cNvSpPr/>
          <p:nvPr>
            <p:ph type="ctrTitle" idx="4294967295"/>
          </p:nvPr>
        </p:nvSpPr>
        <p:spPr>
          <a:xfrm>
            <a:off x="2392680" y="914400"/>
            <a:ext cx="9799320" cy="2570480"/>
          </a:xfrm>
        </p:spPr>
        <p:txBody>
          <a:bodyPr>
            <a:normAutofit/>
          </a:bodyPr>
          <a:p>
            <a:r>
              <a:rPr lang="zh-CN" altLang="en-US"/>
              <a:t>小学生</a:t>
            </a:r>
            <a:br>
              <a:rPr lang="zh-CN" altLang="en-US"/>
            </a:br>
            <a:r>
              <a:rPr lang="zh-CN" altLang="en-US"/>
              <a:t>防溺水安全知识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07524" y="-609600"/>
            <a:ext cx="7398135" cy="6855926"/>
          </a:xfrm>
          <a:prstGeom prst="rect">
            <a:avLst/>
          </a:prstGeom>
        </p:spPr>
      </p:pic>
      <p:pic>
        <p:nvPicPr>
          <p:cNvPr id="3" name="图片 2" descr="图片包含 房间, 赌场, 场景&#10;&#10;描述已自动生成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1314" y="994611"/>
            <a:ext cx="5863389" cy="586338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3270" y="1403350"/>
            <a:ext cx="5085715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fontAlgn="auto" hangingPunct="0">
              <a:lnSpc>
                <a:spcPct val="100000"/>
              </a:lnSpc>
              <a:spcAft>
                <a:spcPts val="0"/>
              </a:spcAft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溺水是造成中小学生意外死亡的第一杀手！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 fontAlgn="auto" hangingPunct="0">
              <a:lnSpc>
                <a:spcPct val="100000"/>
              </a:lnSpc>
              <a:spcAft>
                <a:spcPts val="0"/>
              </a:spcAft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在此，我们希望广大家长务必增强安全意识和监护意识，切实承担起监护责任，加强对孩子的教育和管理。那么，如何避免悲剧发生？遇到儿童溺水怎么办？这里，提供一些“防溺水”知识。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flipH="1">
            <a:off x="373273" y="1441471"/>
            <a:ext cx="4962105" cy="49621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3904" y="787899"/>
            <a:ext cx="4858604" cy="110680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目录 </a:t>
            </a:r>
            <a:r>
              <a:rPr lang="en-US" altLang="zh-CN" sz="3600" b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CONTNTES</a:t>
            </a:r>
            <a:endParaRPr lang="zh-CN" altLang="en-US" sz="6600" b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6542786" y="1173913"/>
            <a:ext cx="4312693" cy="743926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、如 何 防 溺 水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542786" y="2405435"/>
            <a:ext cx="4312693" cy="743926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、溺水施救方法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6542786" y="3636957"/>
            <a:ext cx="4312693" cy="743926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、哪些地方易溺水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6542786" y="4868480"/>
            <a:ext cx="4312693" cy="743926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、如何教育孩子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10" grpId="0" bldLvl="0" animBg="1"/>
      <p:bldP spid="11" grpId="0" bldLvl="0" animBg="1"/>
      <p:bldP spid="12" grpId="0" bldLvl="0" animBg="1"/>
    </p:bldLst>
  </p:timing>
</p:sld>
</file>

<file path=ppt/slides/slide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73457" y="1514900"/>
            <a:ext cx="5513514" cy="480401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64862" y="2255245"/>
            <a:ext cx="4048840" cy="101473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6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如何防溺水</a:t>
            </a:r>
            <a:endParaRPr lang="zh-CN" altLang="en-US" sz="6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82185" y="539114"/>
            <a:ext cx="6660114" cy="59776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-168435"/>
            <a:ext cx="2421517" cy="2421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78884" y="3321640"/>
            <a:ext cx="1403301" cy="13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bldLvl="0" animBg="1"/>
    </p:bldLst>
  </p:timing>
</p:sld>
</file>

<file path=ppt/slides/slide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4926841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l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牢记防溺水措施”六不准”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1425906" y="1497780"/>
            <a:ext cx="4905186" cy="4214045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6509987" y="1856034"/>
            <a:ext cx="4858602" cy="57667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不准私自下水游泳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6509987" y="2975151"/>
            <a:ext cx="4858602" cy="57667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不准擅自与他人结伴游泳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6509987" y="4094267"/>
            <a:ext cx="4858602" cy="998023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不准在无家长或老师带队的情况下游泳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9142487" y="4694831"/>
            <a:ext cx="2580946" cy="13511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9" grpId="0" bldLvl="0" animBg="1"/>
      <p:bldP spid="10" grpId="0" bldLvl="0" animBg="1"/>
    </p:bldLst>
  </p:timing>
</p:sld>
</file>

<file path=ppt/slides/slide6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1"/>
          <p:cNvSpPr/>
          <p:nvPr/>
        </p:nvSpPr>
        <p:spPr>
          <a:xfrm>
            <a:off x="975813" y="2486534"/>
            <a:ext cx="2879677" cy="2879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2"/>
          <p:cNvSpPr/>
          <p:nvPr/>
        </p:nvSpPr>
        <p:spPr>
          <a:xfrm>
            <a:off x="4626816" y="2486534"/>
            <a:ext cx="2879677" cy="2879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3"/>
          <p:cNvSpPr/>
          <p:nvPr/>
        </p:nvSpPr>
        <p:spPr>
          <a:xfrm>
            <a:off x="8384954" y="2486534"/>
            <a:ext cx="2879677" cy="287967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3" name="图片 4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pic>
        <p:nvPicPr>
          <p:cNvPr id="5" name="图片 5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85496" y="1920191"/>
            <a:ext cx="1460311" cy="141936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238917" y="1830748"/>
            <a:ext cx="1655475" cy="1598252"/>
          </a:xfrm>
          <a:prstGeom prst="rect">
            <a:avLst/>
          </a:prstGeom>
        </p:spPr>
      </p:pic>
      <p:pic>
        <p:nvPicPr>
          <p:cNvPr id="6" name="图片 7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889920" y="1920191"/>
            <a:ext cx="1869744" cy="1419367"/>
          </a:xfrm>
          <a:prstGeom prst="rect">
            <a:avLst/>
          </a:prstGeom>
        </p:spPr>
      </p:pic>
      <p:sp>
        <p:nvSpPr>
          <p:cNvPr id="14" name="文本框 8"/>
          <p:cNvSpPr txBox="1"/>
          <p:nvPr/>
        </p:nvSpPr>
        <p:spPr>
          <a:xfrm>
            <a:off x="1163320" y="3339465"/>
            <a:ext cx="250571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不准到不熟悉的水域游泳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9"/>
          <p:cNvSpPr txBox="1"/>
          <p:nvPr/>
        </p:nvSpPr>
        <p:spPr>
          <a:xfrm>
            <a:off x="4934585" y="3339465"/>
            <a:ext cx="237172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不准到无安全设施、无救护人员的水域游泳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0"/>
          <p:cNvSpPr txBox="1"/>
          <p:nvPr/>
        </p:nvSpPr>
        <p:spPr>
          <a:xfrm>
            <a:off x="8488680" y="3339465"/>
            <a:ext cx="26733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不准不会水性的学生擅自下水施救</a:t>
            </a:r>
            <a:endParaRPr lang="zh-CN" altLang="en-US" sz="2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文本框 11"/>
          <p:cNvSpPr txBox="1"/>
          <p:nvPr/>
        </p:nvSpPr>
        <p:spPr>
          <a:xfrm>
            <a:off x="1685290" y="349250"/>
            <a:ext cx="6167120" cy="5835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p>
            <a:pPr algn="l"/>
            <a:r>
              <a:rPr lang="zh-CN" altLang="en-US" sz="3200" b="1">
                <a:solidFill>
                  <a:srgbClr val="0070C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牢记防溺水措施</a:t>
            </a:r>
            <a:r>
              <a:rPr lang="en-US" altLang="zh-CN" sz="3200" b="1">
                <a:solidFill>
                  <a:srgbClr val="0070C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lang="zh-CN" altLang="en-US" sz="3200" b="1">
                <a:solidFill>
                  <a:srgbClr val="0070C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六不准</a:t>
            </a:r>
            <a:r>
              <a:rPr lang="en-US" altLang="zh-CN" sz="3200" b="1">
                <a:solidFill>
                  <a:srgbClr val="0070C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”</a:t>
            </a:r>
            <a:endParaRPr lang="en-US" altLang="zh-CN" sz="3200" b="1" dirty="0">
              <a:solidFill>
                <a:srgbClr val="0070C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/>
      <p:bldP spid="15" grpId="0"/>
      <p:bldP spid="16" grpId="0"/>
    </p:bldLst>
  </p:timing>
</p:sld>
</file>

<file path=ppt/slides/slide7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696325" y="2935605"/>
            <a:ext cx="4098925" cy="409892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3" y="348633"/>
            <a:ext cx="3957850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en-US" altLang="zh-CN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种迹象辨别溺水者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"/>
          <p:cNvSpPr txBox="1"/>
          <p:nvPr/>
        </p:nvSpPr>
        <p:spPr>
          <a:xfrm>
            <a:off x="562610" y="1586865"/>
            <a:ext cx="854456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序号	迹象</a:t>
            </a:r>
            <a:endParaRPr lang="en-US" altLang="zh-CN" b="1">
              <a:solidFill>
                <a:srgbClr val="0070C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	</a:t>
            </a:r>
            <a:r>
              <a:rPr lang="zh-CN" altLang="en-US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溺水者的嘴会没入水中再浮出水面，没有时间呼救</a:t>
            </a:r>
            <a:endParaRPr lang="zh-CN" altLang="en-US" b="1">
              <a:solidFill>
                <a:srgbClr val="0070C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	</a:t>
            </a:r>
            <a:r>
              <a:rPr lang="zh-CN" altLang="en-US" b="1" dirty="0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溺水儿童手臂可能前伸，但无法划水向救援者移动</a:t>
            </a:r>
            <a:endParaRPr lang="zh-CN" altLang="en-US" b="1" dirty="0">
              <a:solidFill>
                <a:srgbClr val="0070C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	</a:t>
            </a:r>
            <a:r>
              <a:rPr lang="zh-CN" altLang="en-US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溺水者在水中是直立的，挣扎</a:t>
            </a:r>
            <a:r>
              <a:rPr lang="en-US" altLang="zh-CN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20-60</a:t>
            </a:r>
            <a:r>
              <a:rPr lang="zh-CN" altLang="en-US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秒之后下沉</a:t>
            </a:r>
            <a:endParaRPr lang="zh-CN" altLang="en-US" b="1" dirty="0">
              <a:solidFill>
                <a:srgbClr val="0070C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	</a:t>
            </a:r>
            <a:r>
              <a:rPr lang="zh-CN" altLang="en-US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溺水者眼神呆滞，无法专注或闭上眼睛</a:t>
            </a:r>
            <a:endParaRPr lang="zh-CN" altLang="en-US" b="1" dirty="0">
              <a:solidFill>
                <a:srgbClr val="0070C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	</a:t>
            </a:r>
            <a:r>
              <a:rPr lang="zh-CN" altLang="en-US" b="1" dirty="0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溺水儿童的头可能前倾，头在水中，嘴巴在水面</a:t>
            </a:r>
            <a:endParaRPr lang="zh-CN" altLang="en-US" b="1" dirty="0">
              <a:solidFill>
                <a:srgbClr val="0070C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 dirty="0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</a:rPr>
              <a:t>6	</a:t>
            </a:r>
            <a:r>
              <a:rPr lang="zh-CN" altLang="en-US" b="1" dirty="0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</a:rPr>
              <a:t>看起来像在发呆不像溺水，但如果对询问没有反应，就需要立即施出援手</a:t>
            </a:r>
            <a:endParaRPr lang="zh-CN" altLang="en-US" b="1" dirty="0">
              <a:solidFill>
                <a:srgbClr val="0070CE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0" algn="l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7	</a:t>
            </a:r>
            <a:r>
              <a:rPr lang="zh-CN" altLang="en-US" b="1">
                <a:solidFill>
                  <a:srgbClr val="0070CE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小孩子戏水会发出很多声音，一旦安静无声要警醒</a:t>
            </a:r>
            <a:endParaRPr lang="zh-CN" altLang="en-US" b="1">
              <a:solidFill>
                <a:srgbClr val="0070CE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73457" y="1514900"/>
            <a:ext cx="5513514" cy="480401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187115" y="2255245"/>
            <a:ext cx="4695069" cy="92202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5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溺水施救方法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82185" y="539114"/>
            <a:ext cx="6660114" cy="59776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-168435"/>
            <a:ext cx="2421517" cy="2421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78884" y="3321640"/>
            <a:ext cx="1403301" cy="13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9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3" y="348633"/>
            <a:ext cx="2465694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如何施救？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13555" y="1462936"/>
            <a:ext cx="4329230" cy="4329230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823983" y="2210887"/>
            <a:ext cx="2913228" cy="142815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迅速救上岸：最好从背部将落水者头部托起，或从上面拉起其胸部，使其面部露出水面，然后将其拖上岸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1948501" y="1634098"/>
            <a:ext cx="664192" cy="664192"/>
          </a:xfrm>
          <a:prstGeom prst="ellipse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823983" y="4364007"/>
            <a:ext cx="2913228" cy="142815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清除口鼻堵塞物：让溺水者头朝下，撬开其牙齿，用手指清除口腔和鼻腔内杂物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1948501" y="3787218"/>
            <a:ext cx="664192" cy="664192"/>
          </a:xfrm>
          <a:prstGeom prst="ellipse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619130" y="2219020"/>
            <a:ext cx="2913228" cy="142815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倒出呼吸道内积水：救人者半跪，顶住溺水者的腹部，让溺水者头朝下，拍背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9743648" y="1642231"/>
            <a:ext cx="664192" cy="664192"/>
          </a:xfrm>
          <a:prstGeom prst="ellipse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8619130" y="4372140"/>
            <a:ext cx="2913228" cy="1428159"/>
          </a:xfrm>
          <a:prstGeom prst="roundRect">
            <a:avLst>
              <a:gd name="adj" fmla="val 29509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人工呼吸：对呼吸及心跳微弱或心跳刚刚停止的溺水者，迅速进行人工呼吸，同时做胸外心脏按压</a:t>
            </a:r>
            <a:endParaRPr lang="zh-CN" altLang="en-US" sz="1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9743648" y="3795351"/>
            <a:ext cx="664192" cy="664192"/>
          </a:xfrm>
          <a:prstGeom prst="ellipse">
            <a:avLst/>
          </a:prstGeom>
          <a:solidFill>
            <a:srgbClr val="0070C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8" grpId="0" bldLvl="0" animBg="1"/>
      <p:bldP spid="9" grpId="0" bldLvl="0" animBg="1"/>
      <p:bldP spid="10" grpId="0" bldLvl="0" animBg="1"/>
      <p:bldP spid="11" grpId="0" bldLvl="0" animBg="1"/>
      <p:bldP spid="12" grpId="0" bldLvl="0" animBg="1"/>
      <p:bldP spid="13" grpId="0" bldLvl="0" animBg="1"/>
    </p:bldLst>
  </p:timing>
</p:sld>
</file>

<file path=ppt/slides/slide10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3" y="348633"/>
            <a:ext cx="2465694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如何施救？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859809" y="1883330"/>
            <a:ext cx="2019869" cy="109188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吸 氧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2902422" y="1883330"/>
            <a:ext cx="7324295" cy="10918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现场有医疗条件，可对溺水者注射强心药物及吸氧。条件不足的，用手或针刺溺水者的人中等穴位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60664" y="2115403"/>
            <a:ext cx="1571527" cy="1571527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859809" y="3650716"/>
            <a:ext cx="2019869" cy="1091882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脱下外套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2902422" y="3650716"/>
            <a:ext cx="7324295" cy="10918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如果溺水者身上穿着外套，要尽早脱下，湿漉漉的外套会带走身体热能，产生低温伤害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760664" y="3882789"/>
            <a:ext cx="1571527" cy="1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8" grpId="0" bldLvl="0" animBg="1"/>
      <p:bldP spid="9" grpId="0" bldLvl="0" animBg="1"/>
    </p:bldLst>
  </p:timing>
</p:sld>
</file>

<file path=ppt/slides/slide11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73457" y="1514900"/>
            <a:ext cx="5513514" cy="480401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58779" y="2255245"/>
            <a:ext cx="5037221" cy="92202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5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哪些地方易溺水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882185" y="539114"/>
            <a:ext cx="6660114" cy="59776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-168435"/>
            <a:ext cx="2421517" cy="2421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78884" y="3321640"/>
            <a:ext cx="1403301" cy="13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2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3" y="348633"/>
            <a:ext cx="3193576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哪些地方易溺水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3248" y="176443"/>
            <a:ext cx="10904265" cy="7269509"/>
          </a:xfrm>
          <a:prstGeom prst="rect">
            <a:avLst/>
          </a:prstGeom>
          <a:effectLst/>
        </p:spPr>
      </p:pic>
      <p:sp>
        <p:nvSpPr>
          <p:cNvPr id="8" name="矩形 7"/>
          <p:cNvSpPr/>
          <p:nvPr/>
        </p:nvSpPr>
        <p:spPr>
          <a:xfrm>
            <a:off x="2992606" y="2319900"/>
            <a:ext cx="5186149" cy="25533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一般发生溺水的地点通常在：游泳池、水库、水坑、池塘、河流、溪边、海边等场所。</a:t>
            </a:r>
            <a:endParaRPr lang="en-US" altLang="zh-CN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200000"/>
              </a:lnSpc>
            </a:pPr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在溺水者当中，有的是不会游泳的人，也有的是一些会游泳、水性好的人。</a:t>
            </a:r>
            <a:endParaRPr lang="zh-CN" altLang="en-US" sz="20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4067033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野外水域为什么危险？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122493" y="2744603"/>
            <a:ext cx="2897876" cy="31799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0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野外水域的未知因素多，游泳者往往对所在水域情况并不了解，有些水域看似平静，但水下经常会有漩涡、暗流，容易发生意外。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02" y="1269008"/>
            <a:ext cx="3466531" cy="2448060"/>
          </a:xfrm>
          <a:prstGeom prst="rect">
            <a:avLst/>
          </a:prstGeom>
        </p:spPr>
      </p:pic>
      <p:sp>
        <p:nvSpPr>
          <p:cNvPr id="11" name="矩形: 圆角 10"/>
          <p:cNvSpPr/>
          <p:nvPr/>
        </p:nvSpPr>
        <p:spPr>
          <a:xfrm>
            <a:off x="4880179" y="2735519"/>
            <a:ext cx="2897876" cy="31799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野外人员稀少，一旦出现体力不支等意外情况，很难在第一时间被施救。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8543" y="1269008"/>
            <a:ext cx="1994914" cy="1994914"/>
          </a:xfrm>
          <a:prstGeom prst="rect">
            <a:avLst/>
          </a:prstGeom>
        </p:spPr>
      </p:pic>
      <p:sp>
        <p:nvSpPr>
          <p:cNvPr id="13" name="矩形: 圆角 12"/>
          <p:cNvSpPr/>
          <p:nvPr/>
        </p:nvSpPr>
        <p:spPr>
          <a:xfrm>
            <a:off x="8476168" y="2744603"/>
            <a:ext cx="2897876" cy="317998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250000"/>
              </a:lnSpc>
            </a:pPr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野外水质污染也比较多，游泳难免会喝水，对身体难免害处，有过敏体质的人也不适宜到这样的水域游泳。</a:t>
            </a:r>
            <a:endParaRPr lang="zh-CN" alt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7077" y="1087864"/>
            <a:ext cx="2176058" cy="21760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1" grpId="0" bldLvl="0" animBg="1"/>
      <p:bldP spid="13" grpId="0" bldLvl="0" animBg="1"/>
    </p:bldLst>
  </p:timing>
</p:sld>
</file>

<file path=ppt/slides/slide14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873457" y="1514900"/>
            <a:ext cx="5513514" cy="480401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58779" y="2255245"/>
            <a:ext cx="5037221" cy="922020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zh-CN" altLang="en-US" sz="5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如何教育孩子</a:t>
            </a:r>
            <a:endParaRPr lang="zh-CN" altLang="en-US" sz="54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5882185" y="539114"/>
            <a:ext cx="6660114" cy="597765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-168435"/>
            <a:ext cx="2421517" cy="242151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4478884" y="3321640"/>
            <a:ext cx="1403301" cy="1379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5.xml><?xml version="1.0" encoding="utf-8"?>
<p:sld xmlns:mc="http://schemas.openxmlformats.org/markup-compatibility/2006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/>
        </p:nvSpPr>
        <p:spPr>
          <a:xfrm>
            <a:off x="4926842" y="-815454"/>
            <a:ext cx="8488908" cy="8488908"/>
          </a:xfrm>
          <a:prstGeom prst="ellipse">
            <a:avLst/>
          </a:prstGeom>
          <a:solidFill>
            <a:srgbClr val="FFFFFF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6291619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盲目徒手救助溺水者非常危险！！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00752" y="1637034"/>
            <a:ext cx="6187857" cy="412523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898106" y="1730136"/>
            <a:ext cx="5053024" cy="39382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250000"/>
              </a:lnSpc>
            </a:pPr>
            <a:r>
              <a:rPr lang="zh-CN" altLang="en-US" sz="2000" b="1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救助溺水者是非常危险的行动，溺水者的本能是抓住一切可以抓住的东西，有经验的救生员不会很快的接近溺水者，太着急接近很容易被溺水者抱住而无法挣开，悲剧也就再次重演！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68184" y="1975625"/>
            <a:ext cx="6306882" cy="384765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6291619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如果遇见有人溺水，该如何施救？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879140" y="1950782"/>
            <a:ext cx="5589900" cy="928896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如果发现有人溺水，首先要大声呼救，叫更多的人来帮忙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: 圆角 5"/>
          <p:cNvSpPr/>
          <p:nvPr/>
        </p:nvSpPr>
        <p:spPr>
          <a:xfrm>
            <a:off x="879140" y="3264410"/>
            <a:ext cx="5589900" cy="928896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发现溺水者后，可充分利用现场器材，如绳、竿、木板、救生圈等救人。也可以将衣服连在一起当做绳索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879140" y="4578038"/>
            <a:ext cx="5589900" cy="928896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需要下水救溺水的人的时候，一定要大声告诉他，不要惊慌，有人在救你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000"/>
                            </p:stCondLst>
                            <p:childTnLst>
                              <p:par>
                                <p:cTn id="26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 bldLvl="0" animBg="1"/>
      <p:bldP spid="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72955" y="176572"/>
            <a:ext cx="1173708" cy="92889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446662" y="348633"/>
            <a:ext cx="6291619" cy="583565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dist"/>
            <a:r>
              <a:rPr lang="zh-CN" altLang="en-US" sz="32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如果遇见有人溺水，该如何施救？</a:t>
            </a:r>
            <a:endParaRPr lang="zh-CN" altLang="en-US" sz="32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2955" y="2239537"/>
            <a:ext cx="4826764" cy="3712895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>
            <a:off x="4290060" y="3995420"/>
            <a:ext cx="6969125" cy="10915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施救者若不熟悉水性或不了解现场水情，不应轻易下水，应呼救或报警。未成年人不宜下水救人</a:t>
            </a:r>
            <a:endParaRPr lang="zh-CN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89945" y="2204114"/>
            <a:ext cx="6969457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6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下水救人时，不要从正面接近。救人者应绕到溺水者的背后或潜入水下，从其左腋下绕过胸部，然后握其右手，以仰游姿势将其拖向岸边，也可以在其背后拉腋窝拖带上岸</a:t>
            </a:r>
            <a:endParaRPr lang="zh-CN" altLang="en-US" sz="1600" b="1" dirty="0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 idx="4294967295"/>
          </p:nvPr>
        </p:nvSpPr>
        <p:spPr>
          <a:xfrm>
            <a:off x="2392680" y="914400"/>
            <a:ext cx="9799320" cy="2570480"/>
          </a:xfrm>
        </p:spPr>
        <p:txBody>
          <a:bodyPr>
            <a:normAutofit/>
          </a:bodyPr>
          <a:p>
            <a:r>
              <a:rPr lang="zh-CN" altLang="en-US"/>
              <a:t>感谢您的观看！</a:t>
            </a:r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63419" y="-968992"/>
            <a:ext cx="3223194" cy="3029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7565.374803149606,&quot;width&quot;:8682.699212598425}"/>
</p:tagLst>
</file>

<file path=ppt/tags/tag64.xml><?xml version="1.0" encoding="utf-8"?>
<p:tagLst xmlns:p="http://schemas.openxmlformats.org/presentationml/2006/main">
  <p:tag name="KSO_WM_UNIT_PLACING_PICTURE_USER_VIEWPORT" val="{&quot;height&quot;:9413.63307086614,&quot;width&quot;:10488.368503937008}"/>
</p:tagLst>
</file>

<file path=ppt/tags/tag65.xml><?xml version="1.0" encoding="utf-8"?>
<p:tagLst xmlns:p="http://schemas.openxmlformats.org/presentationml/2006/main">
  <p:tag name="KSO_WM_UNIT_PLACING_PICTURE_USER_VIEWPORT" val="{&quot;height&quot;:3813.412598425197,&quot;width&quot;:3813.412598425197}"/>
</p:tagLst>
</file>

<file path=ppt/tags/tag66.xml><?xml version="1.0" encoding="utf-8"?>
<p:tagLst xmlns:p="http://schemas.openxmlformats.org/presentationml/2006/main">
  <p:tag name="KSO_WM_UNIT_PLACING_PICTURE_USER_VIEWPORT" val="{&quot;height&quot;:2172.0062992125986,&quot;width&quot;:2209.9228346456694}"/>
</p:tagLst>
</file>

<file path=ppt/tags/tag67.xml><?xml version="1.0" encoding="utf-8"?>
<p:tagLst xmlns:p="http://schemas.openxmlformats.org/presentationml/2006/main">
  <p:tag name="COMMONDATA" val="eyJoZGlkIjoiOTVmMzA3MzYwZWEzNDk4NWUwZjMyYzM4Mzg5N2ZkZWQifQ=="/>
  <p:tag name="KSO_WPP_MARK_KEY" val="ce54151a-bed8-4561-b0d0-95e478c88ddb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1317</Words>
  <Application>WPS 演示</Application>
  <PresentationFormat>宽屏</PresentationFormat>
  <Paragraphs>111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小学生 防溺水安全知识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感谢您的观看！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Default</cp:lastModifiedBy>
  <cp:revision>199</cp:revision>
  <dcterms:created xsi:type="dcterms:W3CDTF">2019-06-19T02:08:00Z</dcterms:created>
  <dcterms:modified xsi:type="dcterms:W3CDTF">2024-04-13T09:21:48Z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2E96DB7B88504A6E9CBB73FD1A349D17</vt:lpwstr>
  </property>
</Properties>
</file>