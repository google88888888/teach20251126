
<file path=[Content_Types].xml><?xml version="1.0" encoding="utf-8"?>
<Types xmlns="http://schemas.openxmlformats.org/package/2006/content-types"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2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80" y="1049020"/>
            <a:ext cx="9799320" cy="185420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198880" y="2973070"/>
            <a:ext cx="9799320" cy="72263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l" eaLnBrk="1" fontAlgn="auto" latinLnBrk="0" hangingPunct="1">
              <a:lnSpc>
                <a:spcPct val="110000"/>
              </a:lnSpc>
              <a:buNone/>
              <a:defRPr sz="2400"/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990800" y="3151805"/>
            <a:ext cx="7768800" cy="7668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990800" y="3918605"/>
            <a:ext cx="7768800" cy="8676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3"/>
            <p:custDataLst>
              <p:tags r:id="rId6"/>
            </p:custDataLst>
          </p:nvPr>
        </p:nvSpPr>
        <p:spPr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/>
            <p:custDataLst>
              <p:tags r:id="rId7"/>
            </p:custDataLst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170" tIns="46990" rIns="90170" bIns="46990" rtlCol="0"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48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tags" Target="../tags/tag49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3" Type="http://schemas.openxmlformats.org/officeDocument/2006/relationships/slideLayout" Target="../slideLayouts/slideLayout5.xml"/><Relationship Id="rId22" Type="http://schemas.openxmlformats.org/officeDocument/2006/relationships/tags" Target="../tags/tag72.xml"/><Relationship Id="rId21" Type="http://schemas.openxmlformats.org/officeDocument/2006/relationships/image" Target="../media/image8.png"/><Relationship Id="rId20" Type="http://schemas.openxmlformats.org/officeDocument/2006/relationships/tags" Target="../tags/tag71.xml"/><Relationship Id="rId2" Type="http://schemas.openxmlformats.org/officeDocument/2006/relationships/tags" Target="../tags/tag53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emf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10.emf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image" Target="../media/image9.emf"/><Relationship Id="rId23" Type="http://schemas.openxmlformats.org/officeDocument/2006/relationships/slideLayout" Target="../slideLayouts/slideLayout5.xml"/><Relationship Id="rId22" Type="http://schemas.openxmlformats.org/officeDocument/2006/relationships/tags" Target="../tags/tag89.xml"/><Relationship Id="rId21" Type="http://schemas.openxmlformats.org/officeDocument/2006/relationships/image" Target="../media/image15.emf"/><Relationship Id="rId20" Type="http://schemas.openxmlformats.org/officeDocument/2006/relationships/tags" Target="../tags/tag88.xml"/><Relationship Id="rId2" Type="http://schemas.openxmlformats.org/officeDocument/2006/relationships/tags" Target="../tags/tag76.xml"/><Relationship Id="rId19" Type="http://schemas.openxmlformats.org/officeDocument/2006/relationships/tags" Target="../tags/tag87.xml"/><Relationship Id="rId18" Type="http://schemas.openxmlformats.org/officeDocument/2006/relationships/image" Target="../media/image14.emf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image" Target="../media/image13.emf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image" Target="../media/image12.emf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image" Target="../media/image1.sv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9" Type="http://schemas.microsoft.com/office/2007/relationships/hdphoto" Target="../media/image24.wdp"/><Relationship Id="rId8" Type="http://schemas.openxmlformats.org/officeDocument/2006/relationships/image" Target="../media/image23.png"/><Relationship Id="rId7" Type="http://schemas.microsoft.com/office/2007/relationships/hdphoto" Target="../media/image22.wdp"/><Relationship Id="rId6" Type="http://schemas.openxmlformats.org/officeDocument/2006/relationships/image" Target="../media/image21.png"/><Relationship Id="rId5" Type="http://schemas.microsoft.com/office/2007/relationships/hdphoto" Target="../media/image20.wdp"/><Relationship Id="rId4" Type="http://schemas.openxmlformats.org/officeDocument/2006/relationships/image" Target="../media/image19.png"/><Relationship Id="rId3" Type="http://schemas.microsoft.com/office/2007/relationships/hdphoto" Target="../media/image18.wdp"/><Relationship Id="rId2" Type="http://schemas.openxmlformats.org/officeDocument/2006/relationships/image" Target="../media/image17.png"/><Relationship Id="rId16" Type="http://schemas.openxmlformats.org/officeDocument/2006/relationships/slideLayout" Target="../slideLayouts/slideLayout5.xml"/><Relationship Id="rId15" Type="http://schemas.openxmlformats.org/officeDocument/2006/relationships/tags" Target="../tags/tag92.xml"/><Relationship Id="rId14" Type="http://schemas.microsoft.com/office/2007/relationships/hdphoto" Target="../media/image29.wdp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microsoft.com/office/2007/relationships/hdphoto" Target="../media/image26.wdp"/><Relationship Id="rId10" Type="http://schemas.openxmlformats.org/officeDocument/2006/relationships/image" Target="../media/image25.png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30.png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image" Target="../media/image2.sv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image" Target="../media/image3.sv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守护健康·防范病毒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我们在行动·我们能战胜！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209040" y="4249420"/>
            <a:ext cx="4707890" cy="650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auto">
              <a:lnSpc>
                <a:spcPct val="130000"/>
              </a:lnSpc>
            </a:pPr>
            <a:r>
              <a:rPr sz="14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+mn-ea"/>
                <a:cs typeface="+mn-ea"/>
                <a:sym typeface="+mn-ea"/>
              </a:rPr>
              <a:t>A病毒目前累计感染人数已经</a:t>
            </a:r>
            <a:endParaRPr sz="1400" spc="150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+mn-ea"/>
              <a:cs typeface="+mn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sz="14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+mn-ea"/>
                <a:cs typeface="+mn-ea"/>
                <a:sym typeface="+mn-ea"/>
              </a:rPr>
              <a:t>&gt;1,000,000</a:t>
            </a:r>
            <a:endParaRPr sz="1400" spc="150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+mn-ea"/>
              <a:cs typeface="+mn-ea"/>
              <a:sym typeface="+mn-ea"/>
            </a:endParaRPr>
          </a:p>
        </p:txBody>
      </p:sp>
      <p:pic>
        <p:nvPicPr>
          <p:cNvPr id="12" name="病毒入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560" y="3419475"/>
            <a:ext cx="2225040" cy="2796540"/>
          </a:xfrm>
          <a:prstGeom prst="rect">
            <a:avLst/>
          </a:prstGeom>
        </p:spPr>
      </p:pic>
      <p:pic>
        <p:nvPicPr>
          <p:cNvPr id="8" name="护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763" y="3373120"/>
            <a:ext cx="2865120" cy="29413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  <p:bldLst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pic>
        <p:nvPicPr>
          <p:cNvPr id="1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25" y="2435860"/>
            <a:ext cx="4591050" cy="819150"/>
          </a:xfrm>
          <a:prstGeom prst="rect">
            <a:avLst/>
          </a:prstGeom>
        </p:spPr>
      </p:pic>
      <p:pic>
        <p:nvPicPr>
          <p:cNvPr id="1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605" y="2435860"/>
            <a:ext cx="4591050" cy="819150"/>
          </a:xfrm>
          <a:prstGeom prst="rect">
            <a:avLst/>
          </a:prstGeom>
        </p:spPr>
      </p:pic>
      <p:pic>
        <p:nvPicPr>
          <p:cNvPr id="1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25" y="3616325"/>
            <a:ext cx="4591050" cy="819150"/>
          </a:xfrm>
          <a:prstGeom prst="rect">
            <a:avLst/>
          </a:prstGeom>
        </p:spPr>
      </p:pic>
      <p:pic>
        <p:nvPicPr>
          <p:cNvPr id="19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605" y="3616325"/>
            <a:ext cx="4591050" cy="8191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</a:t>
            </a:r>
            <a:r>
              <a:rPr lang="zh-CN" altLang="en-US"/>
              <a:t>病毒是什么</a:t>
            </a:r>
            <a:endParaRPr lang="zh-CN" altLang="en-US"/>
          </a:p>
        </p:txBody>
      </p:sp>
      <p:sp>
        <p:nvSpPr>
          <p:cNvPr id="4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为什么叫</a:t>
            </a:r>
            <a:r>
              <a:rPr lang="en-US" altLang="zh-CN"/>
              <a:t>A</a:t>
            </a:r>
            <a:r>
              <a:rPr lang="zh-CN" altLang="en-US"/>
              <a:t>病毒？</a:t>
            </a:r>
            <a:endParaRPr lang="zh-CN" altLang="en-US"/>
          </a:p>
          <a:p>
            <a:r>
              <a:rPr lang="zh-CN" altLang="en-US"/>
              <a:t>感染患者有哪些临床表现？</a:t>
            </a:r>
            <a:endParaRPr lang="zh-CN" altLang="en-US"/>
          </a:p>
        </p:txBody>
      </p:sp>
      <p:sp>
        <p:nvSpPr>
          <p:cNvPr id="5" name="virus"/>
          <p:cNvSpPr>
            <a:spLocks noChangeAspect="1"/>
          </p:cNvSpPr>
          <p:nvPr/>
        </p:nvSpPr>
        <p:spPr bwMode="auto">
          <a:xfrm>
            <a:off x="2114550" y="1864995"/>
            <a:ext cx="1118235" cy="1116330"/>
          </a:xfrm>
          <a:custGeom>
            <a:avLst/>
            <a:gdLst>
              <a:gd name="connsiteX0" fmla="*/ 499463 w 607639"/>
              <a:gd name="connsiteY0" fmla="*/ 537003 h 606722"/>
              <a:gd name="connsiteX1" fmla="*/ 498757 w 607639"/>
              <a:gd name="connsiteY1" fmla="*/ 537709 h 606722"/>
              <a:gd name="connsiteX2" fmla="*/ 499022 w 607639"/>
              <a:gd name="connsiteY2" fmla="*/ 537356 h 606722"/>
              <a:gd name="connsiteX3" fmla="*/ 500803 w 607639"/>
              <a:gd name="connsiteY3" fmla="*/ 535663 h 606722"/>
              <a:gd name="connsiteX4" fmla="*/ 499815 w 607639"/>
              <a:gd name="connsiteY4" fmla="*/ 536651 h 606722"/>
              <a:gd name="connsiteX5" fmla="*/ 500020 w 607639"/>
              <a:gd name="connsiteY5" fmla="*/ 536417 h 606722"/>
              <a:gd name="connsiteX6" fmla="*/ 500299 w 607639"/>
              <a:gd name="connsiteY6" fmla="*/ 536158 h 606722"/>
              <a:gd name="connsiteX7" fmla="*/ 500570 w 607639"/>
              <a:gd name="connsiteY7" fmla="*/ 535863 h 606722"/>
              <a:gd name="connsiteX8" fmla="*/ 501791 w 607639"/>
              <a:gd name="connsiteY8" fmla="*/ 534675 h 606722"/>
              <a:gd name="connsiteX9" fmla="*/ 500803 w 607639"/>
              <a:gd name="connsiteY9" fmla="*/ 535663 h 606722"/>
              <a:gd name="connsiteX10" fmla="*/ 501252 w 607639"/>
              <a:gd name="connsiteY10" fmla="*/ 535124 h 606722"/>
              <a:gd name="connsiteX11" fmla="*/ 501791 w 607639"/>
              <a:gd name="connsiteY11" fmla="*/ 534675 h 606722"/>
              <a:gd name="connsiteX12" fmla="*/ 505742 w 607639"/>
              <a:gd name="connsiteY12" fmla="*/ 530723 h 606722"/>
              <a:gd name="connsiteX13" fmla="*/ 504825 w 607639"/>
              <a:gd name="connsiteY13" fmla="*/ 531570 h 606722"/>
              <a:gd name="connsiteX14" fmla="*/ 505284 w 607639"/>
              <a:gd name="connsiteY14" fmla="*/ 531099 h 606722"/>
              <a:gd name="connsiteX15" fmla="*/ 347031 w 607639"/>
              <a:gd name="connsiteY15" fmla="*/ 313892 h 606722"/>
              <a:gd name="connsiteX16" fmla="*/ 314366 w 607639"/>
              <a:gd name="connsiteY16" fmla="*/ 346508 h 606722"/>
              <a:gd name="connsiteX17" fmla="*/ 347031 w 607639"/>
              <a:gd name="connsiteY17" fmla="*/ 379123 h 606722"/>
              <a:gd name="connsiteX18" fmla="*/ 379696 w 607639"/>
              <a:gd name="connsiteY18" fmla="*/ 346508 h 606722"/>
              <a:gd name="connsiteX19" fmla="*/ 347031 w 607639"/>
              <a:gd name="connsiteY19" fmla="*/ 313892 h 606722"/>
              <a:gd name="connsiteX20" fmla="*/ 260607 w 607639"/>
              <a:gd name="connsiteY20" fmla="*/ 213024 h 606722"/>
              <a:gd name="connsiteX21" fmla="*/ 207649 w 607639"/>
              <a:gd name="connsiteY21" fmla="*/ 265813 h 606722"/>
              <a:gd name="connsiteX22" fmla="*/ 260607 w 607639"/>
              <a:gd name="connsiteY22" fmla="*/ 318691 h 606722"/>
              <a:gd name="connsiteX23" fmla="*/ 313476 w 607639"/>
              <a:gd name="connsiteY23" fmla="*/ 265813 h 606722"/>
              <a:gd name="connsiteX24" fmla="*/ 260607 w 607639"/>
              <a:gd name="connsiteY24" fmla="*/ 213024 h 606722"/>
              <a:gd name="connsiteX25" fmla="*/ 270042 w 607639"/>
              <a:gd name="connsiteY25" fmla="*/ 0 h 606722"/>
              <a:gd name="connsiteX26" fmla="*/ 337597 w 607639"/>
              <a:gd name="connsiteY26" fmla="*/ 0 h 606722"/>
              <a:gd name="connsiteX27" fmla="*/ 337597 w 607639"/>
              <a:gd name="connsiteY27" fmla="*/ 47901 h 606722"/>
              <a:gd name="connsiteX28" fmla="*/ 327806 w 607639"/>
              <a:gd name="connsiteY28" fmla="*/ 47901 h 606722"/>
              <a:gd name="connsiteX29" fmla="*/ 327806 w 607639"/>
              <a:gd name="connsiteY29" fmla="*/ 105756 h 606722"/>
              <a:gd name="connsiteX30" fmla="*/ 426691 w 607639"/>
              <a:gd name="connsiteY30" fmla="*/ 146726 h 606722"/>
              <a:gd name="connsiteX31" fmla="*/ 467723 w 607639"/>
              <a:gd name="connsiteY31" fmla="*/ 105756 h 606722"/>
              <a:gd name="connsiteX32" fmla="*/ 460780 w 607639"/>
              <a:gd name="connsiteY32" fmla="*/ 98913 h 606722"/>
              <a:gd name="connsiteX33" fmla="*/ 494691 w 607639"/>
              <a:gd name="connsiteY33" fmla="*/ 64965 h 606722"/>
              <a:gd name="connsiteX34" fmla="*/ 530383 w 607639"/>
              <a:gd name="connsiteY34" fmla="*/ 100602 h 606722"/>
              <a:gd name="connsiteX35" fmla="*/ 531095 w 607639"/>
              <a:gd name="connsiteY35" fmla="*/ 101313 h 606722"/>
              <a:gd name="connsiteX36" fmla="*/ 537414 w 607639"/>
              <a:gd name="connsiteY36" fmla="*/ 107534 h 606722"/>
              <a:gd name="connsiteX37" fmla="*/ 537770 w 607639"/>
              <a:gd name="connsiteY37" fmla="*/ 107978 h 606722"/>
              <a:gd name="connsiteX38" fmla="*/ 537948 w 607639"/>
              <a:gd name="connsiteY38" fmla="*/ 108156 h 606722"/>
              <a:gd name="connsiteX39" fmla="*/ 538482 w 607639"/>
              <a:gd name="connsiteY39" fmla="*/ 108689 h 606722"/>
              <a:gd name="connsiteX40" fmla="*/ 538215 w 607639"/>
              <a:gd name="connsiteY40" fmla="*/ 108423 h 606722"/>
              <a:gd name="connsiteX41" fmla="*/ 538749 w 607639"/>
              <a:gd name="connsiteY41" fmla="*/ 108867 h 606722"/>
              <a:gd name="connsiteX42" fmla="*/ 539105 w 607639"/>
              <a:gd name="connsiteY42" fmla="*/ 109311 h 606722"/>
              <a:gd name="connsiteX43" fmla="*/ 542487 w 607639"/>
              <a:gd name="connsiteY43" fmla="*/ 112688 h 606722"/>
              <a:gd name="connsiteX44" fmla="*/ 508576 w 607639"/>
              <a:gd name="connsiteY44" fmla="*/ 146637 h 606722"/>
              <a:gd name="connsiteX45" fmla="*/ 501634 w 607639"/>
              <a:gd name="connsiteY45" fmla="*/ 139705 h 606722"/>
              <a:gd name="connsiteX46" fmla="*/ 460691 w 607639"/>
              <a:gd name="connsiteY46" fmla="*/ 180675 h 606722"/>
              <a:gd name="connsiteX47" fmla="*/ 501723 w 607639"/>
              <a:gd name="connsiteY47" fmla="*/ 279410 h 606722"/>
              <a:gd name="connsiteX48" fmla="*/ 559576 w 607639"/>
              <a:gd name="connsiteY48" fmla="*/ 279410 h 606722"/>
              <a:gd name="connsiteX49" fmla="*/ 559576 w 607639"/>
              <a:gd name="connsiteY49" fmla="*/ 269634 h 606722"/>
              <a:gd name="connsiteX50" fmla="*/ 607639 w 607639"/>
              <a:gd name="connsiteY50" fmla="*/ 269634 h 606722"/>
              <a:gd name="connsiteX51" fmla="*/ 607639 w 607639"/>
              <a:gd name="connsiteY51" fmla="*/ 337088 h 606722"/>
              <a:gd name="connsiteX52" fmla="*/ 559576 w 607639"/>
              <a:gd name="connsiteY52" fmla="*/ 337088 h 606722"/>
              <a:gd name="connsiteX53" fmla="*/ 559576 w 607639"/>
              <a:gd name="connsiteY53" fmla="*/ 327312 h 606722"/>
              <a:gd name="connsiteX54" fmla="*/ 501723 w 607639"/>
              <a:gd name="connsiteY54" fmla="*/ 327312 h 606722"/>
              <a:gd name="connsiteX55" fmla="*/ 460691 w 607639"/>
              <a:gd name="connsiteY55" fmla="*/ 426047 h 606722"/>
              <a:gd name="connsiteX56" fmla="*/ 501634 w 607639"/>
              <a:gd name="connsiteY56" fmla="*/ 467017 h 606722"/>
              <a:gd name="connsiteX57" fmla="*/ 508576 w 607639"/>
              <a:gd name="connsiteY57" fmla="*/ 460085 h 606722"/>
              <a:gd name="connsiteX58" fmla="*/ 542487 w 607639"/>
              <a:gd name="connsiteY58" fmla="*/ 493945 h 606722"/>
              <a:gd name="connsiteX59" fmla="*/ 506885 w 607639"/>
              <a:gd name="connsiteY59" fmla="*/ 529582 h 606722"/>
              <a:gd name="connsiteX60" fmla="*/ 506867 w 607639"/>
              <a:gd name="connsiteY60" fmla="*/ 529599 h 606722"/>
              <a:gd name="connsiteX61" fmla="*/ 505283 w 607639"/>
              <a:gd name="connsiteY61" fmla="*/ 531093 h 606722"/>
              <a:gd name="connsiteX62" fmla="*/ 501278 w 607639"/>
              <a:gd name="connsiteY62" fmla="*/ 535092 h 606722"/>
              <a:gd name="connsiteX63" fmla="*/ 500570 w 607639"/>
              <a:gd name="connsiteY63" fmla="*/ 535863 h 606722"/>
              <a:gd name="connsiteX64" fmla="*/ 500309 w 607639"/>
              <a:gd name="connsiteY64" fmla="*/ 536086 h 606722"/>
              <a:gd name="connsiteX65" fmla="*/ 500020 w 607639"/>
              <a:gd name="connsiteY65" fmla="*/ 536417 h 606722"/>
              <a:gd name="connsiteX66" fmla="*/ 499052 w 607639"/>
              <a:gd name="connsiteY66" fmla="*/ 537314 h 606722"/>
              <a:gd name="connsiteX67" fmla="*/ 498162 w 607639"/>
              <a:gd name="connsiteY67" fmla="*/ 538291 h 606722"/>
              <a:gd name="connsiteX68" fmla="*/ 494691 w 607639"/>
              <a:gd name="connsiteY68" fmla="*/ 541668 h 606722"/>
              <a:gd name="connsiteX69" fmla="*/ 460780 w 607639"/>
              <a:gd name="connsiteY69" fmla="*/ 507809 h 606722"/>
              <a:gd name="connsiteX70" fmla="*/ 467723 w 607639"/>
              <a:gd name="connsiteY70" fmla="*/ 500877 h 606722"/>
              <a:gd name="connsiteX71" fmla="*/ 426691 w 607639"/>
              <a:gd name="connsiteY71" fmla="*/ 459996 h 606722"/>
              <a:gd name="connsiteX72" fmla="*/ 327806 w 607639"/>
              <a:gd name="connsiteY72" fmla="*/ 500966 h 606722"/>
              <a:gd name="connsiteX73" fmla="*/ 327806 w 607639"/>
              <a:gd name="connsiteY73" fmla="*/ 558732 h 606722"/>
              <a:gd name="connsiteX74" fmla="*/ 337597 w 607639"/>
              <a:gd name="connsiteY74" fmla="*/ 558732 h 606722"/>
              <a:gd name="connsiteX75" fmla="*/ 337597 w 607639"/>
              <a:gd name="connsiteY75" fmla="*/ 606722 h 606722"/>
              <a:gd name="connsiteX76" fmla="*/ 270042 w 607639"/>
              <a:gd name="connsiteY76" fmla="*/ 606722 h 606722"/>
              <a:gd name="connsiteX77" fmla="*/ 270042 w 607639"/>
              <a:gd name="connsiteY77" fmla="*/ 558732 h 606722"/>
              <a:gd name="connsiteX78" fmla="*/ 279832 w 607639"/>
              <a:gd name="connsiteY78" fmla="*/ 558732 h 606722"/>
              <a:gd name="connsiteX79" fmla="*/ 279832 w 607639"/>
              <a:gd name="connsiteY79" fmla="*/ 500966 h 606722"/>
              <a:gd name="connsiteX80" fmla="*/ 180948 w 607639"/>
              <a:gd name="connsiteY80" fmla="*/ 459996 h 606722"/>
              <a:gd name="connsiteX81" fmla="*/ 139916 w 607639"/>
              <a:gd name="connsiteY81" fmla="*/ 500877 h 606722"/>
              <a:gd name="connsiteX82" fmla="*/ 146859 w 607639"/>
              <a:gd name="connsiteY82" fmla="*/ 507809 h 606722"/>
              <a:gd name="connsiteX83" fmla="*/ 112859 w 607639"/>
              <a:gd name="connsiteY83" fmla="*/ 541668 h 606722"/>
              <a:gd name="connsiteX84" fmla="*/ 77256 w 607639"/>
              <a:gd name="connsiteY84" fmla="*/ 506120 h 606722"/>
              <a:gd name="connsiteX85" fmla="*/ 68534 w 607639"/>
              <a:gd name="connsiteY85" fmla="*/ 497411 h 606722"/>
              <a:gd name="connsiteX86" fmla="*/ 65063 w 607639"/>
              <a:gd name="connsiteY86" fmla="*/ 493945 h 606722"/>
              <a:gd name="connsiteX87" fmla="*/ 99063 w 607639"/>
              <a:gd name="connsiteY87" fmla="*/ 460085 h 606722"/>
              <a:gd name="connsiteX88" fmla="*/ 105916 w 607639"/>
              <a:gd name="connsiteY88" fmla="*/ 467017 h 606722"/>
              <a:gd name="connsiteX89" fmla="*/ 146948 w 607639"/>
              <a:gd name="connsiteY89" fmla="*/ 426047 h 606722"/>
              <a:gd name="connsiteX90" fmla="*/ 105916 w 607639"/>
              <a:gd name="connsiteY90" fmla="*/ 327312 h 606722"/>
              <a:gd name="connsiteX91" fmla="*/ 47974 w 607639"/>
              <a:gd name="connsiteY91" fmla="*/ 327312 h 606722"/>
              <a:gd name="connsiteX92" fmla="*/ 47974 w 607639"/>
              <a:gd name="connsiteY92" fmla="*/ 337088 h 606722"/>
              <a:gd name="connsiteX93" fmla="*/ 0 w 607639"/>
              <a:gd name="connsiteY93" fmla="*/ 337088 h 606722"/>
              <a:gd name="connsiteX94" fmla="*/ 0 w 607639"/>
              <a:gd name="connsiteY94" fmla="*/ 269634 h 606722"/>
              <a:gd name="connsiteX95" fmla="*/ 47974 w 607639"/>
              <a:gd name="connsiteY95" fmla="*/ 269634 h 606722"/>
              <a:gd name="connsiteX96" fmla="*/ 47974 w 607639"/>
              <a:gd name="connsiteY96" fmla="*/ 279410 h 606722"/>
              <a:gd name="connsiteX97" fmla="*/ 105916 w 607639"/>
              <a:gd name="connsiteY97" fmla="*/ 279410 h 606722"/>
              <a:gd name="connsiteX98" fmla="*/ 146948 w 607639"/>
              <a:gd name="connsiteY98" fmla="*/ 180675 h 606722"/>
              <a:gd name="connsiteX99" fmla="*/ 105916 w 607639"/>
              <a:gd name="connsiteY99" fmla="*/ 139705 h 606722"/>
              <a:gd name="connsiteX100" fmla="*/ 99063 w 607639"/>
              <a:gd name="connsiteY100" fmla="*/ 146637 h 606722"/>
              <a:gd name="connsiteX101" fmla="*/ 65063 w 607639"/>
              <a:gd name="connsiteY101" fmla="*/ 112688 h 606722"/>
              <a:gd name="connsiteX102" fmla="*/ 106450 w 607639"/>
              <a:gd name="connsiteY102" fmla="*/ 71452 h 606722"/>
              <a:gd name="connsiteX103" fmla="*/ 112859 w 607639"/>
              <a:gd name="connsiteY103" fmla="*/ 64965 h 606722"/>
              <a:gd name="connsiteX104" fmla="*/ 146859 w 607639"/>
              <a:gd name="connsiteY104" fmla="*/ 98913 h 606722"/>
              <a:gd name="connsiteX105" fmla="*/ 139916 w 607639"/>
              <a:gd name="connsiteY105" fmla="*/ 105756 h 606722"/>
              <a:gd name="connsiteX106" fmla="*/ 180948 w 607639"/>
              <a:gd name="connsiteY106" fmla="*/ 146726 h 606722"/>
              <a:gd name="connsiteX107" fmla="*/ 279832 w 607639"/>
              <a:gd name="connsiteY107" fmla="*/ 105756 h 606722"/>
              <a:gd name="connsiteX108" fmla="*/ 279832 w 607639"/>
              <a:gd name="connsiteY108" fmla="*/ 47901 h 606722"/>
              <a:gd name="connsiteX109" fmla="*/ 270042 w 607639"/>
              <a:gd name="connsiteY109" fmla="*/ 47901 h 606722"/>
              <a:gd name="connsiteX110" fmla="*/ 270042 w 607639"/>
              <a:gd name="connsiteY110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607639" h="606722">
                <a:moveTo>
                  <a:pt x="499463" y="537003"/>
                </a:moveTo>
                <a:cubicBezTo>
                  <a:pt x="499198" y="537268"/>
                  <a:pt x="499022" y="537444"/>
                  <a:pt x="498757" y="537709"/>
                </a:cubicBezTo>
                <a:lnTo>
                  <a:pt x="499022" y="537356"/>
                </a:lnTo>
                <a:close/>
                <a:moveTo>
                  <a:pt x="500803" y="535663"/>
                </a:moveTo>
                <a:lnTo>
                  <a:pt x="499815" y="536651"/>
                </a:lnTo>
                <a:lnTo>
                  <a:pt x="500020" y="536417"/>
                </a:lnTo>
                <a:lnTo>
                  <a:pt x="500299" y="536158"/>
                </a:lnTo>
                <a:lnTo>
                  <a:pt x="500570" y="535863"/>
                </a:lnTo>
                <a:close/>
                <a:moveTo>
                  <a:pt x="501791" y="534675"/>
                </a:moveTo>
                <a:cubicBezTo>
                  <a:pt x="501522" y="534944"/>
                  <a:pt x="501162" y="535304"/>
                  <a:pt x="500803" y="535663"/>
                </a:cubicBezTo>
                <a:lnTo>
                  <a:pt x="501252" y="535124"/>
                </a:lnTo>
                <a:cubicBezTo>
                  <a:pt x="501432" y="535034"/>
                  <a:pt x="501611" y="534855"/>
                  <a:pt x="501791" y="534675"/>
                </a:cubicBezTo>
                <a:close/>
                <a:moveTo>
                  <a:pt x="505742" y="530723"/>
                </a:moveTo>
                <a:cubicBezTo>
                  <a:pt x="505467" y="531005"/>
                  <a:pt x="505192" y="531288"/>
                  <a:pt x="504825" y="531570"/>
                </a:cubicBezTo>
                <a:lnTo>
                  <a:pt x="505284" y="531099"/>
                </a:lnTo>
                <a:close/>
                <a:moveTo>
                  <a:pt x="347031" y="313892"/>
                </a:moveTo>
                <a:cubicBezTo>
                  <a:pt x="328963" y="313892"/>
                  <a:pt x="314366" y="328467"/>
                  <a:pt x="314366" y="346508"/>
                </a:cubicBezTo>
                <a:cubicBezTo>
                  <a:pt x="314366" y="364549"/>
                  <a:pt x="328963" y="379123"/>
                  <a:pt x="347031" y="379123"/>
                </a:cubicBezTo>
                <a:cubicBezTo>
                  <a:pt x="365099" y="379123"/>
                  <a:pt x="379696" y="364549"/>
                  <a:pt x="379696" y="346508"/>
                </a:cubicBezTo>
                <a:cubicBezTo>
                  <a:pt x="379696" y="328467"/>
                  <a:pt x="365099" y="313892"/>
                  <a:pt x="347031" y="313892"/>
                </a:cubicBezTo>
                <a:close/>
                <a:moveTo>
                  <a:pt x="260607" y="213024"/>
                </a:moveTo>
                <a:cubicBezTo>
                  <a:pt x="231325" y="213024"/>
                  <a:pt x="207649" y="236663"/>
                  <a:pt x="207649" y="265813"/>
                </a:cubicBezTo>
                <a:cubicBezTo>
                  <a:pt x="207649" y="295052"/>
                  <a:pt x="231325" y="318691"/>
                  <a:pt x="260607" y="318691"/>
                </a:cubicBezTo>
                <a:cubicBezTo>
                  <a:pt x="289801" y="318691"/>
                  <a:pt x="313476" y="295052"/>
                  <a:pt x="313476" y="265813"/>
                </a:cubicBezTo>
                <a:cubicBezTo>
                  <a:pt x="313476" y="236663"/>
                  <a:pt x="289801" y="213024"/>
                  <a:pt x="260607" y="213024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69372" y="0"/>
                  <a:pt x="369372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2" y="110200"/>
                  <a:pt x="398743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38351" y="76429"/>
                  <a:pt x="472262" y="42569"/>
                  <a:pt x="494691" y="64965"/>
                </a:cubicBezTo>
                <a:lnTo>
                  <a:pt x="530383" y="100602"/>
                </a:lnTo>
                <a:lnTo>
                  <a:pt x="531095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64917" y="135084"/>
                  <a:pt x="531006" y="168944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6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37908"/>
                  <a:pt x="607639" y="237908"/>
                  <a:pt x="607639" y="269634"/>
                </a:cubicBezTo>
                <a:lnTo>
                  <a:pt x="607639" y="337088"/>
                </a:lnTo>
                <a:cubicBezTo>
                  <a:pt x="607639" y="368814"/>
                  <a:pt x="559576" y="368814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6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31006" y="437689"/>
                  <a:pt x="565006" y="471549"/>
                  <a:pt x="542487" y="493945"/>
                </a:cubicBezTo>
                <a:lnTo>
                  <a:pt x="506885" y="529582"/>
                </a:lnTo>
                <a:lnTo>
                  <a:pt x="506867" y="529599"/>
                </a:lnTo>
                <a:lnTo>
                  <a:pt x="505283" y="531093"/>
                </a:lnTo>
                <a:lnTo>
                  <a:pt x="501278" y="535092"/>
                </a:lnTo>
                <a:lnTo>
                  <a:pt x="500570" y="535863"/>
                </a:lnTo>
                <a:lnTo>
                  <a:pt x="500309" y="536086"/>
                </a:lnTo>
                <a:lnTo>
                  <a:pt x="500020" y="536417"/>
                </a:lnTo>
                <a:lnTo>
                  <a:pt x="499052" y="537314"/>
                </a:lnTo>
                <a:lnTo>
                  <a:pt x="498162" y="538291"/>
                </a:lnTo>
                <a:lnTo>
                  <a:pt x="494691" y="541668"/>
                </a:lnTo>
                <a:cubicBezTo>
                  <a:pt x="472351" y="564064"/>
                  <a:pt x="438351" y="530204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3" y="481858"/>
                  <a:pt x="364832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69372" y="558732"/>
                  <a:pt x="369372" y="606722"/>
                  <a:pt x="337597" y="606722"/>
                </a:cubicBezTo>
                <a:lnTo>
                  <a:pt x="270042" y="606722"/>
                </a:lnTo>
                <a:cubicBezTo>
                  <a:pt x="238267" y="606722"/>
                  <a:pt x="238267" y="558732"/>
                  <a:pt x="270042" y="558732"/>
                </a:cubicBezTo>
                <a:lnTo>
                  <a:pt x="279832" y="558732"/>
                </a:lnTo>
                <a:lnTo>
                  <a:pt x="279832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69288" y="530204"/>
                  <a:pt x="135288" y="564064"/>
                  <a:pt x="112859" y="541668"/>
                </a:cubicBezTo>
                <a:lnTo>
                  <a:pt x="77256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42633" y="471549"/>
                  <a:pt x="76633" y="437689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6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68814"/>
                  <a:pt x="0" y="368814"/>
                  <a:pt x="0" y="337088"/>
                </a:cubicBezTo>
                <a:lnTo>
                  <a:pt x="0" y="269634"/>
                </a:lnTo>
                <a:cubicBezTo>
                  <a:pt x="0" y="237908"/>
                  <a:pt x="47974" y="237908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6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76633" y="168944"/>
                  <a:pt x="42633" y="135084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35377" y="42569"/>
                  <a:pt x="169288" y="76518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2" y="105756"/>
                </a:cubicBezTo>
                <a:lnTo>
                  <a:pt x="279832" y="47901"/>
                </a:lnTo>
                <a:lnTo>
                  <a:pt x="270042" y="47901"/>
                </a:lnTo>
                <a:cubicBezTo>
                  <a:pt x="238267" y="47901"/>
                  <a:pt x="238267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为什么叫</a:t>
            </a:r>
            <a:r>
              <a:rPr lang="en-US" altLang="zh-CN"/>
              <a:t>A</a:t>
            </a:r>
            <a:r>
              <a:rPr lang="zh-CN" altLang="en-US"/>
              <a:t>病毒？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世界卫生组织将本次发现的新型病毒命名为“A病毒”，因其在A地区首次发现而得名。</a:t>
            </a:r>
          </a:p>
          <a:p>
            <a:r>
              <a:t>A病毒通常在动物之间传播，在罕见情况下，A病毒进化并感染人类，然后在人群中传播。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32905" y="2836545"/>
            <a:ext cx="4783455" cy="27857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感染患者有哪些临床表现？</a:t>
            </a:r>
            <a:endParaRPr lang="zh-CN" altLang="en-US"/>
          </a:p>
        </p:txBody>
      </p:sp>
      <p:grpSp>
        <p:nvGrpSpPr>
          <p:cNvPr id="4" name="组合 2"/>
          <p:cNvGrpSpPr/>
          <p:nvPr/>
        </p:nvGrpSpPr>
        <p:grpSpPr>
          <a:xfrm rot="0">
            <a:off x="651510" y="1937385"/>
            <a:ext cx="3619500" cy="3599815"/>
            <a:chOff x="1090" y="3054"/>
            <a:chExt cx="5700" cy="5670"/>
          </a:xfrm>
        </p:grpSpPr>
        <p:sp>
          <p:nvSpPr>
            <p:cNvPr id="5" name="PA-177"/>
            <p:cNvSpPr/>
            <p:nvPr>
              <p:custDataLst>
                <p:tags r:id="rId1"/>
              </p:custDataLst>
            </p:nvPr>
          </p:nvSpPr>
          <p:spPr>
            <a:xfrm>
              <a:off x="1090" y="3886"/>
              <a:ext cx="5670" cy="483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PA-180"/>
            <p:cNvSpPr txBox="1"/>
            <p:nvPr>
              <p:custDataLst>
                <p:tags r:id="rId2"/>
              </p:custDataLst>
            </p:nvPr>
          </p:nvSpPr>
          <p:spPr>
            <a:xfrm>
              <a:off x="2618" y="4406"/>
              <a:ext cx="4141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发热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PA-181"/>
            <p:cNvSpPr txBox="1"/>
            <p:nvPr>
              <p:custDataLst>
                <p:tags r:id="rId3"/>
              </p:custDataLst>
            </p:nvPr>
          </p:nvSpPr>
          <p:spPr>
            <a:xfrm>
              <a:off x="2650" y="5477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乏力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" name="PA-182"/>
            <p:cNvSpPr txBox="1"/>
            <p:nvPr>
              <p:custDataLst>
                <p:tags r:id="rId4"/>
              </p:custDataLst>
            </p:nvPr>
          </p:nvSpPr>
          <p:spPr>
            <a:xfrm>
              <a:off x="2618" y="6548"/>
              <a:ext cx="4141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干咳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PA-187"/>
            <p:cNvSpPr txBox="1"/>
            <p:nvPr>
              <p:custDataLst>
                <p:tags r:id="rId5"/>
              </p:custDataLst>
            </p:nvPr>
          </p:nvSpPr>
          <p:spPr>
            <a:xfrm>
              <a:off x="2618" y="7619"/>
              <a:ext cx="4141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逐渐出现呼吸困难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PA-18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593" y="4347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PA-18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93" y="5418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2" name="PA-190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93" y="6489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3" name="PA-191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593" y="7560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4" name="PA-196"/>
            <p:cNvSpPr/>
            <p:nvPr>
              <p:custDataLst>
                <p:tags r:id="rId10"/>
              </p:custDataLst>
            </p:nvPr>
          </p:nvSpPr>
          <p:spPr>
            <a:xfrm>
              <a:off x="1090" y="3054"/>
              <a:ext cx="5670" cy="832"/>
            </a:xfrm>
            <a:prstGeom prst="round2Same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一般症状</a:t>
              </a:r>
              <a:endParaRPr lang="zh-CN" altLang="en-US" b="1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5" name="组合 3"/>
          <p:cNvGrpSpPr/>
          <p:nvPr/>
        </p:nvGrpSpPr>
        <p:grpSpPr>
          <a:xfrm rot="0">
            <a:off x="7938135" y="1937385"/>
            <a:ext cx="3602990" cy="3599815"/>
            <a:chOff x="12565" y="3054"/>
            <a:chExt cx="5674" cy="5670"/>
          </a:xfrm>
        </p:grpSpPr>
        <p:sp>
          <p:nvSpPr>
            <p:cNvPr id="16" name="PA-178"/>
            <p:cNvSpPr/>
            <p:nvPr>
              <p:custDataLst>
                <p:tags r:id="rId11"/>
              </p:custDataLst>
            </p:nvPr>
          </p:nvSpPr>
          <p:spPr>
            <a:xfrm>
              <a:off x="12565" y="3886"/>
              <a:ext cx="5668" cy="483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PA-183"/>
            <p:cNvSpPr txBox="1"/>
            <p:nvPr>
              <p:custDataLst>
                <p:tags r:id="rId12"/>
              </p:custDataLst>
            </p:nvPr>
          </p:nvSpPr>
          <p:spPr>
            <a:xfrm>
              <a:off x="14099" y="4406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急性呼吸窘迫综合征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184"/>
            <p:cNvSpPr txBox="1"/>
            <p:nvPr>
              <p:custDataLst>
                <p:tags r:id="rId13"/>
              </p:custDataLst>
            </p:nvPr>
          </p:nvSpPr>
          <p:spPr>
            <a:xfrm>
              <a:off x="14099" y="5477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脓毒症休克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185"/>
            <p:cNvSpPr txBox="1"/>
            <p:nvPr>
              <p:custDataLst>
                <p:tags r:id="rId14"/>
              </p:custDataLst>
            </p:nvPr>
          </p:nvSpPr>
          <p:spPr>
            <a:xfrm>
              <a:off x="14099" y="6548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代谢性酸中毒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186"/>
            <p:cNvSpPr txBox="1"/>
            <p:nvPr>
              <p:custDataLst>
                <p:tags r:id="rId15"/>
              </p:custDataLst>
            </p:nvPr>
          </p:nvSpPr>
          <p:spPr>
            <a:xfrm>
              <a:off x="14099" y="7619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凝血功能障碍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1" name="PA-192"/>
            <p:cNvSpPr/>
            <p:nvPr>
              <p:custDataLst>
                <p:tags r:id="rId16"/>
              </p:custDataLst>
            </p:nvPr>
          </p:nvSpPr>
          <p:spPr>
            <a:xfrm>
              <a:off x="13110" y="4347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3" name="PA-193"/>
            <p:cNvSpPr/>
            <p:nvPr>
              <p:custDataLst>
                <p:tags r:id="rId17"/>
              </p:custDataLst>
            </p:nvPr>
          </p:nvSpPr>
          <p:spPr>
            <a:xfrm>
              <a:off x="13110" y="5418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4" name="PA-194"/>
            <p:cNvSpPr/>
            <p:nvPr>
              <p:custDataLst>
                <p:tags r:id="rId18"/>
              </p:custDataLst>
            </p:nvPr>
          </p:nvSpPr>
          <p:spPr>
            <a:xfrm>
              <a:off x="13110" y="6489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6" name="PA-195"/>
            <p:cNvSpPr/>
            <p:nvPr>
              <p:custDataLst>
                <p:tags r:id="rId19"/>
              </p:custDataLst>
            </p:nvPr>
          </p:nvSpPr>
          <p:spPr>
            <a:xfrm>
              <a:off x="13110" y="7560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7" name="PA-197"/>
            <p:cNvSpPr/>
            <p:nvPr>
              <p:custDataLst>
                <p:tags r:id="rId20"/>
              </p:custDataLst>
            </p:nvPr>
          </p:nvSpPr>
          <p:spPr>
            <a:xfrm>
              <a:off x="12565" y="3054"/>
              <a:ext cx="5668" cy="832"/>
            </a:xfrm>
            <a:prstGeom prst="round2Same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严重者</a:t>
              </a:r>
              <a:endParaRPr lang="zh-CN" altLang="en-US" b="1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1" name="图片 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04665" y="1937385"/>
            <a:ext cx="3599815" cy="3599815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预防</a:t>
            </a:r>
            <a:r>
              <a:rPr lang="en-US" altLang="zh-CN"/>
              <a:t>A</a:t>
            </a:r>
            <a:r>
              <a:rPr lang="zh-CN" altLang="en-US"/>
              <a:t>病毒感染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如何预防</a:t>
            </a:r>
            <a:r>
              <a:rPr lang="en-US" altLang="zh-CN"/>
              <a:t>A</a:t>
            </a:r>
            <a:r>
              <a:rPr lang="zh-CN" altLang="en-US"/>
              <a:t>病毒感染？</a:t>
            </a:r>
            <a:endParaRPr lang="zh-CN" altLang="en-US"/>
          </a:p>
          <a:p>
            <a:r>
              <a:rPr lang="zh-CN" altLang="en-US"/>
              <a:t>七步洗手法</a:t>
            </a:r>
            <a:endParaRPr lang="zh-CN" altLang="en-US"/>
          </a:p>
        </p:txBody>
      </p:sp>
      <p:sp>
        <p:nvSpPr>
          <p:cNvPr id="12" name="shield"/>
          <p:cNvSpPr>
            <a:spLocks noChangeAspect="1"/>
          </p:cNvSpPr>
          <p:nvPr/>
        </p:nvSpPr>
        <p:spPr bwMode="auto">
          <a:xfrm>
            <a:off x="2104390" y="1864995"/>
            <a:ext cx="1088390" cy="1116330"/>
          </a:xfrm>
          <a:custGeom>
            <a:avLst/>
            <a:gdLst>
              <a:gd name="T0" fmla="*/ 3246 w 7943"/>
              <a:gd name="T1" fmla="*/ 3842 h 8160"/>
              <a:gd name="T2" fmla="*/ 5168 w 7943"/>
              <a:gd name="T3" fmla="*/ 1921 h 8160"/>
              <a:gd name="T4" fmla="*/ 3246 w 7943"/>
              <a:gd name="T5" fmla="*/ 0 h 8160"/>
              <a:gd name="T6" fmla="*/ 1325 w 7943"/>
              <a:gd name="T7" fmla="*/ 1921 h 8160"/>
              <a:gd name="T8" fmla="*/ 3246 w 7943"/>
              <a:gd name="T9" fmla="*/ 3842 h 8160"/>
              <a:gd name="T10" fmla="*/ 4144 w 7943"/>
              <a:gd name="T11" fmla="*/ 2685 h 8160"/>
              <a:gd name="T12" fmla="*/ 3234 w 7943"/>
              <a:gd name="T13" fmla="*/ 3191 h 8160"/>
              <a:gd name="T14" fmla="*/ 2323 w 7943"/>
              <a:gd name="T15" fmla="*/ 2685 h 8160"/>
              <a:gd name="T16" fmla="*/ 4144 w 7943"/>
              <a:gd name="T17" fmla="*/ 2685 h 8160"/>
              <a:gd name="T18" fmla="*/ 7939 w 7943"/>
              <a:gd name="T19" fmla="*/ 5684 h 8160"/>
              <a:gd name="T20" fmla="*/ 6355 w 7943"/>
              <a:gd name="T21" fmla="*/ 8160 h 8160"/>
              <a:gd name="T22" fmla="*/ 4770 w 7943"/>
              <a:gd name="T23" fmla="*/ 5684 h 8160"/>
              <a:gd name="T24" fmla="*/ 4929 w 7943"/>
              <a:gd name="T25" fmla="*/ 5527 h 8160"/>
              <a:gd name="T26" fmla="*/ 6261 w 7943"/>
              <a:gd name="T27" fmla="*/ 5067 h 8160"/>
              <a:gd name="T28" fmla="*/ 6449 w 7943"/>
              <a:gd name="T29" fmla="*/ 5067 h 8160"/>
              <a:gd name="T30" fmla="*/ 7781 w 7943"/>
              <a:gd name="T31" fmla="*/ 5527 h 8160"/>
              <a:gd name="T32" fmla="*/ 7939 w 7943"/>
              <a:gd name="T33" fmla="*/ 5684 h 8160"/>
              <a:gd name="T34" fmla="*/ 4439 w 7943"/>
              <a:gd name="T35" fmla="*/ 5696 h 8160"/>
              <a:gd name="T36" fmla="*/ 4731 w 7943"/>
              <a:gd name="T37" fmla="*/ 7078 h 8160"/>
              <a:gd name="T38" fmla="*/ 3246 w 7943"/>
              <a:gd name="T39" fmla="*/ 7155 h 8160"/>
              <a:gd name="T40" fmla="*/ 155 w 7943"/>
              <a:gd name="T41" fmla="*/ 6704 h 8160"/>
              <a:gd name="T42" fmla="*/ 0 w 7943"/>
              <a:gd name="T43" fmla="*/ 6463 h 8160"/>
              <a:gd name="T44" fmla="*/ 0 w 7943"/>
              <a:gd name="T45" fmla="*/ 5830 h 8160"/>
              <a:gd name="T46" fmla="*/ 1645 w 7943"/>
              <a:gd name="T47" fmla="*/ 3988 h 8160"/>
              <a:gd name="T48" fmla="*/ 1737 w 7943"/>
              <a:gd name="T49" fmla="*/ 4013 h 8160"/>
              <a:gd name="T50" fmla="*/ 3246 w 7943"/>
              <a:gd name="T51" fmla="*/ 4505 h 8160"/>
              <a:gd name="T52" fmla="*/ 4756 w 7943"/>
              <a:gd name="T53" fmla="*/ 4013 h 8160"/>
              <a:gd name="T54" fmla="*/ 4848 w 7943"/>
              <a:gd name="T55" fmla="*/ 3988 h 8160"/>
              <a:gd name="T56" fmla="*/ 6143 w 7943"/>
              <a:gd name="T57" fmla="*/ 4753 h 8160"/>
              <a:gd name="T58" fmla="*/ 6050 w 7943"/>
              <a:gd name="T59" fmla="*/ 4811 h 8160"/>
              <a:gd name="T60" fmla="*/ 5017 w 7943"/>
              <a:gd name="T61" fmla="*/ 5198 h 8160"/>
              <a:gd name="T62" fmla="*/ 4943 w 7943"/>
              <a:gd name="T63" fmla="*/ 5196 h 8160"/>
              <a:gd name="T64" fmla="*/ 4922 w 7943"/>
              <a:gd name="T65" fmla="*/ 5195 h 8160"/>
              <a:gd name="T66" fmla="*/ 4574 w 7943"/>
              <a:gd name="T67" fmla="*/ 5343 h 8160"/>
              <a:gd name="T68" fmla="*/ 4439 w 7943"/>
              <a:gd name="T69" fmla="*/ 5696 h 8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943" h="8160">
                <a:moveTo>
                  <a:pt x="3246" y="3842"/>
                </a:moveTo>
                <a:cubicBezTo>
                  <a:pt x="4307" y="3842"/>
                  <a:pt x="5168" y="2982"/>
                  <a:pt x="5168" y="1921"/>
                </a:cubicBezTo>
                <a:cubicBezTo>
                  <a:pt x="5168" y="860"/>
                  <a:pt x="4307" y="0"/>
                  <a:pt x="3246" y="0"/>
                </a:cubicBezTo>
                <a:cubicBezTo>
                  <a:pt x="2185" y="0"/>
                  <a:pt x="1325" y="860"/>
                  <a:pt x="1325" y="1921"/>
                </a:cubicBezTo>
                <a:cubicBezTo>
                  <a:pt x="1325" y="2982"/>
                  <a:pt x="2185" y="3842"/>
                  <a:pt x="3246" y="3842"/>
                </a:cubicBezTo>
                <a:close/>
                <a:moveTo>
                  <a:pt x="4144" y="2685"/>
                </a:moveTo>
                <a:cubicBezTo>
                  <a:pt x="4057" y="2974"/>
                  <a:pt x="3683" y="3191"/>
                  <a:pt x="3234" y="3191"/>
                </a:cubicBezTo>
                <a:cubicBezTo>
                  <a:pt x="2785" y="3191"/>
                  <a:pt x="2411" y="2974"/>
                  <a:pt x="2323" y="2685"/>
                </a:cubicBezTo>
                <a:lnTo>
                  <a:pt x="4144" y="2685"/>
                </a:lnTo>
                <a:close/>
                <a:moveTo>
                  <a:pt x="7939" y="5684"/>
                </a:moveTo>
                <a:cubicBezTo>
                  <a:pt x="7898" y="6822"/>
                  <a:pt x="7435" y="7800"/>
                  <a:pt x="6355" y="8160"/>
                </a:cubicBezTo>
                <a:cubicBezTo>
                  <a:pt x="5274" y="7800"/>
                  <a:pt x="4811" y="6822"/>
                  <a:pt x="4770" y="5684"/>
                </a:cubicBezTo>
                <a:cubicBezTo>
                  <a:pt x="4767" y="5595"/>
                  <a:pt x="4840" y="5523"/>
                  <a:pt x="4929" y="5527"/>
                </a:cubicBezTo>
                <a:cubicBezTo>
                  <a:pt x="5434" y="5548"/>
                  <a:pt x="5875" y="5386"/>
                  <a:pt x="6261" y="5067"/>
                </a:cubicBezTo>
                <a:cubicBezTo>
                  <a:pt x="6315" y="5022"/>
                  <a:pt x="6395" y="5022"/>
                  <a:pt x="6449" y="5067"/>
                </a:cubicBezTo>
                <a:cubicBezTo>
                  <a:pt x="6835" y="5386"/>
                  <a:pt x="7276" y="5548"/>
                  <a:pt x="7781" y="5527"/>
                </a:cubicBezTo>
                <a:cubicBezTo>
                  <a:pt x="7869" y="5523"/>
                  <a:pt x="7943" y="5595"/>
                  <a:pt x="7939" y="5684"/>
                </a:cubicBezTo>
                <a:close/>
                <a:moveTo>
                  <a:pt x="4439" y="5696"/>
                </a:moveTo>
                <a:cubicBezTo>
                  <a:pt x="4458" y="6218"/>
                  <a:pt x="4558" y="6682"/>
                  <a:pt x="4731" y="7078"/>
                </a:cubicBezTo>
                <a:cubicBezTo>
                  <a:pt x="4323" y="7124"/>
                  <a:pt x="3832" y="7155"/>
                  <a:pt x="3246" y="7155"/>
                </a:cubicBezTo>
                <a:cubicBezTo>
                  <a:pt x="1394" y="7155"/>
                  <a:pt x="488" y="6852"/>
                  <a:pt x="155" y="6704"/>
                </a:cubicBezTo>
                <a:cubicBezTo>
                  <a:pt x="70" y="6666"/>
                  <a:pt x="0" y="6557"/>
                  <a:pt x="0" y="6463"/>
                </a:cubicBezTo>
                <a:lnTo>
                  <a:pt x="0" y="5830"/>
                </a:lnTo>
                <a:cubicBezTo>
                  <a:pt x="0" y="4881"/>
                  <a:pt x="723" y="4093"/>
                  <a:pt x="1645" y="3988"/>
                </a:cubicBezTo>
                <a:cubicBezTo>
                  <a:pt x="1673" y="3985"/>
                  <a:pt x="1714" y="3997"/>
                  <a:pt x="1737" y="4013"/>
                </a:cubicBezTo>
                <a:cubicBezTo>
                  <a:pt x="2162" y="4321"/>
                  <a:pt x="2683" y="4505"/>
                  <a:pt x="3246" y="4505"/>
                </a:cubicBezTo>
                <a:cubicBezTo>
                  <a:pt x="3810" y="4505"/>
                  <a:pt x="4331" y="4321"/>
                  <a:pt x="4756" y="4013"/>
                </a:cubicBezTo>
                <a:cubicBezTo>
                  <a:pt x="4778" y="3997"/>
                  <a:pt x="4820" y="3985"/>
                  <a:pt x="4848" y="3988"/>
                </a:cubicBezTo>
                <a:cubicBezTo>
                  <a:pt x="5380" y="4049"/>
                  <a:pt x="5845" y="4338"/>
                  <a:pt x="6143" y="4753"/>
                </a:cubicBezTo>
                <a:cubicBezTo>
                  <a:pt x="6110" y="4769"/>
                  <a:pt x="6078" y="4788"/>
                  <a:pt x="6050" y="4811"/>
                </a:cubicBezTo>
                <a:cubicBezTo>
                  <a:pt x="5735" y="5071"/>
                  <a:pt x="5398" y="5198"/>
                  <a:pt x="5017" y="5198"/>
                </a:cubicBezTo>
                <a:cubicBezTo>
                  <a:pt x="4993" y="5198"/>
                  <a:pt x="4968" y="5197"/>
                  <a:pt x="4943" y="5196"/>
                </a:cubicBezTo>
                <a:lnTo>
                  <a:pt x="4922" y="5195"/>
                </a:lnTo>
                <a:cubicBezTo>
                  <a:pt x="4792" y="5195"/>
                  <a:pt x="4665" y="5249"/>
                  <a:pt x="4574" y="5343"/>
                </a:cubicBezTo>
                <a:cubicBezTo>
                  <a:pt x="4484" y="5437"/>
                  <a:pt x="4434" y="5566"/>
                  <a:pt x="4439" y="56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如何预防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病毒</a:t>
            </a:r>
            <a:r>
              <a:rPr lang="zh-CN" altLang="en-US"/>
              <a:t>感染？</a:t>
            </a:r>
            <a:endParaRPr lang="zh-CN" altLang="en-US"/>
          </a:p>
        </p:txBody>
      </p:sp>
      <p:sp>
        <p:nvSpPr>
          <p:cNvPr id="4" name="文本框 2"/>
          <p:cNvSpPr txBox="1"/>
          <p:nvPr/>
        </p:nvSpPr>
        <p:spPr>
          <a:xfrm>
            <a:off x="1948180" y="1824990"/>
            <a:ext cx="8129905" cy="4043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戴口罩</a:t>
            </a:r>
            <a:endParaRPr lang="zh-CN" altLang="en-US" spc="150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altLang="en-US" sz="16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需要外出乘坐交通工具时，建议佩戴医用外科口罩</a:t>
            </a:r>
            <a:endParaRPr lang="zh-CN" altLang="en-US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</a:endParaRPr>
          </a:p>
          <a:p>
            <a:pPr marL="228600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zh-CN" altLang="en-US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勤洗手</a:t>
            </a:r>
            <a:endParaRPr lang="zh-CN" altLang="en-US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altLang="en-US" sz="16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使用流水或含酒精成分的免洗洗手液洗手，不洗手不接触口、鼻、眼等部位</a:t>
            </a:r>
            <a:endParaRPr lang="zh-CN" altLang="en-US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</a:endParaRPr>
          </a:p>
          <a:p>
            <a:pPr marL="228600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zh-CN" altLang="en-US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及时就医</a:t>
            </a:r>
            <a:endParaRPr lang="zh-CN" altLang="en-US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altLang="en-US" sz="16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出现发热呼吸道症状，应及时到医院就医，并减少与家庭成员的接触</a:t>
            </a:r>
            <a:endParaRPr lang="zh-CN" altLang="en-US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</a:endParaRPr>
          </a:p>
          <a:p>
            <a:pPr marL="228600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zh-CN" altLang="en-US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自觉隔离</a:t>
            </a:r>
            <a:endParaRPr lang="zh-CN" altLang="en-US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</a:endParaRPr>
          </a:p>
          <a:p>
            <a:pPr marL="685800" lvl="1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altLang="en-US" sz="16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有</a:t>
            </a:r>
            <a:r>
              <a:rPr lang="en-US" altLang="zh-CN" sz="16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6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地区</a:t>
            </a:r>
            <a:r>
              <a:rPr lang="zh-CN" altLang="en-US" sz="16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旅行或居住史，或者接触过确诊患者，应根据要求进行医学观察或隔离</a:t>
            </a:r>
            <a:endParaRPr lang="zh-CN" altLang="en-US" sz="1600" spc="150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七步洗手法</a:t>
            </a:r>
            <a:endParaRPr lang="zh-CN" altLang="en-US"/>
          </a:p>
        </p:txBody>
      </p:sp>
      <p:grpSp>
        <p:nvGrpSpPr>
          <p:cNvPr id="68" name="组合 2"/>
          <p:cNvGrpSpPr/>
          <p:nvPr/>
        </p:nvGrpSpPr>
        <p:grpSpPr>
          <a:xfrm rot="0">
            <a:off x="2103755" y="1835785"/>
            <a:ext cx="2343150" cy="2205990"/>
            <a:chOff x="-5" y="5976"/>
            <a:chExt cx="3690" cy="3474"/>
          </a:xfrm>
        </p:grpSpPr>
        <p:sp>
          <p:nvSpPr>
            <p:cNvPr id="13" name="PA-1148"/>
            <p:cNvSpPr/>
            <p:nvPr>
              <p:custDataLst>
                <p:tags r:id="rId1"/>
              </p:custDataLst>
            </p:nvPr>
          </p:nvSpPr>
          <p:spPr>
            <a:xfrm>
              <a:off x="514" y="5976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-5" y="8919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01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掌心对掌心搓擦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8" name="PA-114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screen"/>
            <a:stretch>
              <a:fillRect/>
            </a:stretch>
          </p:blipFill>
          <p:spPr>
            <a:xfrm>
              <a:off x="831" y="6626"/>
              <a:ext cx="2018" cy="135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9" name="组合 3"/>
          <p:cNvGrpSpPr/>
          <p:nvPr/>
        </p:nvGrpSpPr>
        <p:grpSpPr>
          <a:xfrm rot="0">
            <a:off x="4924425" y="1835785"/>
            <a:ext cx="2343150" cy="2205990"/>
            <a:chOff x="1707" y="2372"/>
            <a:chExt cx="3690" cy="3474"/>
          </a:xfrm>
        </p:grpSpPr>
        <p:sp>
          <p:nvSpPr>
            <p:cNvPr id="21" name="PA-1148"/>
            <p:cNvSpPr/>
            <p:nvPr>
              <p:custDataLst>
                <p:tags r:id="rId4"/>
              </p:custDataLst>
            </p:nvPr>
          </p:nvSpPr>
          <p:spPr>
            <a:xfrm>
              <a:off x="2225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07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02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掌心对手背搓擦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3" name="PA-114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screen"/>
            <a:stretch>
              <a:fillRect/>
            </a:stretch>
          </p:blipFill>
          <p:spPr>
            <a:xfrm>
              <a:off x="2529" y="3177"/>
              <a:ext cx="2045" cy="104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5" name="组合 4"/>
          <p:cNvGrpSpPr/>
          <p:nvPr/>
        </p:nvGrpSpPr>
        <p:grpSpPr>
          <a:xfrm rot="0">
            <a:off x="7745095" y="1835785"/>
            <a:ext cx="2343150" cy="2205990"/>
            <a:chOff x="5365" y="2372"/>
            <a:chExt cx="3690" cy="3474"/>
          </a:xfrm>
        </p:grpSpPr>
        <p:sp>
          <p:nvSpPr>
            <p:cNvPr id="29" name="文本框 28"/>
            <p:cNvSpPr txBox="1"/>
            <p:nvPr/>
          </p:nvSpPr>
          <p:spPr>
            <a:xfrm>
              <a:off x="5365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03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手指交错搓擦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PA-1148"/>
            <p:cNvSpPr/>
            <p:nvPr>
              <p:custDataLst>
                <p:tags r:id="rId7"/>
              </p:custDataLst>
            </p:nvPr>
          </p:nvSpPr>
          <p:spPr>
            <a:xfrm>
              <a:off x="5884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pic>
          <p:nvPicPr>
            <p:cNvPr id="31" name="PA-114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screen"/>
            <a:stretch>
              <a:fillRect/>
            </a:stretch>
          </p:blipFill>
          <p:spPr>
            <a:xfrm>
              <a:off x="6273" y="3068"/>
              <a:ext cx="1874" cy="126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4" name="组合 5"/>
          <p:cNvGrpSpPr/>
          <p:nvPr/>
        </p:nvGrpSpPr>
        <p:grpSpPr>
          <a:xfrm rot="0">
            <a:off x="693420" y="3857625"/>
            <a:ext cx="2343150" cy="2205990"/>
            <a:chOff x="9424" y="2372"/>
            <a:chExt cx="3690" cy="3474"/>
          </a:xfrm>
        </p:grpSpPr>
        <p:sp>
          <p:nvSpPr>
            <p:cNvPr id="37" name="文本框 36"/>
            <p:cNvSpPr txBox="1"/>
            <p:nvPr/>
          </p:nvSpPr>
          <p:spPr>
            <a:xfrm>
              <a:off x="9424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04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两手互握搓指背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PA-1148"/>
            <p:cNvSpPr/>
            <p:nvPr>
              <p:custDataLst>
                <p:tags r:id="rId10"/>
              </p:custDataLst>
            </p:nvPr>
          </p:nvSpPr>
          <p:spPr>
            <a:xfrm>
              <a:off x="9943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pic>
          <p:nvPicPr>
            <p:cNvPr id="41" name="PA-114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screen"/>
            <a:stretch>
              <a:fillRect/>
            </a:stretch>
          </p:blipFill>
          <p:spPr>
            <a:xfrm>
              <a:off x="10236" y="3169"/>
              <a:ext cx="2066" cy="1057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2" name="组合 6"/>
          <p:cNvGrpSpPr/>
          <p:nvPr/>
        </p:nvGrpSpPr>
        <p:grpSpPr>
          <a:xfrm rot="0">
            <a:off x="3514090" y="3857625"/>
            <a:ext cx="2343150" cy="2205990"/>
            <a:chOff x="12674" y="2372"/>
            <a:chExt cx="3690" cy="3474"/>
          </a:xfrm>
        </p:grpSpPr>
        <p:sp>
          <p:nvSpPr>
            <p:cNvPr id="55" name="PA-1148"/>
            <p:cNvSpPr/>
            <p:nvPr>
              <p:custDataLst>
                <p:tags r:id="rId13"/>
              </p:custDataLst>
            </p:nvPr>
          </p:nvSpPr>
          <p:spPr>
            <a:xfrm>
              <a:off x="13193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2674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05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拇指在掌中转搓擦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60" name="PA-114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screen"/>
            <a:stretch>
              <a:fillRect/>
            </a:stretch>
          </p:blipFill>
          <p:spPr>
            <a:xfrm>
              <a:off x="13604" y="3094"/>
              <a:ext cx="1831" cy="1207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3" name="组合 7"/>
          <p:cNvGrpSpPr/>
          <p:nvPr/>
        </p:nvGrpSpPr>
        <p:grpSpPr>
          <a:xfrm rot="0">
            <a:off x="6334760" y="3857625"/>
            <a:ext cx="2343150" cy="2205990"/>
            <a:chOff x="15421" y="5024"/>
            <a:chExt cx="3690" cy="3474"/>
          </a:xfrm>
        </p:grpSpPr>
        <p:sp>
          <p:nvSpPr>
            <p:cNvPr id="61" name="PA-1148"/>
            <p:cNvSpPr/>
            <p:nvPr>
              <p:custDataLst>
                <p:tags r:id="rId16"/>
              </p:custDataLst>
            </p:nvPr>
          </p:nvSpPr>
          <p:spPr>
            <a:xfrm>
              <a:off x="15940" y="5024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421" y="7967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06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指尖在掌心搓擦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63" name="PA-1145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 cstate="screen"/>
            <a:stretch>
              <a:fillRect/>
            </a:stretch>
          </p:blipFill>
          <p:spPr>
            <a:xfrm>
              <a:off x="16343" y="5551"/>
              <a:ext cx="1845" cy="15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7" name="组合 8"/>
          <p:cNvGrpSpPr/>
          <p:nvPr/>
        </p:nvGrpSpPr>
        <p:grpSpPr>
          <a:xfrm rot="0">
            <a:off x="9155430" y="3856990"/>
            <a:ext cx="2343150" cy="2205990"/>
            <a:chOff x="4543" y="6427"/>
            <a:chExt cx="3690" cy="3474"/>
          </a:xfrm>
        </p:grpSpPr>
        <p:sp>
          <p:nvSpPr>
            <p:cNvPr id="64" name="PA-1148"/>
            <p:cNvSpPr/>
            <p:nvPr>
              <p:custDataLst>
                <p:tags r:id="rId19"/>
              </p:custDataLst>
            </p:nvPr>
          </p:nvSpPr>
          <p:spPr>
            <a:xfrm>
              <a:off x="5062" y="6427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4543" y="9370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07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掌心与手腕搓擦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66" name="PA-1146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 cstate="screen"/>
            <a:stretch>
              <a:fillRect/>
            </a:stretch>
          </p:blipFill>
          <p:spPr>
            <a:xfrm>
              <a:off x="5433" y="7174"/>
              <a:ext cx="1909" cy="115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custDataLst>
      <p:tags r:id="rId22"/>
    </p:custDataLst>
  </p:cSld>
  <p:clrMapOvr>
    <a:masterClrMapping/>
  </p:clrMapOvr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正确佩带口罩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如何选择口罩类型?</a:t>
            </a:r>
            <a:endParaRPr lang="zh-CN" altLang="en-US"/>
          </a:p>
          <a:p>
            <a:r>
              <a:rPr lang="zh-CN" altLang="en-US"/>
              <a:t>如何正确佩戴口罩？</a:t>
            </a:r>
            <a:endParaRPr lang="zh-CN" altLang="en-US"/>
          </a:p>
        </p:txBody>
      </p:sp>
      <p:pic>
        <p:nvPicPr>
          <p:cNvPr id="13" name="图片 3" descr="口罩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940" b="7232"/>
          <a:stretch>
            <a:fillRect/>
          </a:stretch>
        </p:blipFill>
        <p:spPr bwMode="auto">
          <a:xfrm>
            <a:off x="2104390" y="1864995"/>
            <a:ext cx="1217295" cy="1116330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如何选择口罩类型?</a:t>
            </a:r>
            <a:endParaRPr lang="zh-CN" altLang="en-US"/>
          </a:p>
        </p:txBody>
      </p:sp>
      <p:graphicFrame>
        <p:nvGraphicFramePr>
          <p:cNvPr id="45" name="表格 2"/>
          <p:cNvGraphicFramePr/>
          <p:nvPr>
            <p:custDataLst>
              <p:tags r:id="rId1"/>
            </p:custDataLst>
          </p:nvPr>
        </p:nvGraphicFramePr>
        <p:xfrm>
          <a:off x="843280" y="2227580"/>
          <a:ext cx="10961370" cy="2926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3943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纸口罩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活性炭口罩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棉布口罩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海绵口罩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医用外科口罩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医用防护口罩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</a:tr>
              <a:tr h="109347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</a:tr>
              <a:tr h="1438275">
                <a:tc gridSpan="4">
                  <a:txBody>
                    <a:bodyPr/>
                    <a:p>
                      <a:pPr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b="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这四类口罩因材质不够致密，预防感染的效果有限，非首选项</a:t>
                      </a:r>
                      <a:endParaRPr lang="zh-CN" altLang="en-US" b="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可以阻挡70%的细菌，能在一定程度上预防呼吸道感染</a:t>
                      </a: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可以阻挡95%的细菌，能有效预防呼吸道感染，如N95口罩</a:t>
                      </a: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51" name="组合 3"/>
          <p:cNvGrpSpPr/>
          <p:nvPr/>
        </p:nvGrpSpPr>
        <p:grpSpPr>
          <a:xfrm>
            <a:off x="863600" y="2687320"/>
            <a:ext cx="1666240" cy="1026160"/>
            <a:chOff x="1360" y="4232"/>
            <a:chExt cx="2624" cy="1616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434" b="96541" l="2051" r="9589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6" t="-26321" r="7368" b="-44503"/>
            <a:stretch>
              <a:fillRect/>
            </a:stretch>
          </p:blipFill>
          <p:spPr>
            <a:xfrm>
              <a:off x="1360" y="4232"/>
              <a:ext cx="2624" cy="1616"/>
            </a:xfrm>
            <a:prstGeom prst="rect">
              <a:avLst/>
            </a:prstGeom>
          </p:spPr>
        </p:pic>
        <p:sp>
          <p:nvSpPr>
            <p:cNvPr id="50" name="乘号 49"/>
            <p:cNvSpPr/>
            <p:nvPr/>
          </p:nvSpPr>
          <p:spPr>
            <a:xfrm>
              <a:off x="2269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5" name="组合 4"/>
          <p:cNvGrpSpPr/>
          <p:nvPr/>
        </p:nvGrpSpPr>
        <p:grpSpPr>
          <a:xfrm>
            <a:off x="2793365" y="2687320"/>
            <a:ext cx="1553210" cy="1026160"/>
            <a:chOff x="4399" y="4232"/>
            <a:chExt cx="2446" cy="1616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475" b="94208" l="3667" r="99000">
                          <a14:foregroundMark x1="90667" y1="22780" x2="96000" y2="35135"/>
                          <a14:foregroundMark x1="96167" y1="58687" x2="97500" y2="5173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7586" b="-25287"/>
            <a:stretch>
              <a:fillRect/>
            </a:stretch>
          </p:blipFill>
          <p:spPr>
            <a:xfrm>
              <a:off x="4399" y="4232"/>
              <a:ext cx="2447" cy="1616"/>
            </a:xfrm>
            <a:prstGeom prst="rect">
              <a:avLst/>
            </a:prstGeom>
          </p:spPr>
        </p:pic>
        <p:sp>
          <p:nvSpPr>
            <p:cNvPr id="52" name="乘号 51"/>
            <p:cNvSpPr/>
            <p:nvPr/>
          </p:nvSpPr>
          <p:spPr>
            <a:xfrm>
              <a:off x="5219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6" name="组合 5"/>
          <p:cNvGrpSpPr/>
          <p:nvPr/>
        </p:nvGrpSpPr>
        <p:grpSpPr>
          <a:xfrm>
            <a:off x="4665345" y="2687320"/>
            <a:ext cx="1477010" cy="1026160"/>
            <a:chOff x="7347" y="4232"/>
            <a:chExt cx="2326" cy="1616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912" b="89868" l="10000" r="93676">
                          <a14:foregroundMark x1="21029" y1="53304" x2="23676" y2="68282"/>
                          <a14:foregroundMark x1="22206" y1="62996" x2="22794" y2="65859"/>
                          <a14:foregroundMark x1="21618" y1="59912" x2="22206" y2="63216"/>
                          <a14:foregroundMark x1="19559" y1="41630" x2="16176" y2="42952"/>
                          <a14:foregroundMark x1="15441" y1="44493" x2="14265" y2="48899"/>
                          <a14:foregroundMark x1="14265" y1="49339" x2="14265" y2="51762"/>
                          <a14:foregroundMark x1="14265" y1="52423" x2="13382" y2="55947"/>
                          <a14:foregroundMark x1="13529" y1="55947" x2="13382" y2="58370"/>
                          <a14:foregroundMark x1="13235" y1="58590" x2="15147" y2="62115"/>
                          <a14:foregroundMark x1="17500" y1="68943" x2="18971" y2="67841"/>
                          <a14:foregroundMark x1="17206" y1="72026" x2="18971" y2="73568"/>
                          <a14:foregroundMark x1="20735" y1="67621" x2="22500" y2="70705"/>
                          <a14:foregroundMark x1="15147" y1="62775" x2="15147" y2="66079"/>
                          <a14:foregroundMark x1="15441" y1="66960" x2="16618" y2="71366"/>
                          <a14:foregroundMark x1="25735" y1="69824" x2="25441" y2="72687"/>
                          <a14:foregroundMark x1="85441" y1="41630" x2="87500" y2="45374"/>
                          <a14:foregroundMark x1="87500" y1="46696" x2="88235" y2="48899"/>
                          <a14:foregroundMark x1="88235" y1="50220" x2="88088" y2="52863"/>
                          <a14:foregroundMark x1="88088" y1="53744" x2="89265" y2="58370"/>
                          <a14:foregroundMark x1="89265" y1="59031" x2="88676" y2="62996"/>
                          <a14:foregroundMark x1="79265" y1="74229" x2="80000" y2="73789"/>
                          <a14:foregroundMark x1="81029" y1="72467" x2="81912" y2="68062"/>
                          <a14:foregroundMark x1="84265" y1="63877" x2="82059" y2="68282"/>
                          <a14:foregroundMark x1="84559" y1="63656" x2="86324" y2="63216"/>
                          <a14:foregroundMark x1="86912" y1="63877" x2="90441" y2="68282"/>
                          <a14:foregroundMark x1="88824" y1="62335" x2="89853" y2="67401"/>
                          <a14:foregroundMark x1="22941" y1="71586" x2="24265" y2="73568"/>
                          <a14:foregroundMark x1="32500" y1="69383" x2="46471" y2="72247"/>
                          <a14:foregroundMark x1="55588" y1="71366" x2="66029" y2="68722"/>
                          <a14:foregroundMark x1="50294" y1="73128" x2="54265" y2="71806"/>
                          <a14:foregroundMark x1="46912" y1="72687" x2="50147" y2="73568"/>
                          <a14:foregroundMark x1="54412" y1="72247" x2="57206" y2="71586"/>
                          <a14:foregroundMark x1="66912" y1="68943" x2="70735" y2="68722"/>
                          <a14:foregroundMark x1="83382" y1="38767" x2="85441" y2="41189"/>
                          <a14:foregroundMark x1="83088" y1="39207" x2="82500" y2="41850"/>
                          <a14:foregroundMark x1="23382" y1="40308" x2="33235" y2="35463"/>
                          <a14:foregroundMark x1="34559" y1="33921" x2="39853" y2="31498"/>
                          <a14:foregroundMark x1="77647" y1="69604" x2="78676" y2="73789"/>
                          <a14:foregroundMark x1="79559" y1="67621" x2="78676" y2="72247"/>
                          <a14:foregroundMark x1="20441" y1="40088" x2="22794" y2="41410"/>
                          <a14:foregroundMark x1="49559" y1="28414" x2="50735" y2="27974"/>
                          <a14:foregroundMark x1="60294" y1="29956" x2="67941" y2="33921"/>
                          <a14:foregroundMark x1="61471" y1="29736" x2="63088" y2="31278"/>
                          <a14:foregroundMark x1="53676" y1="27753" x2="62059" y2="29956"/>
                          <a14:foregroundMark x1="51176" y1="28194" x2="53676" y2="27533"/>
                          <a14:foregroundMark x1="40294" y1="31057" x2="49412" y2="28414"/>
                          <a14:backgroundMark x1="18676" y1="70044" x2="21029" y2="73128"/>
                          <a14:backgroundMark x1="17353" y1="50441" x2="17353" y2="58811"/>
                          <a14:backgroundMark x1="21029" y1="65859" x2="23382" y2="69824"/>
                          <a14:backgroundMark x1="28382" y1="70485" x2="32206" y2="70925"/>
                          <a14:backgroundMark x1="85147" y1="47137" x2="85588" y2="57269"/>
                          <a14:backgroundMark x1="86912" y1="61454" x2="88529" y2="64537"/>
                          <a14:backgroundMark x1="88088" y1="62555" x2="88676" y2="63656"/>
                          <a14:backgroundMark x1="82647" y1="62335" x2="81912" y2="67401"/>
                          <a14:backgroundMark x1="80294" y1="70485" x2="81765" y2="66960"/>
                          <a14:backgroundMark x1="69265" y1="69163" x2="74559" y2="69604"/>
                          <a14:backgroundMark x1="49853" y1="74890" x2="63529" y2="70705"/>
                          <a14:backgroundMark x1="83676" y1="40969" x2="84118" y2="42511"/>
                          <a14:backgroundMark x1="81618" y1="37665" x2="81471" y2="38987"/>
                          <a14:backgroundMark x1="63676" y1="70485" x2="68676" y2="70044"/>
                          <a14:backgroundMark x1="23088" y1="69604" x2="23971" y2="71586"/>
                          <a14:backgroundMark x1="16765" y1="70264" x2="17794" y2="62555"/>
                          <a14:backgroundMark x1="80441" y1="70485" x2="79706" y2="726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50" t="9687" r="7629" b="5942"/>
            <a:stretch>
              <a:fillRect/>
            </a:stretch>
          </p:blipFill>
          <p:spPr>
            <a:xfrm>
              <a:off x="7347" y="4232"/>
              <a:ext cx="2326" cy="1616"/>
            </a:xfrm>
            <a:prstGeom prst="rect">
              <a:avLst/>
            </a:prstGeom>
          </p:spPr>
        </p:pic>
        <p:sp>
          <p:nvSpPr>
            <p:cNvPr id="53" name="乘号 52"/>
            <p:cNvSpPr/>
            <p:nvPr/>
          </p:nvSpPr>
          <p:spPr>
            <a:xfrm>
              <a:off x="8107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7" name="组合 6"/>
          <p:cNvGrpSpPr/>
          <p:nvPr/>
        </p:nvGrpSpPr>
        <p:grpSpPr>
          <a:xfrm>
            <a:off x="6610350" y="2687320"/>
            <a:ext cx="1176020" cy="1026160"/>
            <a:chOff x="10410" y="4232"/>
            <a:chExt cx="1852" cy="1616"/>
          </a:xfrm>
        </p:grpSpPr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218" b="98387" l="1893" r="9879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0132" t="-9901" r="-11821" b="-14851"/>
            <a:stretch>
              <a:fillRect/>
            </a:stretch>
          </p:blipFill>
          <p:spPr>
            <a:xfrm>
              <a:off x="10410" y="4232"/>
              <a:ext cx="1852" cy="1616"/>
            </a:xfrm>
            <a:prstGeom prst="rect">
              <a:avLst/>
            </a:prstGeom>
          </p:spPr>
        </p:pic>
        <p:sp>
          <p:nvSpPr>
            <p:cNvPr id="54" name="乘号 53"/>
            <p:cNvSpPr/>
            <p:nvPr/>
          </p:nvSpPr>
          <p:spPr>
            <a:xfrm>
              <a:off x="10933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9" name="组合 7"/>
          <p:cNvGrpSpPr/>
          <p:nvPr/>
        </p:nvGrpSpPr>
        <p:grpSpPr>
          <a:xfrm>
            <a:off x="8278495" y="2687320"/>
            <a:ext cx="1385570" cy="1026160"/>
            <a:chOff x="13037" y="4232"/>
            <a:chExt cx="2182" cy="1616"/>
          </a:xfrm>
        </p:grpSpPr>
        <p:pic>
          <p:nvPicPr>
            <p:cNvPr id="58" name="图片 57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6875" r="957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62" t="10427" r="-8245" b="9158"/>
            <a:stretch>
              <a:fillRect/>
            </a:stretch>
          </p:blipFill>
          <p:spPr>
            <a:xfrm>
              <a:off x="13037" y="4232"/>
              <a:ext cx="2183" cy="1616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642" y="4530"/>
              <a:ext cx="972" cy="1020"/>
            </a:xfrm>
            <a:prstGeom prst="rect">
              <a:avLst/>
            </a:prstGeom>
          </p:spPr>
        </p:pic>
      </p:grpSp>
      <p:grpSp>
        <p:nvGrpSpPr>
          <p:cNvPr id="61" name="组合 8"/>
          <p:cNvGrpSpPr/>
          <p:nvPr/>
        </p:nvGrpSpPr>
        <p:grpSpPr>
          <a:xfrm>
            <a:off x="10050145" y="2687320"/>
            <a:ext cx="1408430" cy="1026160"/>
            <a:chOff x="15827" y="4232"/>
            <a:chExt cx="2218" cy="1616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9231" b="99301" l="4194" r="96452">
                          <a14:foregroundMark x1="83548" y1="48601" x2="84839" y2="482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83" t="12123" r="-10755" b="-4974"/>
            <a:stretch>
              <a:fillRect/>
            </a:stretch>
          </p:blipFill>
          <p:spPr>
            <a:xfrm>
              <a:off x="15827" y="4232"/>
              <a:ext cx="2219" cy="1616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450" y="4530"/>
              <a:ext cx="972" cy="1020"/>
            </a:xfrm>
            <a:prstGeom prst="rect">
              <a:avLst/>
            </a:prstGeom>
          </p:spPr>
        </p:pic>
      </p:grpSp>
    </p:spTree>
    <p:custDataLst>
      <p:tags r:id="rId1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如何正确佩戴口罩？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戴口罩是阻断呼吸道分泌物传播的有效手段，选择医用外科口罩能很好地预防呼吸道疾病。一次性医用口罩佩戴时，要将折面完全展开，将嘴、鼻、下颌完全包住，然后压紧鼻夹，使口罩与面部完全贴合。</a:t>
            </a:r>
            <a:endParaRPr lang="zh-CN" altLang="en-US"/>
          </a:p>
          <a:p>
            <a:r>
              <a:rPr lang="zh-CN" altLang="en-US"/>
              <a:t>戴口罩前应洗手，或者在戴口罩过程中避免手接触到口罩内侧面，减少口罩被污染的可能。分清口罩的内外、上下，浅色面为内，应该贴着嘴鼻，深色面朝外；金属条（鼻夹）一端是口罩的上方。不可戴反，更不能两面轮流戴。</a:t>
            </a:r>
            <a:endParaRPr lang="zh-CN" altLang="en-US"/>
          </a:p>
          <a:p>
            <a:r>
              <a:rPr lang="zh-CN" altLang="en-US"/>
              <a:t>如果去人员密集的公众场合，应佩戴医用外科口罩。照顾呼吸道感染患者时，应佩戴N95等医用防护口罩。需要注意的是，不管什么类型的口罩，防护效果都是有限的，需要定期更换。建议4小时更换一次，遇污染或潮湿，应及时更换。</a:t>
            </a:r>
            <a:endParaRPr lang="zh-CN" altLang="en-US"/>
          </a:p>
        </p:txBody>
      </p:sp>
      <p:pic>
        <p:nvPicPr>
          <p:cNvPr id="4" name="口罩" descr="图片包含 游戏机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9034145" y="4949190"/>
            <a:ext cx="2630805" cy="1451610"/>
          </a:xfrm>
          <a:prstGeom prst="rect">
            <a:avLst/>
          </a:prstGeom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学会心理调节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个人进行自我疏导方式</a:t>
            </a:r>
            <a:endParaRPr lang="zh-CN" altLang="en-US"/>
          </a:p>
          <a:p>
            <a:r>
              <a:rPr lang="zh-CN" altLang="en-US"/>
              <a:t>居家隔离缓解情绪方式</a:t>
            </a:r>
            <a:endParaRPr lang="zh-CN" altLang="en-US"/>
          </a:p>
        </p:txBody>
      </p:sp>
      <p:sp>
        <p:nvSpPr>
          <p:cNvPr id="14" name="heart"/>
          <p:cNvSpPr>
            <a:spLocks noChangeAspect="1"/>
          </p:cNvSpPr>
          <p:nvPr/>
        </p:nvSpPr>
        <p:spPr bwMode="auto">
          <a:xfrm>
            <a:off x="2104390" y="1864995"/>
            <a:ext cx="861695" cy="111633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5931" h="605380">
                <a:moveTo>
                  <a:pt x="186815" y="369393"/>
                </a:moveTo>
                <a:cubicBezTo>
                  <a:pt x="167038" y="369393"/>
                  <a:pt x="151160" y="385335"/>
                  <a:pt x="151160" y="404985"/>
                </a:cubicBezTo>
                <a:cubicBezTo>
                  <a:pt x="151160" y="431495"/>
                  <a:pt x="218012" y="485718"/>
                  <a:pt x="218012" y="485718"/>
                </a:cubicBezTo>
                <a:cubicBezTo>
                  <a:pt x="218012" y="485718"/>
                  <a:pt x="284864" y="432792"/>
                  <a:pt x="285143" y="404985"/>
                </a:cubicBezTo>
                <a:cubicBezTo>
                  <a:pt x="285143" y="385243"/>
                  <a:pt x="269173" y="369393"/>
                  <a:pt x="249488" y="369393"/>
                </a:cubicBezTo>
                <a:cubicBezTo>
                  <a:pt x="235932" y="369393"/>
                  <a:pt x="223955" y="377549"/>
                  <a:pt x="218105" y="388579"/>
                </a:cubicBezTo>
                <a:cubicBezTo>
                  <a:pt x="212348" y="377086"/>
                  <a:pt x="200278" y="369393"/>
                  <a:pt x="186815" y="369393"/>
                </a:cubicBezTo>
                <a:close/>
                <a:moveTo>
                  <a:pt x="218012" y="232583"/>
                </a:moveTo>
                <a:cubicBezTo>
                  <a:pt x="338346" y="232583"/>
                  <a:pt x="436024" y="269103"/>
                  <a:pt x="435931" y="389228"/>
                </a:cubicBezTo>
                <a:lnTo>
                  <a:pt x="435931" y="605195"/>
                </a:lnTo>
                <a:lnTo>
                  <a:pt x="369544" y="605195"/>
                </a:lnTo>
                <a:cubicBezTo>
                  <a:pt x="369079" y="531321"/>
                  <a:pt x="363694" y="411659"/>
                  <a:pt x="333889" y="372729"/>
                </a:cubicBezTo>
                <a:lnTo>
                  <a:pt x="333889" y="605380"/>
                </a:lnTo>
                <a:lnTo>
                  <a:pt x="102042" y="605380"/>
                </a:lnTo>
                <a:lnTo>
                  <a:pt x="102042" y="372915"/>
                </a:lnTo>
                <a:cubicBezTo>
                  <a:pt x="72145" y="411844"/>
                  <a:pt x="66852" y="530950"/>
                  <a:pt x="66388" y="605380"/>
                </a:cubicBezTo>
                <a:lnTo>
                  <a:pt x="0" y="605380"/>
                </a:lnTo>
                <a:lnTo>
                  <a:pt x="0" y="389228"/>
                </a:lnTo>
                <a:cubicBezTo>
                  <a:pt x="0" y="269103"/>
                  <a:pt x="97679" y="232583"/>
                  <a:pt x="218012" y="232583"/>
                </a:cubicBezTo>
                <a:close/>
                <a:moveTo>
                  <a:pt x="217977" y="0"/>
                </a:moveTo>
                <a:cubicBezTo>
                  <a:pt x="270083" y="0"/>
                  <a:pt x="312323" y="42161"/>
                  <a:pt x="312323" y="94170"/>
                </a:cubicBezTo>
                <a:cubicBezTo>
                  <a:pt x="312323" y="146179"/>
                  <a:pt x="270083" y="188340"/>
                  <a:pt x="217977" y="188340"/>
                </a:cubicBezTo>
                <a:cubicBezTo>
                  <a:pt x="165871" y="188340"/>
                  <a:pt x="123631" y="146179"/>
                  <a:pt x="123631" y="94170"/>
                </a:cubicBezTo>
                <a:cubicBezTo>
                  <a:pt x="123631" y="42161"/>
                  <a:pt x="165871" y="0"/>
                  <a:pt x="2179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sp>
    </p:spTree>
    <p:custDataLst>
      <p:tags r:id="rId1"/>
    </p:custDataLst>
  </p:cSld>
  <p:clrMapOvr>
    <a:masterClrMapping/>
  </p:clrMapOvr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个人进行自我疏导方式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尽量放下手机，不要沉溺在负面信息中。</a:t>
            </a:r>
            <a:endParaRPr lang="zh-CN" altLang="en-US"/>
          </a:p>
          <a:p>
            <a:r>
              <a:rPr lang="zh-CN" altLang="en-US"/>
              <a:t>听专家的话，戴口罩、勤洗手、少出门。</a:t>
            </a:r>
            <a:endParaRPr lang="zh-CN" altLang="en-US"/>
          </a:p>
          <a:p>
            <a:r>
              <a:rPr lang="zh-CN" altLang="en-US"/>
              <a:t>既不必过度紧张，又要保持戒备。</a:t>
            </a:r>
            <a:endParaRPr lang="zh-CN" altLang="en-US"/>
          </a:p>
          <a:p>
            <a:r>
              <a:rPr lang="zh-CN" altLang="en-US"/>
              <a:t>别只关注痛苦的一面，也要关注好消息。</a:t>
            </a:r>
            <a:endParaRPr lang="zh-CN" altLang="en-US"/>
          </a:p>
          <a:p>
            <a:r>
              <a:rPr lang="zh-CN" altLang="en-US"/>
              <a:t>趁着难得的机会，和家人聊聊天、做做饭，也可以学习、读书、健身锻炼、充实自我。</a:t>
            </a:r>
            <a:endParaRPr lang="zh-CN" altLang="en-US"/>
          </a:p>
          <a:p>
            <a:r>
              <a:rPr lang="zh-CN" altLang="en-US"/>
              <a:t>值得注意的是，如果已经出现了比较严重的情绪问题或心理问题，请不要一个人自己扛着，一定要向家人、朋友、专业咨询师求助。</a:t>
            </a:r>
            <a:endParaRPr lang="zh-CN" altLang="en-US"/>
          </a:p>
        </p:txBody>
      </p:sp>
      <p:pic>
        <p:nvPicPr>
          <p:cNvPr id="8" name="图片 3" descr="休闲娱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1745" y="4821555"/>
            <a:ext cx="2695575" cy="1586230"/>
          </a:xfrm>
          <a:prstGeom prst="rect">
            <a:avLst/>
          </a:prstGeom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居家隔离缓解情绪方式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居家隔离时，保持正常生活规律，适当休息、充足睡眠。</a:t>
            </a:r>
            <a:endParaRPr lang="zh-CN" altLang="en-US"/>
          </a:p>
          <a:p>
            <a:r>
              <a:rPr lang="zh-CN" altLang="en-US"/>
              <a:t>可酌情选择居家可做的锻炼，减轻焦虑、保持好的心态。</a:t>
            </a:r>
            <a:endParaRPr lang="zh-CN" altLang="en-US"/>
          </a:p>
          <a:p>
            <a:r>
              <a:rPr lang="zh-CN" altLang="en-US"/>
              <a:t>阅读可缓解压力、转移注意力。</a:t>
            </a:r>
            <a:endParaRPr lang="zh-CN" altLang="en-US"/>
          </a:p>
          <a:p>
            <a:r>
              <a:rPr lang="zh-CN" altLang="en-US"/>
              <a:t>每天接收有关信息的时间尽量控制不超过一个小时。</a:t>
            </a:r>
            <a:endParaRPr lang="zh-CN" altLang="en-US"/>
          </a:p>
          <a:p>
            <a:r>
              <a:rPr lang="zh-CN" altLang="en-US"/>
              <a:t>听古典音乐或轻音乐等轻松愉快的音乐，有助于保持情绪稳定。</a:t>
            </a:r>
            <a:endParaRPr lang="zh-CN" altLang="en-US"/>
          </a:p>
        </p:txBody>
      </p:sp>
      <p:pic>
        <p:nvPicPr>
          <p:cNvPr id="9" name="图片 3" descr="娱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8670" y="3705225"/>
            <a:ext cx="2985770" cy="2778125"/>
          </a:xfrm>
          <a:prstGeom prst="rect">
            <a:avLst/>
          </a:prstGeom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守护健康·防范病毒</a:t>
            </a:r>
            <a:endParaRPr lang="zh-CN" altLang="en-US"/>
          </a:p>
        </p:txBody>
      </p:sp>
      <p:sp>
        <p:nvSpPr>
          <p:cNvPr id="6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我们在行动·我们能战胜！</a:t>
            </a:r>
            <a:endParaRPr lang="zh-CN" altLang="en-US"/>
          </a:p>
        </p:txBody>
      </p:sp>
      <p:pic>
        <p:nvPicPr>
          <p:cNvPr id="7" name="图片 3"/>
          <p:cNvPicPr/>
          <p:nvPr/>
        </p:nvPicPr>
        <p:blipFill>
          <a:blip r:embed="rId1" cstate="screen"/>
          <a:stretch>
            <a:fillRect/>
          </a:stretch>
        </p:blipFill>
        <p:spPr>
          <a:xfrm>
            <a:off x="0" y="3258185"/>
            <a:ext cx="4320000" cy="360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16551793092_1_1"/>
</p:tagLst>
</file>

<file path=ppt/tags/tag4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PA" val="v5.2.5"/>
</p:tagLst>
</file>

<file path=ppt/tags/tag53.xml><?xml version="1.0" encoding="utf-8"?>
<p:tagLst xmlns:p="http://schemas.openxmlformats.org/presentationml/2006/main">
  <p:tag name="PA" val="v5.2.5"/>
</p:tagLst>
</file>

<file path=ppt/tags/tag54.xml><?xml version="1.0" encoding="utf-8"?>
<p:tagLst xmlns:p="http://schemas.openxmlformats.org/presentationml/2006/main">
  <p:tag name="PA" val="v5.2.5"/>
</p:tagLst>
</file>

<file path=ppt/tags/tag55.xml><?xml version="1.0" encoding="utf-8"?>
<p:tagLst xmlns:p="http://schemas.openxmlformats.org/presentationml/2006/main">
  <p:tag name="PA" val="v5.2.5"/>
</p:tagLst>
</file>

<file path=ppt/tags/tag56.xml><?xml version="1.0" encoding="utf-8"?>
<p:tagLst xmlns:p="http://schemas.openxmlformats.org/presentationml/2006/main">
  <p:tag name="PA" val="v5.2.5"/>
</p:tagLst>
</file>

<file path=ppt/tags/tag57.xml><?xml version="1.0" encoding="utf-8"?>
<p:tagLst xmlns:p="http://schemas.openxmlformats.org/presentationml/2006/main">
  <p:tag name="PA" val="v5.2.5"/>
</p:tagLst>
</file>

<file path=ppt/tags/tag58.xml><?xml version="1.0" encoding="utf-8"?>
<p:tagLst xmlns:p="http://schemas.openxmlformats.org/presentationml/2006/main">
  <p:tag name="PA" val="v5.2.5"/>
</p:tagLst>
</file>

<file path=ppt/tags/tag59.xml><?xml version="1.0" encoding="utf-8"?>
<p:tagLst xmlns:p="http://schemas.openxmlformats.org/presentationml/2006/main">
  <p:tag name="PA" val="v5.2.5"/>
</p:tagLst>
</file>

<file path=ppt/tags/tag60.xml><?xml version="1.0" encoding="utf-8"?>
<p:tagLst xmlns:p="http://schemas.openxmlformats.org/presentationml/2006/main">
  <p:tag name="PA" val="v5.2.5"/>
</p:tagLst>
</file>

<file path=ppt/tags/tag61.xml><?xml version="1.0" encoding="utf-8"?>
<p:tagLst xmlns:p="http://schemas.openxmlformats.org/presentationml/2006/main">
  <p:tag name="PA" val="v5.2.5"/>
</p:tagLst>
</file>

<file path=ppt/tags/tag62.xml><?xml version="1.0" encoding="utf-8"?>
<p:tagLst xmlns:p="http://schemas.openxmlformats.org/presentationml/2006/main">
  <p:tag name="PA" val="v5.2.5"/>
</p:tagLst>
</file>

<file path=ppt/tags/tag63.xml><?xml version="1.0" encoding="utf-8"?>
<p:tagLst xmlns:p="http://schemas.openxmlformats.org/presentationml/2006/main">
  <p:tag name="PA" val="v5.2.5"/>
</p:tagLst>
</file>

<file path=ppt/tags/tag64.xml><?xml version="1.0" encoding="utf-8"?>
<p:tagLst xmlns:p="http://schemas.openxmlformats.org/presentationml/2006/main">
  <p:tag name="PA" val="v5.2.5"/>
</p:tagLst>
</file>

<file path=ppt/tags/tag65.xml><?xml version="1.0" encoding="utf-8"?>
<p:tagLst xmlns:p="http://schemas.openxmlformats.org/presentationml/2006/main">
  <p:tag name="PA" val="v5.2.5"/>
</p:tagLst>
</file>

<file path=ppt/tags/tag66.xml><?xml version="1.0" encoding="utf-8"?>
<p:tagLst xmlns:p="http://schemas.openxmlformats.org/presentationml/2006/main">
  <p:tag name="PA" val="v5.2.5"/>
</p:tagLst>
</file>

<file path=ppt/tags/tag67.xml><?xml version="1.0" encoding="utf-8"?>
<p:tagLst xmlns:p="http://schemas.openxmlformats.org/presentationml/2006/main">
  <p:tag name="PA" val="v5.2.5"/>
</p:tagLst>
</file>

<file path=ppt/tags/tag68.xml><?xml version="1.0" encoding="utf-8"?>
<p:tagLst xmlns:p="http://schemas.openxmlformats.org/presentationml/2006/main">
  <p:tag name="PA" val="v5.2.5"/>
</p:tagLst>
</file>

<file path=ppt/tags/tag69.xml><?xml version="1.0" encoding="utf-8"?>
<p:tagLst xmlns:p="http://schemas.openxmlformats.org/presentationml/2006/main">
  <p:tag name="PA" val="v5.2.5"/>
</p:tagLst>
</file>

<file path=ppt/tags/tag70.xml><?xml version="1.0" encoding="utf-8"?>
<p:tagLst xmlns:p="http://schemas.openxmlformats.org/presentationml/2006/main">
  <p:tag name="PA" val="v5.2.5"/>
</p:tagLst>
</file>

<file path=ppt/tags/tag71.xml><?xml version="1.0" encoding="utf-8"?>
<p:tagLst xmlns:p="http://schemas.openxmlformats.org/presentationml/2006/main">
  <p:tag name="PA" val="v5.2.5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PA" val="v5.2.5"/>
</p:tagLst>
</file>

<file path=ppt/tags/tag76.xml><?xml version="1.0" encoding="utf-8"?>
<p:tagLst xmlns:p="http://schemas.openxmlformats.org/presentationml/2006/main">
  <p:tag name="PA" val="v5.2.5"/>
</p:tagLst>
</file>

<file path=ppt/tags/tag77.xml><?xml version="1.0" encoding="utf-8"?>
<p:tagLst xmlns:p="http://schemas.openxmlformats.org/presentationml/2006/main">
  <p:tag name="PA" val="v5.2.5"/>
</p:tagLst>
</file>

<file path=ppt/tags/tag78.xml><?xml version="1.0" encoding="utf-8"?>
<p:tagLst xmlns:p="http://schemas.openxmlformats.org/presentationml/2006/main">
  <p:tag name="PA" val="v5.2.5"/>
</p:tagLst>
</file>

<file path=ppt/tags/tag79.xml><?xml version="1.0" encoding="utf-8"?>
<p:tagLst xmlns:p="http://schemas.openxmlformats.org/presentationml/2006/main">
  <p:tag name="PA" val="v5.2.5"/>
</p:tagLst>
</file>

<file path=ppt/tags/tag80.xml><?xml version="1.0" encoding="utf-8"?>
<p:tagLst xmlns:p="http://schemas.openxmlformats.org/presentationml/2006/main">
  <p:tag name="PA" val="v5.2.5"/>
</p:tagLst>
</file>

<file path=ppt/tags/tag81.xml><?xml version="1.0" encoding="utf-8"?>
<p:tagLst xmlns:p="http://schemas.openxmlformats.org/presentationml/2006/main">
  <p:tag name="PA" val="v5.2.5"/>
</p:tagLst>
</file>

<file path=ppt/tags/tag82.xml><?xml version="1.0" encoding="utf-8"?>
<p:tagLst xmlns:p="http://schemas.openxmlformats.org/presentationml/2006/main">
  <p:tag name="PA" val="v5.2.5"/>
</p:tagLst>
</file>

<file path=ppt/tags/tag83.xml><?xml version="1.0" encoding="utf-8"?>
<p:tagLst xmlns:p="http://schemas.openxmlformats.org/presentationml/2006/main">
  <p:tag name="PA" val="v5.2.5"/>
</p:tagLst>
</file>

<file path=ppt/tags/tag84.xml><?xml version="1.0" encoding="utf-8"?>
<p:tagLst xmlns:p="http://schemas.openxmlformats.org/presentationml/2006/main">
  <p:tag name="PA" val="v5.2.5"/>
</p:tagLst>
</file>

<file path=ppt/tags/tag85.xml><?xml version="1.0" encoding="utf-8"?>
<p:tagLst xmlns:p="http://schemas.openxmlformats.org/presentationml/2006/main">
  <p:tag name="PA" val="v5.2.5"/>
</p:tagLst>
</file>

<file path=ppt/tags/tag86.xml><?xml version="1.0" encoding="utf-8"?>
<p:tagLst xmlns:p="http://schemas.openxmlformats.org/presentationml/2006/main">
  <p:tag name="PA" val="v5.2.5"/>
</p:tagLst>
</file>

<file path=ppt/tags/tag87.xml><?xml version="1.0" encoding="utf-8"?>
<p:tagLst xmlns:p="http://schemas.openxmlformats.org/presentationml/2006/main">
  <p:tag name="PA" val="v5.2.5"/>
</p:tagLst>
</file>

<file path=ppt/tags/tag88.xml><?xml version="1.0" encoding="utf-8"?>
<p:tagLst xmlns:p="http://schemas.openxmlformats.org/presentationml/2006/main">
  <p:tag name="PA" val="v5.2.5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TABLE_BEAUTIFY" val="smartTable{00b66c7f-dff7-4ed0-a749-0a4d23485125}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PA" val="v5.2.9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WPS 演示</Application>
  <PresentationFormat>宽屏</PresentationFormat>
  <Paragraphs>152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Impact</vt:lpstr>
      <vt:lpstr>Arial Unicode MS</vt:lpstr>
      <vt:lpstr>Calibri</vt:lpstr>
      <vt:lpstr>Office 主题​​</vt:lpstr>
      <vt:lpstr>守护健康·防范病毒</vt:lpstr>
      <vt:lpstr>目录</vt:lpstr>
      <vt:lpstr>A病毒是什么</vt:lpstr>
      <vt:lpstr>为什么叫A病毒？</vt:lpstr>
      <vt:lpstr>感染患者有哪些临床表现？</vt:lpstr>
      <vt:lpstr>预防A病毒感染</vt:lpstr>
      <vt:lpstr>如何预防A病毒感染？</vt:lpstr>
      <vt:lpstr>七步洗手法</vt:lpstr>
      <vt:lpstr>正确佩带口罩</vt:lpstr>
      <vt:lpstr>如何选择口罩类型?</vt:lpstr>
      <vt:lpstr>如何正确佩戴口罩？</vt:lpstr>
      <vt:lpstr>学会心理调节</vt:lpstr>
      <vt:lpstr>个人进行自我疏导方式</vt:lpstr>
      <vt:lpstr>居家隔离缓解情绪方式</vt:lpstr>
      <vt:lpstr>守护健康·防范病毒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Default</cp:lastModifiedBy>
  <cp:revision>267</cp:revision>
  <dcterms:created xsi:type="dcterms:W3CDTF">2019-06-19T02:08:00Z</dcterms:created>
  <dcterms:modified xsi:type="dcterms:W3CDTF">2024-04-13T02:05:21Z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