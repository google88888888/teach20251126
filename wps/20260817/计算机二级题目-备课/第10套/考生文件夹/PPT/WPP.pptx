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0" r:id="rId3"/>
    <p:sldId id="261" r:id="rId4"/>
    <p:sldId id="270" r:id="rId5"/>
    <p:sldId id="294" r:id="rId6"/>
    <p:sldId id="298" r:id="rId7"/>
    <p:sldId id="296" r:id="rId8"/>
    <p:sldId id="297" r:id="rId9"/>
    <p:sldId id="299" r:id="rId10"/>
    <p:sldId id="318" r:id="rId11"/>
    <p:sldId id="319" r:id="rId12"/>
    <p:sldId id="281" r:id="rId13"/>
    <p:sldId id="282" r:id="rId14"/>
    <p:sldId id="288" r:id="rId15"/>
    <p:sldId id="321" r:id="rId16"/>
    <p:sldId id="26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guna" initials="g" lastIdx="1" clrIdx="0"/>
  <p:cmAuthor id="3" name="WangRuifang" initials="W" lastIdx="1" clrIdx="0"/>
  <p:cmAuthor id="0" name="同柱 刘" initials="" lastIdx="2" clrIdx="0"/>
  <p:cmAuthor id="4" name="XuRong" initials="X" lastIdx="1" clrIdx="1"/>
  <p:cmAuthor id="5" name="Author" initials="A" lastIdx="0" clrIdx="5"/>
  <p:cmAuthor id="6" name="DELL" initials="D" lastIdx="1" clrIdx="5"/>
  <p:cmAuthor id="7" name="万涛" initials="WT" lastIdx="2" clrIdx="6"/>
  <p:cmAuthor id="8" name="姜伟光" initials="姜" lastIdx="1" clrIdx="0"/>
  <p:cmAuthor id="191251535" name="沈霄雷" initials="沈" lastIdx="833089" clrIdx="0"/>
  <p:cmAuthor id="11" name="lewyZ" initials="l" lastIdx="1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金山办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35280" y="765175"/>
            <a:ext cx="2929255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lnSpc>
                <a:spcPct val="100000"/>
              </a:lnSpc>
              <a:defRPr sz="2000" u="none" strike="noStrike" kern="1200" cap="none" spc="0" normalizeH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20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35280" y="1725295"/>
            <a:ext cx="2929890" cy="2600960"/>
          </a:xfrm>
        </p:spPr>
        <p:txBody>
          <a:bodyPr vert="horz" lIns="90000" tIns="46800" rIns="90000" bIns="46800" rtlCol="0">
            <a:normAutofit/>
          </a:bodyPr>
          <a:lstStyle>
            <a:lvl1pPr marL="0" indent="0">
              <a:buNone/>
              <a:defRPr sz="1600" u="none" strike="noStrike" kern="1200" cap="none" spc="0" normalizeH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西山居">
    <p:bg>
      <p:bgPr>
        <a:gradFill rotWithShape="1">
          <a:gsLst>
            <a:gs pos="0">
              <a:schemeClr val="tx1">
                <a:lumMod val="65000"/>
                <a:lumOff val="35000"/>
              </a:schemeClr>
            </a:gs>
            <a:gs pos="100000">
              <a:schemeClr val="tx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侠 4" descr="未标题-1.png"/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66000" contrast="-100000"/>
          </a:blip>
          <a:srcRect r="64114"/>
          <a:stretch>
            <a:fillRect/>
          </a:stretch>
        </p:blipFill>
        <p:spPr>
          <a:xfrm>
            <a:off x="9312275" y="0"/>
            <a:ext cx="2880000" cy="312630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altLang="zh-CN" dirty="0"/>
              <a:t>www.kingsoft.com</a:t>
            </a:r>
            <a:endParaRPr lang="en-US" altLang="zh-CN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 dirty="0"/>
              <a:t>www.kingsoft.com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1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www.kingsoft.com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tags" Target="../tags/tag7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8.png"/><Relationship Id="rId1" Type="http://schemas.openxmlformats.org/officeDocument/2006/relationships/tags" Target="../tags/tag7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2"/>
          <p:cNvPicPr>
            <a:picLocks noChangeAspect="1"/>
          </p:cNvPicPr>
          <p:nvPr/>
        </p:nvPicPr>
        <p:blipFill>
          <a:blip r:embed="rId2"/>
          <a:srcRect t="-31991" b="-31991"/>
          <a:stretch>
            <a:fillRect/>
          </a:stretch>
        </p:blipFill>
        <p:spPr>
          <a:xfrm>
            <a:off x="2496185" y="1404023"/>
            <a:ext cx="7200000" cy="40499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0" y="2489200"/>
            <a:ext cx="2895600" cy="1879600"/>
          </a:xfrm>
          <a:prstGeom prst="rect">
            <a:avLst/>
          </a:prstGeom>
        </p:spPr>
      </p:pic>
      <p:pic>
        <p:nvPicPr>
          <p:cNvPr id="5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150" y="1416050"/>
            <a:ext cx="5575300" cy="4025900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0" y="1003300"/>
            <a:ext cx="4851400" cy="4851400"/>
          </a:xfrm>
          <a:prstGeom prst="ellipse">
            <a:avLst/>
          </a:prstGeom>
          <a:noFill/>
          <a:ln w="6350">
            <a:gradFill>
              <a:gsLst>
                <a:gs pos="100000">
                  <a:schemeClr val="accent6">
                    <a:lumMod val="75000"/>
                  </a:schemeClr>
                </a:gs>
                <a:gs pos="25000">
                  <a:schemeClr val="accent5">
                    <a:lumMod val="75000"/>
                    <a:alpha val="0"/>
                  </a:schemeClr>
                </a:gs>
              </a:gsLst>
              <a:lin ang="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800" y="-66675"/>
            <a:ext cx="12293600" cy="6991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红色底图 1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-635" y="0"/>
            <a:ext cx="3600450" cy="6858000"/>
          </a:xfrm>
          <a:prstGeom prst="rect">
            <a:avLst/>
          </a:prstGeom>
        </p:spPr>
      </p:pic>
      <p:sp>
        <p:nvSpPr>
          <p:cNvPr id="5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关于金山办公</a:t>
            </a:r>
            <a:br>
              <a:rPr lang="zh-CN" altLang="en-US"/>
            </a:br>
            <a:r>
              <a:rPr lang="en-US" altLang="zh-CN"/>
              <a:t>About US</a:t>
            </a:r>
            <a:endParaRPr lang="en-US" altLang="zh-CN"/>
          </a:p>
        </p:txBody>
      </p:sp>
      <p:sp>
        <p:nvSpPr>
          <p:cNvPr id="12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每5个中国人</a:t>
            </a:r>
            <a:br>
              <a:rPr lang="zh-CN" altLang="en-US"/>
            </a:br>
            <a:r>
              <a:rPr lang="zh-CN" altLang="en-US"/>
              <a:t>就有1个是金山办公的用户</a:t>
            </a:r>
            <a:endParaRPr lang="zh-CN" altLang="en-US"/>
          </a:p>
        </p:txBody>
      </p:sp>
      <p:pic>
        <p:nvPicPr>
          <p:cNvPr id="2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75" y="669925"/>
            <a:ext cx="7448550" cy="5518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核心产品战略</a:t>
            </a:r>
            <a:br>
              <a:rPr lang="zh-CN" altLang="en-US"/>
            </a:br>
            <a:r>
              <a:rPr lang="zh-CN" altLang="en-US"/>
              <a:t>Core Product Strategy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办公新趋势</a:t>
            </a:r>
            <a:br>
              <a:rPr lang="zh-CN" altLang="en-US"/>
            </a:br>
            <a:r>
              <a:rPr lang="zh-CN" altLang="en-US"/>
              <a:t>AII in One 的极致办公检验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2625" y="2885440"/>
            <a:ext cx="6718300" cy="1087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核心</a:t>
            </a:r>
            <a:r>
              <a:rPr lang="zh-CN" altLang="en-US"/>
              <a:t>产品战略</a:t>
            </a:r>
            <a:br>
              <a:rPr lang="zh-CN" altLang="en-US"/>
            </a:br>
            <a:r>
              <a:rPr lang="zh-CN" altLang="en-US"/>
              <a:t>Core Product Strategy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多屏 / Multi-Screen</a:t>
            </a:r>
            <a:endParaRPr lang="zh-CN" altLang="en-US"/>
          </a:p>
          <a:p>
            <a:r>
              <a:rPr lang="zh-CN" altLang="en-US"/>
              <a:t>全平台办公软件</a:t>
            </a:r>
            <a:br>
              <a:rPr lang="zh-CN" altLang="en-US"/>
            </a:br>
            <a:r>
              <a:rPr lang="zh-CN" altLang="en-US"/>
              <a:t>满足所有用</a:t>
            </a:r>
            <a:r>
              <a:rPr lang="zh-CN" altLang="en-US"/>
              <a:t>户办公需求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1770" y="1210310"/>
            <a:ext cx="771525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核心</a:t>
            </a:r>
            <a:r>
              <a:rPr lang="zh-CN" altLang="en-US"/>
              <a:t>产品战略</a:t>
            </a:r>
            <a:br>
              <a:rPr lang="zh-CN" altLang="en-US"/>
            </a:br>
            <a:r>
              <a:rPr lang="zh-CN" altLang="en-US"/>
              <a:t>Core Product Strategy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AI 驱动</a:t>
            </a:r>
            <a:br>
              <a:rPr lang="zh-CN" altLang="en-US"/>
            </a:br>
            <a:r>
              <a:rPr lang="zh-CN" altLang="en-US"/>
              <a:t>为⽤户提供更智能的办公体验</a:t>
            </a:r>
            <a:endParaRPr lang="zh-CN" altLang="en-US"/>
          </a:p>
          <a:p>
            <a:r>
              <a:rPr lang="zh-CN" altLang="en-US"/>
              <a:t>落地超过 18 项 AI 应⽤</a:t>
            </a:r>
            <a:br>
              <a:rPr lang="zh-CN" altLang="en-US"/>
            </a:br>
            <a:r>
              <a:rPr lang="zh-CN" altLang="en-US"/>
              <a:t>斩获 5 项国际 AI 技术⼤奖</a:t>
            </a:r>
            <a:endParaRPr lang="zh-CN" altLang="en-US"/>
          </a:p>
        </p:txBody>
      </p:sp>
      <p:pic>
        <p:nvPicPr>
          <p:cNvPr id="9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8280" y="1470660"/>
            <a:ext cx="7706360" cy="3764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使命、愿景和价值观</a:t>
            </a:r>
            <a:br>
              <a:rPr lang="zh-CN" altLang="en-US"/>
            </a:br>
            <a:r>
              <a:rPr lang="zh-CN" altLang="en-US"/>
              <a:t>Mission Vision Values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660" y="1349375"/>
            <a:ext cx="6051550" cy="4159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55" y="1387475"/>
            <a:ext cx="6000750" cy="10604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22020" y="3098800"/>
            <a:ext cx="600138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公司运营超过数十款网络游戏，涉足包括仙侠、二次元、科幻、棋牌、换装养成、军事等诸多品类，创造出无数经典传说。其代表力作《剑侠情缘》系列已成功拓展至亚洲市场，蜚声海内外。同时，西山居在八大领域：游戏、影视、动画、文学、戏剧、音乐、竞技、高端文化周边引领跨界联动，全方位进军文化产业。</a:t>
            </a:r>
            <a:endParaRPr lang="zh-CN" altLang="en-US"/>
          </a:p>
        </p:txBody>
      </p:sp>
      <p:pic>
        <p:nvPicPr>
          <p:cNvPr id="1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0"/>
            <a:ext cx="5029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/>
          <p:nvPr/>
        </p:nvSpPr>
        <p:spPr>
          <a:xfrm>
            <a:off x="834708" y="807016"/>
            <a:ext cx="5197475" cy="1017270"/>
          </a:xfrm>
          <a:prstGeom prst="rect">
            <a:avLst/>
          </a:prstGeom>
        </p:spPr>
        <p:txBody>
          <a:bodyPr vert="horz" wrap="none" lIns="90170" tIns="46990" rIns="90170" bIns="46990" rtlCol="0" anchor="ctr">
            <a:spAutoFit/>
          </a:bodyPr>
          <a:p>
            <a:pPr lvl="0" algn="l">
              <a:buClrTx/>
              <a:buSzTx/>
              <a:buFontTx/>
            </a:pPr>
            <a:r>
              <a:rPr lang="en-US" altLang="zh-CN" sz="60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游戏+文化创新</a:t>
            </a:r>
            <a:endParaRPr lang="en-US" altLang="zh-CN" sz="6000" b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正文 2"/>
          <p:cNvSpPr txBox="1"/>
          <p:nvPr/>
        </p:nvSpPr>
        <p:spPr>
          <a:xfrm>
            <a:off x="835025" y="1824355"/>
            <a:ext cx="3726180" cy="5767070"/>
          </a:xfrm>
          <a:prstGeom prst="rect">
            <a:avLst/>
          </a:prstGeom>
          <a:ln w="12700">
            <a:miter lim="400000"/>
          </a:ln>
        </p:spPr>
        <p:txBody>
          <a:bodyPr vert="horz" wrap="none" lIns="90170" tIns="46990" rIns="90170" bIns="46990" anchor="ctr">
            <a:spAutoFit/>
          </a:bodyPr>
          <a:p>
            <a:pPr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游戏娱乐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剑侠系列游戏类型 跨平台深耕</a:t>
            </a:r>
            <a:b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端游、手游、TVgame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数字出版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官方小说、设定集、电子图书、有声读物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indent="0" algn="l" defTabSz="457200" fontAlgn="auto">
              <a:lnSpc>
                <a:spcPct val="100000"/>
              </a:lnSpc>
              <a:spcBef>
                <a:spcPts val="1000"/>
              </a:spcBef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电子竞技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游戏竞技大赛、网红直播  战队联盟培养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舞台表演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话剧、音乐剧  Cosplay舞台剧  戏曲（粤剧）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0"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娱乐庆典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周年庆典、侠客行全国巡演  大学生校园晚会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0"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展览展会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萤火虫动漫展、YACA动漫展 上海CP同人展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0"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动漫文化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漫画、插画  动画作品大赛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0"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古风音乐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原创古风音乐歌曲   游戏音乐会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0" indent="0" algn="l" defTabSz="457200" fontAlgn="auto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影视娱乐</a:t>
            </a:r>
            <a:br>
              <a:rPr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网剧、电视剧  电影等改编拍摄</a:t>
            </a:r>
            <a:endParaRPr sz="1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9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2089150"/>
            <a:ext cx="5486400" cy="4768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1"/>
          <p:cNvSpPr txBox="1"/>
          <p:nvPr/>
        </p:nvSpPr>
        <p:spPr>
          <a:xfrm>
            <a:off x="508847" y="614224"/>
            <a:ext cx="9117753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网游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代表作</a:t>
            </a:r>
            <a:endParaRPr lang="zh-CN" alt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中国最具影响力和号召力的原创武侠游戏</a:t>
            </a:r>
            <a:endParaRPr lang="zh-CN" altLang="en-US"/>
          </a:p>
        </p:txBody>
      </p:sp>
      <p:sp>
        <p:nvSpPr>
          <p:cNvPr id="5" name="文本框 2"/>
          <p:cNvSpPr txBox="1"/>
          <p:nvPr/>
        </p:nvSpPr>
        <p:spPr>
          <a:xfrm>
            <a:off x="508635" y="1598930"/>
            <a:ext cx="689292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《剑侠情缘网络版叁》（简称《剑网3》）是由金山软件西山居开发运营的3D武侠角色扮演网游，凭借优异的美术设计和友好健康、积极向上的游戏氛围受到了众多玩家赞誉。游戏背景植根于大唐历史，将繁荣文化映照于武侠世界中，并为弘扬国粹经典不懈努力。《剑网3》通过物理引擎率先打造出ACT新轻功玩法，开创了中国3D武侠轻功时代。</a:t>
            </a:r>
            <a:endParaRPr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508952" y="3788410"/>
            <a:ext cx="1069340" cy="862965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spAutoFit/>
          </a:bodyPr>
          <a:p>
            <a:pPr algn="ctr"/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sym typeface="+mn-ea"/>
              </a:rPr>
              <a:t>大型资料片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 sz="36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32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sym typeface="+mn-ea"/>
              </a:rPr>
              <a:t>个</a:t>
            </a:r>
            <a:endParaRPr lang="zh-CN" altLang="en-US"/>
          </a:p>
        </p:txBody>
      </p:sp>
      <p:sp>
        <p:nvSpPr>
          <p:cNvPr id="8" name="文本框 4"/>
          <p:cNvSpPr txBox="1"/>
          <p:nvPr/>
        </p:nvSpPr>
        <p:spPr>
          <a:xfrm>
            <a:off x="2267267" y="3788410"/>
            <a:ext cx="1485900" cy="862965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sym typeface="+mn-ea"/>
              </a:rPr>
              <a:t>版本更新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</a:endParaRPr>
          </a:p>
          <a:p>
            <a:pPr algn="ctr"/>
            <a:r>
              <a:rPr lang="zh-CN" altLang="en-US" sz="36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36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955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sym typeface="+mn-ea"/>
              </a:rPr>
              <a:t>个</a:t>
            </a:r>
            <a:endParaRPr lang="zh-CN" altLang="en-US"/>
          </a:p>
        </p:txBody>
      </p:sp>
      <p:sp>
        <p:nvSpPr>
          <p:cNvPr id="9" name="文本框 5"/>
          <p:cNvSpPr txBox="1"/>
          <p:nvPr/>
        </p:nvSpPr>
        <p:spPr>
          <a:xfrm>
            <a:off x="4442777" y="3788410"/>
            <a:ext cx="1424940" cy="862965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sym typeface="+mn-ea"/>
              </a:rPr>
              <a:t>剑网三累计玩家</a:t>
            </a:r>
            <a:endParaRPr lang="zh-CN" alt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sz="36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1.1</a:t>
            </a:r>
            <a:r>
              <a:rPr lang="en-US" altLang="zh-CN" sz="36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sym typeface="+mn-ea"/>
              </a:rPr>
              <a:t>亿</a:t>
            </a:r>
            <a:endParaRPr lang="zh-CN" altLang="en-US"/>
          </a:p>
        </p:txBody>
      </p:sp>
      <p:sp>
        <p:nvSpPr>
          <p:cNvPr id="10" name="文本框 6"/>
          <p:cNvSpPr txBox="1"/>
          <p:nvPr/>
        </p:nvSpPr>
        <p:spPr>
          <a:xfrm>
            <a:off x="508635" y="4826000"/>
            <a:ext cx="615188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50000"/>
              </a:lnSpc>
              <a:buBlip>
                <a:blip r:embed="rId1"/>
              </a:buBlip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2016年《剑网3》营收达13.92亿元，同比增长56%</a:t>
            </a:r>
            <a:endParaRPr lang="zh-CN" altLang="en-US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Blip>
                <a:blip r:embed="rId1"/>
              </a:buBlip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2017年《剑网3》营收达18亿元，同比增长30%,</a:t>
            </a:r>
            <a:endParaRPr lang="zh-CN" altLang="en-US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Blip>
                <a:blip r:embed="rId1"/>
              </a:buBlip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过往七年流水复合增长率达57.65%，远超市场的平均增长速度</a:t>
            </a:r>
            <a:endParaRPr lang="zh-CN" altLang="en-US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Blip>
                <a:blip r:embed="rId1"/>
              </a:buBlip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2020年《剑网3》实现全年双位数增长</a:t>
            </a:r>
            <a:endParaRPr lang="zh-CN" altLang="en-US"/>
          </a:p>
        </p:txBody>
      </p:sp>
      <p:pic>
        <p:nvPicPr>
          <p:cNvPr id="11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043" y="1382607"/>
            <a:ext cx="6976533" cy="54753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 txBox="1"/>
          <p:nvPr/>
        </p:nvSpPr>
        <p:spPr>
          <a:xfrm>
            <a:off x="508847" y="633909"/>
            <a:ext cx="9117753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手游代表作</a:t>
            </a:r>
            <a:endParaRPr lang="zh-CN" altLang="en-US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传统艺术形式与现代技术结合，打造独特的传统国风画面</a:t>
            </a:r>
            <a:endParaRPr lang="zh-CN" altLang="en-US"/>
          </a:p>
        </p:txBody>
      </p:sp>
      <p:sp>
        <p:nvSpPr>
          <p:cNvPr id="22530" name="正文 2"/>
          <p:cNvSpPr txBox="1"/>
          <p:nvPr/>
        </p:nvSpPr>
        <p:spPr>
          <a:xfrm>
            <a:off x="5092065" y="1840865"/>
            <a:ext cx="5952490" cy="41694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《剑网3：指尖江湖》是一款多角色养成和RPG系统玩法相结合的3D手游。</a:t>
            </a:r>
            <a:endParaRPr lang="zh-CN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将浮雕、剪纸、版画等传统艺术形式与现代技术结合，打造出独特的传统国风画面。100万字剧情设定，300分钟剧情动画，再现端游的完整世界观，是典型的富有民族武侠特色的手机游戏。</a:t>
            </a:r>
            <a:endParaRPr lang="zh-CN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游戏由西山居《剑网3》端游原班人马倾情制作，腾讯游戏独家代理发行。</a:t>
            </a:r>
            <a:endParaRPr lang="zh-CN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algn="just" defTabSz="914400" fontAlgn="auto">
              <a:lnSpc>
                <a:spcPct val="15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2016年6月上线首月流水突破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5亿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，连续11个月保持iOS畅销榜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TOP10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；同年10月，陆续登陆港澳台、越南、新加坡、马来西亚、泰国和韩国等区域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月均流水过亿</a:t>
            </a:r>
            <a:r>
              <a:rPr lang="zh-CN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8139" name="图片 3" descr="剑侠情缘手游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362710"/>
            <a:ext cx="4784090" cy="549529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 descr="图片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09600" y="-342900"/>
            <a:ext cx="13411200" cy="7542953"/>
          </a:xfrm>
          <a:prstGeom prst="rect">
            <a:avLst/>
          </a:prstGeom>
        </p:spPr>
      </p:pic>
      <p:sp>
        <p:nvSpPr>
          <p:cNvPr id="2" name="文本框 2"/>
          <p:cNvSpPr/>
          <p:nvPr/>
        </p:nvSpPr>
        <p:spPr>
          <a:xfrm>
            <a:off x="800100" y="1729740"/>
            <a:ext cx="5673090" cy="3397250"/>
          </a:xfrm>
          <a:prstGeom prst="rect">
            <a:avLst/>
          </a:prstGeom>
          <a:noFill/>
          <a:ln>
            <a:gradFill>
              <a:gsLst>
                <a:gs pos="5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189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360045" tIns="360045" rIns="360045" bIns="360045" numCol="1" spcCol="0" rtlCol="0" fromWordArt="0" anchor="ctr" anchorCtr="0" forceAA="0" compatLnSpc="1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80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金山云</a:t>
            </a:r>
            <a:endParaRPr lang="zh-CN" altLang="en-US" sz="80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36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全球高品质云服务专家</a:t>
            </a:r>
            <a:endParaRPr lang="zh-CN" altLang="en-US" sz="36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728980"/>
            <a:ext cx="1265217" cy="540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552825" y="1126490"/>
            <a:ext cx="7845425" cy="4605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spcAft>
                <a:spcPct val="35000"/>
              </a:spcAft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国内第一的视频云服务商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lvl="1" indent="-285750" algn="l"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altLang="en-US" sz="14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国内第一视频云，提供多行业视频整体解决方案及更高阶的视频生态服务。70%的知名直播及短视频APP都是金山云客户。</a:t>
            </a:r>
            <a:endParaRPr altLang="en-US" sz="14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285750" lvl="1" indent="-285750" algn="l">
              <a:spcAft>
                <a:spcPct val="15000"/>
              </a:spcAft>
              <a:buFont typeface="Arial" panose="020B0604020202020204" pitchFamily="34" charset="0"/>
              <a:buChar char="•"/>
            </a:pPr>
            <a:endParaRPr altLang="en-US" sz="14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spcAft>
                <a:spcPct val="35000"/>
              </a:spcAft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国内最大规模的游戏云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lvl="1" indent="-285750" algn="l"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国内最大的游戏云，Top20的游戏发行商，都在用金山云。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114300" lvl="1" indent="-114300" algn="l">
              <a:spcAft>
                <a:spcPct val="15000"/>
              </a:spcAft>
            </a:pP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114300" lvl="1" indent="-114300" algn="l">
              <a:spcAft>
                <a:spcPct val="15000"/>
              </a:spcAft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国内最先进的医疗云平台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lvl="1" indent="-285750" algn="l">
              <a:spcAft>
                <a:spcPct val="15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“金山医云”携手北大医信、海纳等企业，提供完整医疗云解决方案。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lvl="1" indent="-285750" algn="l"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algn="l">
              <a:spcAft>
                <a:spcPct val="35000"/>
              </a:spcAft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国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内最大规模的云存储服务商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lvl="1" indent="-285750" algn="l"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altLang="en-US" sz="14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EB级数据存储量，单日新增数据超过1PB，为小米Cloud提供支持。</a:t>
            </a:r>
            <a:endParaRPr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lvl="1" indent="-285750" algn="l">
              <a:spcAft>
                <a:spcPct val="15000"/>
              </a:spcAft>
              <a:buFont typeface="Arial" panose="020B0604020202020204" pitchFamily="34" charset="0"/>
              <a:buChar char="•"/>
            </a:pPr>
            <a:endParaRPr altLang="en-US" sz="14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spcAft>
                <a:spcPct val="3500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国内领先的自研云操作系统KCOS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lvl="1" indent="-285750" algn="l"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基于VPC的完善的混合云解决方案，领先的虚拟主机性能。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8705"/>
            <a:ext cx="3644900" cy="2730500"/>
          </a:xfrm>
          <a:prstGeom prst="rect">
            <a:avLst/>
          </a:prstGeom>
        </p:spPr>
      </p:pic>
      <p:pic>
        <p:nvPicPr>
          <p:cNvPr id="46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285" y="2589530"/>
            <a:ext cx="3562350" cy="2673350"/>
          </a:xfrm>
          <a:prstGeom prst="rect">
            <a:avLst/>
          </a:prstGeom>
        </p:spPr>
      </p:pic>
      <p:pic>
        <p:nvPicPr>
          <p:cNvPr id="47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020" y="1513205"/>
            <a:ext cx="3644900" cy="2730500"/>
          </a:xfrm>
          <a:prstGeom prst="rect">
            <a:avLst/>
          </a:prstGeom>
        </p:spPr>
      </p:pic>
      <p:pic>
        <p:nvPicPr>
          <p:cNvPr id="48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305" y="519430"/>
            <a:ext cx="3530600" cy="2647950"/>
          </a:xfrm>
          <a:prstGeom prst="rect">
            <a:avLst/>
          </a:prstGeom>
        </p:spPr>
      </p:pic>
      <p:pic>
        <p:nvPicPr>
          <p:cNvPr id="49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REFSHAPE" val="-1911217372"/>
  <p:tag name="KSO_WM_UNIT_PLACING_PICTURE_USER_VIEWPORT" val="{&quot;height&quot;:9423,&quot;width&quot;:8205}"/>
</p:tagLst>
</file>

<file path=ppt/theme/theme1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1455</Words>
  <Application>WPS 演示</Application>
  <PresentationFormat>宽屏</PresentationFormat>
  <Paragraphs>80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Wingdings</vt:lpstr>
      <vt:lpstr>Arial Unicode MS</vt:lpstr>
      <vt:lpstr>1_Office 主题​​</vt:lpstr>
      <vt:lpstr>PowerPoint 演示文稿</vt:lpstr>
      <vt:lpstr>PowerPoint 演示文稿</vt:lpstr>
      <vt:lpstr>PowerPoint 演示文稿</vt:lpstr>
      <vt:lpstr>关于金山办公 About US</vt:lpstr>
      <vt:lpstr>核心产品战略 Core Product Strategy</vt:lpstr>
      <vt:lpstr>核心产品战略 Core Product Strategy</vt:lpstr>
      <vt:lpstr>核心产品战略 Core Product Strategy</vt:lpstr>
      <vt:lpstr>使命、愿景和价值观 Mission Vision Values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万涛</cp:lastModifiedBy>
  <cp:revision>518</cp:revision>
  <dcterms:created xsi:type="dcterms:W3CDTF">2019-06-19T02:08:00Z</dcterms:created>
  <dcterms:modified xsi:type="dcterms:W3CDTF">2021-11-18T07:11:00Z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599B5DC2C6CD4C278D8927E6E5D18551</vt:lpwstr>
  </property>
</Properties>
</file>