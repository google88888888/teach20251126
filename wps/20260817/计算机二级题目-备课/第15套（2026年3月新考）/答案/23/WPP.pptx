
<file path=[Content_Types].xml><?xml version="1.0" encoding="utf-8"?>
<Types xmlns="http://schemas.openxmlformats.org/package/2006/content-types">
  <Default Extension="wav" ContentType="audio/x-wav"/>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4" r:id="rId3"/>
    <p:sldId id="620" r:id="rId5"/>
    <p:sldId id="621" r:id="rId6"/>
    <p:sldId id="498" r:id="rId7"/>
    <p:sldId id="511" r:id="rId8"/>
    <p:sldId id="513" r:id="rId9"/>
    <p:sldId id="506" r:id="rId10"/>
    <p:sldId id="422" r:id="rId11"/>
    <p:sldId id="518" r:id="rId12"/>
    <p:sldId id="519" r:id="rId13"/>
    <p:sldId id="520" r:id="rId14"/>
    <p:sldId id="507" r:id="rId15"/>
    <p:sldId id="524" r:id="rId16"/>
    <p:sldId id="526" r:id="rId17"/>
    <p:sldId id="535" r:id="rId18"/>
    <p:sldId id="577" r:id="rId19"/>
    <p:sldId id="543" r:id="rId20"/>
    <p:sldId id="549" r:id="rId21"/>
    <p:sldId id="544" r:id="rId22"/>
    <p:sldId id="556" r:id="rId23"/>
    <p:sldId id="557" r:id="rId24"/>
    <p:sldId id="558" r:id="rId25"/>
    <p:sldId id="565" r:id="rId26"/>
    <p:sldId id="566" r:id="rId27"/>
    <p:sldId id="568" r:id="rId28"/>
    <p:sldId id="564" r:id="rId29"/>
    <p:sldId id="619" r:id="rId30"/>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96A0F"/>
    <a:srgbClr val="0066FF"/>
    <a:srgbClr val="006699"/>
    <a:srgbClr val="969696"/>
    <a:srgbClr val="339966"/>
    <a:srgbClr val="FF9999"/>
    <a:srgbClr val="FF00FF"/>
    <a:srgbClr val="044E7F"/>
    <a:srgbClr val="FFC000"/>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55" autoAdjust="0"/>
    <p:restoredTop sz="94985" autoAdjust="0"/>
  </p:normalViewPr>
  <p:slideViewPr>
    <p:cSldViewPr snapToGrid="0">
      <p:cViewPr varScale="1">
        <p:scale>
          <a:sx n="91" d="100"/>
          <a:sy n="91" d="100"/>
        </p:scale>
        <p:origin x="-708" y="-102"/>
      </p:cViewPr>
      <p:guideLst>
        <p:guide orient="horz" pos="2242"/>
        <p:guide pos="3838"/>
      </p:guideLst>
    </p:cSldViewPr>
  </p:slideViewPr>
  <p:outlineViewPr>
    <p:cViewPr>
      <p:scale>
        <a:sx n="33" d="100"/>
        <a:sy n="33" d="100"/>
      </p:scale>
      <p:origin x="0" y="-576"/>
    </p:cViewPr>
  </p:outlineViewPr>
  <p:notesTextViewPr>
    <p:cViewPr>
      <p:scale>
        <a:sx n="1" d="1"/>
        <a:sy n="1" d="1"/>
      </p:scale>
      <p:origin x="0" y="0"/>
    </p:cViewPr>
  </p:notesTextViewPr>
  <p:sorterViewPr>
    <p:cViewPr>
      <p:scale>
        <a:sx n="100" d="100"/>
        <a:sy n="100" d="100"/>
      </p:scale>
      <p:origin x="0" y="-2196"/>
    </p:cViewPr>
  </p:sorterViewPr>
  <p:notesViewPr>
    <p:cSldViewPr snapToGrid="0">
      <p:cViewPr varScale="1">
        <p:scale>
          <a:sx n="72" d="100"/>
          <a:sy n="72" d="100"/>
        </p:scale>
        <p:origin x="-3198" y="-90"/>
      </p:cViewPr>
      <p:guideLst>
        <p:guide orient="horz" pos="2990"/>
        <p:guide pos="2158"/>
      </p:guideLst>
    </p:cSldViewPr>
  </p:notes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_rels/drawing1.xml.rels><?xml version="1.0" encoding="UTF-8" standalone="yes"?>
<Relationships xmlns="http://schemas.openxmlformats.org/package/2006/relationships"><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00EE499-D129-484D-B5C0-D0F3AC30E8B1}" type="doc">
      <dgm:prSet loTypeId="urn:microsoft.com/office/officeart/2005/8/layout/vList3" loCatId="list" qsTypeId="urn:microsoft.com/office/officeart/2005/8/quickstyle/simple1" qsCatId="simple" csTypeId="urn:microsoft.com/office/officeart/2005/8/colors/accent2_4" csCatId="accent1" phldr="0"/>
      <dgm:spPr/>
    </dgm:pt>
    <dgm:pt modelId="{BEB4A0DE-FB16-4C4F-8DEA-03570694B93A}">
      <dgm:prSet phldrT="[文本]" phldr="0" custT="0"/>
      <dgm:spPr/>
      <dgm:t>
        <a:bodyPr vert="horz" wrap="square"/>
        <a:p>
          <a:pPr>
            <a:lnSpc>
              <a:spcPct val="100000"/>
            </a:lnSpc>
            <a:spcBef>
              <a:spcPct val="0"/>
            </a:spcBef>
            <a:spcAft>
              <a:spcPct val="35000"/>
            </a:spcAft>
          </a:pPr>
          <a:r>
            <a:rPr lang="zh-CN" altLang="en-US" b="1">
              <a:solidFill>
                <a:srgbClr val="002060"/>
              </a:solidFill>
            </a:rPr>
            <a:t>车辆</a:t>
          </a:r>
          <a:r>
            <a:rPr lang="zh-CN" altLang="en-US" b="1">
              <a:solidFill>
                <a:srgbClr val="002060"/>
              </a:solidFill>
            </a:rPr>
            <a:t>折旧、</a:t>
          </a:r>
          <a:r>
            <a:rPr lang="zh-CN" altLang="en-US" b="1">
              <a:solidFill>
                <a:srgbClr val="002060"/>
              </a:solidFill>
            </a:rPr>
            <a:t>保险</a:t>
          </a:r>
          <a:r>
            <a:rPr lang="zh-CN" altLang="en-US" b="1">
              <a:solidFill>
                <a:srgbClr val="002060"/>
              </a:solidFill>
            </a:rPr>
            <a:t>和</a:t>
          </a:r>
          <a:r>
            <a:rPr lang="zh-CN" altLang="en-US" b="1">
              <a:solidFill>
                <a:srgbClr val="002060"/>
              </a:solidFill>
            </a:rPr>
            <a:t>维护费</a:t>
          </a:r>
          <a:r>
            <a:rPr lang="zh-CN" altLang="en-US" b="1">
              <a:solidFill>
                <a:srgbClr val="002060"/>
              </a:solidFill>
            </a:rPr>
            <a:t/>
          </a:r>
          <a:endParaRPr lang="zh-CN" altLang="en-US" b="1">
            <a:solidFill>
              <a:srgbClr val="002060"/>
            </a:solidFill>
          </a:endParaRPr>
        </a:p>
      </dgm:t>
    </dgm:pt>
    <dgm:pt modelId="{A1CD0B47-03FC-4535-A972-2673574CE2F3}" cxnId="{908C0AE9-0C47-47AB-B458-FD87FE536171}" type="parTrans">
      <dgm:prSet/>
      <dgm:spPr/>
    </dgm:pt>
    <dgm:pt modelId="{66283CB7-69B8-41D5-A569-950515985F71}" cxnId="{908C0AE9-0C47-47AB-B458-FD87FE536171}" type="sibTrans">
      <dgm:prSet/>
      <dgm:spPr/>
    </dgm:pt>
    <dgm:pt modelId="{11A5EA0A-517A-463B-9BA8-5EB54D7D10F8}">
      <dgm:prSet phldrT="[文本]" phldr="0" custT="0"/>
      <dgm:spPr/>
      <dgm:t>
        <a:bodyPr vert="horz" wrap="square"/>
        <a:p>
          <a:pPr>
            <a:lnSpc>
              <a:spcPct val="100000"/>
            </a:lnSpc>
            <a:spcBef>
              <a:spcPct val="0"/>
            </a:spcBef>
            <a:spcAft>
              <a:spcPct val="35000"/>
            </a:spcAft>
          </a:pPr>
          <a:r>
            <a:rPr lang="zh-CN" altLang="en-US" b="1">
              <a:solidFill>
                <a:srgbClr val="002060"/>
              </a:solidFill>
            </a:rPr>
            <a:t>驾驶员</a:t>
          </a:r>
          <a:r>
            <a:rPr lang="zh-CN" altLang="en-US" b="1">
              <a:solidFill>
                <a:srgbClr val="002060"/>
              </a:solidFill>
            </a:rPr>
            <a:t>工资</a:t>
          </a:r>
          <a:r>
            <a:rPr lang="zh-CN" altLang="en-US" b="1">
              <a:solidFill>
                <a:srgbClr val="002060"/>
              </a:solidFill>
            </a:rPr>
            <a:t/>
          </a:r>
          <a:endParaRPr lang="zh-CN" altLang="en-US" b="1">
            <a:solidFill>
              <a:srgbClr val="002060"/>
            </a:solidFill>
          </a:endParaRPr>
        </a:p>
      </dgm:t>
    </dgm:pt>
    <dgm:pt modelId="{E2B15CF1-464F-45CC-BFE4-6F0AA417C19E}" cxnId="{354E8993-CA6C-46F7-9E01-647FAEC87B25}" type="parTrans">
      <dgm:prSet/>
      <dgm:spPr/>
    </dgm:pt>
    <dgm:pt modelId="{4EA87785-B7B3-4F48-BB13-D91C5DEA8DC1}" cxnId="{354E8993-CA6C-46F7-9E01-647FAEC87B25}" type="sibTrans">
      <dgm:prSet/>
      <dgm:spPr/>
    </dgm:pt>
    <dgm:pt modelId="{25EF8B53-4C57-43A4-9FE1-40C318A0AD88}">
      <dgm:prSet phldrT="[文本]" phldr="0" custT="0"/>
      <dgm:spPr/>
      <dgm:t>
        <a:bodyPr vert="horz" wrap="square"/>
        <a:p>
          <a:pPr>
            <a:lnSpc>
              <a:spcPct val="100000"/>
            </a:lnSpc>
            <a:spcBef>
              <a:spcPct val="0"/>
            </a:spcBef>
            <a:spcAft>
              <a:spcPct val="35000"/>
            </a:spcAft>
          </a:pPr>
          <a:r>
            <a:rPr lang="zh-CN" altLang="en-US" b="1">
              <a:solidFill>
                <a:srgbClr val="002060"/>
              </a:solidFill>
            </a:rPr>
            <a:t>企业管理成本及税金、</a:t>
          </a:r>
          <a:r>
            <a:rPr lang="zh-CN" altLang="en-US" b="1">
              <a:solidFill>
                <a:srgbClr val="002060"/>
              </a:solidFill>
            </a:rPr>
            <a:t>利润</a:t>
          </a:r>
          <a:r>
            <a:rPr lang="zh-CN" altLang="en-US" b="1">
              <a:solidFill>
                <a:srgbClr val="002060"/>
              </a:solidFill>
            </a:rPr>
            <a:t/>
          </a:r>
          <a:endParaRPr lang="zh-CN" altLang="en-US" b="1">
            <a:solidFill>
              <a:srgbClr val="002060"/>
            </a:solidFill>
          </a:endParaRPr>
        </a:p>
      </dgm:t>
    </dgm:pt>
    <dgm:pt modelId="{62CE1C4C-AE05-4247-9728-BCA5F5CA780A}" cxnId="{C70C22F5-B823-4A7E-AFBA-7D089A8E06F3}" type="parTrans">
      <dgm:prSet/>
      <dgm:spPr/>
    </dgm:pt>
    <dgm:pt modelId="{F463D266-32E5-414A-9781-DA46FFE60955}" cxnId="{C70C22F5-B823-4A7E-AFBA-7D089A8E06F3}" type="sibTrans">
      <dgm:prSet/>
      <dgm:spPr/>
    </dgm:pt>
    <dgm:pt modelId="{4B22D750-D244-47CB-83E8-17F56717F1C0}">
      <dgm:prSet phldr="0" custT="0"/>
      <dgm:spPr/>
      <dgm:t>
        <a:bodyPr vert="horz" wrap="square"/>
        <a:p>
          <a:pPr>
            <a:lnSpc>
              <a:spcPct val="100000"/>
            </a:lnSpc>
            <a:spcBef>
              <a:spcPct val="0"/>
            </a:spcBef>
            <a:spcAft>
              <a:spcPct val="35000"/>
            </a:spcAft>
          </a:pPr>
          <a:r>
            <a:rPr lang="zh-CN" b="1">
              <a:solidFill>
                <a:srgbClr val="002060"/>
              </a:solidFill>
            </a:rPr>
            <a:t>经营权</a:t>
          </a:r>
          <a:r>
            <a:rPr lang="zh-CN" b="1">
              <a:solidFill>
                <a:srgbClr val="002060"/>
              </a:solidFill>
            </a:rPr>
            <a:t>有偿使用费</a:t>
          </a:r>
          <a:r>
            <a:rPr lang="zh-CN" b="1">
              <a:solidFill>
                <a:srgbClr val="002060"/>
              </a:solidFill>
            </a:rPr>
            <a:t/>
          </a:r>
          <a:endParaRPr lang="zh-CN" b="1">
            <a:solidFill>
              <a:srgbClr val="002060"/>
            </a:solidFill>
          </a:endParaRPr>
        </a:p>
      </dgm:t>
    </dgm:pt>
    <dgm:pt modelId="{A1A918CD-E1F8-4C40-92EF-D1821D028138}" cxnId="{51BADF6E-2C28-48D9-9372-74CA3A8CC1D8}" type="parTrans">
      <dgm:prSet/>
      <dgm:spPr/>
    </dgm:pt>
    <dgm:pt modelId="{D5070AD4-4B51-40CC-94FA-9AEBE16F491C}" cxnId="{51BADF6E-2C28-48D9-9372-74CA3A8CC1D8}" type="sibTrans">
      <dgm:prSet/>
      <dgm:spPr/>
    </dgm:pt>
    <dgm:pt modelId="{3A30B1D0-F146-41C6-9373-8CC849B0566C}" type="pres">
      <dgm:prSet presAssocID="{800EE499-D129-484D-B5C0-D0F3AC30E8B1}" presName="linearFlow" presStyleCnt="0">
        <dgm:presLayoutVars>
          <dgm:dir/>
          <dgm:resizeHandles val="exact"/>
        </dgm:presLayoutVars>
      </dgm:prSet>
      <dgm:spPr/>
    </dgm:pt>
    <dgm:pt modelId="{65AAD8D9-A2BB-4BC0-ADC4-32A3E0934999}" type="pres">
      <dgm:prSet presAssocID="{BEB4A0DE-FB16-4C4F-8DEA-03570694B93A}" presName="composite" presStyleCnt="0"/>
      <dgm:spPr/>
    </dgm:pt>
    <dgm:pt modelId="{F8DF891C-0D10-4055-A8A8-3FC34ADEDC5B}" type="pres">
      <dgm:prSet presAssocID="{BEB4A0DE-FB16-4C4F-8DEA-03570694B93A}" presName="imgShp" presStyleLbl="fgImgPlace1" presStyleIdx="0" presStyleCnt="4"/>
      <dgm:spPr>
        <a:blipFill>
          <a:blip xmlns:r="http://schemas.openxmlformats.org/officeDocument/2006/relationships" r:embed="rId1"/>
          <a:stretch>
            <a:fillRect/>
          </a:stretch>
        </a:blipFill>
      </dgm:spPr>
    </dgm:pt>
    <dgm:pt modelId="{5D3E6026-A697-4D8F-84B5-C5321A8528B3}" type="pres">
      <dgm:prSet presAssocID="{BEB4A0DE-FB16-4C4F-8DEA-03570694B93A}" presName="txShp" presStyleLbl="node1" presStyleIdx="0" presStyleCnt="4">
        <dgm:presLayoutVars>
          <dgm:bulletEnabled val="1"/>
        </dgm:presLayoutVars>
      </dgm:prSet>
      <dgm:spPr/>
    </dgm:pt>
    <dgm:pt modelId="{01F33C7F-4C3C-42D3-8542-4BC345A10B4C}" type="pres">
      <dgm:prSet presAssocID="{66283CB7-69B8-41D5-A569-950515985F71}" presName="spacing" presStyleCnt="0"/>
      <dgm:spPr/>
    </dgm:pt>
    <dgm:pt modelId="{5373068E-DCEB-4D3C-BFF1-43C34CE727FD}" type="pres">
      <dgm:prSet presAssocID="{11A5EA0A-517A-463B-9BA8-5EB54D7D10F8}" presName="composite" presStyleCnt="0"/>
      <dgm:spPr/>
    </dgm:pt>
    <dgm:pt modelId="{48C23F44-CDC2-4998-B9C4-F737C51D3228}" type="pres">
      <dgm:prSet presAssocID="{11A5EA0A-517A-463B-9BA8-5EB54D7D10F8}" presName="imgShp" presStyleLbl="fgImgPlace1" presStyleIdx="1" presStyleCnt="4"/>
      <dgm:spPr>
        <a:blipFill>
          <a:blip xmlns:r="http://schemas.openxmlformats.org/officeDocument/2006/relationships" r:embed="rId2"/>
          <a:stretch>
            <a:fillRect/>
          </a:stretch>
        </a:blipFill>
      </dgm:spPr>
    </dgm:pt>
    <dgm:pt modelId="{DC27DDA6-73A4-45AF-8B52-70E594C6E063}" type="pres">
      <dgm:prSet presAssocID="{11A5EA0A-517A-463B-9BA8-5EB54D7D10F8}" presName="txShp" presStyleLbl="node1" presStyleIdx="1" presStyleCnt="4">
        <dgm:presLayoutVars>
          <dgm:bulletEnabled val="1"/>
        </dgm:presLayoutVars>
      </dgm:prSet>
      <dgm:spPr/>
    </dgm:pt>
    <dgm:pt modelId="{1BD648EC-230D-47E1-A618-F93D265B0703}" type="pres">
      <dgm:prSet presAssocID="{4EA87785-B7B3-4F48-BB13-D91C5DEA8DC1}" presName="spacing" presStyleCnt="0"/>
      <dgm:spPr/>
    </dgm:pt>
    <dgm:pt modelId="{7D4A810A-A6D4-47BA-AF8D-AB4F73C04080}" type="pres">
      <dgm:prSet presAssocID="{25EF8B53-4C57-43A4-9FE1-40C318A0AD88}" presName="composite" presStyleCnt="0"/>
      <dgm:spPr/>
    </dgm:pt>
    <dgm:pt modelId="{69DE5637-6198-4292-ADFF-69DC2A063BC5}" type="pres">
      <dgm:prSet presAssocID="{25EF8B53-4C57-43A4-9FE1-40C318A0AD88}" presName="imgShp" presStyleLbl="fgImgPlace1" presStyleIdx="2" presStyleCnt="4"/>
      <dgm:spPr>
        <a:blipFill>
          <a:blip xmlns:r="http://schemas.openxmlformats.org/officeDocument/2006/relationships" r:embed="rId3"/>
          <a:stretch>
            <a:fillRect/>
          </a:stretch>
        </a:blipFill>
      </dgm:spPr>
    </dgm:pt>
    <dgm:pt modelId="{00C34D87-B2DD-493A-BAA2-1A14EA17DEB1}" type="pres">
      <dgm:prSet presAssocID="{25EF8B53-4C57-43A4-9FE1-40C318A0AD88}" presName="txShp" presStyleLbl="node1" presStyleIdx="2" presStyleCnt="4">
        <dgm:presLayoutVars>
          <dgm:bulletEnabled val="1"/>
        </dgm:presLayoutVars>
      </dgm:prSet>
      <dgm:spPr/>
    </dgm:pt>
    <dgm:pt modelId="{B37F7A4B-D846-4F48-AFC5-12DDB221F8DC}" type="pres">
      <dgm:prSet presAssocID="{F463D266-32E5-414A-9781-DA46FFE60955}" presName="spacing" presStyleCnt="0"/>
      <dgm:spPr/>
    </dgm:pt>
    <dgm:pt modelId="{9C23D6E6-AA16-456C-8D91-B456B409B9E8}" type="pres">
      <dgm:prSet presAssocID="{4B22D750-D244-47CB-83E8-17F56717F1C0}" presName="composite" presStyleCnt="0"/>
      <dgm:spPr/>
    </dgm:pt>
    <dgm:pt modelId="{5D1824B6-0681-455B-B83F-98E8F3B542B2}" type="pres">
      <dgm:prSet presAssocID="{4B22D750-D244-47CB-83E8-17F56717F1C0}" presName="imgShp" presStyleLbl="fgImgPlace1" presStyleIdx="3" presStyleCnt="4"/>
      <dgm:spPr>
        <a:blipFill>
          <a:blip xmlns:r="http://schemas.openxmlformats.org/officeDocument/2006/relationships" r:embed="rId4"/>
          <a:stretch>
            <a:fillRect/>
          </a:stretch>
        </a:blipFill>
      </dgm:spPr>
    </dgm:pt>
    <dgm:pt modelId="{5F332AF6-40FC-4AF6-A477-3825D3CB1D72}" type="pres">
      <dgm:prSet presAssocID="{4B22D750-D244-47CB-83E8-17F56717F1C0}" presName="txShp" presStyleLbl="node1" presStyleIdx="3" presStyleCnt="4">
        <dgm:presLayoutVars>
          <dgm:bulletEnabled val="1"/>
        </dgm:presLayoutVars>
      </dgm:prSet>
      <dgm:spPr/>
    </dgm:pt>
  </dgm:ptLst>
  <dgm:cxnLst>
    <dgm:cxn modelId="{908C0AE9-0C47-47AB-B458-FD87FE536171}" srcId="{800EE499-D129-484D-B5C0-D0F3AC30E8B1}" destId="{BEB4A0DE-FB16-4C4F-8DEA-03570694B93A}" srcOrd="0" destOrd="0" parTransId="{A1CD0B47-03FC-4535-A972-2673574CE2F3}" sibTransId="{66283CB7-69B8-41D5-A569-950515985F71}"/>
    <dgm:cxn modelId="{354E8993-CA6C-46F7-9E01-647FAEC87B25}" srcId="{800EE499-D129-484D-B5C0-D0F3AC30E8B1}" destId="{11A5EA0A-517A-463B-9BA8-5EB54D7D10F8}" srcOrd="1" destOrd="0" parTransId="{E2B15CF1-464F-45CC-BFE4-6F0AA417C19E}" sibTransId="{4EA87785-B7B3-4F48-BB13-D91C5DEA8DC1}"/>
    <dgm:cxn modelId="{C70C22F5-B823-4A7E-AFBA-7D089A8E06F3}" srcId="{800EE499-D129-484D-B5C0-D0F3AC30E8B1}" destId="{25EF8B53-4C57-43A4-9FE1-40C318A0AD88}" srcOrd="2" destOrd="0" parTransId="{62CE1C4C-AE05-4247-9728-BCA5F5CA780A}" sibTransId="{F463D266-32E5-414A-9781-DA46FFE60955}"/>
    <dgm:cxn modelId="{51BADF6E-2C28-48D9-9372-74CA3A8CC1D8}" srcId="{800EE499-D129-484D-B5C0-D0F3AC30E8B1}" destId="{4B22D750-D244-47CB-83E8-17F56717F1C0}" srcOrd="3" destOrd="0" parTransId="{A1A918CD-E1F8-4C40-92EF-D1821D028138}" sibTransId="{D5070AD4-4B51-40CC-94FA-9AEBE16F491C}"/>
    <dgm:cxn modelId="{EBAFF6A8-F252-4424-92B0-EBAFA6AF249B}" type="presOf" srcId="{800EE499-D129-484D-B5C0-D0F3AC30E8B1}" destId="{3A30B1D0-F146-41C6-9373-8CC849B0566C}" srcOrd="0" destOrd="0" presId="urn:microsoft.com/office/officeart/2005/8/layout/vList3"/>
    <dgm:cxn modelId="{B57B1F5C-63C1-433E-BE32-59AF4384DC05}" type="presParOf" srcId="{3A30B1D0-F146-41C6-9373-8CC849B0566C}" destId="{65AAD8D9-A2BB-4BC0-ADC4-32A3E0934999}" srcOrd="0" destOrd="0" presId="urn:microsoft.com/office/officeart/2005/8/layout/vList3"/>
    <dgm:cxn modelId="{78C0CE9B-683B-4C23-BA30-AE5F50EF82D7}" type="presParOf" srcId="{65AAD8D9-A2BB-4BC0-ADC4-32A3E0934999}" destId="{F8DF891C-0D10-4055-A8A8-3FC34ADEDC5B}" srcOrd="0" destOrd="0" presId="urn:microsoft.com/office/officeart/2005/8/layout/vList3"/>
    <dgm:cxn modelId="{FA62FA90-4863-4E24-8C39-9680E2778060}" type="presParOf" srcId="{65AAD8D9-A2BB-4BC0-ADC4-32A3E0934999}" destId="{5D3E6026-A697-4D8F-84B5-C5321A8528B3}" srcOrd="1" destOrd="0" presId="urn:microsoft.com/office/officeart/2005/8/layout/vList3"/>
    <dgm:cxn modelId="{F06DA9B6-D113-4C86-94CF-FF575DDCD5BF}" type="presOf" srcId="{BEB4A0DE-FB16-4C4F-8DEA-03570694B93A}" destId="{5D3E6026-A697-4D8F-84B5-C5321A8528B3}" srcOrd="0" destOrd="0" presId="urn:microsoft.com/office/officeart/2005/8/layout/vList3"/>
    <dgm:cxn modelId="{55B917FE-B8B2-46E0-9223-D45A4EC1AE48}" type="presParOf" srcId="{3A30B1D0-F146-41C6-9373-8CC849B0566C}" destId="{01F33C7F-4C3C-42D3-8542-4BC345A10B4C}" srcOrd="1" destOrd="0" presId="urn:microsoft.com/office/officeart/2005/8/layout/vList3"/>
    <dgm:cxn modelId="{59D5E1FC-BDC5-4D3C-9AC7-182D7304F429}" type="presOf" srcId="{66283CB7-69B8-41D5-A569-950515985F71}" destId="{01F33C7F-4C3C-42D3-8542-4BC345A10B4C}" srcOrd="0" destOrd="0" presId="urn:microsoft.com/office/officeart/2005/8/layout/vList3"/>
    <dgm:cxn modelId="{C812A5F4-3EDA-4E2F-A6CF-90B157E5A496}" type="presParOf" srcId="{3A30B1D0-F146-41C6-9373-8CC849B0566C}" destId="{5373068E-DCEB-4D3C-BFF1-43C34CE727FD}" srcOrd="2" destOrd="0" presId="urn:microsoft.com/office/officeart/2005/8/layout/vList3"/>
    <dgm:cxn modelId="{09E2CD75-C3DE-49FF-966D-0E41FFC0C8EE}" type="presParOf" srcId="{5373068E-DCEB-4D3C-BFF1-43C34CE727FD}" destId="{48C23F44-CDC2-4998-B9C4-F737C51D3228}" srcOrd="0" destOrd="2" presId="urn:microsoft.com/office/officeart/2005/8/layout/vList3"/>
    <dgm:cxn modelId="{F4A7003C-A702-4B22-99FF-AB8C717EAF91}" type="presParOf" srcId="{5373068E-DCEB-4D3C-BFF1-43C34CE727FD}" destId="{DC27DDA6-73A4-45AF-8B52-70E594C6E063}" srcOrd="1" destOrd="2" presId="urn:microsoft.com/office/officeart/2005/8/layout/vList3"/>
    <dgm:cxn modelId="{8EE7EA14-FFAA-44B5-BAE9-232B44044D63}" type="presOf" srcId="{11A5EA0A-517A-463B-9BA8-5EB54D7D10F8}" destId="{DC27DDA6-73A4-45AF-8B52-70E594C6E063}" srcOrd="0" destOrd="0" presId="urn:microsoft.com/office/officeart/2005/8/layout/vList3"/>
    <dgm:cxn modelId="{83498F8B-AA7A-494E-89CF-4F6C42C7D6A5}" type="presParOf" srcId="{3A30B1D0-F146-41C6-9373-8CC849B0566C}" destId="{1BD648EC-230D-47E1-A618-F93D265B0703}" srcOrd="3" destOrd="0" presId="urn:microsoft.com/office/officeart/2005/8/layout/vList3"/>
    <dgm:cxn modelId="{A2586104-303F-4712-B9BB-9E32D85A163D}" type="presOf" srcId="{4EA87785-B7B3-4F48-BB13-D91C5DEA8DC1}" destId="{1BD648EC-230D-47E1-A618-F93D265B0703}" srcOrd="0" destOrd="0" presId="urn:microsoft.com/office/officeart/2005/8/layout/vList3"/>
    <dgm:cxn modelId="{3774631C-BB72-48E3-8C38-E636FE04F3BB}" type="presParOf" srcId="{3A30B1D0-F146-41C6-9373-8CC849B0566C}" destId="{7D4A810A-A6D4-47BA-AF8D-AB4F73C04080}" srcOrd="4" destOrd="0" presId="urn:microsoft.com/office/officeart/2005/8/layout/vList3"/>
    <dgm:cxn modelId="{A7037C76-72A2-41BA-875C-2839989EC73E}" type="presParOf" srcId="{7D4A810A-A6D4-47BA-AF8D-AB4F73C04080}" destId="{69DE5637-6198-4292-ADFF-69DC2A063BC5}" srcOrd="0" destOrd="4" presId="urn:microsoft.com/office/officeart/2005/8/layout/vList3"/>
    <dgm:cxn modelId="{D403B79E-AEEF-404A-84DD-FA98380EAE86}" type="presParOf" srcId="{7D4A810A-A6D4-47BA-AF8D-AB4F73C04080}" destId="{00C34D87-B2DD-493A-BAA2-1A14EA17DEB1}" srcOrd="1" destOrd="4" presId="urn:microsoft.com/office/officeart/2005/8/layout/vList3"/>
    <dgm:cxn modelId="{529E7039-2477-45DE-9701-8FFC8F02FB6D}" type="presOf" srcId="{25EF8B53-4C57-43A4-9FE1-40C318A0AD88}" destId="{00C34D87-B2DD-493A-BAA2-1A14EA17DEB1}" srcOrd="0" destOrd="0" presId="urn:microsoft.com/office/officeart/2005/8/layout/vList3"/>
    <dgm:cxn modelId="{2252847C-4695-4137-90AA-330588186CE0}" type="presParOf" srcId="{3A30B1D0-F146-41C6-9373-8CC849B0566C}" destId="{B37F7A4B-D846-4F48-AFC5-12DDB221F8DC}" srcOrd="5" destOrd="0" presId="urn:microsoft.com/office/officeart/2005/8/layout/vList3"/>
    <dgm:cxn modelId="{6600F67D-3DFD-421F-8EF7-5C6539107E71}" type="presOf" srcId="{F463D266-32E5-414A-9781-DA46FFE60955}" destId="{B37F7A4B-D846-4F48-AFC5-12DDB221F8DC}" srcOrd="0" destOrd="0" presId="urn:microsoft.com/office/officeart/2005/8/layout/vList3"/>
    <dgm:cxn modelId="{6EAFA141-2DF8-4A17-B366-72DEC368F4F3}" type="presParOf" srcId="{3A30B1D0-F146-41C6-9373-8CC849B0566C}" destId="{9C23D6E6-AA16-456C-8D91-B456B409B9E8}" srcOrd="6" destOrd="0" presId="urn:microsoft.com/office/officeart/2005/8/layout/vList3"/>
    <dgm:cxn modelId="{CEB0ADCB-6609-4F27-8F47-21E0C113F69A}" type="presParOf" srcId="{9C23D6E6-AA16-456C-8D91-B456B409B9E8}" destId="{5D1824B6-0681-455B-B83F-98E8F3B542B2}" srcOrd="0" destOrd="6" presId="urn:microsoft.com/office/officeart/2005/8/layout/vList3"/>
    <dgm:cxn modelId="{BA7C6D66-0FC6-4E2C-9098-79B4404D46AB}" type="presParOf" srcId="{9C23D6E6-AA16-456C-8D91-B456B409B9E8}" destId="{5F332AF6-40FC-4AF6-A477-3825D3CB1D72}" srcOrd="1" destOrd="6" presId="urn:microsoft.com/office/officeart/2005/8/layout/vList3"/>
    <dgm:cxn modelId="{EC1B91DA-9CD6-4918-A079-24881BAFB458}" type="presOf" srcId="{4B22D750-D244-47CB-83E8-17F56717F1C0}" destId="{5F332AF6-40FC-4AF6-A477-3825D3CB1D72}" srcOrd="0" destOrd="0" presId="urn:microsoft.com/office/officeart/2005/8/layout/v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616000" cy="3312000"/>
        <a:chOff x="0" y="0"/>
        <a:chExt cx="5616000" cy="3312000"/>
      </a:xfrm>
    </dsp:grpSpPr>
    <dsp:sp modelId="{5D3E6026-A697-4D8F-84B5-C5321A8528B3}">
      <dsp:nvSpPr>
        <dsp:cNvPr id="4" name="五边形 3"/>
        <dsp:cNvSpPr/>
      </dsp:nvSpPr>
      <dsp:spPr bwMode="white">
        <a:xfrm rot="10800000">
          <a:off x="1114996" y="0"/>
          <a:ext cx="3734640" cy="697263"/>
        </a:xfrm>
        <a:prstGeom prst="homePlate">
          <a:avLst/>
        </a:prstGeom>
      </dsp:spPr>
      <dsp:style>
        <a:lnRef idx="2">
          <a:schemeClr val="lt1"/>
        </a:lnRef>
        <a:fillRef idx="1">
          <a:schemeClr val="accent2">
            <a:shade val="50000"/>
            <a:hueOff val="0"/>
            <a:satOff val="0"/>
            <a:lumOff val="0"/>
            <a:alpha val="100000"/>
          </a:schemeClr>
        </a:fillRef>
        <a:effectRef idx="0">
          <a:scrgbClr r="0" g="0" b="0"/>
        </a:effectRef>
        <a:fontRef idx="minor">
          <a:schemeClr val="lt1"/>
        </a:fontRef>
      </dsp:style>
      <dsp:txBody>
        <a:bodyPr rot="10800000" vert="horz" wrap="square" lIns="307473" tIns="76200" rIns="14224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a:t>车辆</a:t>
          </a:r>
          <a:r>
            <a:rPr lang="zh-CN" altLang="en-US"/>
            <a:t>折旧、</a:t>
          </a:r>
          <a:r>
            <a:rPr lang="zh-CN" altLang="en-US"/>
            <a:t>保险</a:t>
          </a:r>
          <a:r>
            <a:rPr lang="zh-CN" altLang="en-US"/>
            <a:t>和</a:t>
          </a:r>
          <a:r>
            <a:rPr lang="zh-CN" altLang="en-US"/>
            <a:t>维护费</a:t>
          </a:r>
          <a:endParaRPr lang="zh-CN" altLang="en-US"/>
        </a:p>
      </dsp:txBody>
      <dsp:txXfrm rot="10800000">
        <a:off x="1114996" y="0"/>
        <a:ext cx="3734640" cy="697263"/>
      </dsp:txXfrm>
    </dsp:sp>
    <dsp:sp modelId="{F8DF891C-0D10-4055-A8A8-3FC34ADEDC5B}">
      <dsp:nvSpPr>
        <dsp:cNvPr id="3" name="椭圆 2"/>
        <dsp:cNvSpPr/>
      </dsp:nvSpPr>
      <dsp:spPr bwMode="white">
        <a:xfrm>
          <a:off x="766364" y="0"/>
          <a:ext cx="697263" cy="697263"/>
        </a:xfrm>
        <a:prstGeom prst="ellipse">
          <a:avLst/>
        </a:prstGeom>
        <a:blipFill>
          <a:blip r:embed="rId1"/>
          <a:stretch>
            <a:fillRect/>
          </a:stretch>
        </a:blipFill>
      </dsp:spPr>
      <dsp:style>
        <a:lnRef idx="2">
          <a:schemeClr val="lt1"/>
        </a:lnRef>
        <a:fillRef idx="1">
          <a:schemeClr val="accent2">
            <a:tint val="50000"/>
            <a:hueOff val="0"/>
            <a:satOff val="0"/>
            <a:lumOff val="0"/>
            <a:alpha val="100000"/>
          </a:schemeClr>
        </a:fillRef>
        <a:effectRef idx="0">
          <a:scrgbClr r="0" g="0" b="0"/>
        </a:effectRef>
        <a:fontRef idx="minor"/>
      </dsp:style>
      <dsp:txXfrm>
        <a:off x="766364" y="0"/>
        <a:ext cx="697263" cy="697263"/>
      </dsp:txXfrm>
    </dsp:sp>
    <dsp:sp modelId="{DC27DDA6-73A4-45AF-8B52-70E594C6E063}">
      <dsp:nvSpPr>
        <dsp:cNvPr id="6" name="五边形 5"/>
        <dsp:cNvSpPr/>
      </dsp:nvSpPr>
      <dsp:spPr bwMode="white">
        <a:xfrm rot="10800000">
          <a:off x="1114996" y="871579"/>
          <a:ext cx="3734640" cy="697263"/>
        </a:xfrm>
        <a:prstGeom prst="homePlate">
          <a:avLst/>
        </a:prstGeom>
      </dsp:spPr>
      <dsp:style>
        <a:lnRef idx="2">
          <a:schemeClr val="lt1"/>
        </a:lnRef>
        <a:fillRef idx="1">
          <a:schemeClr val="accent2">
            <a:shade val="50000"/>
            <a:hueOff val="210000"/>
            <a:satOff val="9608"/>
            <a:lumOff val="21373"/>
            <a:alpha val="100000"/>
          </a:schemeClr>
        </a:fillRef>
        <a:effectRef idx="0">
          <a:scrgbClr r="0" g="0" b="0"/>
        </a:effectRef>
        <a:fontRef idx="minor">
          <a:schemeClr val="lt1"/>
        </a:fontRef>
      </dsp:style>
      <dsp:txBody>
        <a:bodyPr rot="10800000" vert="horz" wrap="square" lIns="307473" tIns="76200" rIns="14224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a:t>驾驶员</a:t>
          </a:r>
          <a:r>
            <a:rPr lang="zh-CN" altLang="en-US"/>
            <a:t>工资</a:t>
          </a:r>
          <a:endParaRPr lang="zh-CN" altLang="en-US"/>
        </a:p>
      </dsp:txBody>
      <dsp:txXfrm rot="10800000">
        <a:off x="1114996" y="871579"/>
        <a:ext cx="3734640" cy="697263"/>
      </dsp:txXfrm>
    </dsp:sp>
    <dsp:sp modelId="{48C23F44-CDC2-4998-B9C4-F737C51D3228}">
      <dsp:nvSpPr>
        <dsp:cNvPr id="5" name="椭圆 4"/>
        <dsp:cNvSpPr/>
      </dsp:nvSpPr>
      <dsp:spPr bwMode="white">
        <a:xfrm>
          <a:off x="766364" y="871579"/>
          <a:ext cx="697263" cy="697263"/>
        </a:xfrm>
        <a:prstGeom prst="ellipse">
          <a:avLst/>
        </a:prstGeom>
        <a:blipFill>
          <a:blip r:embed="rId2"/>
          <a:stretch>
            <a:fillRect/>
          </a:stretch>
        </a:blipFill>
      </dsp:spPr>
      <dsp:style>
        <a:lnRef idx="2">
          <a:schemeClr val="lt1"/>
        </a:lnRef>
        <a:fillRef idx="1">
          <a:schemeClr val="accent2">
            <a:tint val="50000"/>
            <a:hueOff val="-20000"/>
            <a:satOff val="392"/>
            <a:lumOff val="-522"/>
            <a:alpha val="100000"/>
          </a:schemeClr>
        </a:fillRef>
        <a:effectRef idx="0">
          <a:scrgbClr r="0" g="0" b="0"/>
        </a:effectRef>
        <a:fontRef idx="minor"/>
      </dsp:style>
      <dsp:txXfrm>
        <a:off x="766364" y="871579"/>
        <a:ext cx="697263" cy="697263"/>
      </dsp:txXfrm>
    </dsp:sp>
    <dsp:sp modelId="{00C34D87-B2DD-493A-BAA2-1A14EA17DEB1}">
      <dsp:nvSpPr>
        <dsp:cNvPr id="8" name="五边形 7"/>
        <dsp:cNvSpPr/>
      </dsp:nvSpPr>
      <dsp:spPr bwMode="white">
        <a:xfrm rot="10800000">
          <a:off x="1114996" y="1743158"/>
          <a:ext cx="3734640" cy="697263"/>
        </a:xfrm>
        <a:prstGeom prst="homePlate">
          <a:avLst/>
        </a:prstGeom>
      </dsp:spPr>
      <dsp:style>
        <a:lnRef idx="2">
          <a:schemeClr val="lt1"/>
        </a:lnRef>
        <a:fillRef idx="1">
          <a:schemeClr val="accent2">
            <a:shade val="50000"/>
            <a:hueOff val="420000"/>
            <a:satOff val="19216"/>
            <a:lumOff val="42745"/>
            <a:alpha val="100000"/>
          </a:schemeClr>
        </a:fillRef>
        <a:effectRef idx="0">
          <a:scrgbClr r="0" g="0" b="0"/>
        </a:effectRef>
        <a:fontRef idx="minor">
          <a:schemeClr val="lt1"/>
        </a:fontRef>
      </dsp:style>
      <dsp:txBody>
        <a:bodyPr rot="10800000" vert="horz" wrap="square" lIns="307473" tIns="76200" rIns="14224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ltLang="en-US"/>
            <a:t>企业管理成本及税金、</a:t>
          </a:r>
          <a:r>
            <a:rPr lang="zh-CN" altLang="en-US"/>
            <a:t>利润</a:t>
          </a:r>
          <a:endParaRPr lang="zh-CN" altLang="en-US"/>
        </a:p>
      </dsp:txBody>
      <dsp:txXfrm rot="10800000">
        <a:off x="1114996" y="1743158"/>
        <a:ext cx="3734640" cy="697263"/>
      </dsp:txXfrm>
    </dsp:sp>
    <dsp:sp modelId="{69DE5637-6198-4292-ADFF-69DC2A063BC5}">
      <dsp:nvSpPr>
        <dsp:cNvPr id="7" name="椭圆 6"/>
        <dsp:cNvSpPr/>
      </dsp:nvSpPr>
      <dsp:spPr bwMode="white">
        <a:xfrm>
          <a:off x="766364" y="1743158"/>
          <a:ext cx="697263" cy="697263"/>
        </a:xfrm>
        <a:prstGeom prst="ellipse">
          <a:avLst/>
        </a:prstGeom>
        <a:blipFill>
          <a:blip r:embed="rId3"/>
          <a:stretch>
            <a:fillRect/>
          </a:stretch>
        </a:blipFill>
      </dsp:spPr>
      <dsp:style>
        <a:lnRef idx="2">
          <a:schemeClr val="lt1"/>
        </a:lnRef>
        <a:fillRef idx="1">
          <a:schemeClr val="accent2">
            <a:tint val="50000"/>
            <a:hueOff val="-40000"/>
            <a:satOff val="784"/>
            <a:lumOff val="-1045"/>
            <a:alpha val="100000"/>
          </a:schemeClr>
        </a:fillRef>
        <a:effectRef idx="0">
          <a:scrgbClr r="0" g="0" b="0"/>
        </a:effectRef>
        <a:fontRef idx="minor"/>
      </dsp:style>
      <dsp:txXfrm>
        <a:off x="766364" y="1743158"/>
        <a:ext cx="697263" cy="697263"/>
      </dsp:txXfrm>
    </dsp:sp>
    <dsp:sp modelId="{5F332AF6-40FC-4AF6-A477-3825D3CB1D72}">
      <dsp:nvSpPr>
        <dsp:cNvPr id="12" name="五边形 11"/>
        <dsp:cNvSpPr/>
      </dsp:nvSpPr>
      <dsp:spPr bwMode="white">
        <a:xfrm rot="10800000">
          <a:off x="1114996" y="2614737"/>
          <a:ext cx="3734640" cy="697263"/>
        </a:xfrm>
        <a:prstGeom prst="homePlate">
          <a:avLst/>
        </a:prstGeom>
      </dsp:spPr>
      <dsp:style>
        <a:lnRef idx="2">
          <a:schemeClr val="lt1"/>
        </a:lnRef>
        <a:fillRef idx="1">
          <a:schemeClr val="accent2">
            <a:tint val="45000"/>
            <a:hueOff val="-210000"/>
            <a:satOff val="-9607"/>
            <a:lumOff val="-21372"/>
            <a:alpha val="100000"/>
          </a:schemeClr>
        </a:fillRef>
        <a:effectRef idx="0">
          <a:scrgbClr r="0" g="0" b="0"/>
        </a:effectRef>
        <a:fontRef idx="minor">
          <a:schemeClr val="lt1"/>
        </a:fontRef>
      </dsp:style>
      <dsp:txBody>
        <a:bodyPr rot="10800000" vert="horz" wrap="square" lIns="307473" tIns="76200" rIns="142240" bIns="76200" anchor="ctr"/>
        <a:lstStyle>
          <a:lvl1pPr algn="ctr">
            <a:defRPr sz="20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r>
            <a:rPr lang="zh-CN"/>
            <a:t>经营权</a:t>
          </a:r>
          <a:r>
            <a:rPr lang="zh-CN"/>
            <a:t>有偿使用费</a:t>
          </a:r>
          <a:endParaRPr lang="zh-CN"/>
        </a:p>
      </dsp:txBody>
      <dsp:txXfrm rot="10800000">
        <a:off x="1114996" y="2614737"/>
        <a:ext cx="3734640" cy="697263"/>
      </dsp:txXfrm>
    </dsp:sp>
    <dsp:sp modelId="{5D1824B6-0681-455B-B83F-98E8F3B542B2}">
      <dsp:nvSpPr>
        <dsp:cNvPr id="11" name="椭圆 10"/>
        <dsp:cNvSpPr/>
      </dsp:nvSpPr>
      <dsp:spPr bwMode="white">
        <a:xfrm>
          <a:off x="766364" y="2614737"/>
          <a:ext cx="697263" cy="697263"/>
        </a:xfrm>
        <a:prstGeom prst="ellipse">
          <a:avLst/>
        </a:prstGeom>
        <a:blipFill>
          <a:blip r:embed="rId4"/>
          <a:stretch>
            <a:fillRect/>
          </a:stretch>
        </a:blipFill>
      </dsp:spPr>
      <dsp:style>
        <a:lnRef idx="2">
          <a:schemeClr val="lt1"/>
        </a:lnRef>
        <a:fillRef idx="1">
          <a:schemeClr val="accent2">
            <a:tint val="50000"/>
            <a:hueOff val="-60000"/>
            <a:satOff val="1176"/>
            <a:lumOff val="-1568"/>
            <a:alpha val="100000"/>
          </a:schemeClr>
        </a:fillRef>
        <a:effectRef idx="0">
          <a:scrgbClr r="0" g="0" b="0"/>
        </a:effectRef>
        <a:fontRef idx="minor"/>
      </dsp:style>
      <dsp:txXfrm>
        <a:off x="766364" y="2614737"/>
        <a:ext cx="697263" cy="697263"/>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type="homePlate" r:blip="" rot="180"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smtClean="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mtClean="0"/>
            </a:lvl1pPr>
          </a:lstStyle>
          <a:p>
            <a:pPr>
              <a:defRPr/>
            </a:pPr>
            <a:fld id="{2D811DBC-2E41-438F-B574-14A203C627AC}" type="datetime1">
              <a:rPr lang="zh-CN" altLang="en-US"/>
            </a:fld>
            <a:endParaRPr lang="zh-CN" altLang="en-US" sz="1200"/>
          </a:p>
        </p:txBody>
      </p:sp>
      <p:sp>
        <p:nvSpPr>
          <p:cNvPr id="4100"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zh-CN" smtClean="0"/>
              <a:t>单击此处编辑母版文本样式</a:t>
            </a:r>
            <a:endParaRPr lang="zh-CN" altLang="zh-CN" smtClean="0"/>
          </a:p>
          <a:p>
            <a:pPr>
              <a:defRPr/>
            </a:pPr>
            <a:r>
              <a:rPr lang="zh-CN" altLang="zh-CN" smtClean="0"/>
              <a:t>第二级</a:t>
            </a:r>
            <a:endParaRPr lang="zh-CN" altLang="zh-CN" smtClean="0"/>
          </a:p>
          <a:p>
            <a:pPr>
              <a:defRPr/>
            </a:pPr>
            <a:r>
              <a:rPr lang="zh-CN" altLang="zh-CN" smtClean="0"/>
              <a:t>第三级</a:t>
            </a:r>
            <a:endParaRPr lang="zh-CN" altLang="zh-CN" smtClean="0"/>
          </a:p>
          <a:p>
            <a:pPr>
              <a:defRPr/>
            </a:pPr>
            <a:r>
              <a:rPr lang="zh-CN" altLang="zh-CN" smtClean="0"/>
              <a:t>第四级</a:t>
            </a:r>
            <a:endParaRPr lang="zh-CN" altLang="zh-CN" smtClean="0"/>
          </a:p>
          <a:p>
            <a:pPr>
              <a:defRPr/>
            </a:pPr>
            <a:r>
              <a:rPr lang="zh-CN" altLang="zh-CN" smtClean="0"/>
              <a:t>第五级</a:t>
            </a:r>
            <a:endParaRPr lang="zh-CN" altLang="zh-CN" smtClean="0"/>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smtClean="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mtClean="0"/>
            </a:lvl1pPr>
          </a:lstStyle>
          <a:p>
            <a:pPr>
              <a:defRPr/>
            </a:pPr>
            <a:fld id="{69982469-B8F2-46B1-A12E-334FCCB3B1AD}"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3E35611F-273F-452B-9ED0-8A035E00AA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3E35611F-273F-452B-9ED0-8A035E00AAB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3E35611F-273F-452B-9ED0-8A035E00AAB5}"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fld id="{3E35611F-273F-452B-9ED0-8A035E00AAB5}"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a:xfrm>
            <a:off x="685494" y="4342939"/>
            <a:ext cx="5487013" cy="4114587"/>
          </a:xfrm>
          <a:prstGeom prst="rect">
            <a:avLst/>
          </a:prstGeom>
        </p:spPr>
        <p:txBody>
          <a:bodyPr lIns="84408" tIns="42204" rIns="84408" bIns="42204"/>
          <a:lstStyle/>
          <a:p>
            <a:endParaRPr lang="zh-CN" altLang="en-US" dirty="0"/>
          </a:p>
        </p:txBody>
      </p:sp>
      <p:sp>
        <p:nvSpPr>
          <p:cNvPr id="4" name="灯片编号占位符 3"/>
          <p:cNvSpPr>
            <a:spLocks noGrp="1"/>
          </p:cNvSpPr>
          <p:nvPr>
            <p:ph type="sldNum" sz="quarter" idx="10"/>
          </p:nvPr>
        </p:nvSpPr>
        <p:spPr/>
        <p:txBody>
          <a:bodyPr/>
          <a:lstStyle/>
          <a:p>
            <a:pPr>
              <a:defRPr/>
            </a:pPr>
            <a:fld id="{AA6A5F8E-5A27-49CC-9A2D-CD069C8AEF8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3.png"/><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1198800" y="914400"/>
            <a:ext cx="9799200" cy="2570400"/>
          </a:xfrm>
        </p:spPr>
        <p:txBody>
          <a:bodyPr lIns="90000" tIns="46800" rIns="90000" bIns="46800" anchor="ctr" anchorCtr="0">
            <a:normAutofit/>
          </a:bodyPr>
          <a:lstStyle>
            <a:lvl1pPr algn="ctr" fontAlgn="b">
              <a:defRPr sz="6000" b="1" i="0" spc="300" baseline="0">
                <a:solidFill>
                  <a:schemeClr val="bg1"/>
                </a:solidFill>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1198800" y="3560400"/>
            <a:ext cx="9799200" cy="1472400"/>
          </a:xfrm>
        </p:spPr>
        <p:txBody>
          <a:bodyPr lIns="90000" tIns="46800" rIns="90000" bIns="46800" anchor="ctr" anchorCtr="0">
            <a:normAutofit/>
          </a:bodyPr>
          <a:lstStyle>
            <a:lvl1pPr marL="0" indent="0" algn="ctr" eaLnBrk="1" fontAlgn="auto" latinLnBrk="0" hangingPunct="1">
              <a:lnSpc>
                <a:spcPct val="110000"/>
              </a:lnSpc>
              <a:buNone/>
              <a:defRPr sz="2400" u="none" strike="noStrike" kern="1200" cap="none" spc="200" normalizeH="0" baseline="0">
                <a:solidFill>
                  <a:schemeClr val="bg1"/>
                </a:solidFill>
                <a:effectLst>
                  <a:outerShdw blurRad="38100" dist="38100" dir="2700000" algn="tl">
                    <a:srgbClr val="000000">
                      <a:alpha val="43137"/>
                    </a:srgbClr>
                  </a:outerShdw>
                </a:effectLst>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p:txBody>
          <a:bodyPr/>
          <a:lstStyle/>
          <a:p>
            <a:endParaRPr lang="zh-CN" altLang="en-US" dirty="0"/>
          </a:p>
        </p:txBody>
      </p:sp>
      <p:sp>
        <p:nvSpPr>
          <p:cNvPr id="18" name="灯片编号占位符 17"/>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300" normalizeH="0" baseline="0" noProof="1" dirty="0">
                <a:solidFill>
                  <a:srgbClr val="E96A0F"/>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pic>
        <p:nvPicPr>
          <p:cNvPr id="10" name="Picture 2" descr="D:\xhkt\考生文件夹\23\小图标.png小图标"/>
          <p:cNvPicPr>
            <a:picLocks noChangeAspect="1" noChangeArrowheads="1"/>
          </p:cNvPicPr>
          <p:nvPr userDrawn="1"/>
        </p:nvPicPr>
        <p:blipFill>
          <a:blip r:embed="rId8"/>
          <a:srcRect/>
          <a:stretch>
            <a:fillRect/>
          </a:stretch>
        </p:blipFill>
        <p:spPr bwMode="auto">
          <a:xfrm>
            <a:off x="10379094" y="262629"/>
            <a:ext cx="1157605" cy="787806"/>
          </a:xfrm>
          <a:prstGeom prst="roundRect">
            <a:avLst>
              <a:gd name="adj" fmla="val 8594"/>
            </a:avLst>
          </a:prstGeom>
          <a:solidFill>
            <a:srgbClr val="FFFFFF">
              <a:shade val="85000"/>
            </a:srgbClr>
          </a:solidFill>
          <a:ln>
            <a:noFill/>
          </a:ln>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a:p>
        </p:txBody>
      </p:sp>
      <p:sp>
        <p:nvSpPr>
          <p:cNvPr id="4" name="灯片编号占位符 3"/>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新建自定义">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b"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slide" Target="slide12.xml"/><Relationship Id="rId2" Type="http://schemas.openxmlformats.org/officeDocument/2006/relationships/slide" Target="slide7.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p>
            <a:r>
              <a:rPr lang="zh-CN" altLang="zh-CN"/>
              <a:t>政策解读</a:t>
            </a:r>
            <a:endParaRPr lang="zh-CN" altLang="zh-CN"/>
          </a:p>
        </p:txBody>
      </p:sp>
      <p:sp>
        <p:nvSpPr>
          <p:cNvPr id="3" name="副标题 2"/>
          <p:cNvSpPr>
            <a:spLocks noGrp="1"/>
          </p:cNvSpPr>
          <p:nvPr>
            <p:ph type="subTitle" idx="1"/>
          </p:nvPr>
        </p:nvSpPr>
        <p:spPr/>
        <p:txBody>
          <a:bodyPr/>
          <a:p>
            <a:r>
              <a:rPr lang="zh-CN" altLang="en-US"/>
              <a:t>编写组</a:t>
            </a:r>
            <a:endParaRPr lang="zh-CN" altLang="en-US"/>
          </a:p>
        </p:txBody>
      </p:sp>
      <p:grpSp>
        <p:nvGrpSpPr>
          <p:cNvPr id="42" name="Group 684"/>
          <p:cNvGrpSpPr/>
          <p:nvPr/>
        </p:nvGrpSpPr>
        <p:grpSpPr bwMode="auto">
          <a:xfrm rot="0">
            <a:off x="5068741" y="5072380"/>
            <a:ext cx="2082800" cy="0"/>
            <a:chOff x="0" y="0"/>
            <a:chExt cx="2082006" cy="1"/>
          </a:xfrm>
        </p:grpSpPr>
        <p:sp>
          <p:nvSpPr>
            <p:cNvPr id="45" name="直接连接符 686"/>
            <p:cNvSpPr>
              <a:spLocks noChangeShapeType="1"/>
            </p:cNvSpPr>
            <p:nvPr/>
          </p:nvSpPr>
          <p:spPr bwMode="auto">
            <a:xfrm>
              <a:off x="0" y="0"/>
              <a:ext cx="601662" cy="1"/>
            </a:xfrm>
            <a:prstGeom prst="line">
              <a:avLst/>
            </a:prstGeom>
            <a:noFill/>
            <a:ln w="28575" cap="flat" cmpd="sng">
              <a:solidFill>
                <a:srgbClr val="00B0F0"/>
              </a:solidFill>
              <a:bevel/>
            </a:ln>
            <a:extLst>
              <a:ext uri="{909E8E84-426E-40DD-AFC4-6F175D3DCCD1}">
                <a14:hiddenFill xmlns:a14="http://schemas.microsoft.com/office/drawing/2010/main">
                  <a:noFill/>
                </a14:hiddenFill>
              </a:ext>
            </a:extLst>
          </p:spPr>
          <p:txBody>
            <a:bodyPr/>
            <a:lstStyle/>
            <a:p>
              <a:endParaRPr lang="zh-CN" altLang="en-US" dirty="0"/>
            </a:p>
          </p:txBody>
        </p:sp>
        <p:sp>
          <p:nvSpPr>
            <p:cNvPr id="46" name="直接连接符 688"/>
            <p:cNvSpPr>
              <a:spLocks noChangeShapeType="1"/>
            </p:cNvSpPr>
            <p:nvPr/>
          </p:nvSpPr>
          <p:spPr bwMode="auto">
            <a:xfrm>
              <a:off x="740172" y="0"/>
              <a:ext cx="601662" cy="1"/>
            </a:xfrm>
            <a:prstGeom prst="line">
              <a:avLst/>
            </a:prstGeom>
            <a:noFill/>
            <a:ln w="28575" cap="flat" cmpd="sng">
              <a:solidFill>
                <a:srgbClr val="FFC000"/>
              </a:solidFill>
              <a:bevel/>
            </a:ln>
            <a:extLst>
              <a:ext uri="{909E8E84-426E-40DD-AFC4-6F175D3DCCD1}">
                <a14:hiddenFill xmlns:a14="http://schemas.microsoft.com/office/drawing/2010/main">
                  <a:noFill/>
                </a14:hiddenFill>
              </a:ext>
            </a:extLst>
          </p:spPr>
          <p:txBody>
            <a:bodyPr/>
            <a:lstStyle/>
            <a:p>
              <a:endParaRPr lang="zh-CN" altLang="en-US"/>
            </a:p>
          </p:txBody>
        </p:sp>
        <p:sp>
          <p:nvSpPr>
            <p:cNvPr id="47" name="直接连接符 689"/>
            <p:cNvSpPr>
              <a:spLocks noChangeShapeType="1"/>
            </p:cNvSpPr>
            <p:nvPr/>
          </p:nvSpPr>
          <p:spPr bwMode="auto">
            <a:xfrm>
              <a:off x="1480344" y="0"/>
              <a:ext cx="601662" cy="1"/>
            </a:xfrm>
            <a:prstGeom prst="line">
              <a:avLst/>
            </a:prstGeom>
            <a:noFill/>
            <a:ln w="28575" cap="flat" cmpd="sng">
              <a:solidFill>
                <a:srgbClr val="C00000"/>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48" name="组合 47"/>
          <p:cNvGrpSpPr/>
          <p:nvPr/>
        </p:nvGrpSpPr>
        <p:grpSpPr>
          <a:xfrm>
            <a:off x="748438" y="3997514"/>
            <a:ext cx="1712230" cy="1822923"/>
            <a:chOff x="716688" y="3860733"/>
            <a:chExt cx="1712230" cy="1822923"/>
          </a:xfrm>
        </p:grpSpPr>
        <p:sp>
          <p:nvSpPr>
            <p:cNvPr id="49" name="椭圆 48"/>
            <p:cNvSpPr/>
            <p:nvPr/>
          </p:nvSpPr>
          <p:spPr>
            <a:xfrm>
              <a:off x="1070321" y="3860733"/>
              <a:ext cx="554636" cy="55463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0" name="椭圆 49"/>
            <p:cNvSpPr/>
            <p:nvPr/>
          </p:nvSpPr>
          <p:spPr>
            <a:xfrm>
              <a:off x="716688" y="4717170"/>
              <a:ext cx="353633" cy="353633"/>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1" name="椭圆 50"/>
            <p:cNvSpPr/>
            <p:nvPr/>
          </p:nvSpPr>
          <p:spPr>
            <a:xfrm>
              <a:off x="939871" y="4644095"/>
              <a:ext cx="554636" cy="55463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2" name="椭圆 51"/>
            <p:cNvSpPr/>
            <p:nvPr/>
          </p:nvSpPr>
          <p:spPr>
            <a:xfrm>
              <a:off x="1660391" y="5406338"/>
              <a:ext cx="277318" cy="277318"/>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3" name="椭圆 52"/>
            <p:cNvSpPr/>
            <p:nvPr/>
          </p:nvSpPr>
          <p:spPr>
            <a:xfrm>
              <a:off x="2151600" y="4458463"/>
              <a:ext cx="277318" cy="277318"/>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sp>
          <p:nvSpPr>
            <p:cNvPr id="54" name="椭圆 53"/>
            <p:cNvSpPr/>
            <p:nvPr/>
          </p:nvSpPr>
          <p:spPr>
            <a:xfrm>
              <a:off x="1511842" y="5070803"/>
              <a:ext cx="411696" cy="41169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宋体" panose="02010600030101010101" pitchFamily="2" charset="-122"/>
                <a:ea typeface="宋体" panose="02010600030101010101" pitchFamily="2" charset="-122"/>
              </a:endParaRPr>
            </a:p>
          </p:txBody>
        </p:sp>
      </p:grpSp>
      <p:sp>
        <p:nvSpPr>
          <p:cNvPr id="19" name="矩形 18"/>
          <p:cNvSpPr/>
          <p:nvPr/>
        </p:nvSpPr>
        <p:spPr>
          <a:xfrm>
            <a:off x="2182816" y="3544949"/>
            <a:ext cx="7854649" cy="122617"/>
          </a:xfrm>
          <a:prstGeom prst="rect">
            <a:avLst/>
          </a:prstGeom>
          <a:solidFill>
            <a:srgbClr val="FFC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50">
        <p:split/>
        <p:sndAc>
          <p:stSnd>
            <p:snd r:embed="rId1" name="chimes.wav"/>
          </p:stSnd>
        </p:sndAc>
      </p:transition>
    </mc:Choice>
    <mc:Fallback>
      <p:transition spd="med">
        <p:split/>
        <p:sndAc>
          <p:stSnd>
            <p:snd r:embed="rId1" name="chimes.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7207105" y="1120590"/>
            <a:ext cx="2214880" cy="706755"/>
          </a:xfrm>
          <a:prstGeom prst="rect">
            <a:avLst/>
          </a:prstGeom>
        </p:spPr>
        <p:txBody>
          <a:bodyPr wrap="none">
            <a:spAutoFit/>
          </a:bodyPr>
          <a:lstStyle/>
          <a:p>
            <a:pPr algn="ctr"/>
            <a:r>
              <a:rPr lang="zh-CN" altLang="en-US" sz="4000" b="1" dirty="0" smtClean="0">
                <a:latin typeface="微软雅黑" panose="020B0503020204020204" pitchFamily="34" charset="-122"/>
                <a:ea typeface="微软雅黑" panose="020B0503020204020204" pitchFamily="34" charset="-122"/>
                <a:cs typeface="Aharoni" panose="02010803020104030203" pitchFamily="2" charset="-79"/>
                <a:hlinkClick r:id="rId1" action="ppaction://hlinksldjump">
                  <a:extLst>
                    <a:ext uri="{DAF060AB-1E55-43B9-8AAB-6FB025537F2F}">
                      <wpsdc:hlinkClr xmlns:wpsdc="http://www.wps.cn/officeDocument/2017/drawingmlCustomData" val="000000"/>
                      <wpsdc:folHlinkClr xmlns:wpsdc="http://www.wps.cn/officeDocument/2017/drawingmlCustomData" val="954D72"/>
                      <wpsdc:hlinkUnderline xmlns:wpsdc="http://www.wps.cn/officeDocument/2017/drawingmlCustomData" val="0"/>
                    </a:ext>
                  </a:extLst>
                </a:hlinkClick>
              </a:rPr>
              <a:t>背景情况</a:t>
            </a:r>
            <a:endParaRPr lang="zh-CN" altLang="en-US" sz="4000" b="1" dirty="0">
              <a:latin typeface="微软雅黑" panose="020B0503020204020204" pitchFamily="34" charset="-122"/>
              <a:ea typeface="微软雅黑" panose="020B0503020204020204" pitchFamily="34" charset="-122"/>
              <a:cs typeface="Aharoni" panose="02010803020104030203" pitchFamily="2" charset="-79"/>
            </a:endParaRPr>
          </a:p>
        </p:txBody>
      </p:sp>
      <p:grpSp>
        <p:nvGrpSpPr>
          <p:cNvPr id="18" name="组合 17"/>
          <p:cNvGrpSpPr/>
          <p:nvPr/>
        </p:nvGrpSpPr>
        <p:grpSpPr>
          <a:xfrm>
            <a:off x="5640886" y="963106"/>
            <a:ext cx="1040590" cy="959329"/>
            <a:chOff x="7024756" y="787736"/>
            <a:chExt cx="1040590" cy="959329"/>
          </a:xfrm>
        </p:grpSpPr>
        <p:sp>
          <p:nvSpPr>
            <p:cNvPr id="17" name="文本框 16"/>
            <p:cNvSpPr txBox="1"/>
            <p:nvPr/>
          </p:nvSpPr>
          <p:spPr>
            <a:xfrm>
              <a:off x="7024756" y="787736"/>
              <a:ext cx="1040590" cy="830997"/>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r>
                <a:rPr lang="en-US" altLang="zh-CN" sz="4800" b="1" dirty="0">
                  <a:solidFill>
                    <a:srgbClr val="C00000"/>
                  </a:solidFill>
                  <a:latin typeface="Impact" panose="020B0806030902050204" pitchFamily="34" charset="0"/>
                  <a:cs typeface="Segoe UI Light" panose="020B0502040204020203" pitchFamily="34" charset="0"/>
                </a:rPr>
                <a:t>01</a:t>
              </a:r>
              <a:endParaRPr lang="zh-CN" altLang="en-US" sz="4800" b="1" dirty="0">
                <a:solidFill>
                  <a:srgbClr val="C00000"/>
                </a:solidFill>
                <a:latin typeface="Impact" panose="020B0806030902050204" pitchFamily="34" charset="0"/>
                <a:cs typeface="Segoe UI Light" panose="020B0502040204020203" pitchFamily="34" charset="0"/>
              </a:endParaRPr>
            </a:p>
          </p:txBody>
        </p:sp>
        <p:cxnSp>
          <p:nvCxnSpPr>
            <p:cNvPr id="40" name="直接连接符 39"/>
            <p:cNvCxnSpPr/>
            <p:nvPr/>
          </p:nvCxnSpPr>
          <p:spPr>
            <a:xfrm flipH="1">
              <a:off x="7481261" y="1312926"/>
              <a:ext cx="452746" cy="43413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5653403" y="2706672"/>
            <a:ext cx="1040590" cy="959329"/>
            <a:chOff x="7024756" y="787736"/>
            <a:chExt cx="1040590" cy="959329"/>
          </a:xfrm>
        </p:grpSpPr>
        <p:sp>
          <p:nvSpPr>
            <p:cNvPr id="44" name="文本框 43"/>
            <p:cNvSpPr txBox="1"/>
            <p:nvPr/>
          </p:nvSpPr>
          <p:spPr>
            <a:xfrm>
              <a:off x="7024756" y="787736"/>
              <a:ext cx="1040590" cy="830997"/>
            </a:xfrm>
            <a:prstGeom prst="rect">
              <a:avLst/>
            </a:prstGeom>
            <a:ln>
              <a:noFill/>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just">
                <a:defRPr sz="4800" b="1">
                  <a:solidFill>
                    <a:schemeClr val="accent1"/>
                  </a:solidFill>
                  <a:latin typeface="Impact" panose="020B0806030902050204" pitchFamily="34" charset="0"/>
                  <a:ea typeface="LiHei Pro" panose="02010601030101010101" pitchFamily="2" charset="-122"/>
                  <a:cs typeface="Segoe UI Light" panose="020B0502040204020203" pitchFamily="34" charset="0"/>
                </a:defRPr>
              </a:lvl1pPr>
            </a:lstStyle>
            <a:p>
              <a:r>
                <a:rPr lang="en-US" altLang="zh-CN" dirty="0">
                  <a:solidFill>
                    <a:srgbClr val="C00000"/>
                  </a:solidFill>
                </a:rPr>
                <a:t>02</a:t>
              </a:r>
              <a:endParaRPr lang="zh-CN" altLang="en-US" dirty="0">
                <a:solidFill>
                  <a:srgbClr val="C00000"/>
                </a:solidFill>
              </a:endParaRPr>
            </a:p>
          </p:txBody>
        </p:sp>
        <p:cxnSp>
          <p:nvCxnSpPr>
            <p:cNvPr id="45" name="直接连接符 44"/>
            <p:cNvCxnSpPr/>
            <p:nvPr/>
          </p:nvCxnSpPr>
          <p:spPr>
            <a:xfrm flipH="1">
              <a:off x="7481261" y="1312926"/>
              <a:ext cx="452746" cy="43413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5610113" y="4369854"/>
            <a:ext cx="1040590" cy="959329"/>
            <a:chOff x="7024756" y="787736"/>
            <a:chExt cx="1040590" cy="959329"/>
          </a:xfrm>
        </p:grpSpPr>
        <p:sp>
          <p:nvSpPr>
            <p:cNvPr id="47" name="文本框 46"/>
            <p:cNvSpPr txBox="1"/>
            <p:nvPr/>
          </p:nvSpPr>
          <p:spPr>
            <a:xfrm>
              <a:off x="7024756" y="787736"/>
              <a:ext cx="1040590" cy="830997"/>
            </a:xfrm>
            <a:prstGeom prst="rect">
              <a:avLst/>
            </a:prstGeom>
            <a:noFill/>
          </p:spPr>
          <p:txBody>
            <a:bodyPr wrap="square" rtlCol="0">
              <a:spAutoFit/>
            </a:bodyPr>
            <a:lstStyle>
              <a:defPPr>
                <a:defRPr lang="zh-CN"/>
              </a:defPPr>
              <a:lvl1pPr algn="just">
                <a:defRPr sz="4800" b="1">
                  <a:solidFill>
                    <a:schemeClr val="accent1"/>
                  </a:solidFill>
                  <a:latin typeface="Impact" panose="020B0806030902050204" pitchFamily="34" charset="0"/>
                  <a:ea typeface="LiHei Pro" panose="02010601030101010101" pitchFamily="2" charset="-122"/>
                  <a:cs typeface="Segoe UI Light" panose="020B0502040204020203" pitchFamily="34" charset="0"/>
                </a:defRPr>
              </a:lvl1pPr>
            </a:lstStyle>
            <a:p>
              <a:r>
                <a:rPr lang="en-US" altLang="zh-CN" dirty="0">
                  <a:solidFill>
                    <a:srgbClr val="C00000"/>
                  </a:solidFill>
                </a:rPr>
                <a:t>03</a:t>
              </a:r>
              <a:endParaRPr lang="zh-CN" altLang="en-US" dirty="0">
                <a:solidFill>
                  <a:srgbClr val="C00000"/>
                </a:solidFill>
              </a:endParaRPr>
            </a:p>
          </p:txBody>
        </p:sp>
        <p:cxnSp>
          <p:nvCxnSpPr>
            <p:cNvPr id="48" name="直接连接符 47"/>
            <p:cNvCxnSpPr/>
            <p:nvPr/>
          </p:nvCxnSpPr>
          <p:spPr>
            <a:xfrm flipH="1">
              <a:off x="7481261" y="1312926"/>
              <a:ext cx="452746" cy="43413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5" name="矩形 34"/>
          <p:cNvSpPr/>
          <p:nvPr/>
        </p:nvSpPr>
        <p:spPr>
          <a:xfrm>
            <a:off x="7207105" y="2741110"/>
            <a:ext cx="2214880" cy="706755"/>
          </a:xfrm>
          <a:prstGeom prst="rect">
            <a:avLst/>
          </a:prstGeom>
        </p:spPr>
        <p:txBody>
          <a:bodyPr wrap="none">
            <a:spAutoFit/>
          </a:bodyPr>
          <a:lstStyle/>
          <a:p>
            <a:pPr algn="ctr"/>
            <a:r>
              <a:rPr lang="zh-CN" altLang="en-US" sz="4000" b="1" dirty="0" smtClean="0">
                <a:latin typeface="微软雅黑" panose="020B0503020204020204" pitchFamily="34" charset="-122"/>
                <a:ea typeface="微软雅黑" panose="020B0503020204020204" pitchFamily="34" charset="-122"/>
                <a:cs typeface="Aharoni" panose="02010803020104030203" pitchFamily="2" charset="-79"/>
                <a:hlinkClick r:id="rId2" action="ppaction://hlinksldjump">
                  <a:extLst>
                    <a:ext uri="{DAF060AB-1E55-43B9-8AAB-6FB025537F2F}">
                      <wpsdc:hlinkClr xmlns:wpsdc="http://www.wps.cn/officeDocument/2017/drawingmlCustomData" val="000000"/>
                      <wpsdc:folHlinkClr xmlns:wpsdc="http://www.wps.cn/officeDocument/2017/drawingmlCustomData" val="954D72"/>
                      <wpsdc:hlinkUnderline xmlns:wpsdc="http://www.wps.cn/officeDocument/2017/drawingmlCustomData" val="0"/>
                    </a:ext>
                  </a:extLst>
                </a:hlinkClick>
              </a:rPr>
              <a:t>修改目的</a:t>
            </a:r>
            <a:endParaRPr lang="zh-CN" altLang="en-US" sz="4000" b="1" dirty="0">
              <a:latin typeface="微软雅黑" panose="020B0503020204020204" pitchFamily="34" charset="-122"/>
              <a:ea typeface="微软雅黑" panose="020B0503020204020204" pitchFamily="34" charset="-122"/>
              <a:cs typeface="Aharoni" panose="02010803020104030203" pitchFamily="2" charset="-79"/>
            </a:endParaRPr>
          </a:p>
        </p:txBody>
      </p:sp>
      <p:sp>
        <p:nvSpPr>
          <p:cNvPr id="36" name="矩形 35"/>
          <p:cNvSpPr/>
          <p:nvPr/>
        </p:nvSpPr>
        <p:spPr>
          <a:xfrm>
            <a:off x="6699106" y="4361630"/>
            <a:ext cx="3230880" cy="706755"/>
          </a:xfrm>
          <a:prstGeom prst="rect">
            <a:avLst/>
          </a:prstGeom>
        </p:spPr>
        <p:txBody>
          <a:bodyPr wrap="none">
            <a:spAutoFit/>
          </a:bodyPr>
          <a:lstStyle/>
          <a:p>
            <a:pPr algn="ctr"/>
            <a:r>
              <a:rPr lang="zh-CN" altLang="en-US" sz="4000" b="1" dirty="0" smtClean="0">
                <a:latin typeface="微软雅黑" panose="020B0503020204020204" pitchFamily="34" charset="-122"/>
                <a:ea typeface="微软雅黑" panose="020B0503020204020204" pitchFamily="34" charset="-122"/>
                <a:cs typeface="Aharoni" panose="02010803020104030203" pitchFamily="2" charset="-79"/>
                <a:hlinkClick r:id="rId3" action="ppaction://hlinksldjump">
                  <a:extLst>
                    <a:ext uri="{DAF060AB-1E55-43B9-8AAB-6FB025537F2F}">
                      <wpsdc:hlinkClr xmlns:wpsdc="http://www.wps.cn/officeDocument/2017/drawingmlCustomData" val="000000"/>
                      <wpsdc:folHlinkClr xmlns:wpsdc="http://www.wps.cn/officeDocument/2017/drawingmlCustomData" val="954D72"/>
                      <wpsdc:hlinkUnderline xmlns:wpsdc="http://www.wps.cn/officeDocument/2017/drawingmlCustomData" val="0"/>
                    </a:ext>
                  </a:extLst>
                </a:hlinkClick>
              </a:rPr>
              <a:t>主要修订内容</a:t>
            </a:r>
            <a:endParaRPr lang="zh-CN" altLang="en-US" sz="4000" b="1" dirty="0">
              <a:latin typeface="微软雅黑" panose="020B0503020204020204" pitchFamily="34" charset="-122"/>
              <a:ea typeface="微软雅黑" panose="020B0503020204020204" pitchFamily="34" charset="-122"/>
              <a:cs typeface="Aharoni" panose="02010803020104030203" pitchFamily="2" charset="-79"/>
            </a:endParaRPr>
          </a:p>
        </p:txBody>
      </p:sp>
      <p:sp>
        <p:nvSpPr>
          <p:cNvPr id="28" name="文本框 27"/>
          <p:cNvSpPr txBox="1"/>
          <p:nvPr/>
        </p:nvSpPr>
        <p:spPr>
          <a:xfrm>
            <a:off x="276601" y="2840162"/>
            <a:ext cx="3994964" cy="829945"/>
          </a:xfrm>
          <a:prstGeom prst="rect">
            <a:avLst/>
          </a:prstGeom>
          <a:noFill/>
        </p:spPr>
        <p:txBody>
          <a:bodyPr wrap="square" rtlCol="0">
            <a:spAutoFit/>
          </a:bodyPr>
          <a:lstStyle/>
          <a:p>
            <a:pPr algn="ctr"/>
            <a:r>
              <a:rPr lang="zh-CN" altLang="en-US" sz="4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目   录</a:t>
            </a:r>
            <a:endParaRPr lang="zh-CN" altLang="en-US" sz="4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1" name="直接连接符 10"/>
          <p:cNvCxnSpPr/>
          <p:nvPr/>
        </p:nvCxnSpPr>
        <p:spPr>
          <a:xfrm>
            <a:off x="4110512" y="2233757"/>
            <a:ext cx="11289" cy="2043292"/>
          </a:xfrm>
          <a:prstGeom prst="line">
            <a:avLst/>
          </a:prstGeom>
        </p:spPr>
        <p:style>
          <a:lnRef idx="2">
            <a:schemeClr val="accent5"/>
          </a:lnRef>
          <a:fillRef idx="0">
            <a:schemeClr val="accent5"/>
          </a:fillRef>
          <a:effectRef idx="1">
            <a:schemeClr val="accent5"/>
          </a:effectRef>
          <a:fontRef idx="minor">
            <a:schemeClr val="tx1"/>
          </a:fontRef>
        </p:style>
      </p:cxnSp>
      <p:cxnSp>
        <p:nvCxnSpPr>
          <p:cNvPr id="2" name="直接连接符 1"/>
          <p:cNvCxnSpPr/>
          <p:nvPr/>
        </p:nvCxnSpPr>
        <p:spPr>
          <a:xfrm>
            <a:off x="4144167" y="2233757"/>
            <a:ext cx="11289" cy="2043292"/>
          </a:xfrm>
          <a:prstGeom prst="line">
            <a:avLst/>
          </a:prstGeom>
        </p:spPr>
        <p:style>
          <a:lnRef idx="2">
            <a:schemeClr val="accent5"/>
          </a:lnRef>
          <a:fillRef idx="0">
            <a:schemeClr val="accent5"/>
          </a:fillRef>
          <a:effectRef idx="1">
            <a:schemeClr val="accent5"/>
          </a:effectRef>
          <a:fontRef idx="minor">
            <a:schemeClr val="tx1"/>
          </a:fontRef>
        </p:style>
      </p:cxn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bwMode="auto">
          <a:xfrm>
            <a:off x="-6350" y="2161828"/>
            <a:ext cx="12192000" cy="2441922"/>
          </a:xfrm>
          <a:prstGeom prst="rect">
            <a:avLst/>
          </a:prstGeom>
          <a:solidFill>
            <a:srgbClr val="A6A6A6">
              <a:alpha val="30196"/>
            </a:srgbClr>
          </a:solidFill>
          <a:ln>
            <a:noFill/>
          </a:ln>
        </p:spPr>
        <p:txBody>
          <a:bodyPr anchor="ctr"/>
          <a:lstStyle/>
          <a:p>
            <a:pPr algn="ctr" eaLnBrk="1" hangingPunct="1"/>
            <a:endParaRPr lang="zh-CN" altLang="en-US">
              <a:solidFill>
                <a:srgbClr val="FFFFFF"/>
              </a:solidFill>
              <a:latin typeface="Segoe UI" panose="020B0502040204020203" pitchFamily="34" charset="0"/>
              <a:ea typeface="微软雅黑" panose="020B0503020204020204" pitchFamily="34" charset="-122"/>
            </a:endParaRPr>
          </a:p>
        </p:txBody>
      </p:sp>
      <p:sp>
        <p:nvSpPr>
          <p:cNvPr id="41" name="椭圆 40"/>
          <p:cNvSpPr/>
          <p:nvPr/>
        </p:nvSpPr>
        <p:spPr>
          <a:xfrm>
            <a:off x="7109583" y="4378969"/>
            <a:ext cx="473681" cy="473681"/>
          </a:xfrm>
          <a:prstGeom prst="ellipse">
            <a:avLst/>
          </a:prstGeom>
          <a:solidFill>
            <a:srgbClr val="A6A6A6">
              <a:alpha val="30196"/>
            </a:srgbClr>
          </a:solidFill>
          <a:ln>
            <a:noFill/>
          </a:ln>
        </p:spPr>
        <p:txBody>
          <a:bodyPr anchor="ctr"/>
          <a:lstStyle/>
          <a:p>
            <a:pPr algn="ctr"/>
            <a:endParaRPr lang="zh-CN" altLang="en-US">
              <a:solidFill>
                <a:srgbClr val="FFFFFF"/>
              </a:solidFill>
              <a:latin typeface="Segoe UI" panose="020B0502040204020203" pitchFamily="34" charset="0"/>
              <a:ea typeface="微软雅黑" panose="020B0503020204020204" pitchFamily="34" charset="-122"/>
            </a:endParaRPr>
          </a:p>
        </p:txBody>
      </p:sp>
      <p:sp>
        <p:nvSpPr>
          <p:cNvPr id="50" name="椭圆 49"/>
          <p:cNvSpPr/>
          <p:nvPr/>
        </p:nvSpPr>
        <p:spPr>
          <a:xfrm>
            <a:off x="9146418" y="2718479"/>
            <a:ext cx="473681" cy="47368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1" name="椭圆 50"/>
          <p:cNvSpPr/>
          <p:nvPr/>
        </p:nvSpPr>
        <p:spPr>
          <a:xfrm>
            <a:off x="10975907" y="667719"/>
            <a:ext cx="254991" cy="25499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2" name="椭圆 51"/>
          <p:cNvSpPr/>
          <p:nvPr/>
        </p:nvSpPr>
        <p:spPr>
          <a:xfrm>
            <a:off x="9101445" y="1680807"/>
            <a:ext cx="342096" cy="34209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3" name="任意多边形 5"/>
          <p:cNvSpPr/>
          <p:nvPr/>
        </p:nvSpPr>
        <p:spPr>
          <a:xfrm>
            <a:off x="88900" y="1849148"/>
            <a:ext cx="12065000" cy="3484852"/>
          </a:xfrm>
          <a:custGeom>
            <a:avLst/>
            <a:gdLst>
              <a:gd name="connsiteX0" fmla="*/ 0 w 12065000"/>
              <a:gd name="connsiteY0" fmla="*/ 3345152 h 3484852"/>
              <a:gd name="connsiteX1" fmla="*/ 1168400 w 12065000"/>
              <a:gd name="connsiteY1" fmla="*/ 1656052 h 3484852"/>
              <a:gd name="connsiteX2" fmla="*/ 4089400 w 12065000"/>
              <a:gd name="connsiteY2" fmla="*/ 5052 h 3484852"/>
              <a:gd name="connsiteX3" fmla="*/ 8877300 w 12065000"/>
              <a:gd name="connsiteY3" fmla="*/ 1224252 h 3484852"/>
              <a:gd name="connsiteX4" fmla="*/ 12065000 w 12065000"/>
              <a:gd name="connsiteY4" fmla="*/ 3484852 h 3484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5000" h="3484852">
                <a:moveTo>
                  <a:pt x="0" y="3345152"/>
                </a:moveTo>
                <a:cubicBezTo>
                  <a:pt x="243416" y="2778943"/>
                  <a:pt x="486833" y="2212735"/>
                  <a:pt x="1168400" y="1656052"/>
                </a:cubicBezTo>
                <a:cubicBezTo>
                  <a:pt x="1849967" y="1099369"/>
                  <a:pt x="2804583" y="77019"/>
                  <a:pt x="4089400" y="5052"/>
                </a:cubicBezTo>
                <a:cubicBezTo>
                  <a:pt x="5374217" y="-66915"/>
                  <a:pt x="7548033" y="644285"/>
                  <a:pt x="8877300" y="1224252"/>
                </a:cubicBezTo>
                <a:cubicBezTo>
                  <a:pt x="10206567" y="1804219"/>
                  <a:pt x="11135783" y="2644535"/>
                  <a:pt x="12065000" y="3484852"/>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7"/>
          <p:cNvSpPr/>
          <p:nvPr/>
        </p:nvSpPr>
        <p:spPr>
          <a:xfrm>
            <a:off x="50800" y="1710224"/>
            <a:ext cx="12141200" cy="3255477"/>
          </a:xfrm>
          <a:custGeom>
            <a:avLst/>
            <a:gdLst>
              <a:gd name="connsiteX0" fmla="*/ 0 w 12141200"/>
              <a:gd name="connsiteY0" fmla="*/ 563076 h 3255477"/>
              <a:gd name="connsiteX1" fmla="*/ 2032000 w 12141200"/>
              <a:gd name="connsiteY1" fmla="*/ 3255476 h 3255477"/>
              <a:gd name="connsiteX2" fmla="*/ 3822700 w 12141200"/>
              <a:gd name="connsiteY2" fmla="*/ 575776 h 3255477"/>
              <a:gd name="connsiteX3" fmla="*/ 5956300 w 12141200"/>
              <a:gd name="connsiteY3" fmla="*/ 207476 h 3255477"/>
              <a:gd name="connsiteX4" fmla="*/ 12141200 w 12141200"/>
              <a:gd name="connsiteY4" fmla="*/ 3141176 h 325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41200" h="3255477">
                <a:moveTo>
                  <a:pt x="0" y="563076"/>
                </a:moveTo>
                <a:cubicBezTo>
                  <a:pt x="697441" y="1908217"/>
                  <a:pt x="1394883" y="3253359"/>
                  <a:pt x="2032000" y="3255476"/>
                </a:cubicBezTo>
                <a:cubicBezTo>
                  <a:pt x="2669117" y="3257593"/>
                  <a:pt x="3168650" y="1083776"/>
                  <a:pt x="3822700" y="575776"/>
                </a:cubicBezTo>
                <a:cubicBezTo>
                  <a:pt x="4476750" y="67776"/>
                  <a:pt x="4569883" y="-220091"/>
                  <a:pt x="5956300" y="207476"/>
                </a:cubicBezTo>
                <a:cubicBezTo>
                  <a:pt x="7342717" y="635043"/>
                  <a:pt x="9741958" y="1888109"/>
                  <a:pt x="12141200" y="3141176"/>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3331806" y="2659514"/>
            <a:ext cx="4705427" cy="1446550"/>
            <a:chOff x="2735729" y="2758845"/>
            <a:chExt cx="4705427" cy="1446550"/>
          </a:xfrm>
        </p:grpSpPr>
        <p:sp>
          <p:nvSpPr>
            <p:cNvPr id="20" name="文本框 19"/>
            <p:cNvSpPr txBox="1"/>
            <p:nvPr/>
          </p:nvSpPr>
          <p:spPr>
            <a:xfrm rot="10800000">
              <a:off x="2735729" y="2809645"/>
              <a:ext cx="824459" cy="1323439"/>
            </a:xfrm>
            <a:prstGeom prst="rect">
              <a:avLst/>
            </a:prstGeom>
            <a:noFill/>
          </p:spPr>
          <p:txBody>
            <a:bodyPr wrap="square" rtlCol="0">
              <a:spAutoFit/>
            </a:bodyPr>
            <a:lstStyle/>
            <a:p>
              <a:r>
                <a:rPr lang="en-US" altLang="zh-CN" sz="8000" dirty="0">
                  <a:solidFill>
                    <a:schemeClr val="bg1"/>
                  </a:solidFill>
                  <a:latin typeface="Aharoni" panose="02010803020104030203" pitchFamily="2" charset="-79"/>
                  <a:cs typeface="Aharoni" panose="02010803020104030203" pitchFamily="2" charset="-79"/>
                </a:rPr>
                <a:t>«</a:t>
              </a:r>
              <a:endParaRPr lang="zh-CN" altLang="en-US" sz="8000" dirty="0">
                <a:solidFill>
                  <a:schemeClr val="bg1"/>
                </a:solidFill>
                <a:latin typeface="Aharoni" panose="02010803020104030203" pitchFamily="2" charset="-79"/>
                <a:cs typeface="Aharoni" panose="02010803020104030203" pitchFamily="2" charset="-79"/>
              </a:endParaRPr>
            </a:p>
          </p:txBody>
        </p:sp>
        <p:grpSp>
          <p:nvGrpSpPr>
            <p:cNvPr id="21" name="组合 20"/>
            <p:cNvGrpSpPr/>
            <p:nvPr/>
          </p:nvGrpSpPr>
          <p:grpSpPr>
            <a:xfrm>
              <a:off x="3553015" y="2758845"/>
              <a:ext cx="3888141" cy="1446550"/>
              <a:chOff x="3845053" y="2777756"/>
              <a:chExt cx="3888141" cy="1446550"/>
            </a:xfrm>
          </p:grpSpPr>
          <p:sp>
            <p:nvSpPr>
              <p:cNvPr id="22" name="文本框 21"/>
              <p:cNvSpPr txBox="1"/>
              <p:nvPr/>
            </p:nvSpPr>
            <p:spPr>
              <a:xfrm>
                <a:off x="3845053" y="2777756"/>
                <a:ext cx="1505207" cy="1446550"/>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pPr algn="ctr">
                  <a:spcBef>
                    <a:spcPct val="0"/>
                  </a:spcBef>
                </a:pPr>
                <a:r>
                  <a:rPr lang="en-US" altLang="zh-CN" sz="8800" b="1" dirty="0">
                    <a:solidFill>
                      <a:srgbClr val="C00000"/>
                    </a:solidFill>
                    <a:latin typeface="华文细黑" panose="02010600040101010101" pitchFamily="2" charset="-122"/>
                    <a:ea typeface="华文细黑" panose="02010600040101010101" pitchFamily="2" charset="-122"/>
                    <a:cs typeface="+mn-cs"/>
                  </a:rPr>
                  <a:t>01</a:t>
                </a:r>
                <a:endParaRPr lang="zh-CN" altLang="en-US" sz="8800" b="1" dirty="0">
                  <a:solidFill>
                    <a:srgbClr val="C00000"/>
                  </a:solidFill>
                  <a:latin typeface="华文细黑" panose="02010600040101010101" pitchFamily="2" charset="-122"/>
                  <a:ea typeface="华文细黑" panose="02010600040101010101" pitchFamily="2" charset="-122"/>
                  <a:cs typeface="+mn-cs"/>
                </a:endParaRPr>
              </a:p>
            </p:txBody>
          </p:sp>
          <p:sp>
            <p:nvSpPr>
              <p:cNvPr id="24" name="矩形 23"/>
              <p:cNvSpPr/>
              <p:nvPr/>
            </p:nvSpPr>
            <p:spPr>
              <a:xfrm>
                <a:off x="5291500" y="3097948"/>
                <a:ext cx="2441694" cy="769441"/>
              </a:xfrm>
              <a:prstGeom prst="rect">
                <a:avLst/>
              </a:prstGeom>
            </p:spPr>
            <p:txBody>
              <a:bodyPr wrap="none">
                <a:spAutoFit/>
              </a:bodyPr>
              <a:lstStyle/>
              <a:p>
                <a:pPr algn="ctr"/>
                <a:r>
                  <a:rPr lang="zh-CN" altLang="en-US" sz="4400" b="1" dirty="0" smtClean="0">
                    <a:solidFill>
                      <a:schemeClr val="bg1"/>
                    </a:solidFill>
                    <a:effectLst/>
                    <a:latin typeface="Aharoni" panose="02010803020104030203" pitchFamily="2" charset="-79"/>
                    <a:ea typeface="微软雅黑" panose="020B0503020204020204" pitchFamily="34" charset="-122"/>
                    <a:cs typeface="Aharoni" panose="02010803020104030203" pitchFamily="2" charset="-79"/>
                  </a:rPr>
                  <a:t>背景情况</a:t>
                </a:r>
                <a:endParaRPr lang="zh-CN" altLang="en-US" sz="4400" b="1" dirty="0">
                  <a:solidFill>
                    <a:schemeClr val="bg1"/>
                  </a:solidFill>
                  <a:effectLst/>
                  <a:latin typeface="Aharoni" panose="02010803020104030203" pitchFamily="2" charset="-79"/>
                  <a:ea typeface="微软雅黑" panose="020B0503020204020204" pitchFamily="34" charset="-122"/>
                  <a:cs typeface="Aharoni" panose="02010803020104030203" pitchFamily="2" charset="-79"/>
                </a:endParaRPr>
              </a:p>
            </p:txBody>
          </p:sp>
        </p:grpSp>
      </p:grpSp>
    </p:spTree>
  </p:cSld>
  <p:clrMapOvr>
    <a:masterClrMapping/>
  </p:clrMapOvr>
  <mc:AlternateContent xmlns:mc="http://schemas.openxmlformats.org/markup-compatibility/2006">
    <mc:Choice xmlns:p14="http://schemas.microsoft.com/office/powerpoint/2010/main" Requires="p14">
      <p:transition spd="med" p14:dur="750">
        <p:split/>
        <p:sndAc>
          <p:stSnd>
            <p:snd r:embed="rId1" name="chimes.wav"/>
          </p:stSnd>
        </p:sndAc>
      </p:transition>
    </mc:Choice>
    <mc:Fallback>
      <p:transition spd="med">
        <p:split/>
        <p:sndAc>
          <p:stSnd>
            <p:snd r:embed="rId1" name="chimes.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01 </a:t>
            </a:r>
            <a:r>
              <a:rPr>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背景</a:t>
            </a:r>
            <a:r>
              <a:rPr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情况</a:t>
            </a:r>
            <a:endParaRPr lang="zh-CN" altLang="en-US">
              <a:latin typeface="微软雅黑" panose="020B0503020204020204" pitchFamily="34" charset="-122"/>
              <a:cs typeface="微软雅黑" panose="020B0503020204020204" pitchFamily="34" charset="-122"/>
            </a:endParaRPr>
          </a:p>
        </p:txBody>
      </p:sp>
      <p:sp>
        <p:nvSpPr>
          <p:cNvPr id="2" name="内容占位符 1"/>
          <p:cNvSpPr>
            <a:spLocks noGrp="1"/>
          </p:cNvSpPr>
          <p:nvPr>
            <p:ph idx="1"/>
          </p:nvPr>
        </p:nvSpPr>
        <p:spPr/>
        <p:txBody>
          <a:bodyPr/>
          <a:p>
            <a:endParaRPr lang="zh-CN" altLang="en-US"/>
          </a:p>
        </p:txBody>
      </p:sp>
      <p:sp>
        <p:nvSpPr>
          <p:cNvPr id="11" name="矩形 10"/>
          <p:cNvSpPr/>
          <p:nvPr/>
        </p:nvSpPr>
        <p:spPr>
          <a:xfrm>
            <a:off x="1014221" y="1778737"/>
            <a:ext cx="10383325" cy="4523105"/>
          </a:xfrm>
          <a:prstGeom prst="rect">
            <a:avLst/>
          </a:prstGeom>
        </p:spPr>
        <p:txBody>
          <a:bodyPr wrap="square">
            <a:spAutoFit/>
          </a:bodyPr>
          <a:lstStyle/>
          <a:p>
            <a:pPr>
              <a:lnSpc>
                <a:spcPct val="150000"/>
              </a:lnSpc>
            </a:pPr>
            <a:endParaRPr lang="en-US" altLang="zh-CN" sz="2400"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l">
              <a:lnSpc>
                <a:spcPct val="150000"/>
              </a:lnSpc>
              <a:buClrTx/>
              <a:buSzTx/>
              <a:buFont typeface="Wingdings" panose="05000000000000000000" charset="0"/>
              <a:buChar char="Ø"/>
            </a:pP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2004年，《国务院对确需保留的行政审批项目设定行政许可的决定》（国务院412号令）第112项设定了“出租汽车经营资格证、车辆运营证、驾驶员客运资格证”三项行政许可。</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gn="l">
              <a:lnSpc>
                <a:spcPct val="150000"/>
              </a:lnSpc>
              <a:buClrTx/>
              <a:buSzTx/>
              <a:buFont typeface="Wingdings" panose="05000000000000000000" charset="0"/>
              <a:buChar char="Ø"/>
            </a:pP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 建设部2004年第135号《建设部关于纳入国务院决定的十五项行政许可的条件的规定》，对许可条件作了明确，但2011年废止。</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0"/>
          <p:cNvSpPr txBox="1"/>
          <p:nvPr/>
        </p:nvSpPr>
        <p:spPr>
          <a:xfrm>
            <a:off x="4283275" y="1528012"/>
            <a:ext cx="3141974" cy="706755"/>
          </a:xfrm>
          <a:prstGeom prst="rect">
            <a:avLst/>
          </a:prstGeom>
          <a:noFill/>
        </p:spPr>
        <p:txBody>
          <a:bodyPr wrap="square" rtlCol="0">
            <a:spAutoFit/>
          </a:bodyPr>
          <a:lstStyle/>
          <a:p>
            <a:pPr algn="dist"/>
            <a:r>
              <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历史沿革</a:t>
            </a:r>
            <a:endPar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01 </a:t>
            </a:r>
            <a:r>
              <a:rPr>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背景</a:t>
            </a:r>
            <a:r>
              <a:rPr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情况</a:t>
            </a:r>
            <a:endParaRPr lang="zh-CN" altLang="en-US">
              <a:latin typeface="微软雅黑" panose="020B0503020204020204" pitchFamily="34" charset="-122"/>
              <a:cs typeface="微软雅黑" panose="020B0503020204020204" pitchFamily="34" charset="-122"/>
            </a:endParaRPr>
          </a:p>
        </p:txBody>
      </p:sp>
      <p:sp>
        <p:nvSpPr>
          <p:cNvPr id="5" name="内容占位符 4"/>
          <p:cNvSpPr>
            <a:spLocks noGrp="1"/>
          </p:cNvSpPr>
          <p:nvPr>
            <p:ph idx="1"/>
          </p:nvPr>
        </p:nvSpPr>
        <p:spPr/>
        <p:txBody>
          <a:bodyPr/>
          <a:p>
            <a:endParaRPr lang="zh-CN" altLang="en-US"/>
          </a:p>
        </p:txBody>
      </p:sp>
      <p:sp>
        <p:nvSpPr>
          <p:cNvPr id="13" name="文本框 10"/>
          <p:cNvSpPr txBox="1"/>
          <p:nvPr/>
        </p:nvSpPr>
        <p:spPr>
          <a:xfrm>
            <a:off x="4283275" y="1528012"/>
            <a:ext cx="3141974" cy="706755"/>
          </a:xfrm>
          <a:prstGeom prst="rect">
            <a:avLst/>
          </a:prstGeom>
          <a:noFill/>
        </p:spPr>
        <p:txBody>
          <a:bodyPr wrap="square" rtlCol="0">
            <a:spAutoFit/>
          </a:bodyPr>
          <a:lstStyle/>
          <a:p>
            <a:pPr algn="dist"/>
            <a:r>
              <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历史沿革</a:t>
            </a:r>
            <a:endPar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1417052" y="2346547"/>
            <a:ext cx="9786976" cy="3969385"/>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2011年12月26日，部出台了《出租汽车驾驶员从业资格管理规定》（交通运输部令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2011</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年第13号）。针对驾驶员从业资格管理。</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2014年9月30日，部出台了《出租汽车经营服务管理规定》（交通运输部令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2014</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年第16号）。针对出租汽车经营者经营资格及包括驾驶员在内的经营行为的管理。</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01 </a:t>
            </a:r>
            <a:r>
              <a:rPr>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背景</a:t>
            </a:r>
            <a:r>
              <a:rPr smtClean="0">
                <a:solidFill>
                  <a:srgbClr val="E96A0F"/>
                </a:solidFill>
                <a:latin typeface="微软雅黑" panose="020B0503020204020204" pitchFamily="34" charset="-122"/>
                <a:cs typeface="微软雅黑" panose="020B0503020204020204" pitchFamily="34" charset="-122"/>
                <a:sym typeface="微软雅黑" panose="020B0503020204020204" pitchFamily="34" charset="-122"/>
              </a:rPr>
              <a:t>情况</a:t>
            </a:r>
            <a:endParaRPr lang="zh-CN" altLang="en-US">
              <a:latin typeface="微软雅黑" panose="020B0503020204020204" pitchFamily="34" charset="-122"/>
              <a:cs typeface="微软雅黑" panose="020B0503020204020204" pitchFamily="34" charset="-122"/>
            </a:endParaRPr>
          </a:p>
        </p:txBody>
      </p:sp>
      <p:sp>
        <p:nvSpPr>
          <p:cNvPr id="5" name="内容占位符 4"/>
          <p:cNvSpPr>
            <a:spLocks noGrp="1"/>
          </p:cNvSpPr>
          <p:nvPr>
            <p:ph idx="1"/>
          </p:nvPr>
        </p:nvSpPr>
        <p:spPr/>
        <p:txBody>
          <a:bodyPr/>
          <a:p>
            <a:endParaRPr lang="zh-CN" altLang="en-US"/>
          </a:p>
        </p:txBody>
      </p:sp>
      <p:sp>
        <p:nvSpPr>
          <p:cNvPr id="13" name="文本框 10"/>
          <p:cNvSpPr txBox="1"/>
          <p:nvPr/>
        </p:nvSpPr>
        <p:spPr>
          <a:xfrm>
            <a:off x="4283275" y="1528012"/>
            <a:ext cx="3141974" cy="706755"/>
          </a:xfrm>
          <a:prstGeom prst="rect">
            <a:avLst/>
          </a:prstGeom>
          <a:noFill/>
        </p:spPr>
        <p:txBody>
          <a:bodyPr wrap="square" rtlCol="0">
            <a:spAutoFit/>
          </a:bodyPr>
          <a:lstStyle/>
          <a:p>
            <a:pPr algn="dist"/>
            <a:r>
              <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历史沿革</a:t>
            </a:r>
            <a:endParaRPr lang="zh-CN" altLang="en-US" sz="4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1417052" y="2346547"/>
            <a:ext cx="9208908" cy="3322955"/>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2016</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月</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27</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日，交通运输部等七部委联合发布</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网络预约出租汽车经营服务管理暂行办法</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（交通运输部令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2016</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年第</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号），针对网约车的管理</a:t>
            </a:r>
            <a:r>
              <a:rPr lang="zh-CN" altLang="en-US"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形成了</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号令相互衔接、相互补充，同时又存在着一定重复和交叉的格局</a:t>
            </a:r>
            <a:r>
              <a:rPr lang="zh-CN" altLang="en-US"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bwMode="auto">
          <a:xfrm>
            <a:off x="-6350" y="2161828"/>
            <a:ext cx="12192000" cy="2441922"/>
          </a:xfrm>
          <a:prstGeom prst="rect">
            <a:avLst/>
          </a:prstGeom>
          <a:solidFill>
            <a:srgbClr val="A6A6A6">
              <a:alpha val="30196"/>
            </a:srgbClr>
          </a:solidFill>
          <a:ln>
            <a:noFill/>
          </a:ln>
        </p:spPr>
        <p:txBody>
          <a:bodyPr anchor="ctr"/>
          <a:lstStyle/>
          <a:p>
            <a:pPr algn="ctr" eaLnBrk="1" hangingPunct="1"/>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41" name="椭圆 40"/>
          <p:cNvSpPr/>
          <p:nvPr/>
        </p:nvSpPr>
        <p:spPr>
          <a:xfrm>
            <a:off x="7109583" y="4378969"/>
            <a:ext cx="473681" cy="473681"/>
          </a:xfrm>
          <a:prstGeom prst="ellipse">
            <a:avLst/>
          </a:prstGeom>
          <a:solidFill>
            <a:srgbClr val="A6A6A6">
              <a:alpha val="30196"/>
            </a:srgbClr>
          </a:solidFill>
          <a:ln>
            <a:noFill/>
          </a:ln>
        </p:spPr>
        <p:txBody>
          <a:bodyPr anchor="ctr"/>
          <a:lstStyle/>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50" name="椭圆 49"/>
          <p:cNvSpPr/>
          <p:nvPr/>
        </p:nvSpPr>
        <p:spPr>
          <a:xfrm>
            <a:off x="9146418" y="2718479"/>
            <a:ext cx="473681" cy="47368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1" name="椭圆 50"/>
          <p:cNvSpPr/>
          <p:nvPr/>
        </p:nvSpPr>
        <p:spPr>
          <a:xfrm>
            <a:off x="10975907" y="667719"/>
            <a:ext cx="254991" cy="25499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2" name="椭圆 51"/>
          <p:cNvSpPr/>
          <p:nvPr/>
        </p:nvSpPr>
        <p:spPr>
          <a:xfrm>
            <a:off x="9101445" y="1680807"/>
            <a:ext cx="342096" cy="34209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微软雅黑" panose="020B0503020204020204" pitchFamily="34" charset="-122"/>
              <a:ea typeface="微软雅黑" panose="020B0503020204020204" pitchFamily="34" charset="-122"/>
            </a:endParaRPr>
          </a:p>
        </p:txBody>
      </p:sp>
      <p:sp>
        <p:nvSpPr>
          <p:cNvPr id="53" name="任意多边形 5"/>
          <p:cNvSpPr/>
          <p:nvPr/>
        </p:nvSpPr>
        <p:spPr>
          <a:xfrm>
            <a:off x="88900" y="1849148"/>
            <a:ext cx="12065000" cy="3484852"/>
          </a:xfrm>
          <a:custGeom>
            <a:avLst/>
            <a:gdLst>
              <a:gd name="connsiteX0" fmla="*/ 0 w 12065000"/>
              <a:gd name="connsiteY0" fmla="*/ 3345152 h 3484852"/>
              <a:gd name="connsiteX1" fmla="*/ 1168400 w 12065000"/>
              <a:gd name="connsiteY1" fmla="*/ 1656052 h 3484852"/>
              <a:gd name="connsiteX2" fmla="*/ 4089400 w 12065000"/>
              <a:gd name="connsiteY2" fmla="*/ 5052 h 3484852"/>
              <a:gd name="connsiteX3" fmla="*/ 8877300 w 12065000"/>
              <a:gd name="connsiteY3" fmla="*/ 1224252 h 3484852"/>
              <a:gd name="connsiteX4" fmla="*/ 12065000 w 12065000"/>
              <a:gd name="connsiteY4" fmla="*/ 3484852 h 3484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5000" h="3484852">
                <a:moveTo>
                  <a:pt x="0" y="3345152"/>
                </a:moveTo>
                <a:cubicBezTo>
                  <a:pt x="243416" y="2778943"/>
                  <a:pt x="486833" y="2212735"/>
                  <a:pt x="1168400" y="1656052"/>
                </a:cubicBezTo>
                <a:cubicBezTo>
                  <a:pt x="1849967" y="1099369"/>
                  <a:pt x="2804583" y="77019"/>
                  <a:pt x="4089400" y="5052"/>
                </a:cubicBezTo>
                <a:cubicBezTo>
                  <a:pt x="5374217" y="-66915"/>
                  <a:pt x="7548033" y="644285"/>
                  <a:pt x="8877300" y="1224252"/>
                </a:cubicBezTo>
                <a:cubicBezTo>
                  <a:pt x="10206567" y="1804219"/>
                  <a:pt x="11135783" y="2644535"/>
                  <a:pt x="12065000" y="3484852"/>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4" name="任意多边形 7"/>
          <p:cNvSpPr/>
          <p:nvPr/>
        </p:nvSpPr>
        <p:spPr>
          <a:xfrm>
            <a:off x="50800" y="1710224"/>
            <a:ext cx="12141200" cy="3255477"/>
          </a:xfrm>
          <a:custGeom>
            <a:avLst/>
            <a:gdLst>
              <a:gd name="connsiteX0" fmla="*/ 0 w 12141200"/>
              <a:gd name="connsiteY0" fmla="*/ 563076 h 3255477"/>
              <a:gd name="connsiteX1" fmla="*/ 2032000 w 12141200"/>
              <a:gd name="connsiteY1" fmla="*/ 3255476 h 3255477"/>
              <a:gd name="connsiteX2" fmla="*/ 3822700 w 12141200"/>
              <a:gd name="connsiteY2" fmla="*/ 575776 h 3255477"/>
              <a:gd name="connsiteX3" fmla="*/ 5956300 w 12141200"/>
              <a:gd name="connsiteY3" fmla="*/ 207476 h 3255477"/>
              <a:gd name="connsiteX4" fmla="*/ 12141200 w 12141200"/>
              <a:gd name="connsiteY4" fmla="*/ 3141176 h 325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41200" h="3255477">
                <a:moveTo>
                  <a:pt x="0" y="563076"/>
                </a:moveTo>
                <a:cubicBezTo>
                  <a:pt x="697441" y="1908217"/>
                  <a:pt x="1394883" y="3253359"/>
                  <a:pt x="2032000" y="3255476"/>
                </a:cubicBezTo>
                <a:cubicBezTo>
                  <a:pt x="2669117" y="3257593"/>
                  <a:pt x="3168650" y="1083776"/>
                  <a:pt x="3822700" y="575776"/>
                </a:cubicBezTo>
                <a:cubicBezTo>
                  <a:pt x="4476750" y="67776"/>
                  <a:pt x="4569883" y="-220091"/>
                  <a:pt x="5956300" y="207476"/>
                </a:cubicBezTo>
                <a:cubicBezTo>
                  <a:pt x="7342717" y="635043"/>
                  <a:pt x="9741958" y="1888109"/>
                  <a:pt x="12141200" y="3141176"/>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2" name="组合 1"/>
          <p:cNvGrpSpPr/>
          <p:nvPr/>
        </p:nvGrpSpPr>
        <p:grpSpPr>
          <a:xfrm>
            <a:off x="3331806" y="2659514"/>
            <a:ext cx="4694267" cy="1446550"/>
            <a:chOff x="2735729" y="2758845"/>
            <a:chExt cx="4694267" cy="1446550"/>
          </a:xfrm>
        </p:grpSpPr>
        <p:sp>
          <p:nvSpPr>
            <p:cNvPr id="3" name="文本框 2"/>
            <p:cNvSpPr txBox="1"/>
            <p:nvPr/>
          </p:nvSpPr>
          <p:spPr>
            <a:xfrm rot="10800000">
              <a:off x="2735729" y="2809645"/>
              <a:ext cx="824459" cy="1323439"/>
            </a:xfrm>
            <a:prstGeom prst="rect">
              <a:avLst/>
            </a:prstGeom>
            <a:noFill/>
          </p:spPr>
          <p:txBody>
            <a:bodyPr wrap="square" rtlCol="0">
              <a:spAutoFit/>
            </a:bodyPr>
            <a:lstStyle/>
            <a:p>
              <a:r>
                <a:rPr lang="en-US" altLang="zh-CN" sz="8000" dirty="0">
                  <a:solidFill>
                    <a:schemeClr val="bg1"/>
                  </a:solidFill>
                  <a:latin typeface="Aharoni" panose="02010803020104030203" pitchFamily="2" charset="-79"/>
                  <a:cs typeface="Aharoni" panose="02010803020104030203" pitchFamily="2" charset="-79"/>
                </a:rPr>
                <a:t>«</a:t>
              </a:r>
              <a:endParaRPr lang="zh-CN" altLang="en-US" sz="8000" dirty="0">
                <a:solidFill>
                  <a:schemeClr val="bg1"/>
                </a:solidFill>
                <a:latin typeface="Aharoni" panose="02010803020104030203" pitchFamily="2" charset="-79"/>
                <a:cs typeface="Aharoni" panose="02010803020104030203" pitchFamily="2" charset="-79"/>
              </a:endParaRPr>
            </a:p>
          </p:txBody>
        </p:sp>
        <p:grpSp>
          <p:nvGrpSpPr>
            <p:cNvPr id="4" name="组合 3"/>
            <p:cNvGrpSpPr/>
            <p:nvPr/>
          </p:nvGrpSpPr>
          <p:grpSpPr>
            <a:xfrm>
              <a:off x="3553015" y="2758845"/>
              <a:ext cx="3876981" cy="1446550"/>
              <a:chOff x="3845053" y="2777756"/>
              <a:chExt cx="3876981" cy="1446550"/>
            </a:xfrm>
          </p:grpSpPr>
          <p:sp>
            <p:nvSpPr>
              <p:cNvPr id="5" name="文本框 4"/>
              <p:cNvSpPr txBox="1"/>
              <p:nvPr/>
            </p:nvSpPr>
            <p:spPr>
              <a:xfrm>
                <a:off x="3845053" y="2777756"/>
                <a:ext cx="1505207" cy="1446550"/>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pPr algn="ctr">
                  <a:spcBef>
                    <a:spcPct val="0"/>
                  </a:spcBef>
                </a:pPr>
                <a:r>
                  <a:rPr lang="en-US" altLang="zh-CN" sz="8800" b="1" dirty="0">
                    <a:solidFill>
                      <a:srgbClr val="C00000"/>
                    </a:solidFill>
                    <a:latin typeface="华文细黑" panose="02010600040101010101" pitchFamily="2" charset="-122"/>
                    <a:ea typeface="华文细黑" panose="02010600040101010101" pitchFamily="2" charset="-122"/>
                    <a:cs typeface="+mn-cs"/>
                  </a:rPr>
                  <a:t>02</a:t>
                </a:r>
                <a:endParaRPr lang="zh-CN" altLang="en-US" sz="8800" b="1" dirty="0">
                  <a:solidFill>
                    <a:srgbClr val="C00000"/>
                  </a:solidFill>
                  <a:latin typeface="华文细黑" panose="02010600040101010101" pitchFamily="2" charset="-122"/>
                  <a:ea typeface="华文细黑" panose="02010600040101010101" pitchFamily="2" charset="-122"/>
                  <a:cs typeface="+mn-cs"/>
                </a:endParaRPr>
              </a:p>
            </p:txBody>
          </p:sp>
          <p:sp>
            <p:nvSpPr>
              <p:cNvPr id="6" name="矩形 5"/>
              <p:cNvSpPr/>
              <p:nvPr/>
            </p:nvSpPr>
            <p:spPr>
              <a:xfrm>
                <a:off x="5087980" y="2952233"/>
                <a:ext cx="2634054" cy="923330"/>
              </a:xfrm>
              <a:prstGeom prst="rect">
                <a:avLst/>
              </a:prstGeom>
            </p:spPr>
            <p:txBody>
              <a:bodyPr wrap="none">
                <a:spAutoFit/>
              </a:bodyPr>
              <a:lstStyle/>
              <a:p>
                <a:pPr algn="ctr"/>
                <a:r>
                  <a:rPr lang="zh-CN" altLang="en-US" sz="5400" b="1" dirty="0" smtClean="0">
                    <a:solidFill>
                      <a:schemeClr val="bg1"/>
                    </a:solidFill>
                    <a:effectLst/>
                    <a:latin typeface="Aharoni" panose="02010803020104030203" pitchFamily="2" charset="-79"/>
                    <a:ea typeface="微软雅黑" panose="020B0503020204020204" pitchFamily="34" charset="-122"/>
                    <a:cs typeface="Aharoni" panose="02010803020104030203" pitchFamily="2" charset="-79"/>
                  </a:rPr>
                  <a:t> </a:t>
                </a:r>
                <a:r>
                  <a:rPr lang="zh-CN" altLang="en-US" sz="4400" b="1" dirty="0" smtClean="0">
                    <a:solidFill>
                      <a:schemeClr val="bg1"/>
                    </a:solidFill>
                    <a:effectLst/>
                    <a:latin typeface="Aharoni" panose="02010803020104030203" pitchFamily="2" charset="-79"/>
                    <a:ea typeface="微软雅黑" panose="020B0503020204020204" pitchFamily="34" charset="-122"/>
                    <a:cs typeface="Aharoni" panose="02010803020104030203" pitchFamily="2" charset="-79"/>
                  </a:rPr>
                  <a:t>修改目的</a:t>
                </a:r>
                <a:endParaRPr lang="zh-CN" altLang="en-US" sz="4400" b="1" dirty="0">
                  <a:solidFill>
                    <a:schemeClr val="bg1"/>
                  </a:solidFill>
                  <a:effectLst/>
                  <a:latin typeface="Aharoni" panose="02010803020104030203" pitchFamily="2" charset="-79"/>
                  <a:ea typeface="微软雅黑" panose="020B0503020204020204" pitchFamily="34" charset="-122"/>
                  <a:cs typeface="Aharoni" panose="02010803020104030203" pitchFamily="2" charset="-79"/>
                </a:endParaRPr>
              </a:p>
            </p:txBody>
          </p:sp>
        </p:grpSp>
      </p:grpSp>
    </p:spTree>
  </p:cSld>
  <p:clrMapOvr>
    <a:masterClrMapping/>
  </p:clrMapOvr>
  <mc:AlternateContent xmlns:mc="http://schemas.openxmlformats.org/markup-compatibility/2006">
    <mc:Choice xmlns:p14="http://schemas.microsoft.com/office/powerpoint/2010/main" Requires="p14">
      <p:transition spd="med" p14:dur="750">
        <p:split/>
        <p:sndAc>
          <p:stSnd>
            <p:snd r:embed="rId1" name="chimes.wav"/>
          </p:stSnd>
        </p:sndAc>
      </p:transition>
    </mc:Choice>
    <mc:Fallback>
      <p:transition spd="med">
        <p:split/>
        <p:sndAc>
          <p:stSnd>
            <p:snd r:embed="rId1" name="chimes.wav"/>
          </p:stSnd>
        </p:sndAc>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p>
            <a:r>
              <a:rPr lang="en-US" altLang="zh-CN" smtClean="0">
                <a:latin typeface="微软雅黑" panose="020B0503020204020204" pitchFamily="34" charset="-122"/>
                <a:cs typeface="微软雅黑" panose="020B0503020204020204" pitchFamily="34" charset="-122"/>
                <a:sym typeface="微软雅黑" panose="020B0503020204020204" pitchFamily="34" charset="-122"/>
              </a:rPr>
              <a:t>02 </a:t>
            </a:r>
            <a:r>
              <a:rPr smtClean="0">
                <a:latin typeface="微软雅黑" panose="020B0503020204020204" pitchFamily="34" charset="-122"/>
                <a:cs typeface="微软雅黑" panose="020B0503020204020204" pitchFamily="34" charset="-122"/>
                <a:sym typeface="微软雅黑" panose="020B0503020204020204" pitchFamily="34" charset="-122"/>
              </a:rPr>
              <a:t>修改目的</a:t>
            </a:r>
            <a:endParaRPr lang="zh-CN" altLang="en-US"/>
          </a:p>
        </p:txBody>
      </p:sp>
      <p:sp>
        <p:nvSpPr>
          <p:cNvPr id="5" name="内容占位符 4"/>
          <p:cNvSpPr>
            <a:spLocks noGrp="1"/>
          </p:cNvSpPr>
          <p:nvPr>
            <p:ph idx="1"/>
          </p:nvPr>
        </p:nvSpPr>
        <p:spPr/>
        <p:txBody>
          <a:bodyPr/>
          <a:p>
            <a:endParaRPr lang="zh-CN" altLang="en-US"/>
          </a:p>
        </p:txBody>
      </p:sp>
      <p:sp>
        <p:nvSpPr>
          <p:cNvPr id="6" name="文本框 17"/>
          <p:cNvSpPr txBox="1"/>
          <p:nvPr/>
        </p:nvSpPr>
        <p:spPr>
          <a:xfrm>
            <a:off x="642412" y="1659788"/>
            <a:ext cx="9540875" cy="3969385"/>
          </a:xfrm>
          <a:prstGeom prst="rect">
            <a:avLst/>
          </a:prstGeom>
          <a:noFill/>
        </p:spPr>
        <p:txBody>
          <a:bodyPr wrap="square" rtlCol="0">
            <a:spAutoFit/>
          </a:bodyPr>
          <a:lstStyle/>
          <a:p>
            <a:pPr>
              <a:lnSpc>
                <a:spcPct val="150000"/>
              </a:lnSpc>
            </a:pPr>
            <a:r>
              <a:rPr lang="zh-CN" altLang="en-US" sz="2800" b="1"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一是依据</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新形势，调整管理理念、模式、方法</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《指导意见》规定，出租汽车是城市综合交通运输体系的组成部分，是城市公共交通的补充，为社会公众提供个性化运输服务。</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需要两个部令结合定位从管理理念、管理模式、管理方法上作出相应调整。</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p>
            <a:r>
              <a:rPr lang="en-US" altLang="zh-CN" smtClean="0">
                <a:latin typeface="微软雅黑" panose="020B0503020204020204" pitchFamily="34" charset="-122"/>
                <a:cs typeface="微软雅黑" panose="020B0503020204020204" pitchFamily="34" charset="-122"/>
                <a:sym typeface="微软雅黑" panose="020B0503020204020204" pitchFamily="34" charset="-122"/>
              </a:rPr>
              <a:t>02 </a:t>
            </a:r>
            <a:r>
              <a:rPr smtClean="0">
                <a:latin typeface="微软雅黑" panose="020B0503020204020204" pitchFamily="34" charset="-122"/>
                <a:cs typeface="微软雅黑" panose="020B0503020204020204" pitchFamily="34" charset="-122"/>
                <a:sym typeface="微软雅黑" panose="020B0503020204020204" pitchFamily="34" charset="-122"/>
              </a:rPr>
              <a:t>修改目的</a:t>
            </a:r>
            <a:endParaRPr lang="zh-CN" altLang="en-US"/>
          </a:p>
        </p:txBody>
      </p:sp>
      <p:sp>
        <p:nvSpPr>
          <p:cNvPr id="5" name="内容占位符 4"/>
          <p:cNvSpPr>
            <a:spLocks noGrp="1"/>
          </p:cNvSpPr>
          <p:nvPr>
            <p:ph idx="1"/>
          </p:nvPr>
        </p:nvSpPr>
        <p:spPr/>
        <p:txBody>
          <a:bodyPr/>
          <a:p>
            <a:endParaRPr lang="zh-CN" altLang="en-US"/>
          </a:p>
        </p:txBody>
      </p:sp>
      <p:sp>
        <p:nvSpPr>
          <p:cNvPr id="6" name="文本框 17"/>
          <p:cNvSpPr txBox="1"/>
          <p:nvPr/>
        </p:nvSpPr>
        <p:spPr>
          <a:xfrm>
            <a:off x="642412" y="1659788"/>
            <a:ext cx="9540875" cy="3322955"/>
          </a:xfrm>
          <a:prstGeom prst="rect">
            <a:avLst/>
          </a:prstGeom>
          <a:noFill/>
        </p:spPr>
        <p:txBody>
          <a:bodyPr wrap="square" rtlCol="0">
            <a:spAutoFit/>
          </a:bodyPr>
          <a:lstStyle/>
          <a:p>
            <a:pPr>
              <a:lnSpc>
                <a:spcPct val="150000"/>
              </a:lnSpc>
            </a:pPr>
            <a:r>
              <a:rPr lang="zh-CN" altLang="en-US" sz="2800" b="1"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二是适应</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巡游车改革需要</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《指导意见》针对巡游车改革，从经营权管理、经营者与驾驶员利益分配、价格形成机制、行业转型升级等方面做出了一系列规定。</a:t>
            </a:r>
            <a:endPar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两个原有部令要主动适应这些改革</a:t>
            </a:r>
            <a:r>
              <a:rPr lang="zh-CN" altLang="en-US"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措施</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p>
            <a:r>
              <a:rPr lang="en-US" altLang="zh-CN" smtClean="0">
                <a:latin typeface="微软雅黑" panose="020B0503020204020204" pitchFamily="34" charset="-122"/>
                <a:cs typeface="微软雅黑" panose="020B0503020204020204" pitchFamily="34" charset="-122"/>
                <a:sym typeface="微软雅黑" panose="020B0503020204020204" pitchFamily="34" charset="-122"/>
              </a:rPr>
              <a:t>02 </a:t>
            </a:r>
            <a:r>
              <a:rPr smtClean="0">
                <a:latin typeface="微软雅黑" panose="020B0503020204020204" pitchFamily="34" charset="-122"/>
                <a:cs typeface="微软雅黑" panose="020B0503020204020204" pitchFamily="34" charset="-122"/>
                <a:sym typeface="微软雅黑" panose="020B0503020204020204" pitchFamily="34" charset="-122"/>
              </a:rPr>
              <a:t>修改目的</a:t>
            </a:r>
            <a:endParaRPr lang="zh-CN" altLang="en-US"/>
          </a:p>
        </p:txBody>
      </p:sp>
      <p:sp>
        <p:nvSpPr>
          <p:cNvPr id="5" name="内容占位符 4"/>
          <p:cNvSpPr>
            <a:spLocks noGrp="1"/>
          </p:cNvSpPr>
          <p:nvPr>
            <p:ph idx="1"/>
          </p:nvPr>
        </p:nvSpPr>
        <p:spPr/>
        <p:txBody>
          <a:bodyPr/>
          <a:p>
            <a:endParaRPr lang="zh-CN" altLang="en-US"/>
          </a:p>
        </p:txBody>
      </p:sp>
      <p:sp>
        <p:nvSpPr>
          <p:cNvPr id="6" name="文本框 17"/>
          <p:cNvSpPr txBox="1"/>
          <p:nvPr/>
        </p:nvSpPr>
        <p:spPr>
          <a:xfrm>
            <a:off x="642412" y="1628258"/>
            <a:ext cx="9878443" cy="4615815"/>
          </a:xfrm>
          <a:prstGeom prst="rect">
            <a:avLst/>
          </a:prstGeom>
          <a:noFill/>
        </p:spPr>
        <p:txBody>
          <a:bodyPr wrap="square" rtlCol="0">
            <a:spAutoFit/>
          </a:bodyPr>
          <a:lstStyle/>
          <a:p>
            <a:pPr>
              <a:lnSpc>
                <a:spcPct val="150000"/>
              </a:lnSpc>
            </a:pPr>
            <a:r>
              <a:rPr lang="zh-CN" altLang="en-US" sz="2800" b="1"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三是落实</a:t>
            </a:r>
            <a:r>
              <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指导意见</a:t>
            </a:r>
            <a:r>
              <a:rPr lang="en-US" altLang="zh-CN"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要求</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指导意见</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中第十四条要求：要加快完善出租汽车管理和经营服务的法规规章，规范资质条件和经营许可，形成较为完善的出租汽车管理法律法规体系，实现出租汽车行业管理、经营服务和市场监管有法可依、有章可循。</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对两个部令作出修改，是深化出租汽车行业改革的重要配套措施，为出租汽车行业健康发展提供可靠的法治保障</a:t>
            </a:r>
            <a:r>
              <a:rPr lang="zh-CN" altLang="en-US" sz="2800"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p>
            <a:r>
              <a:rPr lang="en-US" altLang="zh-CN" smtClean="0">
                <a:latin typeface="微软雅黑" panose="020B0503020204020204" pitchFamily="34" charset="-122"/>
                <a:cs typeface="微软雅黑" panose="020B0503020204020204" pitchFamily="34" charset="-122"/>
                <a:sym typeface="微软雅黑" panose="020B0503020204020204" pitchFamily="34" charset="-122"/>
              </a:rPr>
              <a:t>02 </a:t>
            </a:r>
            <a:r>
              <a:rPr smtClean="0">
                <a:latin typeface="微软雅黑" panose="020B0503020204020204" pitchFamily="34" charset="-122"/>
                <a:cs typeface="微软雅黑" panose="020B0503020204020204" pitchFamily="34" charset="-122"/>
                <a:sym typeface="微软雅黑" panose="020B0503020204020204" pitchFamily="34" charset="-122"/>
              </a:rPr>
              <a:t>修改目的</a:t>
            </a:r>
            <a:endParaRPr lang="zh-CN" altLang="en-US"/>
          </a:p>
        </p:txBody>
      </p:sp>
      <p:sp>
        <p:nvSpPr>
          <p:cNvPr id="5" name="内容占位符 4"/>
          <p:cNvSpPr>
            <a:spLocks noGrp="1"/>
          </p:cNvSpPr>
          <p:nvPr>
            <p:ph idx="1"/>
          </p:nvPr>
        </p:nvSpPr>
        <p:spPr/>
        <p:txBody>
          <a:bodyPr/>
          <a:p>
            <a:endParaRPr lang="zh-CN" altLang="en-US"/>
          </a:p>
        </p:txBody>
      </p:sp>
      <p:sp>
        <p:nvSpPr>
          <p:cNvPr id="6" name="文本框 17"/>
          <p:cNvSpPr txBox="1"/>
          <p:nvPr/>
        </p:nvSpPr>
        <p:spPr>
          <a:xfrm>
            <a:off x="642620" y="1691005"/>
            <a:ext cx="9784715" cy="3322955"/>
          </a:xfrm>
          <a:prstGeom prst="rect">
            <a:avLst/>
          </a:prstGeom>
          <a:noFill/>
        </p:spPr>
        <p:txBody>
          <a:bodyPr wrap="square" rtlCol="0">
            <a:spAutoFit/>
          </a:bodyPr>
          <a:lstStyle/>
          <a:p>
            <a:pPr>
              <a:lnSpc>
                <a:spcPct val="150000"/>
              </a:lnSpc>
            </a:pPr>
            <a:r>
              <a:rPr lang="zh-CN" altLang="en-US" sz="2800" b="1" dirty="0" smtClean="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四是保证</a:t>
            </a:r>
            <a:r>
              <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规章之间协调一致</a:t>
            </a:r>
            <a:endParaRPr lang="zh-CN" altLang="en-US" sz="2800"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60</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号令的出台，改变了原有的规章格局，只有对原</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号令和</a:t>
            </a: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16</a:t>
            </a:r>
            <a:r>
              <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号令作出相应修改，才能避免规章的适用范围、法律责任等之间的互相交叉，甚至“冲突打架”，保持规章之间的协调。</a:t>
            </a:r>
            <a:endParaRPr lang="zh-CN" altLang="en-US"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bwMode="auto">
          <a:xfrm>
            <a:off x="-6350" y="2161828"/>
            <a:ext cx="12192000" cy="2441922"/>
          </a:xfrm>
          <a:prstGeom prst="rect">
            <a:avLst/>
          </a:prstGeom>
          <a:solidFill>
            <a:srgbClr val="A6A6A6">
              <a:alpha val="30196"/>
            </a:srgbClr>
          </a:solidFill>
          <a:ln>
            <a:noFill/>
          </a:ln>
        </p:spPr>
        <p:txBody>
          <a:bodyPr anchor="ctr"/>
          <a:lstStyle/>
          <a:p>
            <a:pPr algn="ctr" eaLnBrk="1" hangingPunct="1"/>
            <a:endParaRPr lang="zh-CN" altLang="en-US">
              <a:solidFill>
                <a:srgbClr val="FFFFFF"/>
              </a:solidFill>
              <a:latin typeface="Segoe UI" panose="020B0502040204020203" pitchFamily="34" charset="0"/>
              <a:ea typeface="微软雅黑" panose="020B0503020204020204" pitchFamily="34" charset="-122"/>
            </a:endParaRPr>
          </a:p>
        </p:txBody>
      </p:sp>
      <p:sp>
        <p:nvSpPr>
          <p:cNvPr id="41" name="椭圆 40"/>
          <p:cNvSpPr/>
          <p:nvPr/>
        </p:nvSpPr>
        <p:spPr>
          <a:xfrm>
            <a:off x="7109583" y="4378969"/>
            <a:ext cx="473681" cy="473681"/>
          </a:xfrm>
          <a:prstGeom prst="ellipse">
            <a:avLst/>
          </a:prstGeom>
          <a:solidFill>
            <a:srgbClr val="A6A6A6">
              <a:alpha val="30196"/>
            </a:srgbClr>
          </a:solidFill>
          <a:ln>
            <a:noFill/>
          </a:ln>
        </p:spPr>
        <p:txBody>
          <a:bodyPr anchor="ctr"/>
          <a:lstStyle/>
          <a:p>
            <a:pPr algn="ctr"/>
            <a:endParaRPr lang="zh-CN" altLang="en-US">
              <a:solidFill>
                <a:srgbClr val="FFFFFF"/>
              </a:solidFill>
              <a:latin typeface="Segoe UI" panose="020B0502040204020203" pitchFamily="34" charset="0"/>
              <a:ea typeface="微软雅黑" panose="020B0503020204020204" pitchFamily="34" charset="-122"/>
            </a:endParaRPr>
          </a:p>
        </p:txBody>
      </p:sp>
      <p:sp>
        <p:nvSpPr>
          <p:cNvPr id="50" name="椭圆 49"/>
          <p:cNvSpPr/>
          <p:nvPr/>
        </p:nvSpPr>
        <p:spPr>
          <a:xfrm>
            <a:off x="9146418" y="2718479"/>
            <a:ext cx="473681" cy="47368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1" name="椭圆 50"/>
          <p:cNvSpPr/>
          <p:nvPr/>
        </p:nvSpPr>
        <p:spPr>
          <a:xfrm>
            <a:off x="10975907" y="667719"/>
            <a:ext cx="254991" cy="254991"/>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2" name="椭圆 51"/>
          <p:cNvSpPr/>
          <p:nvPr/>
        </p:nvSpPr>
        <p:spPr>
          <a:xfrm>
            <a:off x="9101445" y="1680807"/>
            <a:ext cx="342096" cy="342096"/>
          </a:xfrm>
          <a:prstGeom prst="ellipse">
            <a:avLst/>
          </a:prstGeom>
          <a:solidFill>
            <a:srgbClr val="A6A6A6">
              <a:alpha val="5019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3" name="任意多边形 5"/>
          <p:cNvSpPr/>
          <p:nvPr/>
        </p:nvSpPr>
        <p:spPr>
          <a:xfrm>
            <a:off x="88900" y="1849148"/>
            <a:ext cx="12065000" cy="3484852"/>
          </a:xfrm>
          <a:custGeom>
            <a:avLst/>
            <a:gdLst>
              <a:gd name="connsiteX0" fmla="*/ 0 w 12065000"/>
              <a:gd name="connsiteY0" fmla="*/ 3345152 h 3484852"/>
              <a:gd name="connsiteX1" fmla="*/ 1168400 w 12065000"/>
              <a:gd name="connsiteY1" fmla="*/ 1656052 h 3484852"/>
              <a:gd name="connsiteX2" fmla="*/ 4089400 w 12065000"/>
              <a:gd name="connsiteY2" fmla="*/ 5052 h 3484852"/>
              <a:gd name="connsiteX3" fmla="*/ 8877300 w 12065000"/>
              <a:gd name="connsiteY3" fmla="*/ 1224252 h 3484852"/>
              <a:gd name="connsiteX4" fmla="*/ 12065000 w 12065000"/>
              <a:gd name="connsiteY4" fmla="*/ 3484852 h 3484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5000" h="3484852">
                <a:moveTo>
                  <a:pt x="0" y="3345152"/>
                </a:moveTo>
                <a:cubicBezTo>
                  <a:pt x="243416" y="2778943"/>
                  <a:pt x="486833" y="2212735"/>
                  <a:pt x="1168400" y="1656052"/>
                </a:cubicBezTo>
                <a:cubicBezTo>
                  <a:pt x="1849967" y="1099369"/>
                  <a:pt x="2804583" y="77019"/>
                  <a:pt x="4089400" y="5052"/>
                </a:cubicBezTo>
                <a:cubicBezTo>
                  <a:pt x="5374217" y="-66915"/>
                  <a:pt x="7548033" y="644285"/>
                  <a:pt x="8877300" y="1224252"/>
                </a:cubicBezTo>
                <a:cubicBezTo>
                  <a:pt x="10206567" y="1804219"/>
                  <a:pt x="11135783" y="2644535"/>
                  <a:pt x="12065000" y="3484852"/>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任意多边形 7"/>
          <p:cNvSpPr/>
          <p:nvPr/>
        </p:nvSpPr>
        <p:spPr>
          <a:xfrm>
            <a:off x="50800" y="1710224"/>
            <a:ext cx="12141200" cy="3255477"/>
          </a:xfrm>
          <a:custGeom>
            <a:avLst/>
            <a:gdLst>
              <a:gd name="connsiteX0" fmla="*/ 0 w 12141200"/>
              <a:gd name="connsiteY0" fmla="*/ 563076 h 3255477"/>
              <a:gd name="connsiteX1" fmla="*/ 2032000 w 12141200"/>
              <a:gd name="connsiteY1" fmla="*/ 3255476 h 3255477"/>
              <a:gd name="connsiteX2" fmla="*/ 3822700 w 12141200"/>
              <a:gd name="connsiteY2" fmla="*/ 575776 h 3255477"/>
              <a:gd name="connsiteX3" fmla="*/ 5956300 w 12141200"/>
              <a:gd name="connsiteY3" fmla="*/ 207476 h 3255477"/>
              <a:gd name="connsiteX4" fmla="*/ 12141200 w 12141200"/>
              <a:gd name="connsiteY4" fmla="*/ 3141176 h 325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41200" h="3255477">
                <a:moveTo>
                  <a:pt x="0" y="563076"/>
                </a:moveTo>
                <a:cubicBezTo>
                  <a:pt x="697441" y="1908217"/>
                  <a:pt x="1394883" y="3253359"/>
                  <a:pt x="2032000" y="3255476"/>
                </a:cubicBezTo>
                <a:cubicBezTo>
                  <a:pt x="2669117" y="3257593"/>
                  <a:pt x="3168650" y="1083776"/>
                  <a:pt x="3822700" y="575776"/>
                </a:cubicBezTo>
                <a:cubicBezTo>
                  <a:pt x="4476750" y="67776"/>
                  <a:pt x="4569883" y="-220091"/>
                  <a:pt x="5956300" y="207476"/>
                </a:cubicBezTo>
                <a:cubicBezTo>
                  <a:pt x="7342717" y="635043"/>
                  <a:pt x="9741958" y="1888109"/>
                  <a:pt x="12141200" y="3141176"/>
                </a:cubicBezTo>
              </a:path>
            </a:pathLst>
          </a:cu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3331806" y="2659514"/>
            <a:ext cx="5766729" cy="1446550"/>
            <a:chOff x="2735729" y="2758845"/>
            <a:chExt cx="5766729" cy="1446550"/>
          </a:xfrm>
        </p:grpSpPr>
        <p:sp>
          <p:nvSpPr>
            <p:cNvPr id="20" name="文本框 19"/>
            <p:cNvSpPr txBox="1"/>
            <p:nvPr/>
          </p:nvSpPr>
          <p:spPr>
            <a:xfrm rot="10800000">
              <a:off x="2735729" y="2809645"/>
              <a:ext cx="824459" cy="1323439"/>
            </a:xfrm>
            <a:prstGeom prst="rect">
              <a:avLst/>
            </a:prstGeom>
            <a:noFill/>
          </p:spPr>
          <p:txBody>
            <a:bodyPr wrap="square" rtlCol="0">
              <a:spAutoFit/>
            </a:bodyPr>
            <a:lstStyle/>
            <a:p>
              <a:r>
                <a:rPr lang="en-US" altLang="zh-CN" sz="8000" dirty="0">
                  <a:solidFill>
                    <a:schemeClr val="bg1"/>
                  </a:solidFill>
                  <a:latin typeface="Aharoni" panose="02010803020104030203" pitchFamily="2" charset="-79"/>
                  <a:cs typeface="Aharoni" panose="02010803020104030203" pitchFamily="2" charset="-79"/>
                </a:rPr>
                <a:t>«</a:t>
              </a:r>
              <a:endParaRPr lang="zh-CN" altLang="en-US" sz="8000" dirty="0">
                <a:solidFill>
                  <a:schemeClr val="bg1"/>
                </a:solidFill>
                <a:latin typeface="Aharoni" panose="02010803020104030203" pitchFamily="2" charset="-79"/>
                <a:cs typeface="Aharoni" panose="02010803020104030203" pitchFamily="2" charset="-79"/>
              </a:endParaRPr>
            </a:p>
          </p:txBody>
        </p:sp>
        <p:grpSp>
          <p:nvGrpSpPr>
            <p:cNvPr id="21" name="组合 20"/>
            <p:cNvGrpSpPr/>
            <p:nvPr/>
          </p:nvGrpSpPr>
          <p:grpSpPr>
            <a:xfrm>
              <a:off x="3553015" y="2758845"/>
              <a:ext cx="4949443" cy="1446550"/>
              <a:chOff x="3845053" y="2777756"/>
              <a:chExt cx="4949443" cy="1446550"/>
            </a:xfrm>
          </p:grpSpPr>
          <p:sp>
            <p:nvSpPr>
              <p:cNvPr id="22" name="文本框 21"/>
              <p:cNvSpPr txBox="1"/>
              <p:nvPr/>
            </p:nvSpPr>
            <p:spPr>
              <a:xfrm>
                <a:off x="3845053" y="2777756"/>
                <a:ext cx="1505207" cy="1446550"/>
              </a:xfrm>
              <a:prstGeom prst="rect">
                <a:avLst/>
              </a:prstGeom>
              <a:noFill/>
            </p:spPr>
            <p:txBody>
              <a:bodyPr wrap="square" rtlCol="0">
                <a:spAutoFit/>
              </a:bodyPr>
              <a:lstStyle>
                <a:defPPr>
                  <a:defRPr lang="zh-CN"/>
                </a:defPPr>
                <a:lvl1pPr algn="just">
                  <a:defRPr sz="9600">
                    <a:solidFill>
                      <a:schemeClr val="tx1">
                        <a:lumMod val="75000"/>
                        <a:lumOff val="25000"/>
                      </a:schemeClr>
                    </a:solidFill>
                    <a:latin typeface="Aharoni" panose="02010803020104030203" pitchFamily="2" charset="-79"/>
                    <a:ea typeface="LiHei Pro" panose="02010601030101010101" pitchFamily="2" charset="-122"/>
                    <a:cs typeface="Aharoni" panose="02010803020104030203" pitchFamily="2" charset="-79"/>
                  </a:defRPr>
                </a:lvl1pPr>
              </a:lstStyle>
              <a:p>
                <a:pPr algn="ctr">
                  <a:spcBef>
                    <a:spcPct val="0"/>
                  </a:spcBef>
                </a:pPr>
                <a:r>
                  <a:rPr lang="en-US" altLang="zh-CN" sz="8800" b="1" dirty="0" smtClean="0">
                    <a:solidFill>
                      <a:srgbClr val="C00000"/>
                    </a:solidFill>
                    <a:latin typeface="华文细黑" panose="02010600040101010101" pitchFamily="2" charset="-122"/>
                    <a:ea typeface="华文细黑" panose="02010600040101010101" pitchFamily="2" charset="-122"/>
                    <a:cs typeface="+mn-cs"/>
                  </a:rPr>
                  <a:t>03</a:t>
                </a:r>
                <a:endParaRPr lang="zh-CN" altLang="en-US" sz="8800" b="1" dirty="0">
                  <a:solidFill>
                    <a:srgbClr val="C00000"/>
                  </a:solidFill>
                  <a:latin typeface="华文细黑" panose="02010600040101010101" pitchFamily="2" charset="-122"/>
                  <a:ea typeface="华文细黑" panose="02010600040101010101" pitchFamily="2" charset="-122"/>
                  <a:cs typeface="+mn-cs"/>
                </a:endParaRPr>
              </a:p>
            </p:txBody>
          </p:sp>
          <p:sp>
            <p:nvSpPr>
              <p:cNvPr id="24" name="矩形 23"/>
              <p:cNvSpPr/>
              <p:nvPr/>
            </p:nvSpPr>
            <p:spPr>
              <a:xfrm>
                <a:off x="5224287" y="3092905"/>
                <a:ext cx="3570209" cy="769441"/>
              </a:xfrm>
              <a:prstGeom prst="rect">
                <a:avLst/>
              </a:prstGeom>
            </p:spPr>
            <p:txBody>
              <a:bodyPr wrap="none">
                <a:spAutoFit/>
              </a:bodyPr>
              <a:lstStyle/>
              <a:p>
                <a:pPr algn="ctr"/>
                <a:r>
                  <a:rPr lang="zh-CN" altLang="en-US" sz="4400" b="1" dirty="0" smtClean="0">
                    <a:solidFill>
                      <a:schemeClr val="bg1"/>
                    </a:solidFill>
                    <a:effectLst/>
                    <a:latin typeface="Aharoni" panose="02010803020104030203" pitchFamily="2" charset="-79"/>
                    <a:ea typeface="微软雅黑" panose="020B0503020204020204" pitchFamily="34" charset="-122"/>
                    <a:cs typeface="Aharoni" panose="02010803020104030203" pitchFamily="2" charset="-79"/>
                  </a:rPr>
                  <a:t>主要修订内容</a:t>
                </a:r>
                <a:endParaRPr lang="zh-CN" altLang="en-US" sz="4400" b="1" dirty="0">
                  <a:solidFill>
                    <a:schemeClr val="bg1"/>
                  </a:solidFill>
                  <a:effectLst/>
                  <a:latin typeface="Aharoni" panose="02010803020104030203" pitchFamily="2" charset="-79"/>
                  <a:ea typeface="微软雅黑" panose="020B0503020204020204" pitchFamily="34" charset="-122"/>
                  <a:cs typeface="Aharoni" panose="02010803020104030203" pitchFamily="2" charset="-79"/>
                </a:endParaRPr>
              </a:p>
            </p:txBody>
          </p:sp>
        </p:grpSp>
      </p:grpSp>
    </p:spTree>
  </p:cSld>
  <p:clrMapOvr>
    <a:masterClrMapping/>
  </p:clrMapOvr>
  <mc:AlternateContent xmlns:mc="http://schemas.openxmlformats.org/markup-compatibility/2006">
    <mc:Choice xmlns:p14="http://schemas.microsoft.com/office/powerpoint/2010/main" Requires="p14">
      <p:transition spd="med" p14:dur="750">
        <p:split/>
        <p:sndAc>
          <p:stSnd>
            <p:snd r:embed="rId1" name="chimes.wav"/>
          </p:stSnd>
        </p:sndAc>
      </p:transition>
    </mc:Choice>
    <mc:Fallback>
      <p:transition spd="med">
        <p:split/>
        <p:sndAc>
          <p:stSnd>
            <p:snd r:embed="rId1" name="chimes.wav"/>
          </p:stSnd>
        </p:sndAc>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p>
            <a:r>
              <a:rPr lang="en-US" altLang="zh-CN" smtClean="0">
                <a:solidFill>
                  <a:srgbClr val="E96A0F"/>
                </a:solidFill>
                <a:latin typeface="微软雅黑" panose="020B0503020204020204" pitchFamily="34" charset="-122"/>
                <a:sym typeface="微软雅黑" panose="020B0503020204020204" pitchFamily="34" charset="-122"/>
              </a:rPr>
              <a:t>03 </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7" name="文本框 1"/>
          <p:cNvSpPr txBox="1"/>
          <p:nvPr/>
        </p:nvSpPr>
        <p:spPr>
          <a:xfrm>
            <a:off x="0" y="1689058"/>
            <a:ext cx="12288251" cy="1753235"/>
          </a:xfrm>
          <a:prstGeom prst="rect">
            <a:avLst/>
          </a:prstGeom>
          <a:noFill/>
        </p:spPr>
        <p:txBody>
          <a:bodyPr wrap="square" rtlCol="0">
            <a:spAutoFit/>
          </a:bodyPr>
          <a:lstStyle/>
          <a:p>
            <a:pPr algn="ctr">
              <a:lnSpc>
                <a:spcPct val="150000"/>
              </a:lnSpc>
            </a:pPr>
            <a:r>
              <a:rPr lang="en-US" altLang="zh-CN" sz="3600" b="1" dirty="0">
                <a:solidFill>
                  <a:srgbClr val="1F4E79"/>
                </a:solidFill>
                <a:latin typeface="微软雅黑" panose="020B0503020204020204" pitchFamily="34" charset="-122"/>
                <a:ea typeface="微软雅黑" panose="020B0503020204020204" pitchFamily="34" charset="-122"/>
              </a:rPr>
              <a:t>《</a:t>
            </a:r>
            <a:r>
              <a:rPr lang="zh-CN" altLang="en-US" sz="3600" b="1" dirty="0">
                <a:solidFill>
                  <a:srgbClr val="1F4E79"/>
                </a:solidFill>
                <a:latin typeface="微软雅黑" panose="020B0503020204020204" pitchFamily="34" charset="-122"/>
                <a:ea typeface="微软雅黑" panose="020B0503020204020204" pitchFamily="34" charset="-122"/>
              </a:rPr>
              <a:t>出租汽车驾驶员从业资格管理规定</a:t>
            </a:r>
            <a:r>
              <a:rPr lang="en-US" altLang="zh-CN" sz="3600" b="1" dirty="0" smtClean="0">
                <a:solidFill>
                  <a:srgbClr val="1F4E79"/>
                </a:solidFill>
                <a:latin typeface="微软雅黑" panose="020B0503020204020204" pitchFamily="34" charset="-122"/>
                <a:ea typeface="微软雅黑" panose="020B0503020204020204" pitchFamily="34" charset="-122"/>
              </a:rPr>
              <a:t>》</a:t>
            </a:r>
            <a:r>
              <a:rPr lang="zh-CN" altLang="en-US" sz="3600" b="1" dirty="0">
                <a:solidFill>
                  <a:srgbClr val="1F4E79"/>
                </a:solidFill>
                <a:latin typeface="微软雅黑" panose="020B0503020204020204" pitchFamily="34" charset="-122"/>
                <a:ea typeface="微软雅黑" panose="020B0503020204020204" pitchFamily="34" charset="-122"/>
              </a:rPr>
              <a:t>主要修订内容</a:t>
            </a:r>
            <a:endParaRPr lang="en-US" altLang="zh-CN" sz="3600" b="1" dirty="0">
              <a:solidFill>
                <a:srgbClr val="1F4E79"/>
              </a:solidFill>
              <a:latin typeface="微软雅黑" panose="020B0503020204020204" pitchFamily="34" charset="-122"/>
              <a:ea typeface="微软雅黑" panose="020B0503020204020204" pitchFamily="34" charset="-122"/>
            </a:endParaRPr>
          </a:p>
          <a:p>
            <a:pPr algn="ctr">
              <a:lnSpc>
                <a:spcPct val="150000"/>
              </a:lnSpc>
            </a:pPr>
            <a:endParaRPr lang="en-US" altLang="zh-CN" sz="3600" b="1" dirty="0">
              <a:solidFill>
                <a:srgbClr val="1F4E79"/>
              </a:solidFill>
              <a:latin typeface="微软雅黑" panose="020B0503020204020204" pitchFamily="34" charset="-122"/>
              <a:ea typeface="微软雅黑" panose="020B0503020204020204" pitchFamily="34" charset="-122"/>
            </a:endParaRPr>
          </a:p>
        </p:txBody>
      </p:sp>
      <p:sp>
        <p:nvSpPr>
          <p:cNvPr id="10" name="文本框 17"/>
          <p:cNvSpPr txBox="1"/>
          <p:nvPr/>
        </p:nvSpPr>
        <p:spPr>
          <a:xfrm>
            <a:off x="4922157" y="3169112"/>
            <a:ext cx="6965043" cy="3107690"/>
          </a:xfrm>
          <a:prstGeom prst="rect">
            <a:avLst/>
          </a:prstGeom>
          <a:noFill/>
        </p:spPr>
        <p:txBody>
          <a:bodyPr wrap="square" rtlCol="0">
            <a:spAutoFit/>
          </a:bodyPr>
          <a:lstStyle/>
          <a:p>
            <a:r>
              <a:rPr lang="en-US" altLang="zh-CN" sz="2800" dirty="0">
                <a:solidFill>
                  <a:srgbClr val="002060"/>
                </a:solidFill>
                <a:latin typeface="微软雅黑" panose="020B0503020204020204" pitchFamily="34" charset="-122"/>
                <a:ea typeface="微软雅黑" panose="020B0503020204020204" pitchFamily="34" charset="-122"/>
                <a:sym typeface="+mn-ea"/>
              </a:rPr>
              <a:t>1.</a:t>
            </a:r>
            <a:r>
              <a:rPr lang="zh-CN" altLang="en-US" sz="2800" dirty="0">
                <a:solidFill>
                  <a:srgbClr val="002060"/>
                </a:solidFill>
                <a:latin typeface="微软雅黑" panose="020B0503020204020204" pitchFamily="34" charset="-122"/>
                <a:ea typeface="微软雅黑" panose="020B0503020204020204" pitchFamily="34" charset="-122"/>
                <a:sym typeface="+mn-ea"/>
              </a:rPr>
              <a:t>调整</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适用范围       </a:t>
            </a:r>
            <a:r>
              <a:rPr lang="en-US" altLang="zh-CN" sz="2800" dirty="0" smtClean="0">
                <a:solidFill>
                  <a:srgbClr val="002060"/>
                </a:solidFill>
                <a:latin typeface="微软雅黑" panose="020B0503020204020204" pitchFamily="34" charset="-122"/>
                <a:ea typeface="微软雅黑" panose="020B0503020204020204" pitchFamily="34" charset="-122"/>
                <a:sym typeface="+mn-ea"/>
              </a:rPr>
              <a:t>2</a:t>
            </a:r>
            <a:r>
              <a:rPr lang="en-US" altLang="zh-CN" sz="2800" dirty="0">
                <a:solidFill>
                  <a:srgbClr val="002060"/>
                </a:solidFill>
                <a:latin typeface="微软雅黑" panose="020B0503020204020204" pitchFamily="34" charset="-122"/>
                <a:ea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sym typeface="+mn-ea"/>
              </a:rPr>
              <a:t>调整</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驾驶员考试内容</a:t>
            </a:r>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r>
              <a:rPr lang="en-US" altLang="zh-CN" sz="2800" dirty="0">
                <a:solidFill>
                  <a:srgbClr val="002060"/>
                </a:solidFill>
                <a:latin typeface="微软雅黑" panose="020B0503020204020204" pitchFamily="34" charset="-122"/>
                <a:ea typeface="微软雅黑" panose="020B0503020204020204" pitchFamily="34" charset="-122"/>
                <a:sym typeface="+mn-ea"/>
              </a:rPr>
              <a:t>3.</a:t>
            </a:r>
            <a:r>
              <a:rPr lang="zh-CN" altLang="en-US" sz="2800" dirty="0">
                <a:solidFill>
                  <a:srgbClr val="002060"/>
                </a:solidFill>
                <a:latin typeface="微软雅黑" panose="020B0503020204020204" pitchFamily="34" charset="-122"/>
                <a:ea typeface="微软雅黑" panose="020B0503020204020204" pitchFamily="34" charset="-122"/>
                <a:sym typeface="+mn-ea"/>
              </a:rPr>
              <a:t>调整驾驶员</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条件    </a:t>
            </a:r>
            <a:r>
              <a:rPr lang="en-US" altLang="zh-CN" sz="2800" dirty="0" smtClean="0">
                <a:solidFill>
                  <a:srgbClr val="002060"/>
                </a:solidFill>
                <a:latin typeface="微软雅黑" panose="020B0503020204020204" pitchFamily="34" charset="-122"/>
                <a:ea typeface="微软雅黑" panose="020B0503020204020204" pitchFamily="34" charset="-122"/>
                <a:sym typeface="+mn-ea"/>
              </a:rPr>
              <a:t>4</a:t>
            </a:r>
            <a:r>
              <a:rPr lang="en-US" altLang="zh-CN" sz="2800" dirty="0">
                <a:solidFill>
                  <a:srgbClr val="002060"/>
                </a:solidFill>
                <a:latin typeface="微软雅黑" panose="020B0503020204020204" pitchFamily="34" charset="-122"/>
                <a:ea typeface="微软雅黑" panose="020B0503020204020204" pitchFamily="34" charset="-122"/>
                <a:sym typeface="+mn-ea"/>
              </a:rPr>
              <a:t>.</a:t>
            </a:r>
            <a:r>
              <a:rPr lang="zh-CN" altLang="en-US" sz="2800" dirty="0">
                <a:solidFill>
                  <a:srgbClr val="002060"/>
                </a:solidFill>
                <a:latin typeface="微软雅黑" panose="020B0503020204020204" pitchFamily="34" charset="-122"/>
                <a:ea typeface="微软雅黑" panose="020B0503020204020204" pitchFamily="34" charset="-122"/>
                <a:sym typeface="+mn-ea"/>
              </a:rPr>
              <a:t>调整证件类别</a:t>
            </a:r>
            <a:endParaRPr lang="zh-CN" altLang="en-US" sz="2800" dirty="0">
              <a:solidFill>
                <a:srgbClr val="002060"/>
              </a:solidFill>
              <a:latin typeface="微软雅黑" panose="020B0503020204020204" pitchFamily="34" charset="-122"/>
              <a:ea typeface="微软雅黑" panose="020B0503020204020204" pitchFamily="34" charset="-122"/>
              <a:sym typeface="+mn-ea"/>
            </a:endParaRPr>
          </a:p>
          <a:p>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r>
              <a:rPr lang="en-US" altLang="zh-CN" sz="2800" dirty="0">
                <a:solidFill>
                  <a:srgbClr val="002060"/>
                </a:solidFill>
                <a:latin typeface="微软雅黑" panose="020B0503020204020204" pitchFamily="34" charset="-122"/>
                <a:ea typeface="微软雅黑" panose="020B0503020204020204" pitchFamily="34" charset="-122"/>
                <a:sym typeface="+mn-ea"/>
              </a:rPr>
              <a:t>5.</a:t>
            </a:r>
            <a:r>
              <a:rPr lang="zh-CN" altLang="en-US" sz="2800" dirty="0">
                <a:solidFill>
                  <a:srgbClr val="002060"/>
                </a:solidFill>
                <a:latin typeface="微软雅黑" panose="020B0503020204020204" pitchFamily="34" charset="-122"/>
                <a:ea typeface="微软雅黑" panose="020B0503020204020204" pitchFamily="34" charset="-122"/>
                <a:sym typeface="+mn-ea"/>
              </a:rPr>
              <a:t>调整注册</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管理       </a:t>
            </a:r>
            <a:r>
              <a:rPr lang="en-US" altLang="zh-CN" sz="2800" dirty="0" smtClean="0">
                <a:solidFill>
                  <a:srgbClr val="002060"/>
                </a:solidFill>
                <a:latin typeface="微软雅黑" panose="020B0503020204020204" pitchFamily="34" charset="-122"/>
                <a:ea typeface="微软雅黑" panose="020B0503020204020204" pitchFamily="34" charset="-122"/>
                <a:sym typeface="+mn-ea"/>
              </a:rPr>
              <a:t>6.</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调整继续教育   </a:t>
            </a:r>
            <a:endParaRPr lang="en-US" altLang="zh-CN" sz="2800" dirty="0" smtClean="0">
              <a:solidFill>
                <a:srgbClr val="002060"/>
              </a:solidFill>
              <a:latin typeface="微软雅黑" panose="020B0503020204020204" pitchFamily="34" charset="-122"/>
              <a:ea typeface="微软雅黑" panose="020B0503020204020204" pitchFamily="34" charset="-122"/>
              <a:sym typeface="+mn-ea"/>
            </a:endParaRPr>
          </a:p>
          <a:p>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r>
              <a:rPr lang="en-US" altLang="zh-CN" sz="2800" dirty="0" smtClean="0">
                <a:solidFill>
                  <a:srgbClr val="002060"/>
                </a:solidFill>
                <a:latin typeface="微软雅黑" panose="020B0503020204020204" pitchFamily="34" charset="-122"/>
                <a:ea typeface="微软雅黑" panose="020B0503020204020204" pitchFamily="34" charset="-122"/>
                <a:sym typeface="+mn-ea"/>
              </a:rPr>
              <a:t>7.</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调整证件管理       </a:t>
            </a:r>
            <a:r>
              <a:rPr lang="en-US" altLang="zh-CN" sz="2800" dirty="0" smtClean="0">
                <a:solidFill>
                  <a:srgbClr val="002060"/>
                </a:solidFill>
                <a:latin typeface="微软雅黑" panose="020B0503020204020204" pitchFamily="34" charset="-122"/>
                <a:ea typeface="微软雅黑" panose="020B0503020204020204" pitchFamily="34" charset="-122"/>
                <a:sym typeface="+mn-ea"/>
              </a:rPr>
              <a:t>8.</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调整法律责任</a:t>
            </a:r>
            <a:endParaRPr lang="zh-CN" altLang="en-US" sz="2800" dirty="0">
              <a:solidFill>
                <a:srgbClr val="002060"/>
              </a:solidFill>
              <a:latin typeface="微软雅黑" panose="020B0503020204020204" pitchFamily="34" charset="-122"/>
              <a:ea typeface="微软雅黑" panose="020B0503020204020204" pitchFamily="34" charset="-122"/>
              <a:sym typeface="+mn-ea"/>
            </a:endParaRPr>
          </a:p>
        </p:txBody>
      </p:sp>
      <p:sp>
        <p:nvSpPr>
          <p:cNvPr id="8" name="Rectangle 25"/>
          <p:cNvSpPr>
            <a:spLocks noChangeArrowheads="1"/>
          </p:cNvSpPr>
          <p:nvPr/>
        </p:nvSpPr>
        <p:spPr bwMode="white">
          <a:xfrm>
            <a:off x="998483" y="3064343"/>
            <a:ext cx="3636134"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342900" eaLnBrk="1" hangingPunct="1">
              <a:lnSpc>
                <a:spcPct val="150000"/>
              </a:lnSpc>
            </a:pPr>
            <a:r>
              <a:rPr lang="zh-CN" altLang="en-US" sz="2400" dirty="0" smtClean="0">
                <a:solidFill>
                  <a:schemeClr val="tx2"/>
                </a:solidFill>
                <a:latin typeface="+mn-ea"/>
                <a:ea typeface="+mn-ea"/>
              </a:rPr>
              <a:t>共分为总则、考试、注册、继续教育、从业资格证件管理、法律责任以及附则</a:t>
            </a:r>
            <a:r>
              <a:rPr lang="en-US" altLang="zh-CN" sz="2400" dirty="0" smtClean="0">
                <a:solidFill>
                  <a:schemeClr val="tx2"/>
                </a:solidFill>
                <a:latin typeface="+mn-ea"/>
                <a:ea typeface="+mn-ea"/>
              </a:rPr>
              <a:t>7</a:t>
            </a:r>
            <a:r>
              <a:rPr lang="zh-CN" altLang="en-US" sz="2400" dirty="0" smtClean="0">
                <a:solidFill>
                  <a:schemeClr val="tx2"/>
                </a:solidFill>
                <a:latin typeface="+mn-ea"/>
                <a:ea typeface="+mn-ea"/>
              </a:rPr>
              <a:t>章</a:t>
            </a:r>
            <a:r>
              <a:rPr lang="en-US" altLang="zh-CN" sz="2400" dirty="0" smtClean="0">
                <a:solidFill>
                  <a:schemeClr val="tx2"/>
                </a:solidFill>
                <a:latin typeface="+mn-ea"/>
                <a:ea typeface="+mn-ea"/>
              </a:rPr>
              <a:t>48</a:t>
            </a:r>
            <a:r>
              <a:rPr lang="zh-CN" altLang="en-US" sz="2400" dirty="0" smtClean="0">
                <a:solidFill>
                  <a:schemeClr val="tx2"/>
                </a:solidFill>
                <a:latin typeface="+mn-ea"/>
                <a:ea typeface="+mn-ea"/>
              </a:rPr>
              <a:t>条。</a:t>
            </a:r>
            <a:endParaRPr lang="zh-CN" altLang="en-US" sz="2400" dirty="0" smtClean="0">
              <a:solidFill>
                <a:schemeClr val="tx2"/>
              </a:solidFill>
              <a:latin typeface="+mn-ea"/>
              <a:ea typeface="+mn-ea"/>
            </a:endParaRPr>
          </a:p>
        </p:txBody>
      </p:sp>
      <p:cxnSp>
        <p:nvCxnSpPr>
          <p:cNvPr id="9" name="直接连接符 8"/>
          <p:cNvCxnSpPr/>
          <p:nvPr/>
        </p:nvCxnSpPr>
        <p:spPr>
          <a:xfrm flipH="1">
            <a:off x="4582983" y="3160645"/>
            <a:ext cx="5644" cy="2060227"/>
          </a:xfrm>
          <a:prstGeom prst="line">
            <a:avLst/>
          </a:prstGeom>
          <a:ln w="3175"/>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nvCxnSpPr>
        <p:spPr>
          <a:xfrm>
            <a:off x="4641372" y="3169112"/>
            <a:ext cx="11289" cy="2043292"/>
          </a:xfrm>
          <a:prstGeom prst="line">
            <a:avLst/>
          </a:prstGeom>
          <a:ln w="28575"/>
        </p:spPr>
        <p:style>
          <a:lnRef idx="1">
            <a:schemeClr val="accent2"/>
          </a:lnRef>
          <a:fillRef idx="0">
            <a:schemeClr val="accent2"/>
          </a:fillRef>
          <a:effectRef idx="0">
            <a:schemeClr val="accent2"/>
          </a:effectRef>
          <a:fontRef idx="minor">
            <a:schemeClr val="tx1"/>
          </a:fontRef>
        </p:style>
      </p:cxn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a:solidFill>
                  <a:srgbClr val="E96A0F"/>
                </a:solidFill>
                <a:latin typeface="微软雅黑" panose="020B0503020204020204" pitchFamily="34" charset="-122"/>
                <a:sym typeface="微软雅黑" panose="020B0503020204020204" pitchFamily="34" charset="-122"/>
              </a:rPr>
              <a:t>出租汽车驾驶员从业资格管理规定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修订内容</a:t>
            </a:r>
            <a:endParaRPr lang="zh-CN" altLang="en-US"/>
          </a:p>
        </p:txBody>
      </p:sp>
      <p:sp>
        <p:nvSpPr>
          <p:cNvPr id="12" name="文本框 3"/>
          <p:cNvSpPr txBox="1"/>
          <p:nvPr/>
        </p:nvSpPr>
        <p:spPr>
          <a:xfrm>
            <a:off x="497294" y="1464256"/>
            <a:ext cx="3840480" cy="583565"/>
          </a:xfrm>
          <a:prstGeom prst="rect">
            <a:avLst/>
          </a:prstGeom>
          <a:noFill/>
        </p:spPr>
        <p:txBody>
          <a:bodyPr wrap="none" rtlCol="0">
            <a:spAutoFit/>
          </a:bodyPr>
          <a:lstStyle/>
          <a:p>
            <a:r>
              <a:rPr lang="zh-CN" altLang="en-US" sz="3200" b="1" dirty="0" smtClean="0">
                <a:solidFill>
                  <a:srgbClr val="FF0000"/>
                </a:solidFill>
                <a:latin typeface="微软雅黑" panose="020B0503020204020204" pitchFamily="34" charset="-122"/>
                <a:ea typeface="微软雅黑" panose="020B0503020204020204" pitchFamily="34" charset="-122"/>
              </a:rPr>
              <a:t>调整驾驶员考试内容</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8" name="矩形 7"/>
          <p:cNvSpPr/>
          <p:nvPr/>
        </p:nvSpPr>
        <p:spPr>
          <a:xfrm>
            <a:off x="641985" y="2263140"/>
            <a:ext cx="6791960" cy="3415030"/>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第七条  出租汽车驾驶员从业资格考试包括全国公共科目和区域科目考试。</a:t>
            </a:r>
            <a:endParaRPr lang="zh-CN" altLang="en-US" sz="28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全国公共科目考试是对国家出租汽车法律法规、职业道德、服务规范、安全运营等具有普遍规范要求的知识测试</a:t>
            </a:r>
            <a:r>
              <a:rPr lang="zh-CN" altLang="en-US" sz="3200" dirty="0">
                <a:solidFill>
                  <a:srgbClr val="002060"/>
                </a:solidFill>
                <a:latin typeface="微软雅黑" panose="020B0503020204020204" pitchFamily="34" charset="-122"/>
                <a:ea typeface="微软雅黑" panose="020B0503020204020204" pitchFamily="34" charset="-122"/>
              </a:rPr>
              <a:t>。</a:t>
            </a:r>
            <a:endParaRPr lang="zh-CN" altLang="en-US" sz="3200" dirty="0">
              <a:solidFill>
                <a:srgbClr val="002060"/>
              </a:solidFill>
              <a:latin typeface="微软雅黑" panose="020B0503020204020204" pitchFamily="34" charset="-122"/>
              <a:ea typeface="微软雅黑" panose="020B0503020204020204" pitchFamily="34" charset="-122"/>
            </a:endParaRPr>
          </a:p>
        </p:txBody>
      </p:sp>
      <p:pic>
        <p:nvPicPr>
          <p:cNvPr id="2" name="图片 1" descr="考场监控"/>
          <p:cNvPicPr/>
          <p:nvPr/>
        </p:nvPicPr>
        <p:blipFill>
          <a:blip r:embed="rId1"/>
          <a:stretch>
            <a:fillRect/>
          </a:stretch>
        </p:blipFill>
        <p:spPr>
          <a:xfrm>
            <a:off x="7977505" y="1464310"/>
            <a:ext cx="3600000" cy="2026800"/>
          </a:xfrm>
          <a:prstGeom prst="rect">
            <a:avLst/>
          </a:prstGeom>
          <a:effectLst>
            <a:outerShdw blurRad="63500" dist="63500" dir="18900000" algn="bl" rotWithShape="0">
              <a:prstClr val="black">
                <a:alpha val="30000"/>
              </a:prstClr>
            </a:outerShdw>
          </a:effectLst>
        </p:spPr>
      </p:pic>
      <p:pic>
        <p:nvPicPr>
          <p:cNvPr id="4" name="图片 3" descr="考试系统"/>
          <p:cNvPicPr>
            <a:picLocks noChangeAspect="1"/>
          </p:cNvPicPr>
          <p:nvPr/>
        </p:nvPicPr>
        <p:blipFill>
          <a:blip r:embed="rId2"/>
          <a:stretch>
            <a:fillRect/>
          </a:stretch>
        </p:blipFill>
        <p:spPr>
          <a:xfrm>
            <a:off x="7977505" y="3850640"/>
            <a:ext cx="3600000" cy="2026998"/>
          </a:xfrm>
          <a:prstGeom prst="rect">
            <a:avLst/>
          </a:prstGeom>
          <a:effectLst>
            <a:outerShdw blurRad="63500" dist="63500" dir="18900000" algn="bl" rotWithShape="0">
              <a:prstClr val="black">
                <a:alpha val="30000"/>
              </a:prstClr>
            </a:outerShdw>
          </a:effectLst>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a:solidFill>
                  <a:srgbClr val="E96A0F"/>
                </a:solidFill>
                <a:latin typeface="微软雅黑" panose="020B0503020204020204" pitchFamily="34" charset="-122"/>
                <a:sym typeface="微软雅黑" panose="020B0503020204020204" pitchFamily="34" charset="-122"/>
              </a:rPr>
              <a:t>出租汽车驾驶员从业资格管理规定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修订内容</a:t>
            </a:r>
            <a:endParaRPr lang="zh-CN" altLang="en-US"/>
          </a:p>
        </p:txBody>
      </p:sp>
      <p:sp>
        <p:nvSpPr>
          <p:cNvPr id="5" name="内容占位符 4"/>
          <p:cNvSpPr>
            <a:spLocks noGrp="1"/>
          </p:cNvSpPr>
          <p:nvPr>
            <p:ph idx="1"/>
          </p:nvPr>
        </p:nvSpPr>
        <p:spPr/>
        <p:txBody>
          <a:bodyPr/>
          <a:p>
            <a:endParaRPr lang="zh-CN" altLang="en-US"/>
          </a:p>
        </p:txBody>
      </p:sp>
      <p:sp>
        <p:nvSpPr>
          <p:cNvPr id="41" name="矩形 40"/>
          <p:cNvSpPr>
            <a:spLocks noChangeArrowheads="1"/>
          </p:cNvSpPr>
          <p:nvPr/>
        </p:nvSpPr>
        <p:spPr bwMode="auto">
          <a:xfrm>
            <a:off x="-61681" y="665163"/>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dirty="0">
              <a:solidFill>
                <a:srgbClr val="E96A0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文本框 3"/>
          <p:cNvSpPr txBox="1"/>
          <p:nvPr/>
        </p:nvSpPr>
        <p:spPr>
          <a:xfrm>
            <a:off x="497294" y="1527316"/>
            <a:ext cx="2621280" cy="583565"/>
          </a:xfrm>
          <a:prstGeom prst="rect">
            <a:avLst/>
          </a:prstGeom>
          <a:noFill/>
        </p:spPr>
        <p:txBody>
          <a:bodyPr wrap="none" rtlCol="0">
            <a:spAutoFit/>
          </a:bodyPr>
          <a:lstStyle/>
          <a:p>
            <a:r>
              <a:rPr lang="zh-CN" altLang="en-US" sz="3200" b="1" dirty="0" smtClean="0">
                <a:solidFill>
                  <a:srgbClr val="FF0000"/>
                </a:solidFill>
                <a:latin typeface="微软雅黑" panose="020B0503020204020204" pitchFamily="34" charset="-122"/>
                <a:ea typeface="微软雅黑" panose="020B0503020204020204" pitchFamily="34" charset="-122"/>
              </a:rPr>
              <a:t>调整注册管理</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7" name="矩形 6"/>
          <p:cNvSpPr/>
          <p:nvPr/>
        </p:nvSpPr>
        <p:spPr>
          <a:xfrm>
            <a:off x="401052" y="2154773"/>
            <a:ext cx="11534274" cy="3969385"/>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网络预约出租汽车驾驶员的注册，通过网约车经营者向发证机关所在地出租汽车行政主管部门报备完成，报备信息包括驾驶员从业资格证信息、与出租汽车经营者签订的劳动合同或者协议等。</a:t>
            </a:r>
            <a:endParaRPr lang="zh-CN" altLang="en-US" sz="28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网络预约出租汽车驾驶员与出租汽车经营者解除劳动合同或者协议的，通过出租汽车经营者向发证机关所在地出租汽车行政主管部门报备完成注销。</a:t>
            </a:r>
            <a:endParaRPr lang="zh-CN" altLang="en-US" sz="28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a:solidFill>
                  <a:srgbClr val="E96A0F"/>
                </a:solidFill>
                <a:latin typeface="微软雅黑" panose="020B0503020204020204" pitchFamily="34" charset="-122"/>
                <a:sym typeface="微软雅黑" panose="020B0503020204020204" pitchFamily="34" charset="-122"/>
              </a:rPr>
              <a:t>出租汽车驾驶员从业资格管理规定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修订内容</a:t>
            </a:r>
            <a:endParaRPr lang="zh-CN" altLang="en-US"/>
          </a:p>
        </p:txBody>
      </p:sp>
      <p:sp>
        <p:nvSpPr>
          <p:cNvPr id="5" name="内容占位符 4"/>
          <p:cNvSpPr>
            <a:spLocks noGrp="1"/>
          </p:cNvSpPr>
          <p:nvPr>
            <p:ph idx="1"/>
          </p:nvPr>
        </p:nvSpPr>
        <p:spPr/>
        <p:txBody>
          <a:bodyPr/>
          <a:p>
            <a:endParaRPr lang="zh-CN" altLang="en-US"/>
          </a:p>
        </p:txBody>
      </p:sp>
      <p:sp>
        <p:nvSpPr>
          <p:cNvPr id="12" name="文本框 3"/>
          <p:cNvSpPr txBox="1"/>
          <p:nvPr/>
        </p:nvSpPr>
        <p:spPr>
          <a:xfrm>
            <a:off x="497294" y="1453746"/>
            <a:ext cx="2011680" cy="460375"/>
          </a:xfrm>
          <a:prstGeom prst="rect">
            <a:avLst/>
          </a:prstGeom>
          <a:noFill/>
        </p:spPr>
        <p:txBody>
          <a:bodyPr wrap="none" rtlCol="0">
            <a:spAutoFit/>
          </a:bodyPr>
          <a:lstStyle/>
          <a:p>
            <a:r>
              <a:rPr lang="zh-CN" altLang="en-US" sz="2400" b="1" dirty="0" smtClean="0">
                <a:solidFill>
                  <a:srgbClr val="FF0000"/>
                </a:solidFill>
                <a:latin typeface="微软雅黑" panose="020B0503020204020204" pitchFamily="34" charset="-122"/>
                <a:ea typeface="微软雅黑" panose="020B0503020204020204" pitchFamily="34" charset="-122"/>
              </a:rPr>
              <a:t>调整法律责任</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7" name="矩形 6"/>
          <p:cNvSpPr/>
          <p:nvPr/>
        </p:nvSpPr>
        <p:spPr>
          <a:xfrm>
            <a:off x="328862" y="2027592"/>
            <a:ext cx="11694971" cy="3302635"/>
          </a:xfrm>
          <a:prstGeom prst="rect">
            <a:avLst/>
          </a:prstGeom>
        </p:spPr>
        <p:txBody>
          <a:bodyPr wrap="square">
            <a:spAutoFit/>
          </a:bodyPr>
          <a:lstStyle/>
          <a:p>
            <a:pPr>
              <a:lnSpc>
                <a:spcPts val="4000"/>
              </a:lnSpc>
            </a:pPr>
            <a:r>
              <a:rPr lang="en-US" altLang="zh-CN" sz="22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dirty="0">
                <a:solidFill>
                  <a:srgbClr val="002060"/>
                </a:solidFill>
                <a:latin typeface="微软雅黑" panose="020B0503020204020204" pitchFamily="34" charset="-122"/>
                <a:ea typeface="微软雅黑" panose="020B0503020204020204" pitchFamily="34" charset="-122"/>
              </a:rPr>
              <a:t>第四十一条　违反本规定，有下列行为之一的人员，由县级以上出租汽车行政主管部门责令改正，并处1万元以上3万元以下的罚款；构成犯罪的，依法追究刑事责任：</a:t>
            </a:r>
            <a:endParaRPr lang="zh-CN" altLang="en-US" sz="2200" dirty="0">
              <a:solidFill>
                <a:srgbClr val="002060"/>
              </a:solidFill>
              <a:latin typeface="微软雅黑" panose="020B0503020204020204" pitchFamily="34" charset="-122"/>
              <a:ea typeface="微软雅黑" panose="020B0503020204020204" pitchFamily="34" charset="-122"/>
            </a:endParaRPr>
          </a:p>
          <a:p>
            <a:pPr>
              <a:lnSpc>
                <a:spcPts val="4000"/>
              </a:lnSpc>
            </a:pPr>
            <a:r>
              <a:rPr lang="en-US" altLang="zh-CN" sz="22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dirty="0">
                <a:solidFill>
                  <a:srgbClr val="002060"/>
                </a:solidFill>
                <a:latin typeface="微软雅黑" panose="020B0503020204020204" pitchFamily="34" charset="-122"/>
                <a:ea typeface="微软雅黑" panose="020B0503020204020204" pitchFamily="34" charset="-122"/>
              </a:rPr>
              <a:t>（一）未取得从业资格证或者超越从业资格证核定范围，驾驶出租汽车从事经营活动的；</a:t>
            </a:r>
            <a:endParaRPr lang="zh-CN" altLang="en-US" sz="2200" dirty="0">
              <a:solidFill>
                <a:srgbClr val="002060"/>
              </a:solidFill>
              <a:latin typeface="微软雅黑" panose="020B0503020204020204" pitchFamily="34" charset="-122"/>
              <a:ea typeface="微软雅黑" panose="020B0503020204020204" pitchFamily="34" charset="-122"/>
            </a:endParaRPr>
          </a:p>
          <a:p>
            <a:pPr>
              <a:lnSpc>
                <a:spcPts val="4000"/>
              </a:lnSpc>
            </a:pPr>
            <a:r>
              <a:rPr lang="zh-CN" altLang="en-US" sz="2200" dirty="0">
                <a:solidFill>
                  <a:srgbClr val="002060"/>
                </a:solidFill>
                <a:latin typeface="微软雅黑" panose="020B0503020204020204" pitchFamily="34" charset="-122"/>
                <a:ea typeface="微软雅黑" panose="020B0503020204020204" pitchFamily="34" charset="-122"/>
              </a:rPr>
              <a:t>       （二）使用失效、伪造、变造的从业资格证，驾驶出租汽车从事经营活动的；</a:t>
            </a:r>
            <a:endParaRPr lang="zh-CN" altLang="en-US" sz="2200" dirty="0">
              <a:solidFill>
                <a:srgbClr val="002060"/>
              </a:solidFill>
              <a:latin typeface="微软雅黑" panose="020B0503020204020204" pitchFamily="34" charset="-122"/>
              <a:ea typeface="微软雅黑" panose="020B0503020204020204" pitchFamily="34" charset="-122"/>
            </a:endParaRPr>
          </a:p>
          <a:p>
            <a:pPr>
              <a:lnSpc>
                <a:spcPts val="4000"/>
              </a:lnSpc>
            </a:pPr>
            <a:r>
              <a:rPr lang="zh-CN" altLang="en-US" sz="2200" dirty="0">
                <a:solidFill>
                  <a:srgbClr val="002060"/>
                </a:solidFill>
                <a:latin typeface="微软雅黑" panose="020B0503020204020204" pitchFamily="34" charset="-122"/>
                <a:ea typeface="微软雅黑" panose="020B0503020204020204" pitchFamily="34" charset="-122"/>
              </a:rPr>
              <a:t>       （三）转借、出租、涂改从业资格证的。</a:t>
            </a:r>
            <a:endParaRPr lang="zh-CN" altLang="en-US" sz="22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zh-CN" altLang="en-US" sz="2800" dirty="0">
              <a:solidFill>
                <a:srgbClr val="002060"/>
              </a:solidFill>
              <a:latin typeface="微软雅黑" panose="020B0503020204020204" pitchFamily="34" charset="-122"/>
              <a:ea typeface="微软雅黑" panose="020B0503020204020204" pitchFamily="34" charset="-122"/>
            </a:endParaRPr>
          </a:p>
        </p:txBody>
      </p:sp>
      <p:sp>
        <p:nvSpPr>
          <p:cNvPr id="8" name="文本框 5"/>
          <p:cNvSpPr txBox="1"/>
          <p:nvPr/>
        </p:nvSpPr>
        <p:spPr>
          <a:xfrm>
            <a:off x="328863" y="4999123"/>
            <a:ext cx="11534274" cy="1106805"/>
          </a:xfrm>
          <a:prstGeom prst="rect">
            <a:avLst/>
          </a:prstGeom>
          <a:noFill/>
          <a:ln w="28575">
            <a:solidFill>
              <a:srgbClr val="2C6EAA"/>
            </a:solidFill>
          </a:ln>
        </p:spPr>
        <p:txBody>
          <a:bodyPr wrap="square" rtlCol="0">
            <a:spAutoFit/>
          </a:bodyPr>
          <a:lstStyle/>
          <a:p>
            <a:pPr>
              <a:lnSpc>
                <a:spcPct val="150000"/>
              </a:lnSpc>
              <a:spcBef>
                <a:spcPct val="0"/>
              </a:spcBef>
              <a:buClrTx/>
              <a:buSzTx/>
              <a:buFontTx/>
              <a:buNone/>
            </a:pPr>
            <a:r>
              <a:rPr lang="en-US" altLang="zh-CN" sz="22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dirty="0" smtClean="0">
                <a:solidFill>
                  <a:srgbClr val="002060"/>
                </a:solidFill>
                <a:latin typeface="微软雅黑" panose="020B0503020204020204" pitchFamily="34" charset="-122"/>
                <a:ea typeface="微软雅黑" panose="020B0503020204020204" pitchFamily="34" charset="-122"/>
                <a:sym typeface="+mn-ea"/>
              </a:rPr>
              <a:t>原先只是</a:t>
            </a:r>
            <a:r>
              <a:rPr lang="en-US" altLang="zh-CN" sz="2200" dirty="0" smtClean="0">
                <a:solidFill>
                  <a:srgbClr val="002060"/>
                </a:solidFill>
                <a:latin typeface="微软雅黑" panose="020B0503020204020204" pitchFamily="34" charset="-122"/>
                <a:ea typeface="微软雅黑" panose="020B0503020204020204" pitchFamily="34" charset="-122"/>
                <a:sym typeface="+mn-ea"/>
              </a:rPr>
              <a:t>200</a:t>
            </a:r>
            <a:r>
              <a:rPr lang="zh-CN" altLang="en-US" sz="2200" dirty="0">
                <a:solidFill>
                  <a:srgbClr val="002060"/>
                </a:solidFill>
                <a:latin typeface="微软雅黑" panose="020B0503020204020204" pitchFamily="34" charset="-122"/>
                <a:ea typeface="微软雅黑" panose="020B0503020204020204" pitchFamily="34" charset="-122"/>
                <a:sym typeface="+mn-ea"/>
              </a:rPr>
              <a:t>元以上</a:t>
            </a:r>
            <a:r>
              <a:rPr lang="en-US" altLang="zh-CN" sz="2200" dirty="0">
                <a:solidFill>
                  <a:srgbClr val="002060"/>
                </a:solidFill>
                <a:latin typeface="微软雅黑" panose="020B0503020204020204" pitchFamily="34" charset="-122"/>
                <a:ea typeface="微软雅黑" panose="020B0503020204020204" pitchFamily="34" charset="-122"/>
                <a:sym typeface="+mn-ea"/>
              </a:rPr>
              <a:t>2000</a:t>
            </a:r>
            <a:r>
              <a:rPr lang="zh-CN" altLang="en-US" sz="2200" dirty="0">
                <a:solidFill>
                  <a:srgbClr val="002060"/>
                </a:solidFill>
                <a:latin typeface="微软雅黑" panose="020B0503020204020204" pitchFamily="34" charset="-122"/>
                <a:ea typeface="微软雅黑" panose="020B0503020204020204" pitchFamily="34" charset="-122"/>
                <a:sym typeface="+mn-ea"/>
              </a:rPr>
              <a:t>元</a:t>
            </a:r>
            <a:r>
              <a:rPr lang="zh-CN" altLang="en-US" sz="2200" dirty="0" smtClean="0">
                <a:solidFill>
                  <a:srgbClr val="002060"/>
                </a:solidFill>
                <a:latin typeface="微软雅黑" panose="020B0503020204020204" pitchFamily="34" charset="-122"/>
                <a:ea typeface="微软雅黑" panose="020B0503020204020204" pitchFamily="34" charset="-122"/>
                <a:sym typeface="+mn-ea"/>
              </a:rPr>
              <a:t>以下罚款，加大</a:t>
            </a:r>
            <a:r>
              <a:rPr lang="zh-CN" altLang="en-US" sz="2200" dirty="0">
                <a:solidFill>
                  <a:srgbClr val="002060"/>
                </a:solidFill>
                <a:latin typeface="微软雅黑" panose="020B0503020204020204" pitchFamily="34" charset="-122"/>
                <a:ea typeface="微软雅黑" panose="020B0503020204020204" pitchFamily="34" charset="-122"/>
                <a:sym typeface="+mn-ea"/>
              </a:rPr>
              <a:t>了对无证驾驶员的处罚力度。按照</a:t>
            </a:r>
            <a:r>
              <a:rPr lang="en-US" altLang="zh-CN" sz="2200" dirty="0">
                <a:solidFill>
                  <a:srgbClr val="002060"/>
                </a:solidFill>
                <a:latin typeface="微软雅黑" panose="020B0503020204020204" pitchFamily="34" charset="-122"/>
                <a:ea typeface="微软雅黑" panose="020B0503020204020204" pitchFamily="34" charset="-122"/>
                <a:sym typeface="+mn-ea"/>
              </a:rPr>
              <a:t>60</a:t>
            </a:r>
            <a:r>
              <a:rPr lang="zh-CN" altLang="en-US" sz="2200" dirty="0">
                <a:solidFill>
                  <a:srgbClr val="002060"/>
                </a:solidFill>
                <a:latin typeface="微软雅黑" panose="020B0503020204020204" pitchFamily="34" charset="-122"/>
                <a:ea typeface="微软雅黑" panose="020B0503020204020204" pitchFamily="34" charset="-122"/>
                <a:sym typeface="+mn-ea"/>
              </a:rPr>
              <a:t>号令，处以</a:t>
            </a:r>
            <a:r>
              <a:rPr lang="en-US" altLang="zh-CN" sz="2200" dirty="0">
                <a:solidFill>
                  <a:srgbClr val="002060"/>
                </a:solidFill>
                <a:latin typeface="微软雅黑" panose="020B0503020204020204" pitchFamily="34" charset="-122"/>
                <a:ea typeface="微软雅黑" panose="020B0503020204020204" pitchFamily="34" charset="-122"/>
                <a:sym typeface="+mn-ea"/>
              </a:rPr>
              <a:t>1</a:t>
            </a:r>
            <a:r>
              <a:rPr lang="zh-CN" altLang="en-US" sz="2200" dirty="0">
                <a:solidFill>
                  <a:srgbClr val="002060"/>
                </a:solidFill>
                <a:latin typeface="微软雅黑" panose="020B0503020204020204" pitchFamily="34" charset="-122"/>
                <a:ea typeface="微软雅黑" panose="020B0503020204020204" pitchFamily="34" charset="-122"/>
                <a:sym typeface="+mn-ea"/>
              </a:rPr>
              <a:t>万元以上</a:t>
            </a:r>
            <a:r>
              <a:rPr lang="en-US" altLang="zh-CN" sz="2200" dirty="0">
                <a:solidFill>
                  <a:srgbClr val="002060"/>
                </a:solidFill>
                <a:latin typeface="微软雅黑" panose="020B0503020204020204" pitchFamily="34" charset="-122"/>
                <a:ea typeface="微软雅黑" panose="020B0503020204020204" pitchFamily="34" charset="-122"/>
                <a:sym typeface="+mn-ea"/>
              </a:rPr>
              <a:t>3</a:t>
            </a:r>
            <a:r>
              <a:rPr lang="zh-CN" altLang="en-US" sz="2200" dirty="0">
                <a:solidFill>
                  <a:srgbClr val="002060"/>
                </a:solidFill>
                <a:latin typeface="微软雅黑" panose="020B0503020204020204" pitchFamily="34" charset="-122"/>
                <a:ea typeface="微软雅黑" panose="020B0503020204020204" pitchFamily="34" charset="-122"/>
                <a:sym typeface="+mn-ea"/>
              </a:rPr>
              <a:t>万元以下的罚款。</a:t>
            </a:r>
            <a:endParaRPr lang="en-US" altLang="zh-CN" sz="22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a:solidFill>
                  <a:srgbClr val="E96A0F"/>
                </a:solidFill>
                <a:latin typeface="微软雅黑" panose="020B0503020204020204" pitchFamily="34" charset="-122"/>
                <a:sym typeface="微软雅黑" panose="020B0503020204020204" pitchFamily="34" charset="-122"/>
              </a:rPr>
              <a:t>出租汽车驾驶员从业资格管理规定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修订内容</a:t>
            </a:r>
            <a:endParaRPr lang="zh-CN" altLang="en-US"/>
          </a:p>
        </p:txBody>
      </p:sp>
      <p:sp>
        <p:nvSpPr>
          <p:cNvPr id="5" name="内容占位符 4"/>
          <p:cNvSpPr>
            <a:spLocks noGrp="1"/>
          </p:cNvSpPr>
          <p:nvPr>
            <p:ph idx="1"/>
          </p:nvPr>
        </p:nvSpPr>
        <p:spPr/>
        <p:txBody>
          <a:bodyPr/>
          <a:p>
            <a:endParaRPr lang="zh-CN" altLang="en-US"/>
          </a:p>
        </p:txBody>
      </p:sp>
      <p:sp>
        <p:nvSpPr>
          <p:cNvPr id="12" name="文本框 3"/>
          <p:cNvSpPr txBox="1"/>
          <p:nvPr/>
        </p:nvSpPr>
        <p:spPr>
          <a:xfrm>
            <a:off x="497294" y="1453746"/>
            <a:ext cx="8940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小结</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8" name="矩形 7"/>
          <p:cNvSpPr/>
          <p:nvPr/>
        </p:nvSpPr>
        <p:spPr>
          <a:xfrm>
            <a:off x="328863" y="1828647"/>
            <a:ext cx="11534274" cy="4707890"/>
          </a:xfrm>
          <a:prstGeom prst="rect">
            <a:avLst/>
          </a:prstGeom>
        </p:spPr>
        <p:txBody>
          <a:bodyPr wrap="square">
            <a:spAutoFit/>
          </a:bodyPr>
          <a:lstStyle/>
          <a:p>
            <a:pPr>
              <a:lnSpc>
                <a:spcPct val="150000"/>
              </a:lnSpc>
            </a:pPr>
            <a:r>
              <a:rPr lang="en-US" altLang="zh-CN" sz="32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smtClean="0">
                <a:solidFill>
                  <a:srgbClr val="002060"/>
                </a:solidFill>
                <a:latin typeface="微软雅黑" panose="020B0503020204020204" pitchFamily="34" charset="-122"/>
                <a:ea typeface="微软雅黑" panose="020B0503020204020204" pitchFamily="34" charset="-122"/>
              </a:rPr>
              <a:t>修订</a:t>
            </a:r>
            <a:r>
              <a:rPr lang="zh-CN" altLang="en-US" sz="2800" dirty="0">
                <a:solidFill>
                  <a:srgbClr val="002060"/>
                </a:solidFill>
                <a:latin typeface="微软雅黑" panose="020B0503020204020204" pitchFamily="34" charset="-122"/>
                <a:ea typeface="微软雅黑" panose="020B0503020204020204" pitchFamily="34" charset="-122"/>
              </a:rPr>
              <a:t>后的</a:t>
            </a:r>
            <a:r>
              <a:rPr lang="en-US" altLang="zh-CN" sz="2800" dirty="0">
                <a:solidFill>
                  <a:srgbClr val="002060"/>
                </a:solidFill>
                <a:latin typeface="微软雅黑" panose="020B0503020204020204" pitchFamily="34" charset="-122"/>
                <a:ea typeface="微软雅黑" panose="020B0503020204020204" pitchFamily="34" charset="-122"/>
              </a:rPr>
              <a:t>《</a:t>
            </a:r>
            <a:r>
              <a:rPr lang="zh-CN" altLang="en-US" sz="2800" dirty="0">
                <a:solidFill>
                  <a:srgbClr val="002060"/>
                </a:solidFill>
                <a:latin typeface="微软雅黑" panose="020B0503020204020204" pitchFamily="34" charset="-122"/>
                <a:ea typeface="微软雅黑" panose="020B0503020204020204" pitchFamily="34" charset="-122"/>
              </a:rPr>
              <a:t>出租汽车驾驶员从业资格管理规定</a:t>
            </a:r>
            <a:r>
              <a:rPr lang="en-US" altLang="zh-CN" sz="2800" dirty="0">
                <a:solidFill>
                  <a:srgbClr val="002060"/>
                </a:solidFill>
                <a:latin typeface="微软雅黑" panose="020B0503020204020204" pitchFamily="34" charset="-122"/>
                <a:ea typeface="微软雅黑" panose="020B0503020204020204" pitchFamily="34" charset="-122"/>
              </a:rPr>
              <a:t>》</a:t>
            </a:r>
            <a:r>
              <a:rPr lang="zh-CN" altLang="en-US" sz="2800" dirty="0">
                <a:solidFill>
                  <a:srgbClr val="002060"/>
                </a:solidFill>
                <a:latin typeface="微软雅黑" panose="020B0503020204020204" pitchFamily="34" charset="-122"/>
                <a:ea typeface="微软雅黑" panose="020B0503020204020204" pitchFamily="34" charset="-122"/>
              </a:rPr>
              <a:t>明确出租汽车驾驶员从业资格包括巡游出租汽车驾驶员从业资格和网络预约出租汽车驾驶员从业资格等，并结合网约车新业态的特点，对驾驶员条件、考试内容、证件类别、注册管理、继续教育以及法律责任等方面作了相应适应性调整。</a:t>
            </a:r>
            <a:endParaRPr lang="zh-CN" altLang="en-US" sz="28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dirty="0">
                <a:solidFill>
                  <a:srgbClr val="002060"/>
                </a:solidFill>
                <a:latin typeface="微软雅黑" panose="020B0503020204020204" pitchFamily="34" charset="-122"/>
                <a:ea typeface="微软雅黑" panose="020B0503020204020204" pitchFamily="34" charset="-122"/>
              </a:rPr>
              <a:t>考试内容更加简化、证件类别体现特色、注册管理更加便利，驾驶员基本条件与继续教育注重公平与实效。</a:t>
            </a:r>
            <a:endParaRPr lang="zh-CN" altLang="en-US" sz="28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41" name="矩形 40"/>
          <p:cNvSpPr>
            <a:spLocks noChangeArrowheads="1"/>
          </p:cNvSpPr>
          <p:nvPr/>
        </p:nvSpPr>
        <p:spPr bwMode="auto">
          <a:xfrm>
            <a:off x="-61681" y="665163"/>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dirty="0">
              <a:solidFill>
                <a:srgbClr val="E96A0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1"/>
          <p:cNvSpPr txBox="1"/>
          <p:nvPr/>
        </p:nvSpPr>
        <p:spPr>
          <a:xfrm>
            <a:off x="0" y="1689058"/>
            <a:ext cx="12288251" cy="1753235"/>
          </a:xfrm>
          <a:prstGeom prst="rect">
            <a:avLst/>
          </a:prstGeom>
          <a:noFill/>
        </p:spPr>
        <p:txBody>
          <a:bodyPr wrap="square" rtlCol="0">
            <a:spAutoFit/>
          </a:bodyPr>
          <a:lstStyle/>
          <a:p>
            <a:pPr algn="ctr">
              <a:lnSpc>
                <a:spcPct val="150000"/>
              </a:lnSpc>
            </a:pPr>
            <a:r>
              <a:rPr lang="en-US" altLang="zh-CN" sz="3600" b="1" dirty="0" smtClean="0">
                <a:solidFill>
                  <a:srgbClr val="1F4E79"/>
                </a:solidFill>
                <a:latin typeface="微软雅黑" panose="020B0503020204020204" pitchFamily="34" charset="-122"/>
                <a:ea typeface="微软雅黑" panose="020B0503020204020204" pitchFamily="34" charset="-122"/>
              </a:rPr>
              <a:t>《</a:t>
            </a:r>
            <a:r>
              <a:rPr lang="zh-CN" altLang="en-US" sz="3600" b="1" dirty="0" smtClean="0">
                <a:solidFill>
                  <a:srgbClr val="1F4E79"/>
                </a:solidFill>
                <a:latin typeface="微软雅黑" panose="020B0503020204020204" pitchFamily="34" charset="-122"/>
                <a:ea typeface="微软雅黑" panose="020B0503020204020204" pitchFamily="34" charset="-122"/>
              </a:rPr>
              <a:t>巡游出租汽车经营服务管理规定</a:t>
            </a:r>
            <a:r>
              <a:rPr lang="en-US" altLang="zh-CN" sz="3600" b="1" dirty="0" smtClean="0">
                <a:solidFill>
                  <a:srgbClr val="1F4E79"/>
                </a:solidFill>
                <a:latin typeface="微软雅黑" panose="020B0503020204020204" pitchFamily="34" charset="-122"/>
                <a:ea typeface="微软雅黑" panose="020B0503020204020204" pitchFamily="34" charset="-122"/>
              </a:rPr>
              <a:t>》</a:t>
            </a:r>
            <a:r>
              <a:rPr lang="zh-CN" altLang="en-US" sz="3600" b="1" dirty="0">
                <a:solidFill>
                  <a:srgbClr val="1F4E79"/>
                </a:solidFill>
                <a:latin typeface="微软雅黑" panose="020B0503020204020204" pitchFamily="34" charset="-122"/>
                <a:ea typeface="微软雅黑" panose="020B0503020204020204" pitchFamily="34" charset="-122"/>
              </a:rPr>
              <a:t>主要修订内容</a:t>
            </a:r>
            <a:endParaRPr lang="en-US" altLang="zh-CN" sz="3600" b="1" dirty="0">
              <a:solidFill>
                <a:srgbClr val="1F4E79"/>
              </a:solidFill>
              <a:latin typeface="微软雅黑" panose="020B0503020204020204" pitchFamily="34" charset="-122"/>
              <a:ea typeface="微软雅黑" panose="020B0503020204020204" pitchFamily="34" charset="-122"/>
            </a:endParaRPr>
          </a:p>
          <a:p>
            <a:pPr algn="ctr">
              <a:lnSpc>
                <a:spcPct val="150000"/>
              </a:lnSpc>
            </a:pPr>
            <a:endParaRPr lang="en-US" altLang="zh-CN" sz="3600" b="1" dirty="0">
              <a:solidFill>
                <a:srgbClr val="1F4E79"/>
              </a:solidFill>
              <a:latin typeface="微软雅黑" panose="020B0503020204020204" pitchFamily="34" charset="-122"/>
              <a:ea typeface="微软雅黑" panose="020B0503020204020204" pitchFamily="34" charset="-122"/>
            </a:endParaRPr>
          </a:p>
        </p:txBody>
      </p:sp>
      <p:sp>
        <p:nvSpPr>
          <p:cNvPr id="10" name="文本框 17"/>
          <p:cNvSpPr txBox="1"/>
          <p:nvPr/>
        </p:nvSpPr>
        <p:spPr>
          <a:xfrm>
            <a:off x="5185410" y="3160395"/>
            <a:ext cx="5877560" cy="2245360"/>
          </a:xfrm>
          <a:prstGeom prst="rect">
            <a:avLst/>
          </a:prstGeom>
          <a:noFill/>
        </p:spPr>
        <p:txBody>
          <a:bodyPr wrap="square" rtlCol="0">
            <a:spAutoFit/>
          </a:bodyPr>
          <a:lstStyle/>
          <a:p>
            <a:r>
              <a:rPr lang="en-US" altLang="zh-CN" sz="2800" dirty="0">
                <a:solidFill>
                  <a:srgbClr val="002060"/>
                </a:solidFill>
                <a:latin typeface="微软雅黑" panose="020B0503020204020204" pitchFamily="34" charset="-122"/>
                <a:ea typeface="微软雅黑" panose="020B0503020204020204" pitchFamily="34" charset="-122"/>
                <a:sym typeface="+mn-ea"/>
              </a:rPr>
              <a:t>1.</a:t>
            </a:r>
            <a:r>
              <a:rPr lang="zh-CN" altLang="en-US" sz="2800" dirty="0">
                <a:solidFill>
                  <a:srgbClr val="002060"/>
                </a:solidFill>
                <a:latin typeface="微软雅黑" panose="020B0503020204020204" pitchFamily="34" charset="-122"/>
                <a:ea typeface="微软雅黑" panose="020B0503020204020204" pitchFamily="34" charset="-122"/>
                <a:sym typeface="+mn-ea"/>
              </a:rPr>
              <a:t>调整</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适用范围   </a:t>
            </a:r>
            <a:endParaRPr lang="en-US" altLang="zh-CN" sz="2800" dirty="0" smtClean="0">
              <a:solidFill>
                <a:srgbClr val="002060"/>
              </a:solidFill>
              <a:latin typeface="微软雅黑" panose="020B0503020204020204" pitchFamily="34" charset="-122"/>
              <a:ea typeface="微软雅黑" panose="020B0503020204020204" pitchFamily="34" charset="-122"/>
              <a:sym typeface="+mn-ea"/>
            </a:endParaRPr>
          </a:p>
          <a:p>
            <a:r>
              <a:rPr lang="zh-CN" altLang="en-US" sz="2800" dirty="0" smtClean="0">
                <a:solidFill>
                  <a:srgbClr val="002060"/>
                </a:solidFill>
                <a:latin typeface="微软雅黑" panose="020B0503020204020204" pitchFamily="34" charset="-122"/>
                <a:ea typeface="微软雅黑" panose="020B0503020204020204" pitchFamily="34" charset="-122"/>
                <a:sym typeface="+mn-ea"/>
              </a:rPr>
              <a:t>   </a:t>
            </a:r>
            <a:endParaRPr lang="en-US" altLang="zh-CN" sz="2800" dirty="0" smtClean="0">
              <a:solidFill>
                <a:srgbClr val="002060"/>
              </a:solidFill>
              <a:latin typeface="微软雅黑" panose="020B0503020204020204" pitchFamily="34" charset="-122"/>
              <a:ea typeface="微软雅黑" panose="020B0503020204020204" pitchFamily="34" charset="-122"/>
              <a:sym typeface="+mn-ea"/>
            </a:endParaRPr>
          </a:p>
          <a:p>
            <a:r>
              <a:rPr lang="en-US" altLang="zh-CN" sz="2800" dirty="0" smtClean="0">
                <a:solidFill>
                  <a:srgbClr val="002060"/>
                </a:solidFill>
                <a:latin typeface="微软雅黑" panose="020B0503020204020204" pitchFamily="34" charset="-122"/>
                <a:ea typeface="微软雅黑" panose="020B0503020204020204" pitchFamily="34" charset="-122"/>
                <a:sym typeface="+mn-ea"/>
              </a:rPr>
              <a:t>2.</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明确了行业定位</a:t>
            </a:r>
            <a:endParaRPr lang="en-US" altLang="zh-CN" sz="2800" dirty="0" smtClean="0">
              <a:solidFill>
                <a:srgbClr val="002060"/>
              </a:solidFill>
              <a:latin typeface="微软雅黑" panose="020B0503020204020204" pitchFamily="34" charset="-122"/>
              <a:ea typeface="微软雅黑" panose="020B0503020204020204" pitchFamily="34" charset="-122"/>
              <a:sym typeface="+mn-ea"/>
            </a:endParaRPr>
          </a:p>
          <a:p>
            <a:endParaRPr lang="en-US" altLang="zh-CN" sz="2800" dirty="0">
              <a:solidFill>
                <a:srgbClr val="002060"/>
              </a:solidFill>
              <a:latin typeface="微软雅黑" panose="020B0503020204020204" pitchFamily="34" charset="-122"/>
              <a:ea typeface="微软雅黑" panose="020B0503020204020204" pitchFamily="34" charset="-122"/>
              <a:sym typeface="+mn-ea"/>
            </a:endParaRPr>
          </a:p>
          <a:p>
            <a:r>
              <a:rPr lang="en-US" altLang="zh-CN" sz="2800" dirty="0">
                <a:solidFill>
                  <a:srgbClr val="002060"/>
                </a:solidFill>
                <a:latin typeface="微软雅黑" panose="020B0503020204020204" pitchFamily="34" charset="-122"/>
                <a:ea typeface="微软雅黑" panose="020B0503020204020204" pitchFamily="34" charset="-122"/>
                <a:sym typeface="+mn-ea"/>
              </a:rPr>
              <a:t>3.</a:t>
            </a:r>
            <a:r>
              <a:rPr lang="zh-CN" altLang="en-US" sz="2800" dirty="0" smtClean="0">
                <a:solidFill>
                  <a:srgbClr val="002060"/>
                </a:solidFill>
                <a:latin typeface="微软雅黑" panose="020B0503020204020204" pitchFamily="34" charset="-122"/>
                <a:ea typeface="微软雅黑" panose="020B0503020204020204" pitchFamily="34" charset="-122"/>
                <a:sym typeface="+mn-ea"/>
              </a:rPr>
              <a:t>调整利益分配</a:t>
            </a:r>
            <a:endParaRPr lang="en-US" altLang="zh-CN" sz="2800" dirty="0">
              <a:solidFill>
                <a:srgbClr val="002060"/>
              </a:solidFill>
              <a:latin typeface="微软雅黑" panose="020B0503020204020204" pitchFamily="34" charset="-122"/>
              <a:ea typeface="微软雅黑" panose="020B0503020204020204" pitchFamily="34" charset="-122"/>
              <a:sym typeface="+mn-ea"/>
            </a:endParaRPr>
          </a:p>
        </p:txBody>
      </p:sp>
      <p:sp>
        <p:nvSpPr>
          <p:cNvPr id="8" name="Rectangle 25"/>
          <p:cNvSpPr>
            <a:spLocks noChangeArrowheads="1"/>
          </p:cNvSpPr>
          <p:nvPr/>
        </p:nvSpPr>
        <p:spPr bwMode="white">
          <a:xfrm>
            <a:off x="998483" y="3064343"/>
            <a:ext cx="3636134"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342900" eaLnBrk="1" hangingPunct="1">
              <a:lnSpc>
                <a:spcPct val="150000"/>
              </a:lnSpc>
            </a:pPr>
            <a:r>
              <a:rPr lang="zh-CN" altLang="en-US" sz="2400" dirty="0" smtClean="0">
                <a:solidFill>
                  <a:schemeClr val="tx2"/>
                </a:solidFill>
                <a:latin typeface="+mn-ea"/>
                <a:ea typeface="+mn-ea"/>
              </a:rPr>
              <a:t>共分为总则、经营许可、运营服务、运营保障、监督管理、法律责任以及附则</a:t>
            </a:r>
            <a:r>
              <a:rPr lang="en-US" altLang="zh-CN" sz="2400" dirty="0" smtClean="0">
                <a:solidFill>
                  <a:schemeClr val="tx2"/>
                </a:solidFill>
                <a:latin typeface="+mn-ea"/>
                <a:ea typeface="+mn-ea"/>
              </a:rPr>
              <a:t>7</a:t>
            </a:r>
            <a:r>
              <a:rPr lang="zh-CN" altLang="en-US" sz="2400" dirty="0" smtClean="0">
                <a:solidFill>
                  <a:schemeClr val="tx2"/>
                </a:solidFill>
                <a:latin typeface="+mn-ea"/>
                <a:ea typeface="+mn-ea"/>
              </a:rPr>
              <a:t>章</a:t>
            </a:r>
            <a:r>
              <a:rPr lang="en-US" altLang="zh-CN" sz="2400" dirty="0" smtClean="0">
                <a:solidFill>
                  <a:schemeClr val="tx2"/>
                </a:solidFill>
                <a:latin typeface="+mn-ea"/>
                <a:ea typeface="+mn-ea"/>
              </a:rPr>
              <a:t>53</a:t>
            </a:r>
            <a:r>
              <a:rPr lang="zh-CN" altLang="en-US" sz="2400" dirty="0" smtClean="0">
                <a:solidFill>
                  <a:schemeClr val="tx2"/>
                </a:solidFill>
                <a:latin typeface="+mn-ea"/>
                <a:ea typeface="+mn-ea"/>
              </a:rPr>
              <a:t>条。</a:t>
            </a:r>
            <a:endParaRPr lang="zh-CN" altLang="en-US" sz="2400" dirty="0" smtClean="0">
              <a:solidFill>
                <a:schemeClr val="tx2"/>
              </a:solidFill>
              <a:latin typeface="+mn-ea"/>
              <a:ea typeface="+mn-ea"/>
            </a:endParaRPr>
          </a:p>
        </p:txBody>
      </p:sp>
      <p:cxnSp>
        <p:nvCxnSpPr>
          <p:cNvPr id="9" name="直接连接符 8"/>
          <p:cNvCxnSpPr/>
          <p:nvPr/>
        </p:nvCxnSpPr>
        <p:spPr>
          <a:xfrm flipH="1">
            <a:off x="4582983" y="3160645"/>
            <a:ext cx="5644" cy="2060227"/>
          </a:xfrm>
          <a:prstGeom prst="line">
            <a:avLst/>
          </a:prstGeom>
          <a:ln w="3175"/>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nvCxnSpPr>
        <p:spPr>
          <a:xfrm>
            <a:off x="4641372" y="3169112"/>
            <a:ext cx="11289" cy="2043292"/>
          </a:xfrm>
          <a:prstGeom prst="line">
            <a:avLst/>
          </a:prstGeom>
          <a:ln w="28575"/>
        </p:spPr>
        <p:style>
          <a:lnRef idx="1">
            <a:schemeClr val="accent2"/>
          </a:lnRef>
          <a:fillRef idx="0">
            <a:schemeClr val="accent2"/>
          </a:fillRef>
          <a:effectRef idx="0">
            <a:schemeClr val="accent2"/>
          </a:effectRef>
          <a:fontRef idx="minor">
            <a:schemeClr val="tx1"/>
          </a:fontRef>
        </p:style>
      </p:cxn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9" name="矩形 8"/>
          <p:cNvSpPr/>
          <p:nvPr/>
        </p:nvSpPr>
        <p:spPr>
          <a:xfrm>
            <a:off x="328863" y="1959013"/>
            <a:ext cx="6702558" cy="3507740"/>
          </a:xfrm>
          <a:prstGeom prst="rect">
            <a:avLst/>
          </a:prstGeom>
        </p:spPr>
        <p:txBody>
          <a:bodyPr wrap="square">
            <a:spAutoFit/>
          </a:bodyPr>
          <a:lstStyle/>
          <a:p>
            <a:pPr>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solidFill>
                  <a:srgbClr val="002060"/>
                </a:solidFill>
                <a:latin typeface="微软雅黑" panose="020B0503020204020204" pitchFamily="34" charset="-122"/>
                <a:ea typeface="微软雅黑" panose="020B0503020204020204" pitchFamily="34" charset="-122"/>
              </a:rPr>
              <a:t>第三条  出租汽车是城市综合交通运输体系的组成部分，是城市公共交通的补充，为社会公众提供个性化运输服务。优先发展城市公共交通，适度发展出租汽车。</a:t>
            </a:r>
            <a:endParaRPr lang="zh-CN" altLang="en-US"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solidFill>
                  <a:srgbClr val="002060"/>
                </a:solidFill>
                <a:latin typeface="微软雅黑" panose="020B0503020204020204" pitchFamily="34" charset="-122"/>
                <a:ea typeface="微软雅黑" panose="020B0503020204020204" pitchFamily="34" charset="-122"/>
              </a:rPr>
              <a:t>巡游出租汽车发展应当与城市经济社会发展相适应，与公共交通等客运服务方式协调发展</a:t>
            </a:r>
            <a:r>
              <a:rPr lang="zh-CN" altLang="en-US" sz="2400" dirty="0" smtClean="0">
                <a:solidFill>
                  <a:srgbClr val="002060"/>
                </a:solidFill>
                <a:latin typeface="微软雅黑" panose="020B0503020204020204" pitchFamily="34" charset="-122"/>
                <a:ea typeface="微软雅黑" panose="020B0503020204020204" pitchFamily="34" charset="-122"/>
              </a:rPr>
              <a:t>。</a:t>
            </a:r>
            <a:endParaRPr lang="en-US" altLang="zh-CN" sz="2400" dirty="0" smtClean="0">
              <a:solidFill>
                <a:srgbClr val="002060"/>
              </a:solidFill>
              <a:latin typeface="微软雅黑" panose="020B0503020204020204" pitchFamily="34" charset="-122"/>
              <a:ea typeface="微软雅黑" panose="020B0503020204020204" pitchFamily="34" charset="-122"/>
            </a:endParaRPr>
          </a:p>
        </p:txBody>
      </p:sp>
      <p:sp>
        <p:nvSpPr>
          <p:cNvPr id="10" name="文本框 2"/>
          <p:cNvSpPr txBox="1"/>
          <p:nvPr/>
        </p:nvSpPr>
        <p:spPr>
          <a:xfrm>
            <a:off x="328863" y="1464094"/>
            <a:ext cx="2316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调整行业定位</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58937" y="1861991"/>
            <a:ext cx="3234849" cy="414550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10" name="文本框 2"/>
          <p:cNvSpPr txBox="1"/>
          <p:nvPr/>
        </p:nvSpPr>
        <p:spPr>
          <a:xfrm>
            <a:off x="497023" y="1464094"/>
            <a:ext cx="2316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调整行业定位</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57" name="矩形 56"/>
          <p:cNvSpPr/>
          <p:nvPr/>
        </p:nvSpPr>
        <p:spPr>
          <a:xfrm>
            <a:off x="693420" y="1986280"/>
            <a:ext cx="7035165" cy="4523105"/>
          </a:xfrm>
          <a:prstGeom prst="rect">
            <a:avLst/>
          </a:prstGeom>
        </p:spPr>
        <p:txBody>
          <a:bodyPr wrap="square">
            <a:spAutoFit/>
          </a:bodyPr>
          <a:lstStyle/>
          <a:p>
            <a:pPr marL="342900" indent="-342900">
              <a:lnSpc>
                <a:spcPct val="150000"/>
              </a:lnSpc>
              <a:buClr>
                <a:srgbClr val="002060"/>
              </a:buClr>
              <a:buFont typeface="Wingdings" panose="05000000000000000000" pitchFamily="2" charset="2"/>
              <a:buChar char="n"/>
            </a:pPr>
            <a:r>
              <a:rPr lang="zh-CN" altLang="en-US" sz="2400" dirty="0">
                <a:solidFill>
                  <a:srgbClr val="002060"/>
                </a:solidFill>
                <a:latin typeface="微软雅黑" panose="020B0503020204020204" pitchFamily="34" charset="-122"/>
                <a:ea typeface="微软雅黑" panose="020B0503020204020204" pitchFamily="34" charset="-122"/>
              </a:rPr>
              <a:t>出租汽车属个性化出行服务，是城市公共交通的补充。出租汽车虽然具有舒适性和便捷性等优势，但由于占用道路资源多、运输效率低、环境影响大等，属于便捷而不集约的一种运输方式。在城市综合交通运输体系中，应当根据城市公共交通和出租汽车的不同发展定位，由城市公交、轨道交通等大容量交通方式发挥主导作用，出租汽车只能作为其补充，适度</a:t>
            </a:r>
            <a:r>
              <a:rPr lang="zh-CN" altLang="en-US" sz="2400" dirty="0" smtClean="0">
                <a:solidFill>
                  <a:srgbClr val="002060"/>
                </a:solidFill>
                <a:latin typeface="微软雅黑" panose="020B0503020204020204" pitchFamily="34" charset="-122"/>
                <a:ea typeface="微软雅黑" panose="020B0503020204020204" pitchFamily="34" charset="-122"/>
              </a:rPr>
              <a:t>发展。</a:t>
            </a:r>
            <a:endParaRPr lang="en-US" altLang="zh-CN" sz="2400" dirty="0" smtClean="0">
              <a:solidFill>
                <a:srgbClr val="002060"/>
              </a:solidFill>
              <a:latin typeface="微软雅黑" panose="020B0503020204020204" pitchFamily="34" charset="-122"/>
              <a:ea typeface="微软雅黑" panose="020B0503020204020204" pitchFamily="34" charset="-122"/>
            </a:endParaRPr>
          </a:p>
        </p:txBody>
      </p:sp>
      <p:pic>
        <p:nvPicPr>
          <p:cNvPr id="58" name="图片 57"/>
          <p:cNvPicPr>
            <a:picLocks noChangeAspect="1"/>
          </p:cNvPicPr>
          <p:nvPr/>
        </p:nvPicPr>
        <p:blipFill>
          <a:blip r:embed="rId1"/>
          <a:stretch>
            <a:fillRect/>
          </a:stretch>
        </p:blipFill>
        <p:spPr>
          <a:xfrm>
            <a:off x="7929807" y="1996352"/>
            <a:ext cx="1955901" cy="2654436"/>
          </a:xfrm>
          <a:prstGeom prst="rect">
            <a:avLst/>
          </a:prstGeom>
        </p:spPr>
      </p:pic>
      <p:pic>
        <p:nvPicPr>
          <p:cNvPr id="59" name="图片 58"/>
          <p:cNvPicPr>
            <a:picLocks noChangeAspect="1"/>
          </p:cNvPicPr>
          <p:nvPr/>
        </p:nvPicPr>
        <p:blipFill>
          <a:blip r:embed="rId2"/>
          <a:stretch>
            <a:fillRect/>
          </a:stretch>
        </p:blipFill>
        <p:spPr>
          <a:xfrm>
            <a:off x="9968158" y="2199552"/>
            <a:ext cx="1911448" cy="1009702"/>
          </a:xfrm>
          <a:prstGeom prst="rect">
            <a:avLst/>
          </a:prstGeom>
        </p:spPr>
      </p:pic>
      <p:pic>
        <p:nvPicPr>
          <p:cNvPr id="60" name="图片 59"/>
          <p:cNvPicPr>
            <a:picLocks noChangeAspect="1"/>
          </p:cNvPicPr>
          <p:nvPr/>
        </p:nvPicPr>
        <p:blipFill>
          <a:blip r:embed="rId2"/>
          <a:stretch>
            <a:fillRect/>
          </a:stretch>
        </p:blipFill>
        <p:spPr>
          <a:xfrm>
            <a:off x="9968158" y="3372877"/>
            <a:ext cx="1911448" cy="1009702"/>
          </a:xfrm>
          <a:prstGeom prst="rect">
            <a:avLst/>
          </a:prstGeom>
        </p:spPr>
      </p:pic>
      <p:pic>
        <p:nvPicPr>
          <p:cNvPr id="61" name="图片 60"/>
          <p:cNvPicPr>
            <a:picLocks noChangeAspect="1"/>
          </p:cNvPicPr>
          <p:nvPr/>
        </p:nvPicPr>
        <p:blipFill>
          <a:blip r:embed="rId3"/>
          <a:stretch>
            <a:fillRect/>
          </a:stretch>
        </p:blipFill>
        <p:spPr>
          <a:xfrm>
            <a:off x="7929807" y="4761809"/>
            <a:ext cx="3949799" cy="1307822"/>
          </a:xfrm>
          <a:prstGeom prst="rect">
            <a:avLst/>
          </a:prstGeom>
        </p:spPr>
      </p:pic>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10" name="文本框 2"/>
          <p:cNvSpPr txBox="1"/>
          <p:nvPr/>
        </p:nvSpPr>
        <p:spPr>
          <a:xfrm>
            <a:off x="328863" y="1464094"/>
            <a:ext cx="2316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调整行业定位</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11" name="矩形 10"/>
          <p:cNvSpPr/>
          <p:nvPr/>
        </p:nvSpPr>
        <p:spPr>
          <a:xfrm>
            <a:off x="746234" y="2137172"/>
            <a:ext cx="7546428" cy="3415030"/>
          </a:xfrm>
          <a:prstGeom prst="rect">
            <a:avLst/>
          </a:prstGeom>
        </p:spPr>
        <p:txBody>
          <a:bodyPr wrap="square">
            <a:spAutoFit/>
          </a:bodyPr>
          <a:lstStyle/>
          <a:p>
            <a:pPr marL="342900" indent="-342900">
              <a:lnSpc>
                <a:spcPct val="150000"/>
              </a:lnSpc>
              <a:buClr>
                <a:srgbClr val="002060"/>
              </a:buClr>
              <a:buFont typeface="Wingdings" panose="05000000000000000000" pitchFamily="2" charset="2"/>
              <a:buChar char="n"/>
            </a:pPr>
            <a:r>
              <a:rPr lang="zh-CN" altLang="en-US" sz="2400" dirty="0">
                <a:solidFill>
                  <a:srgbClr val="002060"/>
                </a:solidFill>
                <a:latin typeface="微软雅黑" panose="020B0503020204020204" pitchFamily="34" charset="-122"/>
                <a:ea typeface="微软雅黑" panose="020B0503020204020204" pitchFamily="34" charset="-122"/>
              </a:rPr>
              <a:t>统筹考虑不同群体的出行需求，建立多样化、差异性的城市综合交通体系。随着社会经济的发展，城市交通需求也更加多样化，出租汽车具有方便、舒适、灵活、全天候及“门到门”等特点，提供中高端、个性化的出行服务，作为城市公共交通的有益补充，同样不可或缺。</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12" name="Freeform 5"/>
          <p:cNvSpPr>
            <a:spLocks noEditPoints="1"/>
          </p:cNvSpPr>
          <p:nvPr/>
        </p:nvSpPr>
        <p:spPr bwMode="auto">
          <a:xfrm rot="536393">
            <a:off x="8637911" y="2648748"/>
            <a:ext cx="2900040" cy="2910233"/>
          </a:xfrm>
          <a:custGeom>
            <a:avLst/>
            <a:gdLst>
              <a:gd name="T0" fmla="*/ 1404 w 1558"/>
              <a:gd name="T1" fmla="*/ 1563 h 1563"/>
              <a:gd name="T2" fmla="*/ 1293 w 1558"/>
              <a:gd name="T3" fmla="*/ 1519 h 1563"/>
              <a:gd name="T4" fmla="*/ 857 w 1558"/>
              <a:gd name="T5" fmla="*/ 1081 h 1563"/>
              <a:gd name="T6" fmla="*/ 843 w 1558"/>
              <a:gd name="T7" fmla="*/ 1090 h 1563"/>
              <a:gd name="T8" fmla="*/ 579 w 1558"/>
              <a:gd name="T9" fmla="*/ 1162 h 1563"/>
              <a:gd name="T10" fmla="*/ 167 w 1558"/>
              <a:gd name="T11" fmla="*/ 994 h 1563"/>
              <a:gd name="T12" fmla="*/ 0 w 1558"/>
              <a:gd name="T13" fmla="*/ 581 h 1563"/>
              <a:gd name="T14" fmla="*/ 167 w 1558"/>
              <a:gd name="T15" fmla="*/ 168 h 1563"/>
              <a:gd name="T16" fmla="*/ 579 w 1558"/>
              <a:gd name="T17" fmla="*/ 0 h 1563"/>
              <a:gd name="T18" fmla="*/ 991 w 1558"/>
              <a:gd name="T19" fmla="*/ 168 h 1563"/>
              <a:gd name="T20" fmla="*/ 1159 w 1558"/>
              <a:gd name="T21" fmla="*/ 581 h 1563"/>
              <a:gd name="T22" fmla="*/ 1087 w 1558"/>
              <a:gd name="T23" fmla="*/ 845 h 1563"/>
              <a:gd name="T24" fmla="*/ 1078 w 1558"/>
              <a:gd name="T25" fmla="*/ 859 h 1563"/>
              <a:gd name="T26" fmla="*/ 1514 w 1558"/>
              <a:gd name="T27" fmla="*/ 1296 h 1563"/>
              <a:gd name="T28" fmla="*/ 1558 w 1558"/>
              <a:gd name="T29" fmla="*/ 1407 h 1563"/>
              <a:gd name="T30" fmla="*/ 1404 w 1558"/>
              <a:gd name="T31" fmla="*/ 1563 h 1563"/>
              <a:gd name="T32" fmla="*/ 913 w 1558"/>
              <a:gd name="T33" fmla="*/ 1069 h 1563"/>
              <a:gd name="T34" fmla="*/ 1327 w 1558"/>
              <a:gd name="T35" fmla="*/ 1484 h 1563"/>
              <a:gd name="T36" fmla="*/ 1404 w 1558"/>
              <a:gd name="T37" fmla="*/ 1515 h 1563"/>
              <a:gd name="T38" fmla="*/ 1511 w 1558"/>
              <a:gd name="T39" fmla="*/ 1407 h 1563"/>
              <a:gd name="T40" fmla="*/ 1480 w 1558"/>
              <a:gd name="T41" fmla="*/ 1331 h 1563"/>
              <a:gd name="T42" fmla="*/ 1066 w 1558"/>
              <a:gd name="T43" fmla="*/ 916 h 1563"/>
              <a:gd name="T44" fmla="*/ 913 w 1558"/>
              <a:gd name="T45" fmla="*/ 1069 h 1563"/>
              <a:gd name="T46" fmla="*/ 579 w 1558"/>
              <a:gd name="T47" fmla="*/ 60 h 1563"/>
              <a:gd name="T48" fmla="*/ 60 w 1558"/>
              <a:gd name="T49" fmla="*/ 581 h 1563"/>
              <a:gd name="T50" fmla="*/ 579 w 1558"/>
              <a:gd name="T51" fmla="*/ 1102 h 1563"/>
              <a:gd name="T52" fmla="*/ 1099 w 1558"/>
              <a:gd name="T53" fmla="*/ 581 h 1563"/>
              <a:gd name="T54" fmla="*/ 579 w 1558"/>
              <a:gd name="T55" fmla="*/ 60 h 1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58" h="1563">
                <a:moveTo>
                  <a:pt x="1404" y="1563"/>
                </a:moveTo>
                <a:cubicBezTo>
                  <a:pt x="1360" y="1563"/>
                  <a:pt x="1315" y="1541"/>
                  <a:pt x="1293" y="1519"/>
                </a:cubicBezTo>
                <a:cubicBezTo>
                  <a:pt x="857" y="1081"/>
                  <a:pt x="857" y="1081"/>
                  <a:pt x="857" y="1081"/>
                </a:cubicBezTo>
                <a:cubicBezTo>
                  <a:pt x="843" y="1090"/>
                  <a:pt x="843" y="1090"/>
                  <a:pt x="843" y="1090"/>
                </a:cubicBezTo>
                <a:cubicBezTo>
                  <a:pt x="774" y="1137"/>
                  <a:pt x="680" y="1162"/>
                  <a:pt x="579" y="1162"/>
                </a:cubicBezTo>
                <a:cubicBezTo>
                  <a:pt x="422" y="1162"/>
                  <a:pt x="275" y="1102"/>
                  <a:pt x="167" y="994"/>
                </a:cubicBezTo>
                <a:cubicBezTo>
                  <a:pt x="60" y="886"/>
                  <a:pt x="0" y="739"/>
                  <a:pt x="0" y="581"/>
                </a:cubicBezTo>
                <a:cubicBezTo>
                  <a:pt x="0" y="423"/>
                  <a:pt x="60" y="276"/>
                  <a:pt x="167" y="168"/>
                </a:cubicBezTo>
                <a:cubicBezTo>
                  <a:pt x="275" y="59"/>
                  <a:pt x="422" y="0"/>
                  <a:pt x="579" y="0"/>
                </a:cubicBezTo>
                <a:cubicBezTo>
                  <a:pt x="737" y="0"/>
                  <a:pt x="883" y="59"/>
                  <a:pt x="991" y="168"/>
                </a:cubicBezTo>
                <a:cubicBezTo>
                  <a:pt x="1099" y="276"/>
                  <a:pt x="1159" y="423"/>
                  <a:pt x="1159" y="581"/>
                </a:cubicBezTo>
                <a:cubicBezTo>
                  <a:pt x="1159" y="682"/>
                  <a:pt x="1133" y="776"/>
                  <a:pt x="1087" y="845"/>
                </a:cubicBezTo>
                <a:cubicBezTo>
                  <a:pt x="1078" y="859"/>
                  <a:pt x="1078" y="859"/>
                  <a:pt x="1078" y="859"/>
                </a:cubicBezTo>
                <a:cubicBezTo>
                  <a:pt x="1514" y="1296"/>
                  <a:pt x="1514" y="1296"/>
                  <a:pt x="1514" y="1296"/>
                </a:cubicBezTo>
                <a:cubicBezTo>
                  <a:pt x="1536" y="1318"/>
                  <a:pt x="1558" y="1364"/>
                  <a:pt x="1558" y="1407"/>
                </a:cubicBezTo>
                <a:cubicBezTo>
                  <a:pt x="1558" y="1496"/>
                  <a:pt x="1492" y="1563"/>
                  <a:pt x="1404" y="1563"/>
                </a:cubicBezTo>
                <a:close/>
                <a:moveTo>
                  <a:pt x="913" y="1069"/>
                </a:moveTo>
                <a:cubicBezTo>
                  <a:pt x="1327" y="1484"/>
                  <a:pt x="1327" y="1484"/>
                  <a:pt x="1327" y="1484"/>
                </a:cubicBezTo>
                <a:cubicBezTo>
                  <a:pt x="1342" y="1500"/>
                  <a:pt x="1372" y="1515"/>
                  <a:pt x="1404" y="1515"/>
                </a:cubicBezTo>
                <a:cubicBezTo>
                  <a:pt x="1465" y="1515"/>
                  <a:pt x="1511" y="1469"/>
                  <a:pt x="1511" y="1407"/>
                </a:cubicBezTo>
                <a:cubicBezTo>
                  <a:pt x="1511" y="1376"/>
                  <a:pt x="1496" y="1346"/>
                  <a:pt x="1480" y="1331"/>
                </a:cubicBezTo>
                <a:cubicBezTo>
                  <a:pt x="1066" y="916"/>
                  <a:pt x="1066" y="916"/>
                  <a:pt x="1066" y="916"/>
                </a:cubicBezTo>
                <a:lnTo>
                  <a:pt x="913" y="1069"/>
                </a:lnTo>
                <a:close/>
                <a:moveTo>
                  <a:pt x="579" y="60"/>
                </a:moveTo>
                <a:cubicBezTo>
                  <a:pt x="293" y="60"/>
                  <a:pt x="60" y="294"/>
                  <a:pt x="60" y="581"/>
                </a:cubicBezTo>
                <a:cubicBezTo>
                  <a:pt x="60" y="868"/>
                  <a:pt x="293" y="1102"/>
                  <a:pt x="579" y="1102"/>
                </a:cubicBezTo>
                <a:cubicBezTo>
                  <a:pt x="866" y="1102"/>
                  <a:pt x="1099" y="868"/>
                  <a:pt x="1099" y="581"/>
                </a:cubicBezTo>
                <a:cubicBezTo>
                  <a:pt x="1099" y="294"/>
                  <a:pt x="866" y="60"/>
                  <a:pt x="579" y="60"/>
                </a:cubicBezTo>
                <a:close/>
              </a:path>
            </a:pathLst>
          </a:custGeom>
          <a:solidFill>
            <a:srgbClr val="9BBB5C"/>
          </a:solidFill>
          <a:ln>
            <a:noFill/>
          </a:ln>
        </p:spPr>
        <p:txBody>
          <a:bodyPr vert="horz" wrap="square" lIns="182843" tIns="91422" rIns="182843" bIns="91422" numCol="1" anchor="t" anchorCtr="0" compatLnSpc="1"/>
          <a:lstStyle/>
          <a:p>
            <a:pPr marL="0" marR="0" lvl="0" indent="0" defTabSz="1828165" eaLnBrk="1" fontAlgn="auto" latinLnBrk="0" hangingPunct="1">
              <a:lnSpc>
                <a:spcPct val="100000"/>
              </a:lnSpc>
              <a:spcBef>
                <a:spcPts val="0"/>
              </a:spcBef>
              <a:spcAft>
                <a:spcPts val="0"/>
              </a:spcAft>
              <a:buClrTx/>
              <a:buSzTx/>
              <a:buFontTx/>
              <a:buNone/>
              <a:defRPr/>
            </a:pPr>
            <a:endParaRPr kumimoji="0" lang="id-ID" sz="3600" b="0" i="0" u="none" strike="noStrike" kern="0" cap="none" spc="0" normalizeH="0" baseline="0" noProof="0" dirty="0">
              <a:ln>
                <a:noFill/>
              </a:ln>
              <a:solidFill>
                <a:srgbClr val="445469"/>
              </a:solidFill>
              <a:effectLst/>
              <a:uLnTx/>
              <a:uFillTx/>
              <a:latin typeface="微软雅黑" panose="020B0503020204020204" pitchFamily="34" charset="-122"/>
            </a:endParaRPr>
          </a:p>
        </p:txBody>
      </p:sp>
      <p:sp>
        <p:nvSpPr>
          <p:cNvPr id="13" name="文本框 16"/>
          <p:cNvSpPr txBox="1"/>
          <p:nvPr/>
        </p:nvSpPr>
        <p:spPr>
          <a:xfrm>
            <a:off x="8877300" y="3511550"/>
            <a:ext cx="1831481" cy="368300"/>
          </a:xfrm>
          <a:prstGeom prst="rect">
            <a:avLst/>
          </a:prstGeom>
          <a:noFill/>
        </p:spPr>
        <p:txBody>
          <a:bodyPr wrap="squar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多样化、差异性</a:t>
            </a:r>
            <a:endParaRPr lang="zh-CN" altLang="en-US"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6" name="矩形 5"/>
          <p:cNvSpPr/>
          <p:nvPr/>
        </p:nvSpPr>
        <p:spPr>
          <a:xfrm>
            <a:off x="-20195" y="775554"/>
            <a:ext cx="817880" cy="645160"/>
          </a:xfrm>
          <a:prstGeom prst="rect">
            <a:avLst/>
          </a:prstGeom>
        </p:spPr>
        <p:txBody>
          <a:bodyPr wrap="none">
            <a:spAutoFit/>
          </a:bodyPr>
          <a:lstStyle/>
          <a:p>
            <a:pPr algn="ctr"/>
            <a:r>
              <a:rPr lang="en-US" altLang="zh-CN" sz="3600" b="1" dirty="0">
                <a:solidFill>
                  <a:schemeClr val="bg1"/>
                </a:solidFill>
              </a:rPr>
              <a:t>3.3</a:t>
            </a:r>
            <a:endParaRPr lang="zh-CN" altLang="en-US" sz="3600" b="1" dirty="0">
              <a:solidFill>
                <a:schemeClr val="bg1"/>
              </a:solidFill>
            </a:endParaRPr>
          </a:p>
        </p:txBody>
      </p:sp>
      <p:sp>
        <p:nvSpPr>
          <p:cNvPr id="63" name="矩形 62"/>
          <p:cNvSpPr/>
          <p:nvPr/>
        </p:nvSpPr>
        <p:spPr>
          <a:xfrm>
            <a:off x="5929630" y="2733040"/>
            <a:ext cx="5220335" cy="1410970"/>
          </a:xfrm>
          <a:prstGeom prst="rect">
            <a:avLst/>
          </a:prstGeom>
        </p:spPr>
        <p:txBody>
          <a:bodyPr wrap="square">
            <a:spAutoFit/>
          </a:bodyPr>
          <a:lstStyle/>
          <a:p>
            <a:pPr marL="914400" lvl="1" indent="-457200">
              <a:lnSpc>
                <a:spcPct val="130000"/>
              </a:lnSpc>
              <a:spcBef>
                <a:spcPts val="600"/>
              </a:spcBef>
              <a:buFont typeface="Wingdings" panose="05000000000000000000" pitchFamily="2" charset="2"/>
              <a:buChar char="n"/>
            </a:pPr>
            <a:r>
              <a:rPr lang="zh-CN" altLang="en-US" sz="2200" b="1" dirty="0">
                <a:solidFill>
                  <a:srgbClr val="002060"/>
                </a:solidFill>
                <a:latin typeface="微软雅黑" panose="020B0503020204020204" pitchFamily="34" charset="-122"/>
                <a:ea typeface="微软雅黑" panose="020B0503020204020204" pitchFamily="34" charset="-122"/>
              </a:rPr>
              <a:t>“份子钱” 在调动驾驶员积极性，提升行业整体运营效率方面发挥了积极作用</a:t>
            </a:r>
            <a:endParaRPr lang="zh-CN" altLang="en-US" sz="2200" b="1" dirty="0">
              <a:solidFill>
                <a:srgbClr val="002060"/>
              </a:solidFill>
              <a:latin typeface="微软雅黑" panose="020B0503020204020204" pitchFamily="34" charset="-122"/>
              <a:ea typeface="微软雅黑" panose="020B0503020204020204" pitchFamily="34" charset="-122"/>
            </a:endParaRPr>
          </a:p>
        </p:txBody>
      </p:sp>
      <p:sp>
        <p:nvSpPr>
          <p:cNvPr id="64" name="矩形 63"/>
          <p:cNvSpPr/>
          <p:nvPr/>
        </p:nvSpPr>
        <p:spPr>
          <a:xfrm>
            <a:off x="5929630" y="4411980"/>
            <a:ext cx="5183505" cy="1410970"/>
          </a:xfrm>
          <a:prstGeom prst="rect">
            <a:avLst/>
          </a:prstGeom>
        </p:spPr>
        <p:txBody>
          <a:bodyPr wrap="square">
            <a:spAutoFit/>
          </a:bodyPr>
          <a:lstStyle/>
          <a:p>
            <a:pPr marL="914400" lvl="1" indent="-457200">
              <a:lnSpc>
                <a:spcPct val="130000"/>
              </a:lnSpc>
              <a:spcBef>
                <a:spcPts val="600"/>
              </a:spcBef>
              <a:buFont typeface="Wingdings" panose="05000000000000000000" pitchFamily="2" charset="2"/>
              <a:buChar char="n"/>
            </a:pPr>
            <a:r>
              <a:rPr lang="zh-CN" altLang="en-US" sz="2200" b="1" dirty="0">
                <a:solidFill>
                  <a:srgbClr val="002060"/>
                </a:solidFill>
                <a:latin typeface="微软雅黑" panose="020B0503020204020204" pitchFamily="34" charset="-122"/>
                <a:ea typeface="微软雅黑" panose="020B0503020204020204" pitchFamily="34" charset="-122"/>
              </a:rPr>
              <a:t>管理方式没有与时俱进，“以包代管”导致劳资关系紧张、企业利益固化</a:t>
            </a:r>
            <a:endParaRPr lang="zh-CN" altLang="en-US" sz="2200" b="1" dirty="0">
              <a:solidFill>
                <a:srgbClr val="002060"/>
              </a:solidFill>
              <a:latin typeface="微软雅黑" panose="020B0503020204020204" pitchFamily="34" charset="-122"/>
              <a:ea typeface="微软雅黑" panose="020B0503020204020204" pitchFamily="34" charset="-122"/>
            </a:endParaRPr>
          </a:p>
        </p:txBody>
      </p:sp>
      <p:sp>
        <p:nvSpPr>
          <p:cNvPr id="27" name="文本框 2"/>
          <p:cNvSpPr txBox="1"/>
          <p:nvPr/>
        </p:nvSpPr>
        <p:spPr>
          <a:xfrm>
            <a:off x="1117113" y="1495624"/>
            <a:ext cx="2316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调整利益分配</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797560" y="2017395"/>
          <a:ext cx="5616000" cy="3312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10" name="文本框 2"/>
          <p:cNvSpPr txBox="1"/>
          <p:nvPr/>
        </p:nvSpPr>
        <p:spPr>
          <a:xfrm>
            <a:off x="328863" y="1590214"/>
            <a:ext cx="4094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继续坚持规范经营权管理</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9" name="矩形 3"/>
          <p:cNvSpPr>
            <a:spLocks noChangeArrowheads="1"/>
          </p:cNvSpPr>
          <p:nvPr/>
        </p:nvSpPr>
        <p:spPr bwMode="auto">
          <a:xfrm>
            <a:off x="452755" y="2347595"/>
            <a:ext cx="11056620" cy="2953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sz="28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0" dirty="0" smtClean="0">
                <a:solidFill>
                  <a:srgbClr val="002060"/>
                </a:solidFill>
                <a:latin typeface="微软雅黑" panose="020B0503020204020204" pitchFamily="34" charset="-122"/>
                <a:ea typeface="微软雅黑" panose="020B0503020204020204" pitchFamily="34" charset="-122"/>
              </a:rPr>
              <a:t>第十三条：鼓励通过</a:t>
            </a:r>
            <a:r>
              <a:rPr lang="zh-CN" altLang="en-US" sz="2400" b="1" dirty="0" smtClean="0">
                <a:solidFill>
                  <a:srgbClr val="002060"/>
                </a:solidFill>
                <a:latin typeface="微软雅黑" panose="020B0503020204020204" pitchFamily="34" charset="-122"/>
                <a:ea typeface="微软雅黑" panose="020B0503020204020204" pitchFamily="34" charset="-122"/>
              </a:rPr>
              <a:t>服务质量招投标</a:t>
            </a:r>
            <a:r>
              <a:rPr lang="zh-CN" altLang="en-US" sz="2400" b="0" dirty="0" smtClean="0">
                <a:solidFill>
                  <a:srgbClr val="002060"/>
                </a:solidFill>
                <a:latin typeface="微软雅黑" panose="020B0503020204020204" pitchFamily="34" charset="-122"/>
                <a:ea typeface="微软雅黑" panose="020B0503020204020204" pitchFamily="34" charset="-122"/>
              </a:rPr>
              <a:t>方式配置巡游车经营权。</a:t>
            </a:r>
            <a:endParaRPr lang="en-US" altLang="zh-CN" sz="2400" b="0" dirty="0" smtClean="0">
              <a:solidFill>
                <a:srgbClr val="002060"/>
              </a:solidFill>
              <a:latin typeface="微软雅黑" panose="020B0503020204020204" pitchFamily="34" charset="-122"/>
              <a:ea typeface="微软雅黑" panose="020B0503020204020204" pitchFamily="34" charset="-122"/>
            </a:endParaRPr>
          </a:p>
          <a:p>
            <a:pPr eaLnBrk="1" hangingPunct="1">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smtClean="0">
                <a:solidFill>
                  <a:srgbClr val="002060"/>
                </a:solidFill>
                <a:latin typeface="微软雅黑" panose="020B0503020204020204" pitchFamily="34" charset="-122"/>
                <a:ea typeface="微软雅黑" panose="020B0503020204020204" pitchFamily="34" charset="-122"/>
              </a:rPr>
              <a:t>第十六条：巡游车经营权不得超过规定的</a:t>
            </a:r>
            <a:r>
              <a:rPr lang="zh-CN" altLang="en-US" sz="2400" b="1" dirty="0" smtClean="0">
                <a:solidFill>
                  <a:srgbClr val="002060"/>
                </a:solidFill>
                <a:latin typeface="微软雅黑" panose="020B0503020204020204" pitchFamily="34" charset="-122"/>
                <a:ea typeface="微软雅黑" panose="020B0503020204020204" pitchFamily="34" charset="-122"/>
              </a:rPr>
              <a:t>期限</a:t>
            </a:r>
            <a:r>
              <a:rPr lang="zh-CN" altLang="en-US" sz="2400" dirty="0" smtClean="0">
                <a:solidFill>
                  <a:srgbClr val="002060"/>
                </a:solidFill>
                <a:latin typeface="微软雅黑" panose="020B0503020204020204" pitchFamily="34" charset="-122"/>
                <a:ea typeface="微软雅黑" panose="020B0503020204020204" pitchFamily="34" charset="-122"/>
              </a:rPr>
              <a:t>。</a:t>
            </a:r>
            <a:endParaRPr lang="en-US" altLang="zh-CN" sz="2400" dirty="0" smtClean="0">
              <a:solidFill>
                <a:srgbClr val="002060"/>
              </a:solidFill>
              <a:latin typeface="微软雅黑" panose="020B0503020204020204" pitchFamily="34" charset="-122"/>
              <a:ea typeface="微软雅黑" panose="020B0503020204020204" pitchFamily="34" charset="-122"/>
            </a:endParaRPr>
          </a:p>
          <a:p>
            <a:pPr eaLnBrk="1" hangingPunct="1">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0" dirty="0" smtClean="0">
                <a:solidFill>
                  <a:srgbClr val="002060"/>
                </a:solidFill>
                <a:latin typeface="微软雅黑" panose="020B0503020204020204" pitchFamily="34" charset="-122"/>
                <a:ea typeface="微软雅黑" panose="020B0503020204020204" pitchFamily="34" charset="-122"/>
              </a:rPr>
              <a:t>第十八条：巡游车经营者在经营权期限内，不得擅自暂停或终止经营。需要变更许可事项或者暂停、终止经营的，应当提前向原许可机关提出申请。</a:t>
            </a:r>
            <a:endParaRPr lang="en-US" altLang="zh-CN" sz="2400" b="0" dirty="0" smtClean="0">
              <a:solidFill>
                <a:srgbClr val="002060"/>
              </a:solidFill>
              <a:latin typeface="微软雅黑" panose="020B0503020204020204" pitchFamily="34" charset="-122"/>
              <a:ea typeface="微软雅黑" panose="020B0503020204020204" pitchFamily="34" charset="-122"/>
            </a:endParaRPr>
          </a:p>
          <a:p>
            <a:pPr eaLnBrk="1" hangingPunct="1">
              <a:lnSpc>
                <a:spcPct val="150000"/>
              </a:lnSpc>
            </a:pPr>
            <a:endParaRPr lang="en-US" altLang="zh-CN" sz="2400" b="0" dirty="0" smtClean="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10" name="文本框 2"/>
          <p:cNvSpPr txBox="1"/>
          <p:nvPr/>
        </p:nvSpPr>
        <p:spPr>
          <a:xfrm>
            <a:off x="591613" y="1432564"/>
            <a:ext cx="40944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继续坚持规范经营权管理</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graphicFrame>
        <p:nvGraphicFramePr>
          <p:cNvPr id="7" name="Content Placeholder 7"/>
          <p:cNvGraphicFramePr/>
          <p:nvPr>
            <p:custDataLst>
              <p:tags r:id="rId1"/>
            </p:custDataLst>
          </p:nvPr>
        </p:nvGraphicFramePr>
        <p:xfrm>
          <a:off x="831849" y="2036326"/>
          <a:ext cx="10731500" cy="4621530"/>
        </p:xfrm>
        <a:graphic>
          <a:graphicData uri="http://schemas.openxmlformats.org/drawingml/2006/table">
            <a:tbl>
              <a:tblPr firstRow="1" bandRow="1">
                <a:tableStyleId>{69012ECD-51FC-41F1-AA8D-1B2483CD663E}</a:tableStyleId>
              </a:tblPr>
              <a:tblGrid>
                <a:gridCol w="1357238"/>
                <a:gridCol w="9374263"/>
              </a:tblGrid>
              <a:tr h="648000">
                <a:tc gridSpan="2">
                  <a:txBody>
                    <a:bodyPr/>
                    <a:p>
                      <a:pPr algn="ctr">
                        <a:buNone/>
                      </a:pPr>
                      <a:r>
                        <a:rPr lang="zh-CN" altLang="en-US" sz="2200" dirty="0"/>
                        <a:t>改革经营权管理制度</a:t>
                      </a:r>
                      <a:endParaRPr lang="zh-CN" altLang="en-US" sz="2200" dirty="0"/>
                    </a:p>
                  </a:txBody>
                  <a:tcPr marT="25724" marB="25724" anchor="ctr"/>
                </a:tc>
                <a:tc hMerge="1">
                  <a:tcPr marT="25724" marB="25724" anchor="ctr"/>
                </a:tc>
              </a:tr>
              <a:tr h="805320">
                <a:tc>
                  <a:txBody>
                    <a:bodyPr/>
                    <a:lstStyle/>
                    <a:p>
                      <a:pPr algn="ctr"/>
                      <a:r>
                        <a:rPr lang="zh-CN" altLang="en-US" sz="1800" dirty="0"/>
                        <a:t>一</a:t>
                      </a:r>
                      <a:endParaRPr lang="zh-CN" altLang="en-US" sz="1800" dirty="0"/>
                    </a:p>
                  </a:txBody>
                  <a:tcPr marT="25724" marB="25724" anchor="ctr"/>
                </a:tc>
                <a:tc>
                  <a:txBody>
                    <a:bodyPr/>
                    <a:lstStyle/>
                    <a:p>
                      <a:pPr marL="342900" indent="-342900" algn="l" defTabSz="914400" rtl="0" eaLnBrk="1" latinLnBrk="0" hangingPunct="1">
                        <a:lnSpc>
                          <a:spcPct val="130000"/>
                        </a:lnSpc>
                        <a:buClr>
                          <a:srgbClr val="002060"/>
                        </a:buClr>
                        <a:buFont typeface="Wingdings" panose="05000000000000000000" pitchFamily="2" charset="2"/>
                        <a:buChar char="n"/>
                      </a:pPr>
                      <a:r>
                        <a:rPr lang="zh-CN" altLang="en-US" sz="1600" kern="1200" dirty="0"/>
                        <a:t>新增出租汽车经营权一律实行期限制，不得再实行无期限制，具体期限由城市人民政府根据本地实际情况确定。</a:t>
                      </a:r>
                      <a:endParaRPr lang="zh-CN" altLang="en-US" sz="1600" kern="1200" dirty="0"/>
                    </a:p>
                  </a:txBody>
                  <a:tcPr marT="25724" marB="25724" anchor="ctr"/>
                </a:tc>
              </a:tr>
              <a:tr h="55473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t>二</a:t>
                      </a:r>
                      <a:endParaRPr lang="zh-CN" altLang="en-US" sz="1800" dirty="0"/>
                    </a:p>
                  </a:txBody>
                  <a:tcPr marT="25724" marB="25724" anchor="ctr"/>
                </a:tc>
                <a:tc>
                  <a:txBody>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n"/>
                        <a:defRPr/>
                      </a:pPr>
                      <a:r>
                        <a:rPr lang="zh-CN" altLang="en-US" sz="1600" kern="1200" dirty="0"/>
                        <a:t>新增出租汽车经营权全部实行无偿使用，并不得变更经营主体。</a:t>
                      </a:r>
                      <a:endParaRPr lang="zh-CN" altLang="en-US" sz="1600" kern="1200" dirty="0"/>
                    </a:p>
                  </a:txBody>
                  <a:tcPr marT="25724" marB="25724" anchor="ctr"/>
                </a:tc>
              </a:tr>
              <a:tr h="805320">
                <a:tc>
                  <a:txBody>
                    <a:bodyPr/>
                    <a:lstStyle/>
                    <a:p>
                      <a:pPr algn="ctr"/>
                      <a:r>
                        <a:rPr lang="zh-CN" altLang="en-US" sz="1800" dirty="0"/>
                        <a:t>三</a:t>
                      </a:r>
                      <a:endParaRPr lang="zh-CN" altLang="en-US" sz="1800" dirty="0"/>
                    </a:p>
                  </a:txBody>
                  <a:tcPr marT="25724" marB="25724" anchor="ctr"/>
                </a:tc>
                <a:tc>
                  <a:txBody>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n"/>
                        <a:defRPr/>
                      </a:pPr>
                      <a:r>
                        <a:rPr lang="zh-CN" altLang="en-US" sz="1600" kern="1200" dirty="0"/>
                        <a:t>既有的出租汽车经营权，在期限内需要变更经营主体的，依照法律法规规定的条件和程序办理变更手续，不得炒卖和擅自转让。</a:t>
                      </a:r>
                      <a:endParaRPr lang="zh-CN" altLang="en-US" sz="1600" kern="1200" dirty="0"/>
                    </a:p>
                  </a:txBody>
                  <a:tcPr marT="25724" marB="25724" anchor="ctr"/>
                </a:tc>
              </a:tr>
              <a:tr h="80532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t>四</a:t>
                      </a:r>
                      <a:endParaRPr lang="zh-CN" altLang="en-US" sz="1800" dirty="0"/>
                    </a:p>
                  </a:txBody>
                  <a:tcPr marT="25724" marB="25724" anchor="ctr"/>
                </a:tc>
                <a:tc>
                  <a:txBody>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n"/>
                        <a:defRPr/>
                      </a:pPr>
                      <a:r>
                        <a:rPr lang="zh-CN" altLang="en-US" sz="1600" kern="1200" dirty="0"/>
                        <a:t>对于现有的出租汽车经营权未明确具体经营期限或已实行经营权有偿使用的，城市人民政府要综合考虑各方面因素，制定科学过渡方案，合理确定经营期限，逐步取消有偿使用费。</a:t>
                      </a:r>
                      <a:endParaRPr lang="zh-CN" altLang="en-US" sz="1600" kern="1200" dirty="0"/>
                    </a:p>
                  </a:txBody>
                  <a:tcPr marT="25724" marB="25724" anchor="ctr"/>
                </a:tc>
              </a:tr>
              <a:tr h="80532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dirty="0"/>
                        <a:t>五</a:t>
                      </a:r>
                      <a:endParaRPr lang="zh-CN" altLang="en-US" sz="1800" dirty="0"/>
                    </a:p>
                  </a:txBody>
                  <a:tcPr marT="25724" marB="25724" anchor="ctr"/>
                </a:tc>
                <a:tc>
                  <a:txBody>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n"/>
                        <a:defRPr/>
                      </a:pPr>
                      <a:r>
                        <a:rPr lang="zh-CN" altLang="en-US" sz="1600" kern="1200" dirty="0"/>
                        <a:t>建立完善以服务质量信誉为导向的经营权配置和管理制度，对经营权期限届满或者经营过程中出现重大服务质量问题、重大安全生产责任事故、严重违法经营行为、服务质量信誉考核不合格等情形，按有关规定收回经营权。</a:t>
                      </a:r>
                      <a:endParaRPr lang="zh-CN" altLang="en-US" sz="1600" kern="1200" dirty="0"/>
                    </a:p>
                  </a:txBody>
                  <a:tcPr marT="25724" marB="25724" anchor="ctr"/>
                </a:tc>
              </a:tr>
            </a:tbl>
          </a:graphicData>
        </a:graphic>
      </p:graphicFrame>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4"/>
          <p:cNvGrpSpPr/>
          <p:nvPr/>
        </p:nvGrpSpPr>
        <p:grpSpPr>
          <a:xfrm>
            <a:off x="1263650" y="5379085"/>
            <a:ext cx="10140950" cy="853440"/>
            <a:chOff x="1990" y="8471"/>
            <a:chExt cx="15970" cy="1344"/>
          </a:xfrm>
        </p:grpSpPr>
        <p:sp>
          <p:nvSpPr>
            <p:cNvPr id="21" name="线形标注 3(带强调线) 1"/>
            <p:cNvSpPr/>
            <p:nvPr/>
          </p:nvSpPr>
          <p:spPr bwMode="auto">
            <a:xfrm rot="16200000" flipH="1">
              <a:off x="9582" y="1641"/>
              <a:ext cx="935" cy="14720"/>
            </a:xfrm>
            <a:prstGeom prst="accentCallout2">
              <a:avLst>
                <a:gd name="adj1" fmla="val 61102"/>
                <a:gd name="adj2" fmla="val -11712"/>
                <a:gd name="adj3" fmla="val 61104"/>
                <a:gd name="adj4" fmla="val -83186"/>
                <a:gd name="adj5" fmla="val 58031"/>
                <a:gd name="adj6" fmla="val -114789"/>
              </a:avLst>
            </a:prstGeom>
            <a:noFill/>
            <a:ln w="9525">
              <a:solidFill>
                <a:srgbClr val="C00000"/>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矩形 21"/>
            <p:cNvSpPr/>
            <p:nvPr/>
          </p:nvSpPr>
          <p:spPr>
            <a:xfrm>
              <a:off x="1990" y="8471"/>
              <a:ext cx="15970" cy="1344"/>
            </a:xfrm>
            <a:prstGeom prst="rect">
              <a:avLst/>
            </a:prstGeom>
          </p:spPr>
          <p:txBody>
            <a:bodyPr wrap="square">
              <a:spAutoFit/>
            </a:bodyPr>
            <a:lstStyle/>
            <a:p>
              <a:pPr marL="342900" indent="-342900">
                <a:lnSpc>
                  <a:spcPct val="130000"/>
                </a:lnSpc>
                <a:buClr>
                  <a:srgbClr val="002060"/>
                </a:buClr>
                <a:buFont typeface="Wingdings" panose="05000000000000000000" pitchFamily="2" charset="2"/>
                <a:buChar char="n"/>
              </a:pPr>
              <a:r>
                <a:rPr lang="zh-CN" altLang="en-US" sz="2000" dirty="0">
                  <a:solidFill>
                    <a:srgbClr val="002060"/>
                  </a:solidFill>
                  <a:latin typeface="微软雅黑" panose="020B0503020204020204" pitchFamily="34" charset="-122"/>
                  <a:ea typeface="微软雅黑" panose="020B0503020204020204" pitchFamily="34" charset="-122"/>
                </a:rPr>
                <a:t>实现资源的优化配置。可以促进政府完善退出机制，实现资源的优化配置，不断提升行业服务水平。</a:t>
              </a:r>
              <a:endParaRPr lang="zh-CN" altLang="en-US" sz="2000" dirty="0">
                <a:solidFill>
                  <a:srgbClr val="002060"/>
                </a:solidFill>
                <a:latin typeface="微软雅黑" panose="020B0503020204020204" pitchFamily="34" charset="-122"/>
                <a:ea typeface="微软雅黑" panose="020B0503020204020204" pitchFamily="34" charset="-122"/>
              </a:endParaRPr>
            </a:p>
          </p:txBody>
        </p:sp>
      </p:grpSp>
      <p:grpSp>
        <p:nvGrpSpPr>
          <p:cNvPr id="8" name="组合 3"/>
          <p:cNvGrpSpPr/>
          <p:nvPr/>
        </p:nvGrpSpPr>
        <p:grpSpPr>
          <a:xfrm>
            <a:off x="7904480" y="2262505"/>
            <a:ext cx="2776220" cy="1693545"/>
            <a:chOff x="12448" y="3563"/>
            <a:chExt cx="4372" cy="2667"/>
          </a:xfrm>
        </p:grpSpPr>
        <p:sp>
          <p:nvSpPr>
            <p:cNvPr id="19" name="线形标注 3(带强调线) 1"/>
            <p:cNvSpPr/>
            <p:nvPr/>
          </p:nvSpPr>
          <p:spPr bwMode="auto">
            <a:xfrm>
              <a:off x="12633" y="3634"/>
              <a:ext cx="3712" cy="2596"/>
            </a:xfrm>
            <a:prstGeom prst="accentCallout2">
              <a:avLst>
                <a:gd name="adj1" fmla="val 18750"/>
                <a:gd name="adj2" fmla="val -8333"/>
                <a:gd name="adj3" fmla="val 19175"/>
                <a:gd name="adj4" fmla="val -20708"/>
                <a:gd name="adj5" fmla="val 32246"/>
                <a:gd name="adj6" fmla="val -26853"/>
              </a:avLst>
            </a:prstGeom>
            <a:noFill/>
            <a:ln w="9525">
              <a:solidFill>
                <a:srgbClr val="C00000"/>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矩形 19"/>
            <p:cNvSpPr/>
            <p:nvPr/>
          </p:nvSpPr>
          <p:spPr>
            <a:xfrm>
              <a:off x="12448" y="3563"/>
              <a:ext cx="4372" cy="2664"/>
            </a:xfrm>
            <a:prstGeom prst="rect">
              <a:avLst/>
            </a:prstGeom>
          </p:spPr>
          <p:txBody>
            <a:bodyPr wrap="square">
              <a:spAutoFit/>
            </a:bodyPr>
            <a:lstStyle/>
            <a:p>
              <a:pPr marL="342900" indent="-342900">
                <a:lnSpc>
                  <a:spcPct val="130000"/>
                </a:lnSpc>
                <a:buClr>
                  <a:srgbClr val="002060"/>
                </a:buClr>
                <a:buFont typeface="Wingdings" panose="05000000000000000000" pitchFamily="2" charset="2"/>
                <a:buChar char="n"/>
              </a:pPr>
              <a:r>
                <a:rPr lang="zh-CN" altLang="en-US" sz="2000" dirty="0">
                  <a:solidFill>
                    <a:srgbClr val="002060"/>
                  </a:solidFill>
                  <a:latin typeface="微软雅黑" panose="020B0503020204020204" pitchFamily="34" charset="-122"/>
                  <a:ea typeface="微软雅黑" panose="020B0503020204020204" pitchFamily="34" charset="-122"/>
                </a:rPr>
                <a:t>抑制非法炒卖、哄抬价格，降低企业经营成本，减轻驾驶员和乘客负担。</a:t>
              </a:r>
              <a:endParaRPr lang="en-US" altLang="zh-CN" sz="2000" dirty="0">
                <a:solidFill>
                  <a:srgbClr val="002060"/>
                </a:solidFill>
                <a:latin typeface="微软雅黑" panose="020B0503020204020204" pitchFamily="34" charset="-122"/>
                <a:ea typeface="微软雅黑" panose="020B0503020204020204" pitchFamily="34" charset="-122"/>
              </a:endParaRPr>
            </a:p>
          </p:txBody>
        </p:sp>
      </p:grpSp>
      <p:grpSp>
        <p:nvGrpSpPr>
          <p:cNvPr id="5" name="组合 2"/>
          <p:cNvGrpSpPr/>
          <p:nvPr/>
        </p:nvGrpSpPr>
        <p:grpSpPr>
          <a:xfrm>
            <a:off x="1263650" y="2549525"/>
            <a:ext cx="3068955" cy="1691640"/>
            <a:chOff x="1990" y="4015"/>
            <a:chExt cx="4833" cy="2664"/>
          </a:xfrm>
        </p:grpSpPr>
        <p:sp>
          <p:nvSpPr>
            <p:cNvPr id="17" name="线形标注 3(带强调线) 1"/>
            <p:cNvSpPr/>
            <p:nvPr/>
          </p:nvSpPr>
          <p:spPr bwMode="auto">
            <a:xfrm flipH="1">
              <a:off x="3618" y="4173"/>
              <a:ext cx="3161" cy="2350"/>
            </a:xfrm>
            <a:prstGeom prst="accentCallout2">
              <a:avLst>
                <a:gd name="adj1" fmla="val 18750"/>
                <a:gd name="adj2" fmla="val -8333"/>
                <a:gd name="adj3" fmla="val 18750"/>
                <a:gd name="adj4" fmla="val -20780"/>
                <a:gd name="adj5" fmla="val 39807"/>
                <a:gd name="adj6" fmla="val -29251"/>
              </a:avLst>
            </a:prstGeom>
            <a:noFill/>
            <a:ln w="9525">
              <a:solidFill>
                <a:srgbClr val="C00000"/>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Arial" panose="020B0604020202020204" pitchFamily="34" charset="0"/>
                <a:buNone/>
              </a:pPr>
              <a:endParaRPr lang="en-US" altLang="zh-CN" sz="1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矩形 17"/>
            <p:cNvSpPr/>
            <p:nvPr/>
          </p:nvSpPr>
          <p:spPr>
            <a:xfrm>
              <a:off x="1990" y="4015"/>
              <a:ext cx="4833" cy="2664"/>
            </a:xfrm>
            <a:prstGeom prst="rect">
              <a:avLst/>
            </a:prstGeom>
          </p:spPr>
          <p:txBody>
            <a:bodyPr wrap="square">
              <a:spAutoFit/>
            </a:bodyPr>
            <a:lstStyle/>
            <a:p>
              <a:pPr marL="342900" indent="-342900">
                <a:lnSpc>
                  <a:spcPct val="130000"/>
                </a:lnSpc>
                <a:buClr>
                  <a:srgbClr val="002060"/>
                </a:buClr>
                <a:buFont typeface="Wingdings" panose="05000000000000000000" pitchFamily="2" charset="2"/>
                <a:buChar char="n"/>
              </a:pPr>
              <a:r>
                <a:rPr lang="zh-CN" altLang="en-US" sz="2000" dirty="0">
                  <a:solidFill>
                    <a:srgbClr val="002060"/>
                  </a:solidFill>
                  <a:latin typeface="微软雅黑" panose="020B0503020204020204" pitchFamily="34" charset="-122"/>
                  <a:ea typeface="微软雅黑" panose="020B0503020204020204" pitchFamily="34" charset="-122"/>
                </a:rPr>
                <a:t>行政许可具有附期限性。出租汽车经营权通过行政许可取得，也具有附期限性特征。</a:t>
              </a:r>
              <a:endParaRPr lang="en-US" altLang="zh-CN" sz="2000" dirty="0">
                <a:solidFill>
                  <a:srgbClr val="002060"/>
                </a:solidFill>
                <a:latin typeface="微软雅黑" panose="020B0503020204020204" pitchFamily="34" charset="-122"/>
                <a:ea typeface="微软雅黑" panose="020B0503020204020204" pitchFamily="34" charset="-122"/>
              </a:endParaRPr>
            </a:p>
          </p:txBody>
        </p:sp>
      </p:grpSp>
      <p:grpSp>
        <p:nvGrpSpPr>
          <p:cNvPr id="11" name="组合 1"/>
          <p:cNvGrpSpPr/>
          <p:nvPr/>
        </p:nvGrpSpPr>
        <p:grpSpPr>
          <a:xfrm>
            <a:off x="4912360" y="2381885"/>
            <a:ext cx="2602230" cy="2602230"/>
            <a:chOff x="7736" y="3751"/>
            <a:chExt cx="4098" cy="4098"/>
          </a:xfrm>
        </p:grpSpPr>
        <p:grpSp>
          <p:nvGrpSpPr>
            <p:cNvPr id="3" name="组合 2"/>
            <p:cNvGrpSpPr/>
            <p:nvPr/>
          </p:nvGrpSpPr>
          <p:grpSpPr>
            <a:xfrm rot="0">
              <a:off x="7736" y="3751"/>
              <a:ext cx="4098" cy="4098"/>
              <a:chOff x="4746590" y="2839305"/>
              <a:chExt cx="2602342" cy="2602343"/>
            </a:xfrm>
          </p:grpSpPr>
          <p:grpSp>
            <p:nvGrpSpPr>
              <p:cNvPr id="16" name="组合 15"/>
              <p:cNvGrpSpPr/>
              <p:nvPr/>
            </p:nvGrpSpPr>
            <p:grpSpPr>
              <a:xfrm>
                <a:off x="4746590" y="2839305"/>
                <a:ext cx="2602342" cy="2602343"/>
                <a:chOff x="3152800" y="2380971"/>
                <a:chExt cx="3029935" cy="3029936"/>
              </a:xfrm>
            </p:grpSpPr>
            <p:sp>
              <p:nvSpPr>
                <p:cNvPr id="23" name="Freeform 5"/>
                <p:cNvSpPr/>
                <p:nvPr/>
              </p:nvSpPr>
              <p:spPr bwMode="auto">
                <a:xfrm>
                  <a:off x="3152800" y="2380971"/>
                  <a:ext cx="1514968" cy="2274869"/>
                </a:xfrm>
                <a:custGeom>
                  <a:avLst/>
                  <a:gdLst/>
                  <a:ahLst/>
                  <a:cxnLst>
                    <a:cxn ang="0">
                      <a:pos x="422" y="0"/>
                    </a:cxn>
                    <a:cxn ang="0">
                      <a:pos x="0" y="421"/>
                    </a:cxn>
                    <a:cxn ang="0">
                      <a:pos x="57" y="632"/>
                    </a:cxn>
                    <a:cxn ang="0">
                      <a:pos x="422" y="421"/>
                    </a:cxn>
                    <a:cxn ang="0">
                      <a:pos x="422" y="0"/>
                    </a:cxn>
                  </a:cxnLst>
                  <a:rect l="0" t="0" r="r" b="b"/>
                  <a:pathLst>
                    <a:path w="422" h="632">
                      <a:moveTo>
                        <a:pt x="422" y="0"/>
                      </a:moveTo>
                      <a:cubicBezTo>
                        <a:pt x="189" y="0"/>
                        <a:pt x="0" y="188"/>
                        <a:pt x="0" y="421"/>
                      </a:cubicBezTo>
                      <a:cubicBezTo>
                        <a:pt x="0" y="498"/>
                        <a:pt x="21" y="570"/>
                        <a:pt x="57" y="632"/>
                      </a:cubicBezTo>
                      <a:cubicBezTo>
                        <a:pt x="422" y="421"/>
                        <a:pt x="422" y="421"/>
                        <a:pt x="422" y="421"/>
                      </a:cubicBezTo>
                      <a:lnTo>
                        <a:pt x="422" y="0"/>
                      </a:lnTo>
                      <a:close/>
                    </a:path>
                  </a:pathLst>
                </a:custGeom>
                <a:solidFill>
                  <a:srgbClr val="C70019"/>
                </a:solidFill>
                <a:ln w="9525">
                  <a:solidFill>
                    <a:srgbClr val="FFFFFF"/>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黑体" panose="02010609060101010101" pitchFamily="49" charset="-122"/>
                    <a:cs typeface="+mn-ea"/>
                    <a:sym typeface="+mn-lt"/>
                  </a:endParaRPr>
                </a:p>
              </p:txBody>
            </p:sp>
            <p:sp>
              <p:nvSpPr>
                <p:cNvPr id="24" name="Freeform 6"/>
                <p:cNvSpPr/>
                <p:nvPr/>
              </p:nvSpPr>
              <p:spPr bwMode="auto">
                <a:xfrm>
                  <a:off x="4667767" y="2380971"/>
                  <a:ext cx="1514968" cy="2274869"/>
                </a:xfrm>
                <a:custGeom>
                  <a:avLst/>
                  <a:gdLst/>
                  <a:ahLst/>
                  <a:cxnLst>
                    <a:cxn ang="0">
                      <a:pos x="364" y="632"/>
                    </a:cxn>
                    <a:cxn ang="0">
                      <a:pos x="421" y="421"/>
                    </a:cxn>
                    <a:cxn ang="0">
                      <a:pos x="0" y="0"/>
                    </a:cxn>
                    <a:cxn ang="0">
                      <a:pos x="0" y="421"/>
                    </a:cxn>
                    <a:cxn ang="0">
                      <a:pos x="364" y="632"/>
                    </a:cxn>
                  </a:cxnLst>
                  <a:rect l="0" t="0" r="r" b="b"/>
                  <a:pathLst>
                    <a:path w="421" h="632">
                      <a:moveTo>
                        <a:pt x="364" y="632"/>
                      </a:moveTo>
                      <a:cubicBezTo>
                        <a:pt x="400" y="570"/>
                        <a:pt x="421" y="498"/>
                        <a:pt x="421" y="421"/>
                      </a:cubicBezTo>
                      <a:cubicBezTo>
                        <a:pt x="421" y="188"/>
                        <a:pt x="232" y="0"/>
                        <a:pt x="0" y="0"/>
                      </a:cubicBezTo>
                      <a:cubicBezTo>
                        <a:pt x="0" y="421"/>
                        <a:pt x="0" y="421"/>
                        <a:pt x="0" y="421"/>
                      </a:cubicBezTo>
                      <a:lnTo>
                        <a:pt x="364" y="632"/>
                      </a:lnTo>
                      <a:close/>
                    </a:path>
                  </a:pathLst>
                </a:custGeom>
                <a:solidFill>
                  <a:srgbClr val="4C4948"/>
                </a:solidFill>
                <a:ln w="9525">
                  <a:solidFill>
                    <a:srgbClr val="FFFFFF"/>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ea"/>
                    <a:sym typeface="+mn-lt"/>
                  </a:endParaRPr>
                </a:p>
              </p:txBody>
            </p:sp>
            <p:sp>
              <p:nvSpPr>
                <p:cNvPr id="25" name="Freeform 7"/>
                <p:cNvSpPr/>
                <p:nvPr/>
              </p:nvSpPr>
              <p:spPr bwMode="auto">
                <a:xfrm>
                  <a:off x="3356086" y="3895939"/>
                  <a:ext cx="2623358" cy="1514968"/>
                </a:xfrm>
                <a:custGeom>
                  <a:avLst/>
                  <a:gdLst/>
                  <a:ahLst/>
                  <a:cxnLst>
                    <a:cxn ang="0">
                      <a:pos x="365" y="0"/>
                    </a:cxn>
                    <a:cxn ang="0">
                      <a:pos x="0" y="211"/>
                    </a:cxn>
                    <a:cxn ang="0">
                      <a:pos x="365" y="421"/>
                    </a:cxn>
                    <a:cxn ang="0">
                      <a:pos x="729" y="211"/>
                    </a:cxn>
                    <a:cxn ang="0">
                      <a:pos x="365" y="0"/>
                    </a:cxn>
                  </a:cxnLst>
                  <a:rect l="0" t="0" r="r" b="b"/>
                  <a:pathLst>
                    <a:path w="729" h="421">
                      <a:moveTo>
                        <a:pt x="365" y="0"/>
                      </a:moveTo>
                      <a:cubicBezTo>
                        <a:pt x="0" y="211"/>
                        <a:pt x="0" y="211"/>
                        <a:pt x="0" y="211"/>
                      </a:cubicBezTo>
                      <a:cubicBezTo>
                        <a:pt x="73" y="337"/>
                        <a:pt x="209" y="421"/>
                        <a:pt x="365" y="421"/>
                      </a:cubicBezTo>
                      <a:cubicBezTo>
                        <a:pt x="520" y="421"/>
                        <a:pt x="656" y="337"/>
                        <a:pt x="729" y="211"/>
                      </a:cubicBezTo>
                      <a:lnTo>
                        <a:pt x="365" y="0"/>
                      </a:lnTo>
                      <a:close/>
                    </a:path>
                  </a:pathLst>
                </a:custGeom>
                <a:solidFill>
                  <a:srgbClr val="727171"/>
                </a:solidFill>
                <a:ln w="9525">
                  <a:solidFill>
                    <a:srgbClr val="FFFFFF"/>
                  </a:solid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ea"/>
                    <a:sym typeface="+mn-lt"/>
                  </a:endParaRPr>
                </a:p>
              </p:txBody>
            </p:sp>
            <p:grpSp>
              <p:nvGrpSpPr>
                <p:cNvPr id="27" name="Group 4"/>
                <p:cNvGrpSpPr>
                  <a:grpSpLocks noChangeAspect="1"/>
                </p:cNvGrpSpPr>
                <p:nvPr/>
              </p:nvGrpSpPr>
              <p:grpSpPr bwMode="auto">
                <a:xfrm>
                  <a:off x="4072884" y="3689174"/>
                  <a:ext cx="1196477" cy="413524"/>
                  <a:chOff x="638" y="230"/>
                  <a:chExt cx="1221" cy="422"/>
                </a:xfrm>
              </p:grpSpPr>
              <p:sp>
                <p:nvSpPr>
                  <p:cNvPr id="31" name="AutoShape 3"/>
                  <p:cNvSpPr>
                    <a:spLocks noChangeAspect="1" noChangeArrowheads="1" noTextEdit="1"/>
                  </p:cNvSpPr>
                  <p:nvPr userDrawn="1"/>
                </p:nvSpPr>
                <p:spPr bwMode="auto">
                  <a:xfrm>
                    <a:off x="638" y="230"/>
                    <a:ext cx="1221"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36" name="Freeform 9"/>
                  <p:cNvSpPr/>
                  <p:nvPr userDrawn="1"/>
                </p:nvSpPr>
                <p:spPr bwMode="auto">
                  <a:xfrm>
                    <a:off x="729" y="417"/>
                    <a:ext cx="77" cy="47"/>
                  </a:xfrm>
                  <a:custGeom>
                    <a:avLst/>
                    <a:gdLst>
                      <a:gd name="T0" fmla="*/ 2 w 15"/>
                      <a:gd name="T1" fmla="*/ 0 h 9"/>
                      <a:gd name="T2" fmla="*/ 0 w 15"/>
                      <a:gd name="T3" fmla="*/ 1 h 9"/>
                      <a:gd name="T4" fmla="*/ 0 w 15"/>
                      <a:gd name="T5" fmla="*/ 8 h 9"/>
                      <a:gd name="T6" fmla="*/ 2 w 15"/>
                      <a:gd name="T7" fmla="*/ 9 h 9"/>
                      <a:gd name="T8" fmla="*/ 15 w 15"/>
                      <a:gd name="T9" fmla="*/ 9 h 9"/>
                      <a:gd name="T10" fmla="*/ 15 w 15"/>
                      <a:gd name="T11" fmla="*/ 0 h 9"/>
                      <a:gd name="T12" fmla="*/ 2 w 15"/>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5" h="9">
                        <a:moveTo>
                          <a:pt x="2" y="0"/>
                        </a:moveTo>
                        <a:cubicBezTo>
                          <a:pt x="1" y="0"/>
                          <a:pt x="0" y="0"/>
                          <a:pt x="0" y="1"/>
                        </a:cubicBezTo>
                        <a:cubicBezTo>
                          <a:pt x="0" y="8"/>
                          <a:pt x="0" y="8"/>
                          <a:pt x="0" y="8"/>
                        </a:cubicBezTo>
                        <a:cubicBezTo>
                          <a:pt x="0" y="8"/>
                          <a:pt x="1" y="9"/>
                          <a:pt x="2" y="9"/>
                        </a:cubicBezTo>
                        <a:cubicBezTo>
                          <a:pt x="15" y="9"/>
                          <a:pt x="15" y="9"/>
                          <a:pt x="15" y="9"/>
                        </a:cubicBezTo>
                        <a:cubicBezTo>
                          <a:pt x="15" y="0"/>
                          <a:pt x="15" y="0"/>
                          <a:pt x="15" y="0"/>
                        </a:cubicBezTo>
                        <a:lnTo>
                          <a:pt x="2" y="0"/>
                        </a:lnTo>
                        <a:close/>
                      </a:path>
                    </a:pathLst>
                  </a:custGeom>
                  <a:solidFill>
                    <a:srgbClr val="C700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37" name="Freeform 10"/>
                  <p:cNvSpPr/>
                  <p:nvPr userDrawn="1"/>
                </p:nvSpPr>
                <p:spPr bwMode="auto">
                  <a:xfrm>
                    <a:off x="862" y="417"/>
                    <a:ext cx="71" cy="47"/>
                  </a:xfrm>
                  <a:custGeom>
                    <a:avLst/>
                    <a:gdLst>
                      <a:gd name="T0" fmla="*/ 13 w 14"/>
                      <a:gd name="T1" fmla="*/ 0 h 9"/>
                      <a:gd name="T2" fmla="*/ 14 w 14"/>
                      <a:gd name="T3" fmla="*/ 1 h 9"/>
                      <a:gd name="T4" fmla="*/ 14 w 14"/>
                      <a:gd name="T5" fmla="*/ 8 h 9"/>
                      <a:gd name="T6" fmla="*/ 13 w 14"/>
                      <a:gd name="T7" fmla="*/ 9 h 9"/>
                      <a:gd name="T8" fmla="*/ 0 w 14"/>
                      <a:gd name="T9" fmla="*/ 9 h 9"/>
                      <a:gd name="T10" fmla="*/ 0 w 14"/>
                      <a:gd name="T11" fmla="*/ 0 h 9"/>
                      <a:gd name="T12" fmla="*/ 13 w 14"/>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4" h="9">
                        <a:moveTo>
                          <a:pt x="13" y="0"/>
                        </a:moveTo>
                        <a:cubicBezTo>
                          <a:pt x="14" y="0"/>
                          <a:pt x="14" y="0"/>
                          <a:pt x="14" y="1"/>
                        </a:cubicBezTo>
                        <a:cubicBezTo>
                          <a:pt x="14" y="8"/>
                          <a:pt x="14" y="8"/>
                          <a:pt x="14" y="8"/>
                        </a:cubicBezTo>
                        <a:cubicBezTo>
                          <a:pt x="14" y="8"/>
                          <a:pt x="14" y="9"/>
                          <a:pt x="13" y="9"/>
                        </a:cubicBezTo>
                        <a:cubicBezTo>
                          <a:pt x="0" y="9"/>
                          <a:pt x="0" y="9"/>
                          <a:pt x="0" y="9"/>
                        </a:cubicBezTo>
                        <a:cubicBezTo>
                          <a:pt x="0" y="0"/>
                          <a:pt x="0" y="0"/>
                          <a:pt x="0" y="0"/>
                        </a:cubicBezTo>
                        <a:lnTo>
                          <a:pt x="13" y="0"/>
                        </a:lnTo>
                        <a:close/>
                      </a:path>
                    </a:pathLst>
                  </a:custGeom>
                  <a:solidFill>
                    <a:srgbClr val="C700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sp>
                <p:nvSpPr>
                  <p:cNvPr id="40" name="Freeform 13"/>
                  <p:cNvSpPr/>
                  <p:nvPr userDrawn="1"/>
                </p:nvSpPr>
                <p:spPr bwMode="auto">
                  <a:xfrm>
                    <a:off x="652" y="250"/>
                    <a:ext cx="402" cy="78"/>
                  </a:xfrm>
                  <a:custGeom>
                    <a:avLst/>
                    <a:gdLst>
                      <a:gd name="T0" fmla="*/ 229 w 402"/>
                      <a:gd name="T1" fmla="*/ 31 h 78"/>
                      <a:gd name="T2" fmla="*/ 229 w 402"/>
                      <a:gd name="T3" fmla="*/ 0 h 78"/>
                      <a:gd name="T4" fmla="*/ 173 w 402"/>
                      <a:gd name="T5" fmla="*/ 0 h 78"/>
                      <a:gd name="T6" fmla="*/ 173 w 402"/>
                      <a:gd name="T7" fmla="*/ 31 h 78"/>
                      <a:gd name="T8" fmla="*/ 0 w 402"/>
                      <a:gd name="T9" fmla="*/ 31 h 78"/>
                      <a:gd name="T10" fmla="*/ 0 w 402"/>
                      <a:gd name="T11" fmla="*/ 78 h 78"/>
                      <a:gd name="T12" fmla="*/ 402 w 402"/>
                      <a:gd name="T13" fmla="*/ 78 h 78"/>
                      <a:gd name="T14" fmla="*/ 402 w 402"/>
                      <a:gd name="T15" fmla="*/ 31 h 78"/>
                      <a:gd name="T16" fmla="*/ 229 w 402"/>
                      <a:gd name="T17" fmla="*/ 3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2" h="78">
                        <a:moveTo>
                          <a:pt x="229" y="31"/>
                        </a:moveTo>
                        <a:lnTo>
                          <a:pt x="229" y="0"/>
                        </a:lnTo>
                        <a:lnTo>
                          <a:pt x="173" y="0"/>
                        </a:lnTo>
                        <a:lnTo>
                          <a:pt x="173" y="31"/>
                        </a:lnTo>
                        <a:lnTo>
                          <a:pt x="0" y="31"/>
                        </a:lnTo>
                        <a:lnTo>
                          <a:pt x="0" y="78"/>
                        </a:lnTo>
                        <a:lnTo>
                          <a:pt x="402" y="78"/>
                        </a:lnTo>
                        <a:lnTo>
                          <a:pt x="402" y="31"/>
                        </a:lnTo>
                        <a:lnTo>
                          <a:pt x="229" y="31"/>
                        </a:lnTo>
                        <a:close/>
                      </a:path>
                    </a:pathLst>
                  </a:custGeom>
                  <a:solidFill>
                    <a:srgbClr val="C7001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endParaRPr>
                  </a:p>
                </p:txBody>
              </p:sp>
            </p:grpSp>
            <p:sp>
              <p:nvSpPr>
                <p:cNvPr id="28" name="矩形 27"/>
                <p:cNvSpPr/>
                <p:nvPr/>
              </p:nvSpPr>
              <p:spPr>
                <a:xfrm rot="18251483">
                  <a:off x="2902080" y="3084204"/>
                  <a:ext cx="1827572" cy="430017"/>
                </a:xfrm>
                <a:prstGeom prst="rect">
                  <a:avLst/>
                </a:prstGeom>
              </p:spPr>
              <p:txBody>
                <a:bodyPr wrap="none">
                  <a:spAutoFit/>
                </a:bodyPr>
                <a:lstStyle/>
                <a:p>
                  <a:r>
                    <a:rPr lang="zh-CN" altLang="en-US" sz="1800" dirty="0">
                      <a:solidFill>
                        <a:schemeClr val="bg1"/>
                      </a:solidFill>
                      <a:latin typeface="微软雅黑" panose="020B0503020204020204" pitchFamily="34" charset="-122"/>
                      <a:ea typeface="微软雅黑" panose="020B0503020204020204" pitchFamily="34" charset="-122"/>
                    </a:rPr>
                    <a:t>行政许可期限</a:t>
                  </a:r>
                  <a:endParaRPr lang="zh-CN" altLang="en-US" sz="1800" dirty="0">
                    <a:solidFill>
                      <a:schemeClr val="bg1"/>
                    </a:solidFill>
                  </a:endParaRPr>
                </a:p>
              </p:txBody>
            </p:sp>
            <p:sp>
              <p:nvSpPr>
                <p:cNvPr id="29" name="矩形 28"/>
                <p:cNvSpPr/>
                <p:nvPr/>
              </p:nvSpPr>
              <p:spPr>
                <a:xfrm>
                  <a:off x="3753979" y="4712340"/>
                  <a:ext cx="1827572" cy="430017"/>
                </a:xfrm>
                <a:prstGeom prst="rect">
                  <a:avLst/>
                </a:prstGeom>
              </p:spPr>
              <p:txBody>
                <a:bodyPr wrap="none">
                  <a:spAutoFit/>
                </a:bodyPr>
                <a:lstStyle/>
                <a:p>
                  <a:r>
                    <a:rPr lang="zh-CN" altLang="en-US" sz="1800" dirty="0">
                      <a:solidFill>
                        <a:schemeClr val="bg1"/>
                      </a:solidFill>
                      <a:latin typeface="微软雅黑" panose="020B0503020204020204" pitchFamily="34" charset="-122"/>
                      <a:ea typeface="微软雅黑" panose="020B0503020204020204" pitchFamily="34" charset="-122"/>
                    </a:rPr>
                    <a:t>优化资源配置</a:t>
                  </a:r>
                  <a:endParaRPr lang="zh-CN" altLang="en-US" sz="1800" dirty="0">
                    <a:solidFill>
                      <a:schemeClr val="bg1"/>
                    </a:solidFill>
                  </a:endParaRPr>
                </a:p>
              </p:txBody>
            </p:sp>
            <p:sp>
              <p:nvSpPr>
                <p:cNvPr id="30" name="矩形 29"/>
                <p:cNvSpPr/>
                <p:nvPr/>
              </p:nvSpPr>
              <p:spPr>
                <a:xfrm rot="3185041">
                  <a:off x="4630586" y="3093881"/>
                  <a:ext cx="1827572" cy="430017"/>
                </a:xfrm>
                <a:prstGeom prst="rect">
                  <a:avLst/>
                </a:prstGeom>
              </p:spPr>
              <p:txBody>
                <a:bodyPr wrap="none">
                  <a:spAutoFit/>
                </a:bodyPr>
                <a:lstStyle/>
                <a:p>
                  <a:r>
                    <a:rPr lang="zh-CN" altLang="en-US" sz="1800" dirty="0">
                      <a:solidFill>
                        <a:schemeClr val="bg1"/>
                      </a:solidFill>
                      <a:latin typeface="微软雅黑" panose="020B0503020204020204" pitchFamily="34" charset="-122"/>
                      <a:ea typeface="微软雅黑" panose="020B0503020204020204" pitchFamily="34" charset="-122"/>
                    </a:rPr>
                    <a:t>降低经营成本</a:t>
                  </a:r>
                  <a:endParaRPr lang="zh-CN" altLang="en-US" sz="1800" dirty="0">
                    <a:solidFill>
                      <a:schemeClr val="bg1"/>
                    </a:solidFill>
                  </a:endParaRPr>
                </a:p>
              </p:txBody>
            </p:sp>
          </p:grpSp>
          <p:sp>
            <p:nvSpPr>
              <p:cNvPr id="2" name="椭圆 1"/>
              <p:cNvSpPr/>
              <p:nvPr/>
            </p:nvSpPr>
            <p:spPr>
              <a:xfrm>
                <a:off x="5381713" y="3519816"/>
                <a:ext cx="1331886" cy="13318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9" name="图片 48"/>
            <p:cNvPicPr>
              <a:picLocks noChangeAspect="1"/>
            </p:cNvPicPr>
            <p:nvPr/>
          </p:nvPicPr>
          <p:blipFill>
            <a:blip r:embed="rId1"/>
            <a:srcRect l="11920" t="8372" r="16174" b="8731"/>
            <a:stretch>
              <a:fillRect/>
            </a:stretch>
          </p:blipFill>
          <p:spPr>
            <a:xfrm>
              <a:off x="8783" y="4931"/>
              <a:ext cx="1942" cy="1942"/>
            </a:xfrm>
            <a:custGeom>
              <a:avLst/>
              <a:gdLst>
                <a:gd name="connsiteX0" fmla="*/ 825598 w 1651196"/>
                <a:gd name="connsiteY0" fmla="*/ 0 h 1651196"/>
                <a:gd name="connsiteX1" fmla="*/ 1651196 w 1651196"/>
                <a:gd name="connsiteY1" fmla="*/ 825598 h 1651196"/>
                <a:gd name="connsiteX2" fmla="*/ 825598 w 1651196"/>
                <a:gd name="connsiteY2" fmla="*/ 1651196 h 1651196"/>
                <a:gd name="connsiteX3" fmla="*/ 0 w 1651196"/>
                <a:gd name="connsiteY3" fmla="*/ 825598 h 1651196"/>
                <a:gd name="connsiteX4" fmla="*/ 825598 w 1651196"/>
                <a:gd name="connsiteY4" fmla="*/ 0 h 1651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196" h="1651196">
                  <a:moveTo>
                    <a:pt x="825598" y="0"/>
                  </a:moveTo>
                  <a:cubicBezTo>
                    <a:pt x="1281563" y="0"/>
                    <a:pt x="1651196" y="369633"/>
                    <a:pt x="1651196" y="825598"/>
                  </a:cubicBezTo>
                  <a:cubicBezTo>
                    <a:pt x="1651196" y="1281563"/>
                    <a:pt x="1281563" y="1651196"/>
                    <a:pt x="825598" y="1651196"/>
                  </a:cubicBezTo>
                  <a:cubicBezTo>
                    <a:pt x="369633" y="1651196"/>
                    <a:pt x="0" y="1281563"/>
                    <a:pt x="0" y="825598"/>
                  </a:cubicBezTo>
                  <a:cubicBezTo>
                    <a:pt x="0" y="369633"/>
                    <a:pt x="369633" y="0"/>
                    <a:pt x="825598" y="0"/>
                  </a:cubicBezTo>
                  <a:close/>
                </a:path>
              </a:pathLst>
            </a:custGeom>
          </p:spPr>
        </p:pic>
      </p:grpSp>
      <p:sp>
        <p:nvSpPr>
          <p:cNvPr id="34" name="文本框 2"/>
          <p:cNvSpPr txBox="1"/>
          <p:nvPr/>
        </p:nvSpPr>
        <p:spPr>
          <a:xfrm>
            <a:off x="483335" y="1590214"/>
            <a:ext cx="3738880" cy="521970"/>
          </a:xfrm>
          <a:prstGeom prst="rect">
            <a:avLst/>
          </a:prstGeom>
          <a:noFill/>
        </p:spPr>
        <p:txBody>
          <a:bodyPr wrap="none" rtlCol="0">
            <a:spAutoFit/>
          </a:bodyPr>
          <a:lstStyle/>
          <a:p>
            <a:r>
              <a:rPr lang="zh-CN" altLang="en-US" sz="2800" b="1" dirty="0" smtClean="0">
                <a:solidFill>
                  <a:schemeClr val="tx2"/>
                </a:solidFill>
                <a:latin typeface="微软雅黑" panose="020B0503020204020204" pitchFamily="34" charset="-122"/>
                <a:ea typeface="微软雅黑" panose="020B0503020204020204" pitchFamily="34" charset="-122"/>
              </a:rPr>
              <a:t>实行经营权管理期限制</a:t>
            </a:r>
            <a:endParaRPr lang="zh-CN" altLang="en-US" sz="2800" b="1" dirty="0">
              <a:solidFill>
                <a:schemeClr val="tx2"/>
              </a:solidFill>
              <a:latin typeface="微软雅黑" panose="020B0503020204020204" pitchFamily="34" charset="-122"/>
              <a:ea typeface="微软雅黑" panose="020B0503020204020204" pitchFamily="34" charset="-122"/>
            </a:endParaRPr>
          </a:p>
        </p:txBody>
      </p:sp>
      <p:sp>
        <p:nvSpPr>
          <p:cNvPr id="7" name="标题 6"/>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51" presetClass="path" presetSubtype="0" accel="50000" decel="50000" fill="hold" nodeType="afterEffect">
                                  <p:stCondLst>
                                    <p:cond delay="0"/>
                                  </p:stCondLst>
                                  <p:childTnLst>
                                    <p:animMotion path="M 0.000000 0.333330 L -0.040000 0.244000 C -0.049000 0.225330 -0.054000 0.198670 -0.054000 0.165330 C -0.054000 0.136000 -0.049000 0.108000 -0.040000 0.089330 L 0.000000 0.000000 " pathEditMode="relative" rAng="0" ptsTypes="">
                                      <p:cBhvr additive="base">
                                        <p:cTn id="9" dur="2000" fill="hold"/>
                                        <p:tgtEl>
                                          <p:spTgt spid="11"/>
                                        </p:tgtEl>
                                        <p:attrNameLst>
                                          <p:attrName>ppt_x</p:attrName>
                                          <p:attrName>ppt_y</p:attrName>
                                        </p:attrNameLst>
                                      </p:cBhvr>
                                      <p:rCtr x="-27" y="-166"/>
                                    </p:animMotion>
                                  </p:childTnLst>
                                </p:cTn>
                              </p:par>
                            </p:childTnLst>
                          </p:cTn>
                        </p:par>
                        <p:par>
                          <p:cTn id="10" fill="hold">
                            <p:stCondLst>
                              <p:cond delay="2000"/>
                            </p:stCondLst>
                            <p:childTnLst>
                              <p:par>
                                <p:cTn id="11" presetID="8" presetClass="emph" presetSubtype="0" fill="hold" nodeType="afterEffect">
                                  <p:stCondLst>
                                    <p:cond delay="0"/>
                                  </p:stCondLst>
                                  <p:childTnLst>
                                    <p:animRot by="21600000">
                                      <p:cBhvr>
                                        <p:cTn id="12" dur="2000" fill="hold"/>
                                        <p:tgtEl>
                                          <p:spTgt spid="11"/>
                                        </p:tgtEl>
                                        <p:attrNameLst>
                                          <p:attrName>r</p:attrName>
                                        </p:attrNameLst>
                                      </p:cBhvr>
                                    </p:animRo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000" fill="hold">
                                          <p:stCondLst>
                                            <p:cond delay="0"/>
                                          </p:stCondLst>
                                        </p:cTn>
                                        <p:tgtEl>
                                          <p:spTgt spid="5"/>
                                        </p:tgtEl>
                                        <p:attrNameLst>
                                          <p:attrName>style.visibility</p:attrName>
                                        </p:attrNameLst>
                                      </p:cBhvr>
                                      <p:to>
                                        <p:strVal val="visible"/>
                                      </p:to>
                                    </p:set>
                                    <p:anim calcmode="lin" valueType="num">
                                      <p:cBhvr additive="base">
                                        <p:cTn id="17" dur="1000" fill="hold"/>
                                        <p:tgtEl>
                                          <p:spTgt spid="5"/>
                                        </p:tgtEl>
                                        <p:attrNameLst>
                                          <p:attrName>ppt_x</p:attrName>
                                        </p:attrNameLst>
                                      </p:cBhvr>
                                      <p:tavLst>
                                        <p:tav tm="0">
                                          <p:val>
                                            <p:strVal val="0-#ppt_w/2"/>
                                          </p:val>
                                        </p:tav>
                                        <p:tav tm="100000">
                                          <p:val>
                                            <p:strVal val="#ppt_x"/>
                                          </p:val>
                                        </p:tav>
                                      </p:tavLst>
                                    </p:anim>
                                    <p:anim calcmode="lin" valueType="num">
                                      <p:cBhvr additive="base">
                                        <p:cTn id="18"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000"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1+#ppt_w/2"/>
                                          </p:val>
                                        </p:tav>
                                        <p:tav tm="100000">
                                          <p:val>
                                            <p:strVal val="#ppt_x"/>
                                          </p:val>
                                        </p:tav>
                                      </p:tavLst>
                                    </p:anim>
                                    <p:anim calcmode="lin" valueType="num">
                                      <p:cBhvr additive="base">
                                        <p:cTn id="24"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000" fill="hold">
                                          <p:stCondLst>
                                            <p:cond delay="0"/>
                                          </p:stCondLst>
                                        </p:cTn>
                                        <p:tgtEl>
                                          <p:spTgt spid="10"/>
                                        </p:tgtEl>
                                        <p:attrNameLst>
                                          <p:attrName>style.visibility</p:attrName>
                                        </p:attrNameLst>
                                      </p:cBhvr>
                                      <p:to>
                                        <p:strVal val="visible"/>
                                      </p:to>
                                    </p:set>
                                    <p:anim calcmode="lin" valueType="num">
                                      <p:cBhvr additive="base">
                                        <p:cTn id="29" dur="1000" fill="hold"/>
                                        <p:tgtEl>
                                          <p:spTgt spid="10"/>
                                        </p:tgtEl>
                                        <p:attrNameLst>
                                          <p:attrName>ppt_x</p:attrName>
                                        </p:attrNameLst>
                                      </p:cBhvr>
                                      <p:tavLst>
                                        <p:tav tm="0">
                                          <p:val>
                                            <p:strVal val="#ppt_x"/>
                                          </p:val>
                                        </p:tav>
                                        <p:tav tm="100000">
                                          <p:val>
                                            <p:strVal val="#ppt_x"/>
                                          </p:val>
                                        </p:tav>
                                      </p:tavLst>
                                    </p:anim>
                                    <p:anim calcmode="lin" valueType="num">
                                      <p:cBhvr additive="base">
                                        <p:cTn id="30"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p>
            <a:r>
              <a:rPr lang="en-US" altLang="zh-CN" smtClean="0">
                <a:solidFill>
                  <a:srgbClr val="E96A0F"/>
                </a:solidFill>
                <a:latin typeface="微软雅黑" panose="020B0503020204020204" pitchFamily="34" charset="-122"/>
                <a:sym typeface="微软雅黑" panose="020B0503020204020204" pitchFamily="34" charset="-122"/>
              </a:rPr>
              <a:t>03《</a:t>
            </a:r>
            <a:r>
              <a:rPr smtClean="0">
                <a:solidFill>
                  <a:srgbClr val="E96A0F"/>
                </a:solidFill>
                <a:latin typeface="微软雅黑" panose="020B0503020204020204" pitchFamily="34" charset="-122"/>
                <a:sym typeface="微软雅黑" panose="020B0503020204020204" pitchFamily="34" charset="-122"/>
              </a:rPr>
              <a:t>巡游出租汽车经营服务管理规定</a:t>
            </a:r>
            <a:r>
              <a:rPr lang="en-US" altLang="zh-CN" smtClean="0">
                <a:solidFill>
                  <a:srgbClr val="E96A0F"/>
                </a:solidFill>
                <a:latin typeface="微软雅黑" panose="020B0503020204020204" pitchFamily="34" charset="-122"/>
                <a:sym typeface="微软雅黑" panose="020B0503020204020204" pitchFamily="34" charset="-122"/>
              </a:rPr>
              <a:t>》</a:t>
            </a:r>
            <a:r>
              <a:rPr smtClean="0">
                <a:solidFill>
                  <a:srgbClr val="E96A0F"/>
                </a:solidFill>
                <a:latin typeface="微软雅黑" panose="020B0503020204020204" pitchFamily="34" charset="-122"/>
                <a:sym typeface="微软雅黑" panose="020B0503020204020204" pitchFamily="34" charset="-122"/>
              </a:rPr>
              <a:t>主要修订内容</a:t>
            </a:r>
            <a:endParaRPr lang="zh-CN" altLang="en-US"/>
          </a:p>
        </p:txBody>
      </p:sp>
      <p:sp>
        <p:nvSpPr>
          <p:cNvPr id="5" name="内容占位符 4"/>
          <p:cNvSpPr>
            <a:spLocks noGrp="1"/>
          </p:cNvSpPr>
          <p:nvPr>
            <p:ph idx="1"/>
          </p:nvPr>
        </p:nvSpPr>
        <p:spPr/>
        <p:txBody>
          <a:bodyPr/>
          <a:p>
            <a:endParaRPr lang="zh-CN" altLang="en-US"/>
          </a:p>
        </p:txBody>
      </p:sp>
      <p:sp>
        <p:nvSpPr>
          <p:cNvPr id="10" name="文本框 2"/>
          <p:cNvSpPr txBox="1"/>
          <p:nvPr/>
        </p:nvSpPr>
        <p:spPr>
          <a:xfrm>
            <a:off x="873125" y="1464094"/>
            <a:ext cx="894080" cy="521970"/>
          </a:xfrm>
          <a:prstGeom prst="rect">
            <a:avLst/>
          </a:prstGeom>
          <a:noFill/>
        </p:spPr>
        <p:txBody>
          <a:bodyPr wrap="none" rtlCol="0">
            <a:spAutoFit/>
          </a:bodyPr>
          <a:lstStyle/>
          <a:p>
            <a:r>
              <a:rPr lang="zh-CN" altLang="en-US" sz="2800" b="1" dirty="0" smtClean="0">
                <a:solidFill>
                  <a:srgbClr val="FF0000"/>
                </a:solidFill>
                <a:latin typeface="微软雅黑" panose="020B0503020204020204" pitchFamily="34" charset="-122"/>
                <a:ea typeface="微软雅黑" panose="020B0503020204020204" pitchFamily="34" charset="-122"/>
              </a:rPr>
              <a:t>小结</a:t>
            </a:r>
            <a:endParaRPr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9" name="矩形 3"/>
          <p:cNvSpPr>
            <a:spLocks noChangeArrowheads="1"/>
          </p:cNvSpPr>
          <p:nvPr/>
        </p:nvSpPr>
        <p:spPr bwMode="auto">
          <a:xfrm>
            <a:off x="873125" y="2095500"/>
            <a:ext cx="10226040"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b="0" dirty="0">
                <a:solidFill>
                  <a:srgbClr val="002060"/>
                </a:solidFill>
                <a:latin typeface="微软雅黑" panose="020B0503020204020204" pitchFamily="34" charset="-122"/>
                <a:ea typeface="微软雅黑" panose="020B0503020204020204" pitchFamily="34" charset="-122"/>
              </a:rPr>
              <a:t>根据《国务院办公厅关于深化改革推进出租汽车行业健康发展的指导意见》（国办发[2016]58号）和《网络预约出租汽车经营服务管理暂行办法》（交通运输部 工业和信息化部、公安部、商务部、工商总局、质检总局、国家网信办令 2016年第60号）发布后的规章体系架构，修改后的《巡游出租汽车经营服务管理规定》调整了适用范围，并对出租汽车行业定位、经营者与驾驶员利益分配等方面做出了规定，并继续坚持规范经营权管理、完善价格形成机制等。</a:t>
            </a:r>
            <a:endParaRPr lang="zh-CN" altLang="en-US" sz="2400" b="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rmAutofit/>
          </a:bodyPr>
          <a:p>
            <a:r>
              <a:rPr lang="zh-CN" altLang="en-US"/>
              <a:t>谢谢！</a:t>
            </a:r>
            <a:endParaRPr lang="zh-CN" altLang="en-US"/>
          </a:p>
        </p:txBody>
      </p:sp>
      <p:sp>
        <p:nvSpPr>
          <p:cNvPr id="3" name="副标题 2"/>
          <p:cNvSpPr>
            <a:spLocks noGrp="1"/>
          </p:cNvSpPr>
          <p:nvPr>
            <p:ph type="subTitle" idx="1"/>
          </p:nvPr>
        </p:nvSpPr>
        <p:spPr/>
        <p:txBody>
          <a:bodyPr>
            <a:normAutofit/>
          </a:bodyPr>
          <a:p>
            <a:r>
              <a:rPr lang="zh-CN" altLang="en-US"/>
              <a:t>课题组</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p:split/>
        <p:sndAc>
          <p:stSnd>
            <p:snd r:embed="rId1" name="chimes.wav"/>
          </p:stSnd>
        </p:sndAc>
      </p:transition>
    </mc:Choice>
    <mc:Fallback>
      <p:transition spd="med">
        <p:split/>
        <p:sndAc>
          <p:stSnd>
            <p:snd r:embed="rId1" name="chimes.wav"/>
          </p:stSnd>
        </p:sndAc>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TABLE_BEAUTIFY" val="smartTable{e99933c7-360b-423b-ac24-088dae58313e}"/>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3709</Words>
  <Application>WPS 演示</Application>
  <PresentationFormat>自定义</PresentationFormat>
  <Paragraphs>235</Paragraphs>
  <Slides>27</Slides>
  <Notes>56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27</vt:i4>
      </vt:variant>
    </vt:vector>
  </HeadingPairs>
  <TitlesOfParts>
    <vt:vector size="42" baseType="lpstr">
      <vt:lpstr>Arial</vt:lpstr>
      <vt:lpstr>宋体</vt:lpstr>
      <vt:lpstr>Wingdings</vt:lpstr>
      <vt:lpstr>微软雅黑</vt:lpstr>
      <vt:lpstr>Wingdings</vt:lpstr>
      <vt:lpstr>Aharoni</vt:lpstr>
      <vt:lpstr>Yu Gothic UI Semibold</vt:lpstr>
      <vt:lpstr>LiHei Pro</vt:lpstr>
      <vt:lpstr>Impact</vt:lpstr>
      <vt:lpstr>Segoe UI Light</vt:lpstr>
      <vt:lpstr>Segoe UI</vt:lpstr>
      <vt:lpstr>华文细黑</vt:lpstr>
      <vt:lpstr>Arial Unicode MS</vt:lpstr>
      <vt:lpstr>黑体</vt:lpstr>
      <vt:lpstr>1_自定义设计方案</vt:lpstr>
      <vt:lpstr>政策解读</vt:lpstr>
      <vt:lpstr>PowerPoint 演示文稿</vt:lpstr>
      <vt:lpstr>PowerPoint 演示文稿</vt:lpstr>
      <vt:lpstr>01 背景情况</vt:lpstr>
      <vt:lpstr>01 背景情况</vt:lpstr>
      <vt:lpstr>01 背景情况</vt:lpstr>
      <vt:lpstr>PowerPoint 演示文稿</vt:lpstr>
      <vt:lpstr>02 修改目的</vt:lpstr>
      <vt:lpstr>02 修改目的</vt:lpstr>
      <vt:lpstr>02 修改目的</vt:lpstr>
      <vt:lpstr>02 修改目的</vt:lpstr>
      <vt:lpstr>PowerPoint 演示文稿</vt:lpstr>
      <vt:lpstr>03 主要修订内容</vt:lpstr>
      <vt:lpstr>03《出租汽车驾驶员从业资格管理规定》修订内容</vt:lpstr>
      <vt:lpstr>03《出租汽车驾驶员从业资格管理规定》修订内容</vt:lpstr>
      <vt:lpstr>03《出租汽车驾驶员从业资格管理规定》修订内容</vt:lpstr>
      <vt:lpstr>03《出租汽车驾驶员从业资格管理规定》修订内容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03《巡游出租汽车经营服务管理规定》主要修订内容</vt:lpstr>
      <vt:lpstr>谢谢！</vt:lpstr>
    </vt:vector>
  </TitlesOfParts>
  <Company>HJ</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程国鹰</dc:creator>
  <cp:lastModifiedBy>墨尘</cp:lastModifiedBy>
  <cp:revision>747</cp:revision>
  <dcterms:created xsi:type="dcterms:W3CDTF">2014-07-05T07:01:00Z</dcterms:created>
  <dcterms:modified xsi:type="dcterms:W3CDTF">2026-05-07T10:19:44Z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2052-11.1.0.10009</vt:lpwstr>
  </property>
</Properties>
</file>