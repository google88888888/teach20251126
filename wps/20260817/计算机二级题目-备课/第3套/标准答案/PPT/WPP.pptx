
<file path=[Content_Types].xml><?xml version="1.0" encoding="utf-8"?>
<Types xmlns="http://schemas.openxmlformats.org/package/2006/content-types">
  <Default Extension="xlsx" ContentType="application/vnd.openxmlformats-officedocument.spreadsheetml.sheet"/>
  <Default Extension="png" ContentType="image/png"/>
  <Default Extension="wdp" ContentType="image/vnd.ms-photo"/>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409" r:id="rId3"/>
    <p:sldId id="410" r:id="rId4"/>
    <p:sldId id="411" r:id="rId5"/>
    <p:sldId id="412" r:id="rId6"/>
    <p:sldId id="413" r:id="rId7"/>
    <p:sldId id="414" r:id="rId8"/>
    <p:sldId id="415" r:id="rId9"/>
    <p:sldId id="416" r:id="rId10"/>
    <p:sldId id="417" r:id="rId11"/>
    <p:sldId id="41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始" id="{ca4f593d-446e-46da-9210-46dcdd816b02}">
          <p14:sldIdLst>
            <p14:sldId id="409"/>
            <p14:sldId id="410"/>
          </p14:sldIdLst>
        </p14:section>
        <p14:section name="概述" id="{c98fad5f-a401-482e-8aba-b9f92f16cdba}">
          <p14:sldIdLst>
            <p14:sldId id="411"/>
          </p14:sldIdLst>
        </p14:section>
        <p14:section name="发展现状" id="{2ff4b4d5-14d4-4adb-b1a7-2294874d2301}">
          <p14:sldIdLst>
            <p14:sldId id="412"/>
            <p14:sldId id="413"/>
            <p14:sldId id="414"/>
            <p14:sldId id="415"/>
          </p14:sldIdLst>
        </p14:section>
        <p14:section name="发展趋势" id="{05f7e16a-9c81-4119-a7ca-581f74a42887}">
          <p14:sldIdLst>
            <p14:sldId id="416"/>
            <p14:sldId id="417"/>
          </p14:sldIdLst>
        </p14:section>
        <p14:section name="结尾" id="{a93581bd-4cfc-4f8b-aba7-0e4cb726a172}">
          <p14:sldIdLst>
            <p14:sldId id="41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5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交易规模（万亿元）</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numFmt formatCode="#,##0.00_);[Red]\(#,##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Sheet1!$A$2:$A$8</c:f>
              <c:strCache>
                <c:ptCount val="7"/>
                <c:pt idx="0">
                  <c:v>2013年</c:v>
                </c:pt>
                <c:pt idx="1">
                  <c:v>2014年</c:v>
                </c:pt>
                <c:pt idx="2">
                  <c:v>2015年</c:v>
                </c:pt>
                <c:pt idx="3">
                  <c:v>2016年</c:v>
                </c:pt>
                <c:pt idx="4">
                  <c:v>2017年</c:v>
                </c:pt>
                <c:pt idx="5">
                  <c:v>2018年</c:v>
                </c:pt>
                <c:pt idx="6">
                  <c:v>2019年</c:v>
                </c:pt>
              </c:strCache>
            </c:strRef>
          </c:cat>
          <c:val>
            <c:numRef>
              <c:f>Sheet1!$B$2:$B$8</c:f>
              <c:numCache>
                <c:formatCode>General</c:formatCode>
                <c:ptCount val="7"/>
                <c:pt idx="0">
                  <c:v>10.2</c:v>
                </c:pt>
                <c:pt idx="1">
                  <c:v>13.4</c:v>
                </c:pt>
                <c:pt idx="2">
                  <c:v>18.3</c:v>
                </c:pt>
                <c:pt idx="3">
                  <c:v>22.97</c:v>
                </c:pt>
                <c:pt idx="4">
                  <c:v>29.16</c:v>
                </c:pt>
                <c:pt idx="5">
                  <c:v>31.63</c:v>
                </c:pt>
                <c:pt idx="6">
                  <c:v>34.81</c:v>
                </c:pt>
              </c:numCache>
            </c:numRef>
          </c:val>
        </c:ser>
        <c:dLbls>
          <c:showLegendKey val="0"/>
          <c:showVal val="1"/>
          <c:showCatName val="0"/>
          <c:showSerName val="0"/>
          <c:showPercent val="0"/>
          <c:showBubbleSize val="0"/>
        </c:dLbls>
        <c:gapWidth val="219"/>
        <c:overlap val="-27"/>
        <c:axId val="891012912"/>
        <c:axId val="624120806"/>
      </c:barChart>
      <c:lineChart>
        <c:grouping val="standard"/>
        <c:varyColors val="0"/>
        <c:ser>
          <c:idx val="1"/>
          <c:order val="1"/>
          <c:tx>
            <c:strRef>
              <c:f>Sheet1!$C$1</c:f>
              <c:strCache>
                <c:ptCount val="1"/>
                <c:pt idx="0">
                  <c:v>增长率（%）</c:v>
                </c:pt>
              </c:strCache>
            </c:strRef>
          </c:tx>
          <c:spPr>
            <a:ln w="28575" cap="rnd">
              <a:solidFill>
                <a:schemeClr val="accent2"/>
              </a:solidFill>
              <a:round/>
            </a:ln>
            <a:effectLst/>
          </c:spPr>
          <c:marker>
            <c:symbol val="none"/>
          </c:marker>
          <c:dLbls>
            <c:numFmt formatCode="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Sheet1!$A$2:$A$8</c:f>
              <c:strCache>
                <c:ptCount val="7"/>
                <c:pt idx="0">
                  <c:v>2013年</c:v>
                </c:pt>
                <c:pt idx="1">
                  <c:v>2014年</c:v>
                </c:pt>
                <c:pt idx="2">
                  <c:v>2015年</c:v>
                </c:pt>
                <c:pt idx="3">
                  <c:v>2016年</c:v>
                </c:pt>
                <c:pt idx="4">
                  <c:v>2017年</c:v>
                </c:pt>
                <c:pt idx="5">
                  <c:v>2018年</c:v>
                </c:pt>
                <c:pt idx="6">
                  <c:v>2019年</c:v>
                </c:pt>
              </c:strCache>
            </c:strRef>
          </c:cat>
          <c:val>
            <c:numRef>
              <c:f>Sheet1!$C$2:$C$8</c:f>
              <c:numCache>
                <c:formatCode>General</c:formatCode>
                <c:ptCount val="7"/>
                <c:pt idx="1" c:formatCode="0.00%">
                  <c:v>0.314</c:v>
                </c:pt>
                <c:pt idx="2" c:formatCode="0.00%">
                  <c:v>0.366</c:v>
                </c:pt>
                <c:pt idx="3" c:formatCode="0.00%">
                  <c:v>0.255</c:v>
                </c:pt>
                <c:pt idx="4" c:formatCode="0.00%">
                  <c:v>0.269</c:v>
                </c:pt>
                <c:pt idx="5" c:formatCode="0.00%">
                  <c:v>0.085</c:v>
                </c:pt>
                <c:pt idx="6" c:formatCode="0.00%">
                  <c:v>0.101</c:v>
                </c:pt>
              </c:numCache>
            </c:numRef>
          </c:val>
          <c:smooth val="0"/>
        </c:ser>
        <c:dLbls>
          <c:showLegendKey val="0"/>
          <c:showVal val="1"/>
          <c:showCatName val="0"/>
          <c:showSerName val="0"/>
          <c:showPercent val="0"/>
          <c:showBubbleSize val="0"/>
        </c:dLbls>
        <c:marker val="0"/>
        <c:smooth val="0"/>
        <c:axId val="54558274"/>
        <c:axId val="210051334"/>
      </c:lineChart>
      <c:catAx>
        <c:axId val="891012912"/>
        <c:scaling>
          <c:orientation val="minMax"/>
        </c:scaling>
        <c:delete val="0"/>
        <c:axPos val="b"/>
        <c:majorTickMark val="none"/>
        <c:minorTickMark val="none"/>
        <c:tickLblPos val="nextTo"/>
        <c:spPr>
          <a:noFill/>
          <a:ln w="19050" cap="flat" cmpd="sng" algn="ctr">
            <a:solidFill>
              <a:schemeClr val="tx1">
                <a:lumMod val="25000"/>
                <a:lumOff val="7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24120806"/>
        <c:crosses val="autoZero"/>
        <c:auto val="1"/>
        <c:lblAlgn val="ctr"/>
        <c:lblOffset val="100"/>
        <c:noMultiLvlLbl val="0"/>
      </c:catAx>
      <c:valAx>
        <c:axId val="624120806"/>
        <c:scaling>
          <c:orientation val="minMax"/>
        </c:scaling>
        <c:delete val="0"/>
        <c:axPos val="l"/>
        <c:majorGridlines>
          <c:spPr>
            <a:ln>
              <a:solidFill>
                <a:schemeClr val="tx1">
                  <a:lumMod val="15000"/>
                  <a:lumOff val="85000"/>
                </a:schemeClr>
              </a:solidFill>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91012912"/>
        <c:crosses val="autoZero"/>
        <c:crossBetween val="between"/>
      </c:valAx>
      <c:catAx>
        <c:axId val="54558274"/>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10051334"/>
        <c:crosses val="autoZero"/>
        <c:auto val="1"/>
        <c:lblAlgn val="ctr"/>
        <c:lblOffset val="100"/>
        <c:noMultiLvlLbl val="0"/>
      </c:catAx>
      <c:valAx>
        <c:axId val="210051334"/>
        <c:scaling>
          <c:orientation val="minMax"/>
        </c:scaling>
        <c:delete val="0"/>
        <c:axPos val="r"/>
        <c:numFmt formatCode="0%" sourceLinked="0"/>
        <c:majorTickMark val="out"/>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4558274"/>
        <c:crosses val="max"/>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占比</c:v>
                </c:pt>
              </c:strCache>
            </c:strRef>
          </c:tx>
          <c:spPr/>
          <c:explosion val="0"/>
          <c:dPt>
            <c:idx val="0"/>
            <c:bubble3D val="0"/>
            <c:spPr>
              <a:pattFill prst="ltUpDiag">
                <a:fgClr>
                  <a:schemeClr val="accent1"/>
                </a:fgClr>
                <a:bgClr>
                  <a:schemeClr val="accent1">
                    <a:lumMod val="20000"/>
                    <a:lumOff val="80000"/>
                  </a:schemeClr>
                </a:bgClr>
              </a:pattFill>
              <a:ln w="19050">
                <a:solidFill>
                  <a:schemeClr val="lt1"/>
                </a:solidFill>
              </a:ln>
              <a:effectLst>
                <a:innerShdw blurRad="114300">
                  <a:schemeClr val="accent1"/>
                </a:innerShdw>
              </a:effectLst>
            </c:spPr>
          </c:dPt>
          <c:dPt>
            <c:idx val="1"/>
            <c:bubble3D val="0"/>
            <c:spPr>
              <a:pattFill prst="ltUpDiag">
                <a:fgClr>
                  <a:schemeClr val="accent2"/>
                </a:fgClr>
                <a:bgClr>
                  <a:schemeClr val="accent2">
                    <a:lumMod val="20000"/>
                    <a:lumOff val="80000"/>
                  </a:schemeClr>
                </a:bgClr>
              </a:pattFill>
              <a:ln w="19050">
                <a:solidFill>
                  <a:schemeClr val="lt1"/>
                </a:solidFill>
              </a:ln>
              <a:effectLst>
                <a:innerShdw blurRad="114300">
                  <a:schemeClr val="accent2"/>
                </a:innerShdw>
              </a:effectLst>
            </c:spPr>
          </c:dPt>
          <c:dPt>
            <c:idx val="2"/>
            <c:bubble3D val="0"/>
            <c:spPr>
              <a:pattFill prst="ltUpDiag">
                <a:fgClr>
                  <a:schemeClr val="accent3"/>
                </a:fgClr>
                <a:bgClr>
                  <a:schemeClr val="accent3">
                    <a:lumMod val="20000"/>
                    <a:lumOff val="80000"/>
                  </a:schemeClr>
                </a:bgClr>
              </a:pattFill>
              <a:ln w="19050">
                <a:solidFill>
                  <a:schemeClr val="lt1"/>
                </a:solidFill>
              </a:ln>
              <a:effectLst>
                <a:innerShdw blurRad="114300">
                  <a:schemeClr val="accent3"/>
                </a:innerShdw>
              </a:effectLst>
            </c:spPr>
          </c:dPt>
          <c:dPt>
            <c:idx val="3"/>
            <c:bubble3D val="0"/>
            <c:spPr>
              <a:pattFill prst="ltUpDiag">
                <a:fgClr>
                  <a:schemeClr val="accent4"/>
                </a:fgClr>
                <a:bgClr>
                  <a:schemeClr val="accent4">
                    <a:lumMod val="20000"/>
                    <a:lumOff val="80000"/>
                  </a:schemeClr>
                </a:bgClr>
              </a:pattFill>
              <a:ln w="19050">
                <a:solidFill>
                  <a:schemeClr val="lt1"/>
                </a:solidFill>
              </a:ln>
              <a:effectLst>
                <a:innerShdw blurRad="114300">
                  <a:schemeClr val="accent4"/>
                </a:innerShdw>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inEnd"/>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Sheet1!$A$2:$A$5</c:f>
              <c:strCache>
                <c:ptCount val="4"/>
                <c:pt idx="0">
                  <c:v>中部</c:v>
                </c:pt>
                <c:pt idx="1">
                  <c:v>西部</c:v>
                </c:pt>
                <c:pt idx="2">
                  <c:v>东北</c:v>
                </c:pt>
                <c:pt idx="3">
                  <c:v>东部</c:v>
                </c:pt>
              </c:strCache>
            </c:strRef>
          </c:cat>
          <c:val>
            <c:numRef>
              <c:f>Sheet1!$B$2:$B$5</c:f>
              <c:numCache>
                <c:formatCode>0.00%</c:formatCode>
                <c:ptCount val="4"/>
                <c:pt idx="0">
                  <c:v>0.156</c:v>
                </c:pt>
                <c:pt idx="1">
                  <c:v>0.146</c:v>
                </c:pt>
                <c:pt idx="2">
                  <c:v>0.034</c:v>
                </c:pt>
                <c:pt idx="3">
                  <c:v>0.664</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800" b="1" i="0" u="none" strike="noStrike" kern="1200" cap="all" spc="150" baseline="0">
                <a:solidFill>
                  <a:schemeClr val="tx1">
                    <a:lumMod val="50000"/>
                    <a:lumOff val="50000"/>
                  </a:schemeClr>
                </a:solidFill>
                <a:latin typeface="+mn-lt"/>
                <a:ea typeface="+mn-ea"/>
                <a:cs typeface="+mn-cs"/>
              </a:defRPr>
            </a:pPr>
            <a:r>
              <a:t>电子商务市场细分行业结构</a:t>
            </a:r>
          </a:p>
        </c:rich>
      </c:tx>
      <c:layout/>
      <c:overlay val="0"/>
      <c:spPr>
        <a:noFill/>
        <a:ln>
          <a:noFill/>
        </a:ln>
        <a:effectLst/>
      </c:spPr>
    </c:title>
    <c:autoTitleDeleted val="0"/>
    <c:plotArea>
      <c:layout/>
      <c:areaChart>
        <c:grouping val="standard"/>
        <c:varyColors val="0"/>
        <c:ser>
          <c:idx val="0"/>
          <c:order val="0"/>
          <c:tx>
            <c:strRef>
              <c:f>Sheet1!$B$1</c:f>
              <c:strCache>
                <c:ptCount val="1"/>
                <c:pt idx="0">
                  <c:v>交易额</c:v>
                </c:pt>
              </c:strCache>
            </c:strRef>
          </c:tx>
          <c:spPr>
            <a:pattFill prst="ltUpDiag">
              <a:fgClr>
                <a:schemeClr val="accent1"/>
              </a:fgClr>
              <a:bgClr>
                <a:schemeClr val="accent1">
                  <a:lumMod val="20000"/>
                  <a:lumOff val="80000"/>
                </a:schemeClr>
              </a:bgClr>
            </a:pattFill>
            <a:ln>
              <a:noFill/>
            </a:ln>
            <a:effectLst>
              <a:innerShdw blurRad="114300">
                <a:schemeClr val="accent1"/>
              </a:innerShdw>
            </a:effectLst>
          </c:spP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showLegendKey val="0"/>
            <c:showVal val="1"/>
            <c:showCatName val="1"/>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商品类</c:v>
                </c:pt>
                <c:pt idx="1">
                  <c:v>服务类</c:v>
                </c:pt>
                <c:pt idx="2">
                  <c:v>合约类</c:v>
                </c:pt>
              </c:strCache>
            </c:strRef>
          </c:cat>
          <c:val>
            <c:numRef>
              <c:f>Sheet1!$B$2:$B$4</c:f>
              <c:numCache>
                <c:formatCode>General</c:formatCode>
                <c:ptCount val="3"/>
                <c:pt idx="0">
                  <c:v>25.5</c:v>
                </c:pt>
                <c:pt idx="1">
                  <c:v>8.28</c:v>
                </c:pt>
                <c:pt idx="2">
                  <c:v>1.03</c:v>
                </c:pt>
              </c:numCache>
            </c:numRef>
          </c:val>
        </c:ser>
        <c:dLbls>
          <c:showLegendKey val="0"/>
          <c:showVal val="1"/>
          <c:showCatName val="0"/>
          <c:showSerName val="0"/>
          <c:showPercent val="0"/>
          <c:showBubbleSize val="0"/>
        </c:dLbls>
        <c:axId val="273569258"/>
        <c:axId val="294890891"/>
        <c:extLst>
          <c:ext xmlns:c15="http://schemas.microsoft.com/office/drawing/2012/chart" uri="{02D57815-91ED-43cb-92C2-25804820EDAC}">
            <c15:filteredAreaSeries>
              <c15:ser>
                <c:idx val="1"/>
                <c:order val="1"/>
                <c:tx>
                  <c:strRef>
                    <c:extLst>
                      <c:ext uri="{02D57815-91ED-43cb-92C2-25804820EDAC}">
                        <c15:formulaRef>
                          <c15:sqref>Sheet1!#REF!</c15:sqref>
                        </c15:formulaRef>
                      </c:ext>
                    </c:extLst>
                    <c:strCache>
                      <c:ptCount val="1"/>
                      <c:pt idx="0">
                        <c:v/>
                      </c:pt>
                    </c:strCache>
                  </c:strRef>
                </c:tx>
                <c:spPr>
                  <a:pattFill prst="ltUpDiag">
                    <a:fgClr>
                      <a:schemeClr val="accent2"/>
                    </a:fgClr>
                    <a:bgClr>
                      <a:schemeClr val="accent2">
                        <a:lumMod val="20000"/>
                        <a:lumOff val="80000"/>
                      </a:schemeClr>
                    </a:bgClr>
                  </a:pattFill>
                  <a:ln>
                    <a:noFill/>
                  </a:ln>
                  <a:effectLst>
                    <a:innerShdw blurRad="114300">
                      <a:schemeClr val="accent2"/>
                    </a:innerShdw>
                  </a:effectLst>
                </c:spPr>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ullRef>
                          <c15:sqref/>
                        </c15:fullRef>
                        <c15:formulaRef>
                          <c15:sqref>Sheet1!$A$2:$A$4</c15:sqref>
                        </c15:formulaRef>
                      </c:ext>
                    </c:extLst>
                    <c:strCache>
                      <c:ptCount val="3"/>
                      <c:pt idx="0">
                        <c:v>商品类</c:v>
                      </c:pt>
                      <c:pt idx="1">
                        <c:v>服务类</c:v>
                      </c:pt>
                      <c:pt idx="2">
                        <c:v>合约类</c:v>
                      </c:pt>
                    </c:strCache>
                  </c:strRef>
                </c:cat>
                <c:val>
                  <c:numRef>
                    <c:extLst>
                      <c:ext uri="{02D57815-91ED-43cb-92C2-25804820EDAC}">
                        <c15:formulaRef>
                          <c15:sqref>Sheet1!#REF!</c15:sqref>
                        </c15:formulaRef>
                      </c:ext>
                    </c:extLst>
                    <c:numCache>
                      <c:formatCode>General</c:formatCode>
                      <c:ptCount val="1"/>
                      <c:pt idx="0">
                        <c:v>1</c:v>
                      </c:pt>
                    </c:numCache>
                  </c:numRef>
                </c:val>
              </c15:ser>
            </c15:filteredAreaSeries>
          </c:ext>
        </c:extLst>
      </c:areaChart>
      <c:dateAx>
        <c:axId val="273569258"/>
        <c:scaling>
          <c:orientation val="minMax"/>
        </c:scaling>
        <c:delete val="0"/>
        <c:axPos val="b"/>
        <c:majorTickMark val="out"/>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cap="all" spc="120" normalizeH="0" baseline="0">
                <a:solidFill>
                  <a:schemeClr val="tx1">
                    <a:lumMod val="65000"/>
                    <a:lumOff val="35000"/>
                  </a:schemeClr>
                </a:solidFill>
                <a:latin typeface="+mn-lt"/>
                <a:ea typeface="+mn-ea"/>
                <a:cs typeface="+mn-cs"/>
              </a:defRPr>
            </a:pPr>
          </a:p>
        </c:txPr>
        <c:crossAx val="294890891"/>
        <c:crosses val="autoZero"/>
        <c:auto val="1"/>
        <c:lblAlgn val="ctr"/>
        <c:lblOffset val="100"/>
        <c:baseTimeUnit val="days"/>
      </c:dateAx>
      <c:valAx>
        <c:axId val="2948908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73569258"/>
        <c:crosses val="autoZero"/>
        <c:crossBetween val="midCat"/>
      </c:valAx>
      <c:spPr>
        <a:noFill/>
        <a:ln>
          <a:noFill/>
        </a:ln>
        <a:effectLst/>
      </c:spPr>
    </c:plotArea>
    <c:plotVisOnly val="1"/>
    <c:dispBlanksAs val="zero"/>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t>2020-2024年中国电子商务行业市场规模预测（单位：万亿元）</a:t>
            </a:r>
          </a:p>
        </c:rich>
      </c:tx>
      <c:layout/>
      <c:overlay val="0"/>
      <c:spPr>
        <a:noFill/>
        <a:ln>
          <a:noFill/>
        </a:ln>
        <a:effectLst/>
      </c:spPr>
    </c:title>
    <c:autoTitleDeleted val="0"/>
    <c:plotArea>
      <c:layout>
        <c:manualLayout>
          <c:layoutTarget val="inner"/>
          <c:xMode val="edge"/>
          <c:yMode val="edge"/>
          <c:x val="0.0270147979427322"/>
          <c:y val="0.0974059662775616"/>
          <c:w val="0.960220477943434"/>
          <c:h val="0.775019455252918"/>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2020E</c:v>
                </c:pt>
                <c:pt idx="1">
                  <c:v>2021E</c:v>
                </c:pt>
                <c:pt idx="2">
                  <c:v>2022E</c:v>
                </c:pt>
                <c:pt idx="3">
                  <c:v>2023E</c:v>
                </c:pt>
                <c:pt idx="4">
                  <c:v>2024E</c:v>
                </c:pt>
              </c:strCache>
            </c:strRef>
          </c:cat>
          <c:val>
            <c:numRef>
              <c:f>Sheet1!$B$2:$B$6</c:f>
              <c:numCache>
                <c:formatCode>General</c:formatCode>
                <c:ptCount val="5"/>
                <c:pt idx="0">
                  <c:v>40</c:v>
                </c:pt>
                <c:pt idx="1">
                  <c:v>44</c:v>
                </c:pt>
                <c:pt idx="2">
                  <c:v>48</c:v>
                </c:pt>
                <c:pt idx="3">
                  <c:v>54</c:v>
                </c:pt>
                <c:pt idx="4">
                  <c:v>57</c:v>
                </c:pt>
              </c:numCache>
            </c:numRef>
          </c:val>
        </c:ser>
        <c:dLbls>
          <c:showLegendKey val="0"/>
          <c:showVal val="1"/>
          <c:showCatName val="0"/>
          <c:showSerName val="0"/>
          <c:showPercent val="0"/>
          <c:showBubbleSize val="0"/>
        </c:dLbls>
        <c:gapWidth val="219"/>
        <c:overlap val="-27"/>
        <c:axId val="777932284"/>
        <c:axId val="30352135"/>
      </c:barChart>
      <c:catAx>
        <c:axId val="77793228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0352135"/>
        <c:crosses val="autoZero"/>
        <c:auto val="1"/>
        <c:lblAlgn val="ctr"/>
        <c:lblOffset val="100"/>
        <c:noMultiLvlLbl val="0"/>
      </c:catAx>
      <c:valAx>
        <c:axId val="30352135"/>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77932284"/>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cap="flat" cmpd="sng" algn="ctr">
        <a:solidFill>
          <a:schemeClr val="tx1">
            <a:lumMod val="65000"/>
            <a:lumOff val="35000"/>
          </a:schemeClr>
        </a:solidFill>
        <a:round/>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15875" cap="flat" cmpd="sng" algn="ctr">
        <a:solidFill>
          <a:schemeClr val="tx1">
            <a:lumMod val="65000"/>
            <a:lumOff val="3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78">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defRPr sz="900" b="0" kern="1200" cap="all" spc="120" normalizeH="0" baseline="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tx1"/>
    </cs:fontRef>
    <cs:spPr>
      <a:pattFill prst="ltUpDiag">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styleClr val="auto"/>
    </cs:effectRef>
    <cs:fontRef idx="minor">
      <a:schemeClr val="tx1"/>
    </cs:fontRef>
    <cs:spPr>
      <a:pattFill prst="ltUpDiag">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tx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solidFill>
        <a:schemeClr val="lt1"/>
      </a:solidFill>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solidFill>
        <a:schemeClr val="lt1"/>
      </a:solidFill>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6B9A8F0-FD03-4A42-B399-DD1847CF3B9C}" type="doc">
      <dgm:prSet loTypeId="urn:microsoft.com/office/officeart/2009/3/layout/StepUpProcess" loCatId="process" qsTypeId="urn:microsoft.com/office/officeart/2005/8/quickstyle/simple1" qsCatId="simple" csTypeId="urn:microsoft.com/office/officeart/2005/8/colors/accent1_2" csCatId="accent1" phldr="0"/>
      <dgm:spPr/>
      <dgm:t>
        <a:bodyPr/>
        <a:p>
          <a:endParaRPr lang="zh-CN" altLang="en-US"/>
        </a:p>
      </dgm:t>
    </dgm:pt>
    <dgm:pt modelId="{6BD16D8A-5653-4713-A20F-D0BDA852D54F}">
      <dgm:prSet phldrT="[文本]" phldr="0" custT="0"/>
      <dgm:spPr/>
      <dgm:t>
        <a:bodyPr vert="horz" wrap="square"/>
        <a:p>
          <a:pPr>
            <a:lnSpc>
              <a:spcPct val="100000"/>
            </a:lnSpc>
            <a:spcBef>
              <a:spcPct val="0"/>
            </a:spcBef>
            <a:spcAft>
              <a:spcPct val="35000"/>
            </a:spcAft>
          </a:pPr>
          <a:r>
            <a:rPr lang="zh-CN" altLang="en-US"/>
            <a:t>价格阶段</a:t>
          </a:r>
          <a:endParaRPr lang="zh-CN" altLang="en-US"/>
        </a:p>
        <a:p>
          <a:pPr>
            <a:lnSpc>
              <a:spcPct val="100000"/>
            </a:lnSpc>
            <a:spcBef>
              <a:spcPct val="0"/>
            </a:spcBef>
            <a:spcAft>
              <a:spcPct val="35000"/>
            </a:spcAft>
          </a:pPr>
          <a:r>
            <a:rPr lang="zh-CN" altLang="en-US"/>
            <a:t>特点：价格成为行业发展的最大驱动力，价格优先、质量其次</a:t>
          </a:r>
          <a:endParaRPr lang="zh-CN" altLang="en-US"/>
        </a:p>
        <a:p>
          <a:pPr>
            <a:lnSpc>
              <a:spcPct val="100000"/>
            </a:lnSpc>
            <a:spcBef>
              <a:spcPct val="0"/>
            </a:spcBef>
            <a:spcAft>
              <a:spcPct val="35000"/>
            </a:spcAft>
          </a:pPr>
          <a:r>
            <a:rPr lang="zh-CN" altLang="en-US"/>
            <a:t>平台：以淘宝为代表的C2C平台</a:t>
          </a:r>
          <a:r>
            <a:rPr lang="zh-CN" altLang="en-US"/>
            <a:t/>
          </a:r>
          <a:endParaRPr lang="zh-CN" altLang="en-US"/>
        </a:p>
      </dgm:t>
    </dgm:pt>
    <dgm:pt modelId="{BA930810-751F-4A79-8FB0-11E4409DC6E9}" cxnId="{120CFFD1-0484-4FA6-9B65-D28B6D346933}" type="parTrans">
      <dgm:prSet/>
      <dgm:spPr/>
      <dgm:t>
        <a:bodyPr/>
        <a:p>
          <a:endParaRPr lang="zh-CN" altLang="en-US"/>
        </a:p>
      </dgm:t>
    </dgm:pt>
    <dgm:pt modelId="{C8BA2AF4-FE08-4CC9-B85D-A33B6D14188C}" cxnId="{120CFFD1-0484-4FA6-9B65-D28B6D346933}" type="sibTrans">
      <dgm:prSet/>
      <dgm:spPr/>
      <dgm:t>
        <a:bodyPr/>
        <a:p>
          <a:endParaRPr lang="zh-CN" altLang="en-US"/>
        </a:p>
      </dgm:t>
    </dgm:pt>
    <dgm:pt modelId="{1FCF0387-0431-424F-8912-B70996C7CAD2}">
      <dgm:prSet phldrT="[文本]" phldr="0" custT="0"/>
      <dgm:spPr/>
      <dgm:t>
        <a:bodyPr vert="horz" wrap="square"/>
        <a:p>
          <a:pPr>
            <a:lnSpc>
              <a:spcPct val="100000"/>
            </a:lnSpc>
            <a:spcBef>
              <a:spcPct val="0"/>
            </a:spcBef>
            <a:spcAft>
              <a:spcPct val="35000"/>
            </a:spcAft>
          </a:pPr>
          <a:r>
            <a:rPr lang="zh-CN" altLang="en-US"/>
            <a:t>品牌阶段</a:t>
          </a:r>
          <a:endParaRPr lang="zh-CN" altLang="en-US"/>
        </a:p>
        <a:p>
          <a:pPr>
            <a:lnSpc>
              <a:spcPct val="100000"/>
            </a:lnSpc>
            <a:spcBef>
              <a:spcPct val="0"/>
            </a:spcBef>
            <a:spcAft>
              <a:spcPct val="35000"/>
            </a:spcAft>
          </a:pPr>
          <a:r>
            <a:rPr lang="zh-CN" altLang="en-US"/>
            <a:t>特点：品牌高于一切，大品牌成为行业发展的主要驱动力，开始注重品牌效应</a:t>
          </a:r>
          <a:endParaRPr lang="zh-CN" altLang="en-US"/>
        </a:p>
        <a:p>
          <a:pPr>
            <a:lnSpc>
              <a:spcPct val="100000"/>
            </a:lnSpc>
            <a:spcBef>
              <a:spcPct val="0"/>
            </a:spcBef>
            <a:spcAft>
              <a:spcPct val="35000"/>
            </a:spcAft>
          </a:pPr>
          <a:r>
            <a:rPr lang="zh-CN" altLang="en-US"/>
            <a:t>平台：以天猫为代表的B2C平台</a:t>
          </a:r>
          <a:r>
            <a:rPr lang="zh-CN" altLang="en-US"/>
            <a:t/>
          </a:r>
          <a:endParaRPr lang="zh-CN" altLang="en-US"/>
        </a:p>
      </dgm:t>
    </dgm:pt>
    <dgm:pt modelId="{21A66327-93DC-4FD4-AE8A-8F24FCE05CDE}" cxnId="{87FA648B-493A-4B81-97F4-92C7494E234D}" type="parTrans">
      <dgm:prSet/>
      <dgm:spPr/>
      <dgm:t>
        <a:bodyPr/>
        <a:p>
          <a:endParaRPr lang="zh-CN" altLang="en-US"/>
        </a:p>
      </dgm:t>
    </dgm:pt>
    <dgm:pt modelId="{1ACD84AE-35B3-4501-8CB5-7896D190196E}" cxnId="{87FA648B-493A-4B81-97F4-92C7494E234D}" type="sibTrans">
      <dgm:prSet/>
      <dgm:spPr/>
      <dgm:t>
        <a:bodyPr/>
        <a:p>
          <a:endParaRPr lang="zh-CN" altLang="en-US"/>
        </a:p>
      </dgm:t>
    </dgm:pt>
    <dgm:pt modelId="{FE0953B8-219F-448F-96B3-4A0C1E3EC459}">
      <dgm:prSet phldrT="[文本]" phldr="0" custT="0"/>
      <dgm:spPr/>
      <dgm:t>
        <a:bodyPr vert="horz" wrap="square"/>
        <a:p>
          <a:pPr>
            <a:lnSpc>
              <a:spcPct val="100000"/>
            </a:lnSpc>
            <a:spcBef>
              <a:spcPct val="0"/>
            </a:spcBef>
            <a:spcAft>
              <a:spcPct val="35000"/>
            </a:spcAft>
          </a:pPr>
          <a:r>
            <a:rPr lang="zh-CN" altLang="en-US"/>
            <a:t>品质阶段</a:t>
          </a:r>
          <a:endParaRPr lang="zh-CN" altLang="en-US"/>
        </a:p>
        <a:p>
          <a:pPr>
            <a:lnSpc>
              <a:spcPct val="100000"/>
            </a:lnSpc>
            <a:spcBef>
              <a:spcPct val="0"/>
            </a:spcBef>
            <a:spcAft>
              <a:spcPct val="35000"/>
            </a:spcAft>
          </a:pPr>
          <a:r>
            <a:rPr lang="zh-CN" altLang="en-US"/>
            <a:t>特点：开始重视性价比和用户体验</a:t>
          </a:r>
          <a:endParaRPr lang="zh-CN" altLang="en-US"/>
        </a:p>
        <a:p>
          <a:pPr>
            <a:lnSpc>
              <a:spcPct val="100000"/>
            </a:lnSpc>
            <a:spcBef>
              <a:spcPct val="0"/>
            </a:spcBef>
            <a:spcAft>
              <a:spcPct val="35000"/>
            </a:spcAft>
          </a:pPr>
          <a:r>
            <a:rPr lang="zh-CN" altLang="en-US"/>
            <a:t>平台：以天猫为主，其他电商平台纷纷入局</a:t>
          </a:r>
          <a:r>
            <a:rPr lang="zh-CN" altLang="en-US"/>
            <a:t/>
          </a:r>
          <a:endParaRPr lang="zh-CN" altLang="en-US"/>
        </a:p>
      </dgm:t>
    </dgm:pt>
    <dgm:pt modelId="{5707F94D-B8B5-466C-96D1-E1A9A5D090C9}" cxnId="{6FEF08D4-BF71-458A-B0B5-80323BC425B5}" type="parTrans">
      <dgm:prSet/>
      <dgm:spPr/>
      <dgm:t>
        <a:bodyPr/>
        <a:p>
          <a:endParaRPr lang="zh-CN" altLang="en-US"/>
        </a:p>
      </dgm:t>
    </dgm:pt>
    <dgm:pt modelId="{6CF96CC3-3A72-4D0C-9B21-8FD30484CA44}" cxnId="{6FEF08D4-BF71-458A-B0B5-80323BC425B5}" type="sibTrans">
      <dgm:prSet/>
      <dgm:spPr/>
      <dgm:t>
        <a:bodyPr/>
        <a:p>
          <a:endParaRPr lang="zh-CN" altLang="en-US"/>
        </a:p>
      </dgm:t>
    </dgm:pt>
    <dgm:pt modelId="{26682B4D-98F1-4918-8BA4-E9BACFF69973}" type="pres">
      <dgm:prSet presAssocID="{16B9A8F0-FD03-4A42-B399-DD1847CF3B9C}" presName="rootnode" presStyleCnt="0">
        <dgm:presLayoutVars>
          <dgm:chMax/>
          <dgm:chPref/>
          <dgm:dir/>
          <dgm:animLvl val="lvl"/>
        </dgm:presLayoutVars>
      </dgm:prSet>
      <dgm:spPr/>
    </dgm:pt>
    <dgm:pt modelId="{9515C203-8BD5-407E-8585-653A8CA012A0}" type="pres">
      <dgm:prSet presAssocID="{6BD16D8A-5653-4713-A20F-D0BDA852D54F}" presName="composite" presStyleCnt="0"/>
      <dgm:spPr/>
    </dgm:pt>
    <dgm:pt modelId="{E45BFA90-D338-4867-B192-9BF5C62A40B7}" type="pres">
      <dgm:prSet presAssocID="{6BD16D8A-5653-4713-A20F-D0BDA852D54F}" presName="LShape" presStyleLbl="alignNode1" presStyleIdx="0" presStyleCnt="5"/>
      <dgm:spPr/>
    </dgm:pt>
    <dgm:pt modelId="{84F24978-831E-41A8-A919-9DF3159D95B3}" type="pres">
      <dgm:prSet presAssocID="{6BD16D8A-5653-4713-A20F-D0BDA852D54F}" presName="ParentText" presStyleLbl="revTx" presStyleIdx="0" presStyleCnt="3">
        <dgm:presLayoutVars>
          <dgm:chMax val="0"/>
          <dgm:chPref val="0"/>
          <dgm:bulletEnabled val="1"/>
        </dgm:presLayoutVars>
      </dgm:prSet>
      <dgm:spPr/>
    </dgm:pt>
    <dgm:pt modelId="{61A5B80A-01D5-4349-A5BB-33A20E744C6C}" type="pres">
      <dgm:prSet presAssocID="{6BD16D8A-5653-4713-A20F-D0BDA852D54F}" presName="Triangle" presStyleLbl="alignNode1" presStyleIdx="1" presStyleCnt="5"/>
      <dgm:spPr/>
    </dgm:pt>
    <dgm:pt modelId="{FFE52942-E586-4843-BD0B-117C9B932463}" type="pres">
      <dgm:prSet presAssocID="{C8BA2AF4-FE08-4CC9-B85D-A33B6D14188C}" presName="sibTrans" presStyleCnt="0"/>
      <dgm:spPr/>
    </dgm:pt>
    <dgm:pt modelId="{082D2D2D-6BC2-4A1D-90D7-527C7BFBB016}" type="pres">
      <dgm:prSet presAssocID="{C8BA2AF4-FE08-4CC9-B85D-A33B6D14188C}" presName="space" presStyleCnt="0"/>
      <dgm:spPr/>
    </dgm:pt>
    <dgm:pt modelId="{CD2B0587-425B-4323-83E6-BADEF0A365FB}" type="pres">
      <dgm:prSet presAssocID="{1FCF0387-0431-424F-8912-B70996C7CAD2}" presName="composite" presStyleCnt="0"/>
      <dgm:spPr/>
    </dgm:pt>
    <dgm:pt modelId="{D804A231-4617-491C-9766-3FC53C39479E}" type="pres">
      <dgm:prSet presAssocID="{1FCF0387-0431-424F-8912-B70996C7CAD2}" presName="LShape" presStyleLbl="alignNode1" presStyleIdx="2" presStyleCnt="5"/>
      <dgm:spPr/>
    </dgm:pt>
    <dgm:pt modelId="{BC31EB00-2A90-4CCF-B82C-4A7025E8535A}" type="pres">
      <dgm:prSet presAssocID="{1FCF0387-0431-424F-8912-B70996C7CAD2}" presName="ParentText" presStyleLbl="revTx" presStyleIdx="1" presStyleCnt="3">
        <dgm:presLayoutVars>
          <dgm:chMax val="0"/>
          <dgm:chPref val="0"/>
          <dgm:bulletEnabled val="1"/>
        </dgm:presLayoutVars>
      </dgm:prSet>
      <dgm:spPr/>
    </dgm:pt>
    <dgm:pt modelId="{619850C3-35E4-43A9-841E-37DE8E695D93}" type="pres">
      <dgm:prSet presAssocID="{1FCF0387-0431-424F-8912-B70996C7CAD2}" presName="Triangle" presStyleLbl="alignNode1" presStyleIdx="3" presStyleCnt="5"/>
      <dgm:spPr/>
    </dgm:pt>
    <dgm:pt modelId="{814AEBBB-BEC6-4360-9A83-36178B73197B}" type="pres">
      <dgm:prSet presAssocID="{1ACD84AE-35B3-4501-8CB5-7896D190196E}" presName="sibTrans" presStyleCnt="0"/>
      <dgm:spPr/>
    </dgm:pt>
    <dgm:pt modelId="{56EBBF49-9546-4DF1-8A8B-2CCFC0AAEB8A}" type="pres">
      <dgm:prSet presAssocID="{1ACD84AE-35B3-4501-8CB5-7896D190196E}" presName="space" presStyleCnt="0"/>
      <dgm:spPr/>
    </dgm:pt>
    <dgm:pt modelId="{F1BDA1DE-7774-41D4-B6CC-EA34BFE0E1F6}" type="pres">
      <dgm:prSet presAssocID="{FE0953B8-219F-448F-96B3-4A0C1E3EC459}" presName="composite" presStyleCnt="0"/>
      <dgm:spPr/>
    </dgm:pt>
    <dgm:pt modelId="{B12A881D-D55E-4ECD-AEB2-4F5DF5258573}" type="pres">
      <dgm:prSet presAssocID="{FE0953B8-219F-448F-96B3-4A0C1E3EC459}" presName="LShape" presStyleLbl="alignNode1" presStyleIdx="4" presStyleCnt="5"/>
      <dgm:spPr/>
    </dgm:pt>
    <dgm:pt modelId="{D1EE6131-7DC5-43B3-95B0-5EA645B87141}" type="pres">
      <dgm:prSet presAssocID="{FE0953B8-219F-448F-96B3-4A0C1E3EC459}" presName="ParentText" presStyleLbl="revTx" presStyleIdx="2" presStyleCnt="3">
        <dgm:presLayoutVars>
          <dgm:chMax val="0"/>
          <dgm:chPref val="0"/>
          <dgm:bulletEnabled val="1"/>
        </dgm:presLayoutVars>
      </dgm:prSet>
      <dgm:spPr/>
    </dgm:pt>
  </dgm:ptLst>
  <dgm:cxnLst>
    <dgm:cxn modelId="{120CFFD1-0484-4FA6-9B65-D28B6D346933}" srcId="{16B9A8F0-FD03-4A42-B399-DD1847CF3B9C}" destId="{6BD16D8A-5653-4713-A20F-D0BDA852D54F}" srcOrd="0" destOrd="0" parTransId="{BA930810-751F-4A79-8FB0-11E4409DC6E9}" sibTransId="{C8BA2AF4-FE08-4CC9-B85D-A33B6D14188C}"/>
    <dgm:cxn modelId="{87FA648B-493A-4B81-97F4-92C7494E234D}" srcId="{16B9A8F0-FD03-4A42-B399-DD1847CF3B9C}" destId="{1FCF0387-0431-424F-8912-B70996C7CAD2}" srcOrd="1" destOrd="0" parTransId="{21A66327-93DC-4FD4-AE8A-8F24FCE05CDE}" sibTransId="{1ACD84AE-35B3-4501-8CB5-7896D190196E}"/>
    <dgm:cxn modelId="{6FEF08D4-BF71-458A-B0B5-80323BC425B5}" srcId="{16B9A8F0-FD03-4A42-B399-DD1847CF3B9C}" destId="{FE0953B8-219F-448F-96B3-4A0C1E3EC459}" srcOrd="2" destOrd="0" parTransId="{5707F94D-B8B5-466C-96D1-E1A9A5D090C9}" sibTransId="{6CF96CC3-3A72-4D0C-9B21-8FD30484CA44}"/>
    <dgm:cxn modelId="{51F434CD-ACEA-4610-A1C8-E5AFD56E5604}" type="presOf" srcId="{16B9A8F0-FD03-4A42-B399-DD1847CF3B9C}" destId="{26682B4D-98F1-4918-8BA4-E9BACFF69973}" srcOrd="0" destOrd="0" presId="urn:microsoft.com/office/officeart/2009/3/layout/StepUpProcess"/>
    <dgm:cxn modelId="{630EC986-002A-415E-9A95-A93AC31A084F}" type="presParOf" srcId="{26682B4D-98F1-4918-8BA4-E9BACFF69973}" destId="{9515C203-8BD5-407E-8585-653A8CA012A0}" srcOrd="0" destOrd="0" presId="urn:microsoft.com/office/officeart/2009/3/layout/StepUpProcess"/>
    <dgm:cxn modelId="{BF017CB0-84AC-4A54-8A3D-AA75502E5659}" type="presParOf" srcId="{9515C203-8BD5-407E-8585-653A8CA012A0}" destId="{E45BFA90-D338-4867-B192-9BF5C62A40B7}" srcOrd="0" destOrd="0" presId="urn:microsoft.com/office/officeart/2009/3/layout/StepUpProcess"/>
    <dgm:cxn modelId="{2F109883-5E73-4EB3-9E3D-99244C503140}" type="presParOf" srcId="{9515C203-8BD5-407E-8585-653A8CA012A0}" destId="{84F24978-831E-41A8-A919-9DF3159D95B3}" srcOrd="1" destOrd="0" presId="urn:microsoft.com/office/officeart/2009/3/layout/StepUpProcess"/>
    <dgm:cxn modelId="{7CE018EA-3779-422B-B21D-DB70F0F4E936}" type="presOf" srcId="{6BD16D8A-5653-4713-A20F-D0BDA852D54F}" destId="{84F24978-831E-41A8-A919-9DF3159D95B3}" srcOrd="0" destOrd="0" presId="urn:microsoft.com/office/officeart/2009/3/layout/StepUpProcess"/>
    <dgm:cxn modelId="{F4CF1A4E-A6DE-46B1-9C3D-FFC584975B4A}" type="presParOf" srcId="{9515C203-8BD5-407E-8585-653A8CA012A0}" destId="{61A5B80A-01D5-4349-A5BB-33A20E744C6C}" srcOrd="2" destOrd="0" presId="urn:microsoft.com/office/officeart/2009/3/layout/StepUpProcess"/>
    <dgm:cxn modelId="{FDDBFB44-D3F3-4FEA-A164-31B7D42A267D}" type="presParOf" srcId="{26682B4D-98F1-4918-8BA4-E9BACFF69973}" destId="{FFE52942-E586-4843-BD0B-117C9B932463}" srcOrd="1" destOrd="0" presId="urn:microsoft.com/office/officeart/2009/3/layout/StepUpProcess"/>
    <dgm:cxn modelId="{0CB7A8FA-F8BE-47E8-8888-61ED33DA951E}" type="presParOf" srcId="{FFE52942-E586-4843-BD0B-117C9B932463}" destId="{082D2D2D-6BC2-4A1D-90D7-527C7BFBB016}" srcOrd="0" destOrd="1" presId="urn:microsoft.com/office/officeart/2009/3/layout/StepUpProcess"/>
    <dgm:cxn modelId="{8212BCD1-9999-4802-A9AC-04979F0EF9EB}" type="presParOf" srcId="{26682B4D-98F1-4918-8BA4-E9BACFF69973}" destId="{CD2B0587-425B-4323-83E6-BADEF0A365FB}" srcOrd="2" destOrd="0" presId="urn:microsoft.com/office/officeart/2009/3/layout/StepUpProcess"/>
    <dgm:cxn modelId="{8437C239-FCA4-4039-A44C-4F4E6724CA8E}" type="presParOf" srcId="{CD2B0587-425B-4323-83E6-BADEF0A365FB}" destId="{D804A231-4617-491C-9766-3FC53C39479E}" srcOrd="0" destOrd="2" presId="urn:microsoft.com/office/officeart/2009/3/layout/StepUpProcess"/>
    <dgm:cxn modelId="{5F228371-867B-4CFD-8314-1EEDC56BAA59}" type="presParOf" srcId="{CD2B0587-425B-4323-83E6-BADEF0A365FB}" destId="{BC31EB00-2A90-4CCF-B82C-4A7025E8535A}" srcOrd="1" destOrd="2" presId="urn:microsoft.com/office/officeart/2009/3/layout/StepUpProcess"/>
    <dgm:cxn modelId="{61A98F42-66EB-4EE3-8027-1CB5A97C73E5}" type="presOf" srcId="{1FCF0387-0431-424F-8912-B70996C7CAD2}" destId="{BC31EB00-2A90-4CCF-B82C-4A7025E8535A}" srcOrd="0" destOrd="0" presId="urn:microsoft.com/office/officeart/2009/3/layout/StepUpProcess"/>
    <dgm:cxn modelId="{A70F8500-1274-4A87-B7F1-511F59D323CD}" type="presParOf" srcId="{CD2B0587-425B-4323-83E6-BADEF0A365FB}" destId="{619850C3-35E4-43A9-841E-37DE8E695D93}" srcOrd="2" destOrd="2" presId="urn:microsoft.com/office/officeart/2009/3/layout/StepUpProcess"/>
    <dgm:cxn modelId="{6CE68447-126E-419F-885C-8975262E4648}" type="presParOf" srcId="{26682B4D-98F1-4918-8BA4-E9BACFF69973}" destId="{814AEBBB-BEC6-4360-9A83-36178B73197B}" srcOrd="3" destOrd="0" presId="urn:microsoft.com/office/officeart/2009/3/layout/StepUpProcess"/>
    <dgm:cxn modelId="{3BFEEDDF-DC77-4616-8B13-21730558293C}" type="presParOf" srcId="{814AEBBB-BEC6-4360-9A83-36178B73197B}" destId="{56EBBF49-9546-4DF1-8A8B-2CCFC0AAEB8A}" srcOrd="0" destOrd="3" presId="urn:microsoft.com/office/officeart/2009/3/layout/StepUpProcess"/>
    <dgm:cxn modelId="{023CB25B-B27F-422F-8F41-D951C7B87C4D}" type="presParOf" srcId="{26682B4D-98F1-4918-8BA4-E9BACFF69973}" destId="{F1BDA1DE-7774-41D4-B6CC-EA34BFE0E1F6}" srcOrd="4" destOrd="0" presId="urn:microsoft.com/office/officeart/2009/3/layout/StepUpProcess"/>
    <dgm:cxn modelId="{02F5ECAF-D759-469C-9F56-79ABCD0BABA5}" type="presParOf" srcId="{F1BDA1DE-7774-41D4-B6CC-EA34BFE0E1F6}" destId="{B12A881D-D55E-4ECD-AEB2-4F5DF5258573}" srcOrd="0" destOrd="4" presId="urn:microsoft.com/office/officeart/2009/3/layout/StepUpProcess"/>
    <dgm:cxn modelId="{562D6DBF-E833-422C-8BFA-AA0CA71E1A89}" type="presParOf" srcId="{F1BDA1DE-7774-41D4-B6CC-EA34BFE0E1F6}" destId="{D1EE6131-7DC5-43B3-95B0-5EA645B87141}" srcOrd="1" destOrd="4" presId="urn:microsoft.com/office/officeart/2009/3/layout/StepUpProcess"/>
    <dgm:cxn modelId="{E58131DC-3B84-41D0-ADDC-2F7F860EC6B2}" type="presOf" srcId="{FE0953B8-219F-448F-96B3-4A0C1E3EC459}" destId="{D1EE6131-7DC5-43B3-95B0-5EA645B87141}" srcOrd="0" destOrd="0" presId="urn:microsoft.com/office/officeart/2009/3/layout/StepUp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5418455"/>
        <a:chOff x="0" y="0"/>
        <a:chExt cx="8128000" cy="5418455"/>
      </a:xfrm>
    </dsp:grpSpPr>
    <dsp:sp modelId="{E45BFA90-D338-4867-B192-9BF5C62A40B7}">
      <dsp:nvSpPr>
        <dsp:cNvPr id="3" name="L 形 2"/>
        <dsp:cNvSpPr/>
      </dsp:nvSpPr>
      <dsp:spPr bwMode="white">
        <a:xfrm rot="5400000">
          <a:off x="504808" y="2115200"/>
          <a:ext cx="1520559" cy="2530176"/>
        </a:xfrm>
        <a:prstGeom prst="corner">
          <a:avLst>
            <a:gd name="adj1" fmla="val 16120"/>
            <a:gd name="adj2" fmla="val 16110"/>
          </a:avLst>
        </a:prstGeom>
      </dsp:spPr>
      <dsp:style>
        <a:lnRef idx="2">
          <a:schemeClr val="accent1"/>
        </a:lnRef>
        <a:fillRef idx="1">
          <a:schemeClr val="accent1"/>
        </a:fillRef>
        <a:effectRef idx="0">
          <a:scrgbClr r="0" g="0" b="0"/>
        </a:effectRef>
        <a:fontRef idx="minor">
          <a:schemeClr val="lt1"/>
        </a:fontRef>
      </dsp:style>
      <dsp:txXfrm rot="5400000">
        <a:off x="504808" y="2115200"/>
        <a:ext cx="1520559" cy="2530176"/>
      </dsp:txXfrm>
    </dsp:sp>
    <dsp:sp modelId="{84F24978-831E-41A8-A919-9DF3159D95B3}">
      <dsp:nvSpPr>
        <dsp:cNvPr id="4" name="矩形 3"/>
        <dsp:cNvSpPr/>
      </dsp:nvSpPr>
      <dsp:spPr bwMode="white">
        <a:xfrm>
          <a:off x="250989" y="2871177"/>
          <a:ext cx="2284257" cy="2002285"/>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57150" tIns="57150" rIns="57150" bIns="5715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pPr>
          <a:r>
            <a:rPr lang="zh-CN" altLang="en-US">
              <a:solidFill>
                <a:schemeClr val="tx1"/>
              </a:solidFill>
            </a:rPr>
            <a:t>价格阶段</a:t>
          </a:r>
          <a:endParaRPr lang="zh-CN" altLang="en-US">
            <a:solidFill>
              <a:schemeClr val="tx1"/>
            </a:solidFill>
          </a:endParaRPr>
        </a:p>
        <a:p>
          <a:pPr lvl="0">
            <a:lnSpc>
              <a:spcPct val="100000"/>
            </a:lnSpc>
            <a:spcBef>
              <a:spcPct val="0"/>
            </a:spcBef>
            <a:spcAft>
              <a:spcPct val="35000"/>
            </a:spcAft>
          </a:pPr>
          <a:r>
            <a:rPr lang="zh-CN" altLang="en-US">
              <a:solidFill>
                <a:schemeClr val="tx1"/>
              </a:solidFill>
            </a:rPr>
            <a:t>特点：价格成为行业发展的最大驱动力，价格优先、质量其次</a:t>
          </a:r>
          <a:endParaRPr lang="zh-CN" altLang="en-US">
            <a:solidFill>
              <a:schemeClr val="tx1"/>
            </a:solidFill>
          </a:endParaRPr>
        </a:p>
        <a:p>
          <a:pPr lvl="0">
            <a:lnSpc>
              <a:spcPct val="100000"/>
            </a:lnSpc>
            <a:spcBef>
              <a:spcPct val="0"/>
            </a:spcBef>
            <a:spcAft>
              <a:spcPct val="35000"/>
            </a:spcAft>
          </a:pPr>
          <a:r>
            <a:rPr lang="zh-CN" altLang="en-US">
              <a:solidFill>
                <a:schemeClr val="tx1"/>
              </a:solidFill>
            </a:rPr>
            <a:t>平台：以淘宝为代表的C2C平台</a:t>
          </a:r>
          <a:endParaRPr lang="zh-CN" altLang="en-US">
            <a:solidFill>
              <a:schemeClr val="tx1"/>
            </a:solidFill>
          </a:endParaRPr>
        </a:p>
      </dsp:txBody>
      <dsp:txXfrm>
        <a:off x="250989" y="2871177"/>
        <a:ext cx="2284257" cy="2002285"/>
      </dsp:txXfrm>
    </dsp:sp>
    <dsp:sp modelId="{61A5B80A-01D5-4349-A5BB-33A20E744C6C}">
      <dsp:nvSpPr>
        <dsp:cNvPr id="5" name="等腰三角形 4"/>
        <dsp:cNvSpPr/>
      </dsp:nvSpPr>
      <dsp:spPr bwMode="white">
        <a:xfrm>
          <a:off x="2104255" y="1928925"/>
          <a:ext cx="430992" cy="430992"/>
        </a:xfrm>
        <a:prstGeom prst="triangle">
          <a:avLst>
            <a:gd name="adj" fmla="val 100000"/>
          </a:avLst>
        </a:prstGeom>
      </dsp:spPr>
      <dsp:style>
        <a:lnRef idx="2">
          <a:schemeClr val="accent1"/>
        </a:lnRef>
        <a:fillRef idx="1">
          <a:schemeClr val="accent1"/>
        </a:fillRef>
        <a:effectRef idx="0">
          <a:scrgbClr r="0" g="0" b="0"/>
        </a:effectRef>
        <a:fontRef idx="minor">
          <a:schemeClr val="lt1"/>
        </a:fontRef>
      </dsp:style>
      <dsp:txXfrm>
        <a:off x="2104255" y="1928925"/>
        <a:ext cx="430992" cy="430992"/>
      </dsp:txXfrm>
    </dsp:sp>
    <dsp:sp modelId="{D804A231-4617-491C-9766-3FC53C39479E}">
      <dsp:nvSpPr>
        <dsp:cNvPr id="6" name="L 形 5"/>
        <dsp:cNvSpPr/>
      </dsp:nvSpPr>
      <dsp:spPr bwMode="white">
        <a:xfrm rot="5400000">
          <a:off x="3301185" y="1423233"/>
          <a:ext cx="1520559" cy="2530176"/>
        </a:xfrm>
        <a:prstGeom prst="corner">
          <a:avLst>
            <a:gd name="adj1" fmla="val 16120"/>
            <a:gd name="adj2" fmla="val 16110"/>
          </a:avLst>
        </a:prstGeom>
      </dsp:spPr>
      <dsp:style>
        <a:lnRef idx="2">
          <a:schemeClr val="accent1"/>
        </a:lnRef>
        <a:fillRef idx="1">
          <a:schemeClr val="accent1"/>
        </a:fillRef>
        <a:effectRef idx="0">
          <a:scrgbClr r="0" g="0" b="0"/>
        </a:effectRef>
        <a:fontRef idx="minor">
          <a:schemeClr val="lt1"/>
        </a:fontRef>
      </dsp:style>
      <dsp:txXfrm rot="5400000">
        <a:off x="3301185" y="1423233"/>
        <a:ext cx="1520559" cy="2530176"/>
      </dsp:txXfrm>
    </dsp:sp>
    <dsp:sp modelId="{BC31EB00-2A90-4CCF-B82C-4A7025E8535A}">
      <dsp:nvSpPr>
        <dsp:cNvPr id="7" name="矩形 6"/>
        <dsp:cNvSpPr/>
      </dsp:nvSpPr>
      <dsp:spPr bwMode="white">
        <a:xfrm>
          <a:off x="3047366" y="2179211"/>
          <a:ext cx="2284257" cy="2002285"/>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57150" tIns="57150" rIns="57150" bIns="5715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pPr>
          <a:r>
            <a:rPr lang="zh-CN" altLang="en-US">
              <a:solidFill>
                <a:schemeClr val="tx1"/>
              </a:solidFill>
            </a:rPr>
            <a:t>品牌阶段</a:t>
          </a:r>
          <a:endParaRPr lang="zh-CN" altLang="en-US">
            <a:solidFill>
              <a:schemeClr val="tx1"/>
            </a:solidFill>
          </a:endParaRPr>
        </a:p>
        <a:p>
          <a:pPr lvl="0">
            <a:lnSpc>
              <a:spcPct val="100000"/>
            </a:lnSpc>
            <a:spcBef>
              <a:spcPct val="0"/>
            </a:spcBef>
            <a:spcAft>
              <a:spcPct val="35000"/>
            </a:spcAft>
          </a:pPr>
          <a:r>
            <a:rPr lang="zh-CN" altLang="en-US">
              <a:solidFill>
                <a:schemeClr val="tx1"/>
              </a:solidFill>
            </a:rPr>
            <a:t>特点：品牌高于一切，大品牌成为行业发展的主要驱动力，开始注重品牌效应</a:t>
          </a:r>
          <a:endParaRPr lang="zh-CN" altLang="en-US">
            <a:solidFill>
              <a:schemeClr val="tx1"/>
            </a:solidFill>
          </a:endParaRPr>
        </a:p>
        <a:p>
          <a:pPr lvl="0">
            <a:lnSpc>
              <a:spcPct val="100000"/>
            </a:lnSpc>
            <a:spcBef>
              <a:spcPct val="0"/>
            </a:spcBef>
            <a:spcAft>
              <a:spcPct val="35000"/>
            </a:spcAft>
          </a:pPr>
          <a:r>
            <a:rPr lang="zh-CN" altLang="en-US">
              <a:solidFill>
                <a:schemeClr val="tx1"/>
              </a:solidFill>
            </a:rPr>
            <a:t>平台：以天猫为代表的B2C平台</a:t>
          </a:r>
          <a:endParaRPr lang="zh-CN" altLang="en-US">
            <a:solidFill>
              <a:schemeClr val="tx1"/>
            </a:solidFill>
          </a:endParaRPr>
        </a:p>
      </dsp:txBody>
      <dsp:txXfrm>
        <a:off x="3047366" y="2179211"/>
        <a:ext cx="2284257" cy="2002285"/>
      </dsp:txXfrm>
    </dsp:sp>
    <dsp:sp modelId="{619850C3-35E4-43A9-841E-37DE8E695D93}">
      <dsp:nvSpPr>
        <dsp:cNvPr id="8" name="等腰三角形 7"/>
        <dsp:cNvSpPr/>
      </dsp:nvSpPr>
      <dsp:spPr bwMode="white">
        <a:xfrm>
          <a:off x="4900631" y="1236959"/>
          <a:ext cx="430992" cy="430992"/>
        </a:xfrm>
        <a:prstGeom prst="triangle">
          <a:avLst>
            <a:gd name="adj" fmla="val 100000"/>
          </a:avLst>
        </a:prstGeom>
      </dsp:spPr>
      <dsp:style>
        <a:lnRef idx="2">
          <a:schemeClr val="accent1"/>
        </a:lnRef>
        <a:fillRef idx="1">
          <a:schemeClr val="accent1"/>
        </a:fillRef>
        <a:effectRef idx="0">
          <a:scrgbClr r="0" g="0" b="0"/>
        </a:effectRef>
        <a:fontRef idx="minor">
          <a:schemeClr val="lt1"/>
        </a:fontRef>
      </dsp:style>
      <dsp:txXfrm>
        <a:off x="4900631" y="1236959"/>
        <a:ext cx="430992" cy="430992"/>
      </dsp:txXfrm>
    </dsp:sp>
    <dsp:sp modelId="{B12A881D-D55E-4ECD-AEB2-4F5DF5258573}">
      <dsp:nvSpPr>
        <dsp:cNvPr id="9" name="L 形 8"/>
        <dsp:cNvSpPr/>
      </dsp:nvSpPr>
      <dsp:spPr bwMode="white">
        <a:xfrm rot="5400000">
          <a:off x="6097562" y="731267"/>
          <a:ext cx="1520559" cy="2530176"/>
        </a:xfrm>
        <a:prstGeom prst="corner">
          <a:avLst>
            <a:gd name="adj1" fmla="val 16120"/>
            <a:gd name="adj2" fmla="val 16110"/>
          </a:avLst>
        </a:prstGeom>
      </dsp:spPr>
      <dsp:style>
        <a:lnRef idx="2">
          <a:schemeClr val="accent1"/>
        </a:lnRef>
        <a:fillRef idx="1">
          <a:schemeClr val="accent1"/>
        </a:fillRef>
        <a:effectRef idx="0">
          <a:scrgbClr r="0" g="0" b="0"/>
        </a:effectRef>
        <a:fontRef idx="minor">
          <a:schemeClr val="lt1"/>
        </a:fontRef>
      </dsp:style>
      <dsp:txXfrm rot="5400000">
        <a:off x="6097562" y="731267"/>
        <a:ext cx="1520559" cy="2530176"/>
      </dsp:txXfrm>
    </dsp:sp>
    <dsp:sp modelId="{D1EE6131-7DC5-43B3-95B0-5EA645B87141}">
      <dsp:nvSpPr>
        <dsp:cNvPr id="10" name="矩形 9"/>
        <dsp:cNvSpPr/>
      </dsp:nvSpPr>
      <dsp:spPr bwMode="white">
        <a:xfrm>
          <a:off x="5843743" y="1487245"/>
          <a:ext cx="2284257" cy="200228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57150" tIns="57150" rIns="57150" bIns="57150" anchor="t"/>
        <a:lstStyle>
          <a:lvl1pPr algn="l">
            <a:defRPr sz="1500"/>
          </a:lvl1pPr>
          <a:lvl2pPr marL="57150" indent="-57150" algn="l">
            <a:defRPr sz="1100"/>
          </a:lvl2pPr>
          <a:lvl3pPr marL="114300" indent="-57150" algn="l">
            <a:defRPr sz="1100"/>
          </a:lvl3pPr>
          <a:lvl4pPr marL="171450" indent="-57150" algn="l">
            <a:defRPr sz="1100"/>
          </a:lvl4pPr>
          <a:lvl5pPr marL="228600" indent="-57150" algn="l">
            <a:defRPr sz="1100"/>
          </a:lvl5pPr>
          <a:lvl6pPr marL="285750" indent="-57150" algn="l">
            <a:defRPr sz="1100"/>
          </a:lvl6pPr>
          <a:lvl7pPr marL="342900" indent="-57150" algn="l">
            <a:defRPr sz="1100"/>
          </a:lvl7pPr>
          <a:lvl8pPr marL="400050" indent="-57150" algn="l">
            <a:defRPr sz="1100"/>
          </a:lvl8pPr>
          <a:lvl9pPr marL="457200" indent="-57150" algn="l">
            <a:defRPr sz="1100"/>
          </a:lvl9pPr>
        </a:lstStyle>
        <a:p>
          <a:pPr lvl="0">
            <a:lnSpc>
              <a:spcPct val="100000"/>
            </a:lnSpc>
            <a:spcBef>
              <a:spcPct val="0"/>
            </a:spcBef>
            <a:spcAft>
              <a:spcPct val="35000"/>
            </a:spcAft>
            <a:buNone/>
          </a:pPr>
          <a:r>
            <a:rPr lang="zh-CN" altLang="en-US">
              <a:solidFill>
                <a:schemeClr val="tx1"/>
              </a:solidFill>
            </a:rPr>
            <a:t>品质阶段</a:t>
          </a:r>
          <a:endParaRPr lang="zh-CN" altLang="en-US">
            <a:solidFill>
              <a:schemeClr val="tx1"/>
            </a:solidFill>
          </a:endParaRPr>
        </a:p>
        <a:p>
          <a:pPr lvl="0">
            <a:lnSpc>
              <a:spcPct val="100000"/>
            </a:lnSpc>
            <a:spcBef>
              <a:spcPct val="0"/>
            </a:spcBef>
            <a:spcAft>
              <a:spcPct val="35000"/>
            </a:spcAft>
            <a:buNone/>
          </a:pPr>
          <a:r>
            <a:rPr lang="zh-CN" altLang="en-US">
              <a:solidFill>
                <a:schemeClr val="tx1"/>
              </a:solidFill>
            </a:rPr>
            <a:t>特点：开始重视性价比和用户体验</a:t>
          </a:r>
          <a:endParaRPr lang="zh-CN" altLang="en-US">
            <a:solidFill>
              <a:schemeClr val="tx1"/>
            </a:solidFill>
          </a:endParaRPr>
        </a:p>
        <a:p>
          <a:pPr lvl="0">
            <a:lnSpc>
              <a:spcPct val="100000"/>
            </a:lnSpc>
            <a:spcBef>
              <a:spcPct val="0"/>
            </a:spcBef>
            <a:spcAft>
              <a:spcPct val="35000"/>
            </a:spcAft>
            <a:buNone/>
          </a:pPr>
          <a:r>
            <a:rPr lang="zh-CN" altLang="en-US">
              <a:solidFill>
                <a:schemeClr val="tx1"/>
              </a:solidFill>
            </a:rPr>
            <a:t>平台：以天猫为主，其他电商平台纷纷入局</a:t>
          </a:r>
          <a:endParaRPr lang="zh-CN" altLang="en-US">
            <a:solidFill>
              <a:schemeClr val="tx1"/>
            </a:solidFill>
          </a:endParaRPr>
        </a:p>
      </dsp:txBody>
      <dsp:txXfrm>
        <a:off x="5843743" y="1487245"/>
        <a:ext cx="2284257" cy="2002285"/>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microsoft.com/office/2007/relationships/hdphoto" Target="../media/image2.wdp"/><Relationship Id="rId20" Type="http://schemas.openxmlformats.org/officeDocument/2006/relationships/image" Target="../media/image1.png"/><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7" Type="http://schemas.microsoft.com/office/2007/relationships/hdphoto" Target="../media/image2.wdp"/><Relationship Id="rId16" Type="http://schemas.openxmlformats.org/officeDocument/2006/relationships/image" Target="../media/image1.png"/><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6" Type="http://schemas.microsoft.com/office/2007/relationships/hdphoto" Target="../media/image2.wdp"/><Relationship Id="rId15" Type="http://schemas.openxmlformats.org/officeDocument/2006/relationships/image" Target="../media/image1.png"/><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 name="任意多边形 45"/>
          <p:cNvSpPr/>
          <p:nvPr>
            <p:custDataLst>
              <p:tags r:id="rId2"/>
            </p:custDataLst>
          </p:nvPr>
        </p:nvSpPr>
        <p:spPr>
          <a:xfrm rot="746688">
            <a:off x="5494338" y="250825"/>
            <a:ext cx="2959100" cy="3073400"/>
          </a:xfrm>
          <a:custGeom>
            <a:avLst/>
            <a:gdLst>
              <a:gd name="connsiteX0" fmla="*/ 0 w 2958463"/>
              <a:gd name="connsiteY0" fmla="*/ 28269 h 3072739"/>
              <a:gd name="connsiteX1" fmla="*/ 128100 w 2958463"/>
              <a:gd name="connsiteY1" fmla="*/ 0 h 3072739"/>
              <a:gd name="connsiteX2" fmla="*/ 2958463 w 2958463"/>
              <a:gd name="connsiteY2" fmla="*/ 2912645 h 3072739"/>
              <a:gd name="connsiteX3" fmla="*/ 2958463 w 2958463"/>
              <a:gd name="connsiteY3" fmla="*/ 3072739 h 3072739"/>
              <a:gd name="connsiteX4" fmla="*/ 0 w 2958463"/>
              <a:gd name="connsiteY4" fmla="*/ 28269 h 3072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8463" h="3072739">
                <a:moveTo>
                  <a:pt x="0" y="28269"/>
                </a:moveTo>
                <a:lnTo>
                  <a:pt x="128100" y="0"/>
                </a:lnTo>
                <a:lnTo>
                  <a:pt x="2958463" y="2912645"/>
                </a:lnTo>
                <a:lnTo>
                  <a:pt x="2958463" y="3072739"/>
                </a:lnTo>
                <a:lnTo>
                  <a:pt x="0" y="282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等腰三角形 5"/>
          <p:cNvSpPr/>
          <p:nvPr>
            <p:custDataLst>
              <p:tags r:id="rId3"/>
            </p:custDataLst>
          </p:nvPr>
        </p:nvSpPr>
        <p:spPr>
          <a:xfrm>
            <a:off x="0" y="4397375"/>
            <a:ext cx="1003300" cy="2460625"/>
          </a:xfrm>
          <a:prstGeom prst="triangl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7" name="组合 14"/>
          <p:cNvGrpSpPr/>
          <p:nvPr>
            <p:custDataLst>
              <p:tags r:id="rId4"/>
            </p:custDataLst>
          </p:nvPr>
        </p:nvGrpSpPr>
        <p:grpSpPr bwMode="auto">
          <a:xfrm>
            <a:off x="1295400" y="1522413"/>
            <a:ext cx="315913" cy="315912"/>
            <a:chOff x="1772042" y="1225638"/>
            <a:chExt cx="316282" cy="316282"/>
          </a:xfrm>
        </p:grpSpPr>
        <p:cxnSp>
          <p:nvCxnSpPr>
            <p:cNvPr id="8" name="直接连接符 7"/>
            <p:cNvCxnSpPr/>
            <p:nvPr>
              <p:custDataLst>
                <p:tags r:id="rId5"/>
              </p:custDataLst>
            </p:nvPr>
          </p:nvCxnSpPr>
          <p:spPr>
            <a:xfrm flipH="1">
              <a:off x="1772042" y="1384574"/>
              <a:ext cx="316282"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rot="5400000" flipH="1">
              <a:off x="1772836" y="1383779"/>
              <a:ext cx="316282"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任意多边形 12"/>
          <p:cNvSpPr/>
          <p:nvPr>
            <p:custDataLst>
              <p:tags r:id="rId7"/>
            </p:custDataLst>
          </p:nvPr>
        </p:nvSpPr>
        <p:spPr>
          <a:xfrm>
            <a:off x="8496300" y="0"/>
            <a:ext cx="3695700" cy="6858000"/>
          </a:xfrm>
          <a:custGeom>
            <a:avLst/>
            <a:gdLst>
              <a:gd name="connsiteX0" fmla="*/ 0 w 3695696"/>
              <a:gd name="connsiteY0" fmla="*/ 0 h 6858001"/>
              <a:gd name="connsiteX1" fmla="*/ 3695696 w 3695696"/>
              <a:gd name="connsiteY1" fmla="*/ 0 h 6858001"/>
              <a:gd name="connsiteX2" fmla="*/ 3695696 w 3695696"/>
              <a:gd name="connsiteY2" fmla="*/ 6858001 h 6858001"/>
              <a:gd name="connsiteX3" fmla="*/ 3289124 w 3695696"/>
              <a:gd name="connsiteY3" fmla="*/ 6858001 h 6858001"/>
              <a:gd name="connsiteX4" fmla="*/ 0 w 3695696"/>
              <a:gd name="connsiteY4" fmla="*/ 0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5696" h="6858001">
                <a:moveTo>
                  <a:pt x="0" y="0"/>
                </a:moveTo>
                <a:lnTo>
                  <a:pt x="3695696" y="0"/>
                </a:lnTo>
                <a:lnTo>
                  <a:pt x="3695696" y="6858001"/>
                </a:lnTo>
                <a:lnTo>
                  <a:pt x="3289124" y="6858001"/>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2" name="等腰三角形 11"/>
          <p:cNvSpPr/>
          <p:nvPr>
            <p:custDataLst>
              <p:tags r:id="rId8"/>
            </p:custDataLst>
          </p:nvPr>
        </p:nvSpPr>
        <p:spPr>
          <a:xfrm rot="10800000">
            <a:off x="10267950" y="0"/>
            <a:ext cx="1924050" cy="4286250"/>
          </a:xfrm>
          <a:prstGeom prst="triangle">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3" name="等腰三角形 12"/>
          <p:cNvSpPr/>
          <p:nvPr>
            <p:custDataLst>
              <p:tags r:id="rId9"/>
            </p:custDataLst>
          </p:nvPr>
        </p:nvSpPr>
        <p:spPr>
          <a:xfrm rot="10800000">
            <a:off x="7061983" y="647700"/>
            <a:ext cx="1501775" cy="12954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4" name="等腰三角形 13"/>
          <p:cNvSpPr/>
          <p:nvPr>
            <p:custDataLst>
              <p:tags r:id="rId10"/>
            </p:custDataLst>
          </p:nvPr>
        </p:nvSpPr>
        <p:spPr>
          <a:xfrm rot="10800000">
            <a:off x="7440035" y="0"/>
            <a:ext cx="1501775" cy="12954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5" name="任意多边形 46"/>
          <p:cNvSpPr/>
          <p:nvPr>
            <p:custDataLst>
              <p:tags r:id="rId11"/>
            </p:custDataLst>
          </p:nvPr>
        </p:nvSpPr>
        <p:spPr>
          <a:xfrm rot="746688">
            <a:off x="6005513" y="92075"/>
            <a:ext cx="1304925" cy="1371600"/>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6" name="等腰三角形 24"/>
          <p:cNvSpPr/>
          <p:nvPr>
            <p:custDataLst>
              <p:tags r:id="rId12"/>
            </p:custDataLst>
          </p:nvPr>
        </p:nvSpPr>
        <p:spPr>
          <a:xfrm rot="10800000">
            <a:off x="9534525" y="2165350"/>
            <a:ext cx="1695450" cy="1693863"/>
          </a:xfrm>
          <a:custGeom>
            <a:avLst/>
            <a:gdLst>
              <a:gd name="connsiteX0" fmla="*/ 0 w 1695930"/>
              <a:gd name="connsiteY0" fmla="*/ 1462009 h 1462009"/>
              <a:gd name="connsiteX1" fmla="*/ 847965 w 1695930"/>
              <a:gd name="connsiteY1" fmla="*/ 0 h 1462009"/>
              <a:gd name="connsiteX2" fmla="*/ 1695930 w 1695930"/>
              <a:gd name="connsiteY2" fmla="*/ 1462009 h 1462009"/>
              <a:gd name="connsiteX3" fmla="*/ 0 w 1695930"/>
              <a:gd name="connsiteY3" fmla="*/ 1462009 h 1462009"/>
              <a:gd name="connsiteX0-1" fmla="*/ 0 w 1695930"/>
              <a:gd name="connsiteY0-2" fmla="*/ 1694237 h 1694237"/>
              <a:gd name="connsiteX1-3" fmla="*/ 862480 w 1695930"/>
              <a:gd name="connsiteY1-4" fmla="*/ 0 h 1694237"/>
              <a:gd name="connsiteX2-5" fmla="*/ 1695930 w 1695930"/>
              <a:gd name="connsiteY2-6" fmla="*/ 1694237 h 1694237"/>
              <a:gd name="connsiteX3-7" fmla="*/ 0 w 1695930"/>
              <a:gd name="connsiteY3-8" fmla="*/ 1694237 h 1694237"/>
            </a:gdLst>
            <a:ahLst/>
            <a:cxnLst>
              <a:cxn ang="0">
                <a:pos x="connsiteX0-1" y="connsiteY0-2"/>
              </a:cxn>
              <a:cxn ang="0">
                <a:pos x="connsiteX1-3" y="connsiteY1-4"/>
              </a:cxn>
              <a:cxn ang="0">
                <a:pos x="connsiteX2-5" y="connsiteY2-6"/>
              </a:cxn>
              <a:cxn ang="0">
                <a:pos x="connsiteX3-7" y="connsiteY3-8"/>
              </a:cxn>
            </a:cxnLst>
            <a:rect l="l" t="t" r="r" b="b"/>
            <a:pathLst>
              <a:path w="1695930" h="1694237">
                <a:moveTo>
                  <a:pt x="0" y="1694237"/>
                </a:moveTo>
                <a:lnTo>
                  <a:pt x="862480" y="0"/>
                </a:lnTo>
                <a:lnTo>
                  <a:pt x="1695930" y="1694237"/>
                </a:lnTo>
                <a:lnTo>
                  <a:pt x="0" y="16942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cxnSp>
        <p:nvCxnSpPr>
          <p:cNvPr id="18" name="直接连接符 17"/>
          <p:cNvCxnSpPr/>
          <p:nvPr>
            <p:custDataLst>
              <p:tags r:id="rId13"/>
            </p:custDataLst>
          </p:nvPr>
        </p:nvCxnSpPr>
        <p:spPr>
          <a:xfrm>
            <a:off x="1358945" y="4795838"/>
            <a:ext cx="5905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14"/>
            </p:custDataLst>
          </p:nvPr>
        </p:nvSpPr>
        <p:spPr>
          <a:xfrm>
            <a:off x="1198799" y="2009457"/>
            <a:ext cx="6243723" cy="1198800"/>
          </a:xfrm>
        </p:spPr>
        <p:txBody>
          <a:bodyPr anchor="ctr">
            <a:normAutofit/>
          </a:bodyPr>
          <a:lstStyle>
            <a:lvl1pPr algn="l">
              <a:defRPr sz="6000" spc="600">
                <a:solidFill>
                  <a:schemeClr val="tx1"/>
                </a:solidFill>
              </a:defRPr>
            </a:lvl1pPr>
          </a:lstStyle>
          <a:p>
            <a:r>
              <a:rPr lang="zh-CN" altLang="en-US" noProof="1"/>
              <a:t>编辑标题</a:t>
            </a:r>
            <a:endParaRPr lang="zh-CN" altLang="en-US" noProof="1"/>
          </a:p>
        </p:txBody>
      </p:sp>
      <p:sp>
        <p:nvSpPr>
          <p:cNvPr id="3" name="副标题 2"/>
          <p:cNvSpPr>
            <a:spLocks noGrp="1"/>
          </p:cNvSpPr>
          <p:nvPr>
            <p:ph type="subTitle" idx="1" hasCustomPrompt="1"/>
            <p:custDataLst>
              <p:tags r:id="rId15"/>
            </p:custDataLst>
          </p:nvPr>
        </p:nvSpPr>
        <p:spPr>
          <a:xfrm>
            <a:off x="1198880" y="3313163"/>
            <a:ext cx="3408680" cy="1379855"/>
          </a:xfrm>
        </p:spPr>
        <p:txBody>
          <a:bodyPr>
            <a:noAutofit/>
          </a:bodyPr>
          <a:lstStyle>
            <a:lvl1pPr marL="0" indent="0" algn="l">
              <a:lnSpc>
                <a:spcPct val="100000"/>
              </a:lnSpc>
              <a:spcAft>
                <a:spcPts val="0"/>
              </a:spcAft>
              <a:buNone/>
              <a:defRPr sz="4000" b="1" i="1" spc="300" baseline="0">
                <a:solidFill>
                  <a:schemeClr val="tx1"/>
                </a:solidFill>
                <a:latin typeface="+mj-ea"/>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编辑副标题</a:t>
            </a:r>
            <a:endParaRPr lang="zh-CN" altLang="en-US" noProof="1"/>
          </a:p>
        </p:txBody>
      </p:sp>
      <p:sp>
        <p:nvSpPr>
          <p:cNvPr id="19" name="日期占位符 15"/>
          <p:cNvSpPr>
            <a:spLocks noGrp="1"/>
          </p:cNvSpPr>
          <p:nvPr>
            <p:ph type="dt" sz="half" idx="15"/>
            <p:custDataLst>
              <p:tags r:id="rId16"/>
            </p:custDataLst>
          </p:nvPr>
        </p:nvSpPr>
        <p:spPr/>
        <p:txBody>
          <a:bodyPr/>
          <a:lstStyle>
            <a:lvl1pPr>
              <a:defRPr/>
            </a:lvl1pPr>
          </a:lstStyle>
          <a:p>
            <a:fld id="{760FBDFE-C587-4B4C-A407-44438C67B59E}" type="datetimeFigureOut">
              <a:rPr lang="zh-CN" altLang="en-US" smtClean="0"/>
            </a:fld>
            <a:endParaRPr lang="zh-CN" altLang="en-US"/>
          </a:p>
        </p:txBody>
      </p:sp>
      <p:sp>
        <p:nvSpPr>
          <p:cNvPr id="20" name="页脚占位符 16"/>
          <p:cNvSpPr>
            <a:spLocks noGrp="1"/>
          </p:cNvSpPr>
          <p:nvPr>
            <p:ph type="ftr" sz="quarter" idx="16"/>
            <p:custDataLst>
              <p:tags r:id="rId17"/>
            </p:custDataLst>
          </p:nvPr>
        </p:nvSpPr>
        <p:spPr/>
        <p:txBody>
          <a:bodyPr/>
          <a:lstStyle>
            <a:lvl1pPr>
              <a:defRPr/>
            </a:lvl1pPr>
          </a:lstStyle>
          <a:p>
            <a:r>
              <a:rPr lang="zh-CN" altLang="en-US"/>
              <a:t>前瞻产业研究院</a:t>
            </a:r>
            <a:endParaRPr lang="zh-CN" altLang="en-US"/>
          </a:p>
        </p:txBody>
      </p:sp>
      <p:sp>
        <p:nvSpPr>
          <p:cNvPr id="21" name="灯片编号占位符 17"/>
          <p:cNvSpPr>
            <a:spLocks noGrp="1"/>
          </p:cNvSpPr>
          <p:nvPr>
            <p:ph type="sldNum" sz="quarter" idx="17"/>
            <p:custDataLst>
              <p:tags r:id="rId18"/>
            </p:custDataLst>
          </p:nvPr>
        </p:nvSpPr>
        <p:spPr/>
        <p:txBody>
          <a:bodyPr/>
          <a:lstStyle>
            <a:lvl1pPr>
              <a:defRPr/>
            </a:lvl1pPr>
          </a:lstStyle>
          <a:p>
            <a:fld id="{49AE70B2-8BF9-45C0-BB95-33D1B9D3A854}" type="slidenum">
              <a:rPr lang="zh-CN" altLang="en-US" smtClean="0"/>
            </a:fld>
            <a:endParaRPr lang="zh-CN" altLang="en-US"/>
          </a:p>
        </p:txBody>
      </p:sp>
      <p:pic>
        <p:nvPicPr>
          <p:cNvPr id="25" name="图片 24"/>
          <p:cNvPicPr>
            <a:picLocks noChangeAspect="1"/>
          </p:cNvPicPr>
          <p:nvPr>
            <p:custDataLst>
              <p:tags r:id="rId19"/>
            </p:custDataLst>
          </p:nvPr>
        </p:nvPicPr>
        <p:blipFill>
          <a:blip r:embed="rId20" cstate="email">
            <a:extLst>
              <a:ext uri="{BEBA8EAE-BF5A-486C-A8C5-ECC9F3942E4B}">
                <a14:imgProps xmlns:a14="http://schemas.microsoft.com/office/drawing/2010/main">
                  <a14:imgLayer r:embed="rId21">
                    <a14:imgEffect>
                      <a14:colorTemperature colorTemp="4700"/>
                    </a14:imgEffect>
                  </a14:imgLayer>
                </a14:imgProps>
              </a:ext>
            </a:extLst>
          </a:blip>
          <a:srcRect/>
          <a:stretch>
            <a:fillRect/>
          </a:stretch>
        </p:blipFill>
        <p:spPr>
          <a:xfrm>
            <a:off x="7052747" y="409574"/>
            <a:ext cx="4753805" cy="6456590"/>
          </a:xfrm>
          <a:custGeom>
            <a:avLst/>
            <a:gdLst>
              <a:gd name="connsiteX0" fmla="*/ 1645443 w 4753805"/>
              <a:gd name="connsiteY0" fmla="*/ 0 h 6456590"/>
              <a:gd name="connsiteX1" fmla="*/ 2993011 w 4753805"/>
              <a:gd name="connsiteY1" fmla="*/ 2807919 h 6456590"/>
              <a:gd name="connsiteX2" fmla="*/ 2995875 w 4753805"/>
              <a:gd name="connsiteY2" fmla="*/ 2807919 h 6456590"/>
              <a:gd name="connsiteX3" fmla="*/ 4753805 w 4753805"/>
              <a:gd name="connsiteY3" fmla="*/ 6456590 h 6456590"/>
              <a:gd name="connsiteX4" fmla="*/ 1757930 w 4753805"/>
              <a:gd name="connsiteY4" fmla="*/ 6456590 h 6456590"/>
              <a:gd name="connsiteX5" fmla="*/ 0 w 4753805"/>
              <a:gd name="connsiteY5" fmla="*/ 2807919 h 6456590"/>
              <a:gd name="connsiteX6" fmla="*/ 4790 w 4753805"/>
              <a:gd name="connsiteY6" fmla="*/ 2807919 h 645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3805" h="6456590">
                <a:moveTo>
                  <a:pt x="1645443" y="0"/>
                </a:moveTo>
                <a:lnTo>
                  <a:pt x="2993011" y="2807919"/>
                </a:lnTo>
                <a:lnTo>
                  <a:pt x="2995875" y="2807919"/>
                </a:lnTo>
                <a:lnTo>
                  <a:pt x="4753805" y="6456590"/>
                </a:lnTo>
                <a:lnTo>
                  <a:pt x="1757930" y="6456590"/>
                </a:lnTo>
                <a:lnTo>
                  <a:pt x="0" y="2807919"/>
                </a:lnTo>
                <a:lnTo>
                  <a:pt x="4790" y="2807919"/>
                </a:lnTo>
                <a:close/>
              </a:path>
            </a:pathLst>
          </a:custGeom>
        </p:spPr>
      </p:pic>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任意多边形 46"/>
          <p:cNvSpPr/>
          <p:nvPr>
            <p:custDataLst>
              <p:tags r:id="rId2"/>
            </p:custDataLst>
          </p:nvPr>
        </p:nvSpPr>
        <p:spPr>
          <a:xfrm rot="746688">
            <a:off x="11557000" y="5489575"/>
            <a:ext cx="711200" cy="747713"/>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任意多边形 46"/>
          <p:cNvSpPr/>
          <p:nvPr>
            <p:custDataLst>
              <p:tags r:id="rId3"/>
            </p:custDataLst>
          </p:nvPr>
        </p:nvSpPr>
        <p:spPr>
          <a:xfrm rot="746688">
            <a:off x="-77788" y="722313"/>
            <a:ext cx="711201"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任意多边形 46"/>
          <p:cNvSpPr/>
          <p:nvPr>
            <p:custDataLst>
              <p:tags r:id="rId4"/>
            </p:custDataLst>
          </p:nvPr>
        </p:nvSpPr>
        <p:spPr>
          <a:xfrm rot="746688">
            <a:off x="-55563" y="68263"/>
            <a:ext cx="712788"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46"/>
          <p:cNvSpPr/>
          <p:nvPr>
            <p:custDataLst>
              <p:tags r:id="rId5"/>
            </p:custDataLst>
          </p:nvPr>
        </p:nvSpPr>
        <p:spPr>
          <a:xfrm rot="746688">
            <a:off x="11552238" y="6053138"/>
            <a:ext cx="711200"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任意多边形: 形状 7"/>
          <p:cNvSpPr/>
          <p:nvPr>
            <p:custDataLst>
              <p:tags r:id="rId6"/>
            </p:custDataLst>
          </p:nvPr>
        </p:nvSpPr>
        <p:spPr>
          <a:xfrm>
            <a:off x="10974388" y="0"/>
            <a:ext cx="1217612" cy="2540000"/>
          </a:xfrm>
          <a:custGeom>
            <a:avLst/>
            <a:gdLst>
              <a:gd name="connsiteX0" fmla="*/ 0 w 1218152"/>
              <a:gd name="connsiteY0" fmla="*/ 0 h 2539914"/>
              <a:gd name="connsiteX1" fmla="*/ 1218152 w 1218152"/>
              <a:gd name="connsiteY1" fmla="*/ 0 h 2539914"/>
              <a:gd name="connsiteX2" fmla="*/ 1218152 w 1218152"/>
              <a:gd name="connsiteY2" fmla="*/ 2539914 h 2539914"/>
            </a:gdLst>
            <a:ahLst/>
            <a:cxnLst>
              <a:cxn ang="0">
                <a:pos x="connsiteX0" y="connsiteY0"/>
              </a:cxn>
              <a:cxn ang="0">
                <a:pos x="connsiteX1" y="connsiteY1"/>
              </a:cxn>
              <a:cxn ang="0">
                <a:pos x="connsiteX2" y="connsiteY2"/>
              </a:cxn>
            </a:cxnLst>
            <a:rect l="l" t="t" r="r" b="b"/>
            <a:pathLst>
              <a:path w="1218152" h="2539914">
                <a:moveTo>
                  <a:pt x="0" y="0"/>
                </a:moveTo>
                <a:lnTo>
                  <a:pt x="1218152" y="0"/>
                </a:lnTo>
                <a:lnTo>
                  <a:pt x="1218152" y="253991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9" name="任意多边形: 形状 8"/>
          <p:cNvSpPr/>
          <p:nvPr>
            <p:custDataLst>
              <p:tags r:id="rId7"/>
            </p:custDataLst>
          </p:nvPr>
        </p:nvSpPr>
        <p:spPr>
          <a:xfrm rot="10800000">
            <a:off x="11679238" y="0"/>
            <a:ext cx="512762" cy="1141413"/>
          </a:xfrm>
          <a:custGeom>
            <a:avLst/>
            <a:gdLst>
              <a:gd name="connsiteX0" fmla="*/ 512148 w 512148"/>
              <a:gd name="connsiteY0" fmla="*/ 1140923 h 1140923"/>
              <a:gd name="connsiteX1" fmla="*/ 0 w 512148"/>
              <a:gd name="connsiteY1" fmla="*/ 1140923 h 1140923"/>
              <a:gd name="connsiteX2" fmla="*/ 0 w 512148"/>
              <a:gd name="connsiteY2" fmla="*/ 0 h 1140923"/>
            </a:gdLst>
            <a:ahLst/>
            <a:cxnLst>
              <a:cxn ang="0">
                <a:pos x="connsiteX0" y="connsiteY0"/>
              </a:cxn>
              <a:cxn ang="0">
                <a:pos x="connsiteX1" y="connsiteY1"/>
              </a:cxn>
              <a:cxn ang="0">
                <a:pos x="connsiteX2" y="connsiteY2"/>
              </a:cxn>
            </a:cxnLst>
            <a:rect l="l" t="t" r="r" b="b"/>
            <a:pathLst>
              <a:path w="512148" h="1140923">
                <a:moveTo>
                  <a:pt x="512148" y="1140923"/>
                </a:moveTo>
                <a:lnTo>
                  <a:pt x="0" y="114092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0" name="等腰三角形 24"/>
          <p:cNvSpPr/>
          <p:nvPr>
            <p:custDataLst>
              <p:tags r:id="rId8"/>
            </p:custDataLst>
          </p:nvPr>
        </p:nvSpPr>
        <p:spPr>
          <a:xfrm rot="10800000">
            <a:off x="11387138" y="863600"/>
            <a:ext cx="676275" cy="674688"/>
          </a:xfrm>
          <a:custGeom>
            <a:avLst/>
            <a:gdLst>
              <a:gd name="connsiteX0" fmla="*/ 0 w 1695930"/>
              <a:gd name="connsiteY0" fmla="*/ 1462009 h 1462009"/>
              <a:gd name="connsiteX1" fmla="*/ 847965 w 1695930"/>
              <a:gd name="connsiteY1" fmla="*/ 0 h 1462009"/>
              <a:gd name="connsiteX2" fmla="*/ 1695930 w 1695930"/>
              <a:gd name="connsiteY2" fmla="*/ 1462009 h 1462009"/>
              <a:gd name="connsiteX3" fmla="*/ 0 w 1695930"/>
              <a:gd name="connsiteY3" fmla="*/ 1462009 h 1462009"/>
              <a:gd name="connsiteX0-1" fmla="*/ 0 w 1695930"/>
              <a:gd name="connsiteY0-2" fmla="*/ 1694237 h 1694237"/>
              <a:gd name="connsiteX1-3" fmla="*/ 862480 w 1695930"/>
              <a:gd name="connsiteY1-4" fmla="*/ 0 h 1694237"/>
              <a:gd name="connsiteX2-5" fmla="*/ 1695930 w 1695930"/>
              <a:gd name="connsiteY2-6" fmla="*/ 1694237 h 1694237"/>
              <a:gd name="connsiteX3-7" fmla="*/ 0 w 1695930"/>
              <a:gd name="connsiteY3-8" fmla="*/ 1694237 h 1694237"/>
            </a:gdLst>
            <a:ahLst/>
            <a:cxnLst>
              <a:cxn ang="0">
                <a:pos x="connsiteX0-1" y="connsiteY0-2"/>
              </a:cxn>
              <a:cxn ang="0">
                <a:pos x="connsiteX1-3" y="connsiteY1-4"/>
              </a:cxn>
              <a:cxn ang="0">
                <a:pos x="connsiteX2-5" y="connsiteY2-6"/>
              </a:cxn>
              <a:cxn ang="0">
                <a:pos x="connsiteX3-7" y="connsiteY3-8"/>
              </a:cxn>
            </a:cxnLst>
            <a:rect l="l" t="t" r="r" b="b"/>
            <a:pathLst>
              <a:path w="1695930" h="1694237">
                <a:moveTo>
                  <a:pt x="0" y="1694237"/>
                </a:moveTo>
                <a:lnTo>
                  <a:pt x="862480" y="0"/>
                </a:lnTo>
                <a:lnTo>
                  <a:pt x="1695930" y="1694237"/>
                </a:lnTo>
                <a:lnTo>
                  <a:pt x="0" y="16942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1" name="等腰三角形 6"/>
          <p:cNvSpPr/>
          <p:nvPr>
            <p:custDataLst>
              <p:tags r:id="rId9"/>
            </p:custDataLst>
          </p:nvPr>
        </p:nvSpPr>
        <p:spPr>
          <a:xfrm>
            <a:off x="0" y="5688013"/>
            <a:ext cx="481013" cy="1179512"/>
          </a:xfrm>
          <a:prstGeom prst="triangl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2" name="等腰三角形 11"/>
          <p:cNvSpPr/>
          <p:nvPr>
            <p:custDataLst>
              <p:tags r:id="rId10"/>
            </p:custDataLst>
          </p:nvPr>
        </p:nvSpPr>
        <p:spPr>
          <a:xfrm>
            <a:off x="392113" y="5200650"/>
            <a:ext cx="676275" cy="1657350"/>
          </a:xfrm>
          <a:prstGeom prst="triangle">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tx1">
                  <a:lumMod val="85000"/>
                  <a:lumOff val="15000"/>
                </a:schemeClr>
              </a:solidFill>
            </a:endParaRPr>
          </a:p>
        </p:txBody>
      </p:sp>
      <p:sp>
        <p:nvSpPr>
          <p:cNvPr id="2" name="标题 1"/>
          <p:cNvSpPr>
            <a:spLocks noGrp="1"/>
          </p:cNvSpPr>
          <p:nvPr>
            <p:ph type="title"/>
            <p:custDataLst>
              <p:tags r:id="rId11"/>
            </p:custDataLst>
          </p:nvPr>
        </p:nvSpPr>
        <p:spPr>
          <a:xfrm>
            <a:off x="623888" y="406800"/>
            <a:ext cx="10944225" cy="863601"/>
          </a:xfrm>
        </p:spPr>
        <p:txBody>
          <a:bodyPr>
            <a:normAutofit/>
          </a:bodyPr>
          <a:lstStyle>
            <a:lvl1pPr>
              <a:defRPr sz="2800"/>
            </a:lvl1pPr>
          </a:lstStyle>
          <a:p>
            <a:r>
              <a:rPr lang="zh-CN" altLang="en-US" noProof="1"/>
              <a:t>单击此处编辑母版标题样式</a:t>
            </a:r>
            <a:endParaRPr lang="zh-CN" altLang="en-US" noProof="1"/>
          </a:p>
        </p:txBody>
      </p:sp>
      <p:sp>
        <p:nvSpPr>
          <p:cNvPr id="3" name="内容占位符 2"/>
          <p:cNvSpPr>
            <a:spLocks noGrp="1"/>
          </p:cNvSpPr>
          <p:nvPr>
            <p:ph idx="1"/>
            <p:custDataLst>
              <p:tags r:id="rId12"/>
            </p:custDataLst>
          </p:nvPr>
        </p:nvSpPr>
        <p:spPr>
          <a:xfrm>
            <a:off x="623888" y="1412875"/>
            <a:ext cx="10944224" cy="4895850"/>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日期占位符 3"/>
          <p:cNvSpPr>
            <a:spLocks noGrp="1"/>
          </p:cNvSpPr>
          <p:nvPr>
            <p:ph type="dt" sz="half" idx="10"/>
            <p:custDataLst>
              <p:tags r:id="rId13"/>
            </p:custDataLst>
          </p:nvPr>
        </p:nvSpPr>
        <p:spPr/>
        <p:txBody>
          <a:bodyPr/>
          <a:lstStyle>
            <a:lvl1pPr>
              <a:defRPr/>
            </a:lvl1pPr>
          </a:lstStyle>
          <a:p>
            <a:fld id="{760FBDFE-C587-4B4C-A407-44438C67B59E}" type="datetimeFigureOut">
              <a:rPr lang="zh-CN" altLang="en-US" smtClean="0"/>
            </a:fld>
            <a:endParaRPr lang="zh-CN" altLang="en-US"/>
          </a:p>
        </p:txBody>
      </p:sp>
      <p:sp>
        <p:nvSpPr>
          <p:cNvPr id="14" name="页脚占位符 4"/>
          <p:cNvSpPr>
            <a:spLocks noGrp="1"/>
          </p:cNvSpPr>
          <p:nvPr>
            <p:ph type="ftr" sz="quarter" idx="11"/>
            <p:custDataLst>
              <p:tags r:id="rId14"/>
            </p:custDataLst>
          </p:nvPr>
        </p:nvSpPr>
        <p:spPr/>
        <p:txBody>
          <a:bodyPr/>
          <a:lstStyle>
            <a:lvl1pPr>
              <a:defRPr/>
            </a:lvl1pPr>
          </a:lstStyle>
          <a:p>
            <a:r>
              <a:rPr lang="zh-CN" altLang="en-US"/>
              <a:t>前瞻产业研究院</a:t>
            </a:r>
            <a:endParaRPr lang="zh-CN" altLang="en-US"/>
          </a:p>
        </p:txBody>
      </p:sp>
      <p:sp>
        <p:nvSpPr>
          <p:cNvPr id="15" name="灯片编号占位符 5"/>
          <p:cNvSpPr>
            <a:spLocks noGrp="1"/>
          </p:cNvSpPr>
          <p:nvPr>
            <p:ph type="sldNum" sz="quarter" idx="12"/>
            <p:custDataLst>
              <p:tags r:id="rId1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任意多边形 12"/>
          <p:cNvSpPr/>
          <p:nvPr>
            <p:custDataLst>
              <p:tags r:id="rId2"/>
            </p:custDataLst>
          </p:nvPr>
        </p:nvSpPr>
        <p:spPr>
          <a:xfrm>
            <a:off x="8496300" y="0"/>
            <a:ext cx="3695700" cy="6858000"/>
          </a:xfrm>
          <a:custGeom>
            <a:avLst/>
            <a:gdLst>
              <a:gd name="connsiteX0" fmla="*/ 0 w 3695696"/>
              <a:gd name="connsiteY0" fmla="*/ 0 h 6858001"/>
              <a:gd name="connsiteX1" fmla="*/ 3695696 w 3695696"/>
              <a:gd name="connsiteY1" fmla="*/ 0 h 6858001"/>
              <a:gd name="connsiteX2" fmla="*/ 3695696 w 3695696"/>
              <a:gd name="connsiteY2" fmla="*/ 6858001 h 6858001"/>
              <a:gd name="connsiteX3" fmla="*/ 3289124 w 3695696"/>
              <a:gd name="connsiteY3" fmla="*/ 6858001 h 6858001"/>
              <a:gd name="connsiteX4" fmla="*/ 0 w 3695696"/>
              <a:gd name="connsiteY4" fmla="*/ 0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5696" h="6858001">
                <a:moveTo>
                  <a:pt x="0" y="0"/>
                </a:moveTo>
                <a:lnTo>
                  <a:pt x="3695696" y="0"/>
                </a:lnTo>
                <a:lnTo>
                  <a:pt x="3695696" y="6858001"/>
                </a:lnTo>
                <a:lnTo>
                  <a:pt x="3289124" y="6858001"/>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等腰三角形 4"/>
          <p:cNvSpPr/>
          <p:nvPr>
            <p:custDataLst>
              <p:tags r:id="rId3"/>
            </p:custDataLst>
          </p:nvPr>
        </p:nvSpPr>
        <p:spPr>
          <a:xfrm rot="10800000">
            <a:off x="10267950" y="0"/>
            <a:ext cx="1924050" cy="4286250"/>
          </a:xfrm>
          <a:prstGeom prst="triangle">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等腰三角形 5"/>
          <p:cNvSpPr/>
          <p:nvPr>
            <p:custDataLst>
              <p:tags r:id="rId4"/>
            </p:custDataLst>
          </p:nvPr>
        </p:nvSpPr>
        <p:spPr>
          <a:xfrm rot="10800000">
            <a:off x="7061983" y="647700"/>
            <a:ext cx="1501775" cy="12954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等腰三角形 6"/>
          <p:cNvSpPr/>
          <p:nvPr>
            <p:custDataLst>
              <p:tags r:id="rId5"/>
            </p:custDataLst>
          </p:nvPr>
        </p:nvSpPr>
        <p:spPr>
          <a:xfrm rot="10800000">
            <a:off x="7440035" y="0"/>
            <a:ext cx="1501775" cy="12954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等腰三角形 24"/>
          <p:cNvSpPr/>
          <p:nvPr>
            <p:custDataLst>
              <p:tags r:id="rId6"/>
            </p:custDataLst>
          </p:nvPr>
        </p:nvSpPr>
        <p:spPr>
          <a:xfrm rot="10800000">
            <a:off x="9534525" y="2165350"/>
            <a:ext cx="1695450" cy="1693863"/>
          </a:xfrm>
          <a:custGeom>
            <a:avLst/>
            <a:gdLst>
              <a:gd name="connsiteX0" fmla="*/ 0 w 1695930"/>
              <a:gd name="connsiteY0" fmla="*/ 1462009 h 1462009"/>
              <a:gd name="connsiteX1" fmla="*/ 847965 w 1695930"/>
              <a:gd name="connsiteY1" fmla="*/ 0 h 1462009"/>
              <a:gd name="connsiteX2" fmla="*/ 1695930 w 1695930"/>
              <a:gd name="connsiteY2" fmla="*/ 1462009 h 1462009"/>
              <a:gd name="connsiteX3" fmla="*/ 0 w 1695930"/>
              <a:gd name="connsiteY3" fmla="*/ 1462009 h 1462009"/>
              <a:gd name="connsiteX0-1" fmla="*/ 0 w 1695930"/>
              <a:gd name="connsiteY0-2" fmla="*/ 1694237 h 1694237"/>
              <a:gd name="connsiteX1-3" fmla="*/ 862480 w 1695930"/>
              <a:gd name="connsiteY1-4" fmla="*/ 0 h 1694237"/>
              <a:gd name="connsiteX2-5" fmla="*/ 1695930 w 1695930"/>
              <a:gd name="connsiteY2-6" fmla="*/ 1694237 h 1694237"/>
              <a:gd name="connsiteX3-7" fmla="*/ 0 w 1695930"/>
              <a:gd name="connsiteY3-8" fmla="*/ 1694237 h 1694237"/>
            </a:gdLst>
            <a:ahLst/>
            <a:cxnLst>
              <a:cxn ang="0">
                <a:pos x="connsiteX0-1" y="connsiteY0-2"/>
              </a:cxn>
              <a:cxn ang="0">
                <a:pos x="connsiteX1-3" y="connsiteY1-4"/>
              </a:cxn>
              <a:cxn ang="0">
                <a:pos x="connsiteX2-5" y="connsiteY2-6"/>
              </a:cxn>
              <a:cxn ang="0">
                <a:pos x="connsiteX3-7" y="connsiteY3-8"/>
              </a:cxn>
            </a:cxnLst>
            <a:rect l="l" t="t" r="r" b="b"/>
            <a:pathLst>
              <a:path w="1695930" h="1694237">
                <a:moveTo>
                  <a:pt x="0" y="1694237"/>
                </a:moveTo>
                <a:lnTo>
                  <a:pt x="862480" y="0"/>
                </a:lnTo>
                <a:lnTo>
                  <a:pt x="1695930" y="1694237"/>
                </a:lnTo>
                <a:lnTo>
                  <a:pt x="0" y="16942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nvGrpSpPr>
          <p:cNvPr id="10" name="组合 14"/>
          <p:cNvGrpSpPr/>
          <p:nvPr>
            <p:custDataLst>
              <p:tags r:id="rId7"/>
            </p:custDataLst>
          </p:nvPr>
        </p:nvGrpSpPr>
        <p:grpSpPr bwMode="auto">
          <a:xfrm flipH="1">
            <a:off x="-312738" y="88900"/>
            <a:ext cx="2957513" cy="3230563"/>
            <a:chOff x="-313138" y="88946"/>
            <a:chExt cx="2958463" cy="3230885"/>
          </a:xfrm>
        </p:grpSpPr>
        <p:sp>
          <p:nvSpPr>
            <p:cNvPr id="11" name="任意多边形 45"/>
            <p:cNvSpPr/>
            <p:nvPr>
              <p:custDataLst>
                <p:tags r:id="rId8"/>
              </p:custDataLst>
            </p:nvPr>
          </p:nvSpPr>
          <p:spPr>
            <a:xfrm rot="746688">
              <a:off x="-313138" y="247712"/>
              <a:ext cx="2958463" cy="3072119"/>
            </a:xfrm>
            <a:custGeom>
              <a:avLst/>
              <a:gdLst>
                <a:gd name="connsiteX0" fmla="*/ 0 w 2958463"/>
                <a:gd name="connsiteY0" fmla="*/ 28269 h 3072739"/>
                <a:gd name="connsiteX1" fmla="*/ 128100 w 2958463"/>
                <a:gd name="connsiteY1" fmla="*/ 0 h 3072739"/>
                <a:gd name="connsiteX2" fmla="*/ 2958463 w 2958463"/>
                <a:gd name="connsiteY2" fmla="*/ 2912645 h 3072739"/>
                <a:gd name="connsiteX3" fmla="*/ 2958463 w 2958463"/>
                <a:gd name="connsiteY3" fmla="*/ 3072739 h 3072739"/>
                <a:gd name="connsiteX4" fmla="*/ 0 w 2958463"/>
                <a:gd name="connsiteY4" fmla="*/ 28269 h 3072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8463" h="3072739">
                  <a:moveTo>
                    <a:pt x="0" y="28269"/>
                  </a:moveTo>
                  <a:lnTo>
                    <a:pt x="128100" y="0"/>
                  </a:lnTo>
                  <a:lnTo>
                    <a:pt x="2958463" y="2912645"/>
                  </a:lnTo>
                  <a:lnTo>
                    <a:pt x="2958463" y="3072739"/>
                  </a:lnTo>
                  <a:lnTo>
                    <a:pt x="0" y="282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2" name="任意多边形 46"/>
            <p:cNvSpPr/>
            <p:nvPr>
              <p:custDataLst>
                <p:tags r:id="rId9"/>
              </p:custDataLst>
            </p:nvPr>
          </p:nvSpPr>
          <p:spPr>
            <a:xfrm rot="746688">
              <a:off x="196613" y="88946"/>
              <a:ext cx="1305344" cy="1371737"/>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grpSp>
      <p:sp>
        <p:nvSpPr>
          <p:cNvPr id="2" name="标题 1"/>
          <p:cNvSpPr>
            <a:spLocks noGrp="1"/>
          </p:cNvSpPr>
          <p:nvPr>
            <p:ph type="title" hasCustomPrompt="1"/>
            <p:custDataLst>
              <p:tags r:id="rId10"/>
            </p:custDataLst>
          </p:nvPr>
        </p:nvSpPr>
        <p:spPr>
          <a:xfrm>
            <a:off x="1884282" y="3414578"/>
            <a:ext cx="5017135" cy="863174"/>
          </a:xfrm>
        </p:spPr>
        <p:txBody>
          <a:bodyPr anchor="b">
            <a:normAutofit/>
          </a:bodyPr>
          <a:lstStyle>
            <a:lvl1pPr>
              <a:defRPr sz="3600"/>
            </a:lvl1pPr>
          </a:lstStyle>
          <a:p>
            <a:r>
              <a:rPr lang="zh-CN" altLang="en-US" noProof="1"/>
              <a:t>单击此处编辑标题</a:t>
            </a:r>
            <a:endParaRPr lang="zh-CN" altLang="en-US" noProof="1"/>
          </a:p>
        </p:txBody>
      </p:sp>
      <p:sp>
        <p:nvSpPr>
          <p:cNvPr id="3" name="文本占位符 2"/>
          <p:cNvSpPr>
            <a:spLocks noGrp="1"/>
          </p:cNvSpPr>
          <p:nvPr>
            <p:ph type="body" idx="1"/>
            <p:custDataLst>
              <p:tags r:id="rId11"/>
            </p:custDataLst>
          </p:nvPr>
        </p:nvSpPr>
        <p:spPr>
          <a:xfrm>
            <a:off x="1884281" y="4332272"/>
            <a:ext cx="5017134" cy="1112226"/>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13" name="日期占位符 3"/>
          <p:cNvSpPr>
            <a:spLocks noGrp="1"/>
          </p:cNvSpPr>
          <p:nvPr>
            <p:ph type="dt" sz="half" idx="10"/>
            <p:custDataLst>
              <p:tags r:id="rId12"/>
            </p:custDataLst>
          </p:nvPr>
        </p:nvSpPr>
        <p:spPr/>
        <p:txBody>
          <a:bodyPr/>
          <a:lstStyle>
            <a:lvl1pPr>
              <a:defRPr/>
            </a:lvl1pPr>
          </a:lstStyle>
          <a:p>
            <a:fld id="{760FBDFE-C587-4B4C-A407-44438C67B59E}" type="datetimeFigureOut">
              <a:rPr lang="zh-CN" altLang="en-US" smtClean="0"/>
            </a:fld>
            <a:endParaRPr lang="zh-CN" altLang="en-US"/>
          </a:p>
        </p:txBody>
      </p:sp>
      <p:sp>
        <p:nvSpPr>
          <p:cNvPr id="14" name="页脚占位符 4"/>
          <p:cNvSpPr>
            <a:spLocks noGrp="1"/>
          </p:cNvSpPr>
          <p:nvPr>
            <p:ph type="ftr" sz="quarter" idx="11"/>
            <p:custDataLst>
              <p:tags r:id="rId13"/>
            </p:custDataLst>
          </p:nvPr>
        </p:nvSpPr>
        <p:spPr/>
        <p:txBody>
          <a:bodyPr/>
          <a:lstStyle>
            <a:lvl1pPr>
              <a:defRPr/>
            </a:lvl1pPr>
          </a:lstStyle>
          <a:p>
            <a:r>
              <a:rPr lang="zh-CN" altLang="en-US"/>
              <a:t>前瞻产业研究院</a:t>
            </a:r>
            <a:endParaRPr lang="zh-CN" altLang="en-US"/>
          </a:p>
        </p:txBody>
      </p:sp>
      <p:sp>
        <p:nvSpPr>
          <p:cNvPr id="15" name="灯片编号占位符 5"/>
          <p:cNvSpPr>
            <a:spLocks noGrp="1"/>
          </p:cNvSpPr>
          <p:nvPr>
            <p:ph type="sldNum" sz="quarter" idx="12"/>
            <p:custDataLst>
              <p:tags r:id="rId14"/>
            </p:custDataLst>
          </p:nvPr>
        </p:nvSpPr>
        <p:spPr/>
        <p:txBody>
          <a:bodyPr/>
          <a:lstStyle>
            <a:lvl1pPr>
              <a:defRPr/>
            </a:lvl1pPr>
          </a:lstStyle>
          <a:p>
            <a:fld id="{49AE70B2-8BF9-45C0-BB95-33D1B9D3A854}" type="slidenum">
              <a:rPr lang="zh-CN" altLang="en-US" smtClean="0"/>
            </a:fld>
            <a:endParaRPr lang="zh-CN" altLang="en-US"/>
          </a:p>
        </p:txBody>
      </p:sp>
      <p:pic>
        <p:nvPicPr>
          <p:cNvPr id="17" name="图片 16"/>
          <p:cNvPicPr>
            <a:picLocks noChangeAspect="1"/>
          </p:cNvPicPr>
          <p:nvPr>
            <p:custDataLst>
              <p:tags r:id="rId15"/>
            </p:custDataLst>
          </p:nvPr>
        </p:nvPicPr>
        <p:blipFill>
          <a:blip r:embed="rId16" cstate="email">
            <a:extLst>
              <a:ext uri="{BEBA8EAE-BF5A-486C-A8C5-ECC9F3942E4B}">
                <a14:imgProps xmlns:a14="http://schemas.microsoft.com/office/drawing/2010/main">
                  <a14:imgLayer r:embed="rId17">
                    <a14:imgEffect>
                      <a14:colorTemperature colorTemp="4700"/>
                    </a14:imgEffect>
                  </a14:imgLayer>
                </a14:imgProps>
              </a:ext>
            </a:extLst>
          </a:blip>
          <a:srcRect/>
          <a:stretch>
            <a:fillRect/>
          </a:stretch>
        </p:blipFill>
        <p:spPr>
          <a:xfrm>
            <a:off x="7052747" y="409574"/>
            <a:ext cx="4753805" cy="6456590"/>
          </a:xfrm>
          <a:custGeom>
            <a:avLst/>
            <a:gdLst>
              <a:gd name="connsiteX0" fmla="*/ 1645443 w 4753805"/>
              <a:gd name="connsiteY0" fmla="*/ 0 h 6456590"/>
              <a:gd name="connsiteX1" fmla="*/ 2993011 w 4753805"/>
              <a:gd name="connsiteY1" fmla="*/ 2807919 h 6456590"/>
              <a:gd name="connsiteX2" fmla="*/ 2995875 w 4753805"/>
              <a:gd name="connsiteY2" fmla="*/ 2807919 h 6456590"/>
              <a:gd name="connsiteX3" fmla="*/ 4753805 w 4753805"/>
              <a:gd name="connsiteY3" fmla="*/ 6456590 h 6456590"/>
              <a:gd name="connsiteX4" fmla="*/ 1757930 w 4753805"/>
              <a:gd name="connsiteY4" fmla="*/ 6456590 h 6456590"/>
              <a:gd name="connsiteX5" fmla="*/ 0 w 4753805"/>
              <a:gd name="connsiteY5" fmla="*/ 2807919 h 6456590"/>
              <a:gd name="connsiteX6" fmla="*/ 4790 w 4753805"/>
              <a:gd name="connsiteY6" fmla="*/ 2807919 h 645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3805" h="6456590">
                <a:moveTo>
                  <a:pt x="1645443" y="0"/>
                </a:moveTo>
                <a:lnTo>
                  <a:pt x="2993011" y="2807919"/>
                </a:lnTo>
                <a:lnTo>
                  <a:pt x="2995875" y="2807919"/>
                </a:lnTo>
                <a:lnTo>
                  <a:pt x="4753805" y="6456590"/>
                </a:lnTo>
                <a:lnTo>
                  <a:pt x="1757930" y="6456590"/>
                </a:lnTo>
                <a:lnTo>
                  <a:pt x="0" y="2807919"/>
                </a:lnTo>
                <a:lnTo>
                  <a:pt x="4790" y="2807919"/>
                </a:lnTo>
                <a:close/>
              </a:path>
            </a:pathLst>
          </a:custGeom>
        </p:spPr>
      </p:pic>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前瞻产业研究院</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单击此处编辑文本</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noProof="1">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noProof="1">
                <a:sym typeface="+mn-ea"/>
              </a:rPr>
              <a:t>单击此处编辑文本</a:t>
            </a:r>
            <a:endParaRPr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r>
              <a:rPr lang="zh-CN" altLang="en-US"/>
              <a:t>前瞻产业研究院</a:t>
            </a:r>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r>
              <a:rPr lang="zh-CN" altLang="en-US"/>
              <a:t>前瞻产业研究院</a:t>
            </a: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任意多边形 46"/>
          <p:cNvSpPr/>
          <p:nvPr>
            <p:custDataLst>
              <p:tags r:id="rId2"/>
            </p:custDataLst>
          </p:nvPr>
        </p:nvSpPr>
        <p:spPr>
          <a:xfrm rot="746688">
            <a:off x="11557000" y="5489575"/>
            <a:ext cx="711200" cy="747713"/>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3" name="任意多边形 46"/>
          <p:cNvSpPr/>
          <p:nvPr>
            <p:custDataLst>
              <p:tags r:id="rId3"/>
            </p:custDataLst>
          </p:nvPr>
        </p:nvSpPr>
        <p:spPr>
          <a:xfrm rot="746688">
            <a:off x="-77788" y="722313"/>
            <a:ext cx="711201"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4" name="任意多边形 46"/>
          <p:cNvSpPr/>
          <p:nvPr>
            <p:custDataLst>
              <p:tags r:id="rId4"/>
            </p:custDataLst>
          </p:nvPr>
        </p:nvSpPr>
        <p:spPr>
          <a:xfrm rot="746688">
            <a:off x="-55563" y="68263"/>
            <a:ext cx="712788"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任意多边形 46"/>
          <p:cNvSpPr/>
          <p:nvPr>
            <p:custDataLst>
              <p:tags r:id="rId5"/>
            </p:custDataLst>
          </p:nvPr>
        </p:nvSpPr>
        <p:spPr>
          <a:xfrm rot="746688">
            <a:off x="11552238" y="6053138"/>
            <a:ext cx="711200" cy="747712"/>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日期占位符 1"/>
          <p:cNvSpPr>
            <a:spLocks noGrp="1"/>
          </p:cNvSpPr>
          <p:nvPr>
            <p:ph type="dt" sz="half" idx="10"/>
            <p:custDataLst>
              <p:tags r:id="rId6"/>
            </p:custDataLst>
          </p:nvPr>
        </p:nvSpPr>
        <p:spPr/>
        <p:txBody>
          <a:bodyPr/>
          <a:lstStyle>
            <a:lvl1pPr>
              <a:defRPr/>
            </a:lvl1pPr>
          </a:lstStyle>
          <a:p>
            <a:fld id="{760FBDFE-C587-4B4C-A407-44438C67B59E}" type="datetimeFigureOut">
              <a:rPr lang="zh-CN" altLang="en-US" smtClean="0"/>
            </a:fld>
            <a:endParaRPr lang="zh-CN" altLang="en-US"/>
          </a:p>
        </p:txBody>
      </p:sp>
      <p:sp>
        <p:nvSpPr>
          <p:cNvPr id="7" name="页脚占位符 2"/>
          <p:cNvSpPr>
            <a:spLocks noGrp="1"/>
          </p:cNvSpPr>
          <p:nvPr>
            <p:ph type="ftr" sz="quarter" idx="11"/>
            <p:custDataLst>
              <p:tags r:id="rId7"/>
            </p:custDataLst>
          </p:nvPr>
        </p:nvSpPr>
        <p:spPr/>
        <p:txBody>
          <a:bodyPr/>
          <a:lstStyle>
            <a:lvl1pPr>
              <a:defRPr/>
            </a:lvl1pPr>
          </a:lstStyle>
          <a:p>
            <a:r>
              <a:rPr lang="zh-CN" altLang="en-US"/>
              <a:t>前瞻产业研究院</a:t>
            </a:r>
            <a:endParaRPr lang="zh-CN" altLang="en-US"/>
          </a:p>
        </p:txBody>
      </p:sp>
      <p:sp>
        <p:nvSpPr>
          <p:cNvPr id="8" name="灯片编号占位符 3"/>
          <p:cNvSpPr>
            <a:spLocks noGrp="1"/>
          </p:cNvSpPr>
          <p:nvPr>
            <p:ph type="sldNum" sz="quarter" idx="12"/>
            <p:custDataLst>
              <p:tags r:id="rId8"/>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stStyle>
          <a:p>
            <a:pPr lvl="0"/>
            <a:r>
              <a:rPr lang="zh-CN" altLang="en-US" noProof="1"/>
              <a:t>单击此处</a:t>
            </a:r>
            <a:r>
              <a:rPr lang="zh-CN" altLang="en-US" dirty="0">
                <a:sym typeface="+mn-ea"/>
              </a:rPr>
              <a:t>编辑母版文本样式</a:t>
            </a:r>
            <a:endParaRPr lang="zh-CN" altLang="en-US" dirty="0">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9EFD9D74-47D9-4702-A33C-335B63B48DBF}" type="datetimeFigureOut">
              <a:rPr lang="zh-CN" altLang="en-US" smtClean="0"/>
            </a:fld>
            <a:endParaRPr lang="zh-CN" altLang="en-US" dirty="0"/>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dirty="0"/>
              <a:t>前瞻产业研究院</a:t>
            </a:r>
            <a:endParaRPr lang="zh-CN" altLang="en-US" dirty="0"/>
          </a:p>
        </p:txBody>
      </p:sp>
      <p:sp>
        <p:nvSpPr>
          <p:cNvPr id="7" name="灯片编号占位符 5"/>
          <p:cNvSpPr>
            <a:spLocks noGrp="1"/>
          </p:cNvSpPr>
          <p:nvPr>
            <p:ph type="sldNum" sz="quarter" idx="12"/>
            <p:custDataLst>
              <p:tags r:id="rId7"/>
            </p:custDataLst>
          </p:nvPr>
        </p:nvSpPr>
        <p:spPr/>
        <p:txBody>
          <a:bodyPr/>
          <a:lstStyle>
            <a:lvl1pPr>
              <a:defRPr/>
            </a:lvl1pPr>
          </a:lstStyle>
          <a:p>
            <a:fld id="{FABC47A4-756D-490B-A52F-7D9E2C9FC05F}" type="slidenum">
              <a:rPr lang="zh-CN" altLang="en-US" smtClean="0"/>
            </a:fld>
            <a:endParaRPr lang="zh-CN" alt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前瞻产业研究院</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a:t>
            </a:r>
            <a:r>
              <a:rPr lang="zh-CN" altLang="en-US" dirty="0">
                <a:sym typeface="+mn-ea"/>
              </a:rPr>
              <a:t>编辑母版文本样式</a:t>
            </a:r>
            <a:endParaRPr lang="zh-CN" altLang="en-US" dirty="0">
              <a:sym typeface="+mn-ea"/>
            </a:endParaRPr>
          </a:p>
          <a:p>
            <a:pPr lvl="1"/>
            <a:r>
              <a:rPr lang="zh-CN" altLang="en-US" dirty="0">
                <a:sym typeface="+mn-ea"/>
              </a:rPr>
              <a:t>第二级</a:t>
            </a:r>
            <a:endParaRPr lang="zh-CN" altLang="en-US" dirty="0">
              <a:sym typeface="+mn-ea"/>
            </a:endParaRPr>
          </a:p>
          <a:p>
            <a:pPr lvl="2"/>
            <a:r>
              <a:rPr lang="zh-CN" altLang="en-US" dirty="0">
                <a:sym typeface="+mn-ea"/>
              </a:rPr>
              <a:t>第三级</a:t>
            </a:r>
            <a:endParaRPr lang="zh-CN" altLang="en-US" dirty="0">
              <a:sym typeface="+mn-ea"/>
            </a:endParaRPr>
          </a:p>
          <a:p>
            <a:pPr lvl="3"/>
            <a:r>
              <a:rPr lang="zh-CN" altLang="en-US" dirty="0">
                <a:sym typeface="+mn-ea"/>
              </a:rPr>
              <a:t>第四级</a:t>
            </a:r>
            <a:endParaRPr lang="zh-CN" altLang="en-US" dirty="0">
              <a:sym typeface="+mn-ea"/>
            </a:endParaRPr>
          </a:p>
          <a:p>
            <a:pPr lvl="4"/>
            <a:r>
              <a:rPr lang="zh-CN" altLang="en-US" dirty="0">
                <a:sym typeface="+mn-ea"/>
              </a:rPr>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r>
              <a:rPr lang="zh-CN" altLang="en-US"/>
              <a:t>前瞻产业研究院</a:t>
            </a: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等腰三角形 2"/>
          <p:cNvSpPr/>
          <p:nvPr>
            <p:custDataLst>
              <p:tags r:id="rId2"/>
            </p:custDataLst>
          </p:nvPr>
        </p:nvSpPr>
        <p:spPr>
          <a:xfrm flipH="1">
            <a:off x="11188700" y="4403725"/>
            <a:ext cx="1003300" cy="2460625"/>
          </a:xfrm>
          <a:prstGeom prst="triangl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4" name="任意多边形 45"/>
          <p:cNvSpPr/>
          <p:nvPr>
            <p:custDataLst>
              <p:tags r:id="rId3"/>
            </p:custDataLst>
          </p:nvPr>
        </p:nvSpPr>
        <p:spPr>
          <a:xfrm rot="20853312" flipH="1">
            <a:off x="3738563" y="250825"/>
            <a:ext cx="2959100" cy="3073400"/>
          </a:xfrm>
          <a:custGeom>
            <a:avLst/>
            <a:gdLst>
              <a:gd name="connsiteX0" fmla="*/ 0 w 2958463"/>
              <a:gd name="connsiteY0" fmla="*/ 28269 h 3072739"/>
              <a:gd name="connsiteX1" fmla="*/ 128100 w 2958463"/>
              <a:gd name="connsiteY1" fmla="*/ 0 h 3072739"/>
              <a:gd name="connsiteX2" fmla="*/ 2958463 w 2958463"/>
              <a:gd name="connsiteY2" fmla="*/ 2912645 h 3072739"/>
              <a:gd name="connsiteX3" fmla="*/ 2958463 w 2958463"/>
              <a:gd name="connsiteY3" fmla="*/ 3072739 h 3072739"/>
              <a:gd name="connsiteX4" fmla="*/ 0 w 2958463"/>
              <a:gd name="connsiteY4" fmla="*/ 28269 h 3072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8463" h="3072739">
                <a:moveTo>
                  <a:pt x="0" y="28269"/>
                </a:moveTo>
                <a:lnTo>
                  <a:pt x="128100" y="0"/>
                </a:lnTo>
                <a:lnTo>
                  <a:pt x="2958463" y="2912645"/>
                </a:lnTo>
                <a:lnTo>
                  <a:pt x="2958463" y="3072739"/>
                </a:lnTo>
                <a:lnTo>
                  <a:pt x="0" y="282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任意多边形 12"/>
          <p:cNvSpPr/>
          <p:nvPr>
            <p:custDataLst>
              <p:tags r:id="rId4"/>
            </p:custDataLst>
          </p:nvPr>
        </p:nvSpPr>
        <p:spPr>
          <a:xfrm flipH="1">
            <a:off x="0" y="0"/>
            <a:ext cx="3695700" cy="6858000"/>
          </a:xfrm>
          <a:custGeom>
            <a:avLst/>
            <a:gdLst>
              <a:gd name="connsiteX0" fmla="*/ 0 w 3695696"/>
              <a:gd name="connsiteY0" fmla="*/ 0 h 6858001"/>
              <a:gd name="connsiteX1" fmla="*/ 3695696 w 3695696"/>
              <a:gd name="connsiteY1" fmla="*/ 0 h 6858001"/>
              <a:gd name="connsiteX2" fmla="*/ 3695696 w 3695696"/>
              <a:gd name="connsiteY2" fmla="*/ 6858001 h 6858001"/>
              <a:gd name="connsiteX3" fmla="*/ 3289124 w 3695696"/>
              <a:gd name="connsiteY3" fmla="*/ 6858001 h 6858001"/>
              <a:gd name="connsiteX4" fmla="*/ 0 w 3695696"/>
              <a:gd name="connsiteY4" fmla="*/ 0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5696" h="6858001">
                <a:moveTo>
                  <a:pt x="0" y="0"/>
                </a:moveTo>
                <a:lnTo>
                  <a:pt x="3695696" y="0"/>
                </a:lnTo>
                <a:lnTo>
                  <a:pt x="3695696" y="6858001"/>
                </a:lnTo>
                <a:lnTo>
                  <a:pt x="3289124" y="6858001"/>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等腰三角形 5"/>
          <p:cNvSpPr/>
          <p:nvPr>
            <p:custDataLst>
              <p:tags r:id="rId5"/>
            </p:custDataLst>
          </p:nvPr>
        </p:nvSpPr>
        <p:spPr>
          <a:xfrm rot="10800000" flipH="1">
            <a:off x="0" y="0"/>
            <a:ext cx="1924050" cy="4286250"/>
          </a:xfrm>
          <a:prstGeom prst="triangle">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等腰三角形 6"/>
          <p:cNvSpPr/>
          <p:nvPr>
            <p:custDataLst>
              <p:tags r:id="rId6"/>
            </p:custDataLst>
          </p:nvPr>
        </p:nvSpPr>
        <p:spPr>
          <a:xfrm rot="10800000" flipH="1">
            <a:off x="3628078" y="647700"/>
            <a:ext cx="1503363" cy="12954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等腰三角形 7"/>
          <p:cNvSpPr/>
          <p:nvPr>
            <p:custDataLst>
              <p:tags r:id="rId7"/>
            </p:custDataLst>
          </p:nvPr>
        </p:nvSpPr>
        <p:spPr>
          <a:xfrm rot="10800000" flipH="1">
            <a:off x="3261303" y="0"/>
            <a:ext cx="1503363" cy="12954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9" name="任意多边形 46"/>
          <p:cNvSpPr/>
          <p:nvPr>
            <p:custDataLst>
              <p:tags r:id="rId8"/>
            </p:custDataLst>
          </p:nvPr>
        </p:nvSpPr>
        <p:spPr>
          <a:xfrm rot="20853312" flipH="1">
            <a:off x="4881563" y="92075"/>
            <a:ext cx="1304925" cy="1371600"/>
          </a:xfrm>
          <a:custGeom>
            <a:avLst/>
            <a:gdLst>
              <a:gd name="connsiteX0" fmla="*/ 0 w 1305254"/>
              <a:gd name="connsiteY0" fmla="*/ 28270 h 1371469"/>
              <a:gd name="connsiteX1" fmla="*/ 128101 w 1305254"/>
              <a:gd name="connsiteY1" fmla="*/ 0 h 1371469"/>
              <a:gd name="connsiteX2" fmla="*/ 1305254 w 1305254"/>
              <a:gd name="connsiteY2" fmla="*/ 1211374 h 1371469"/>
              <a:gd name="connsiteX3" fmla="*/ 1305253 w 1305254"/>
              <a:gd name="connsiteY3" fmla="*/ 1371469 h 1371469"/>
              <a:gd name="connsiteX4" fmla="*/ 0 w 1305254"/>
              <a:gd name="connsiteY4" fmla="*/ 28270 h 1371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254" h="1371469">
                <a:moveTo>
                  <a:pt x="0" y="28270"/>
                </a:moveTo>
                <a:lnTo>
                  <a:pt x="128101" y="0"/>
                </a:lnTo>
                <a:lnTo>
                  <a:pt x="1305254" y="1211374"/>
                </a:lnTo>
                <a:lnTo>
                  <a:pt x="1305253" y="1371469"/>
                </a:lnTo>
                <a:lnTo>
                  <a:pt x="0" y="2827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0" name="等腰三角形 24"/>
          <p:cNvSpPr/>
          <p:nvPr>
            <p:custDataLst>
              <p:tags r:id="rId9"/>
            </p:custDataLst>
          </p:nvPr>
        </p:nvSpPr>
        <p:spPr>
          <a:xfrm rot="10800000" flipH="1">
            <a:off x="962025" y="2165350"/>
            <a:ext cx="1695450" cy="1693863"/>
          </a:xfrm>
          <a:custGeom>
            <a:avLst/>
            <a:gdLst>
              <a:gd name="connsiteX0" fmla="*/ 0 w 1695930"/>
              <a:gd name="connsiteY0" fmla="*/ 1462009 h 1462009"/>
              <a:gd name="connsiteX1" fmla="*/ 847965 w 1695930"/>
              <a:gd name="connsiteY1" fmla="*/ 0 h 1462009"/>
              <a:gd name="connsiteX2" fmla="*/ 1695930 w 1695930"/>
              <a:gd name="connsiteY2" fmla="*/ 1462009 h 1462009"/>
              <a:gd name="connsiteX3" fmla="*/ 0 w 1695930"/>
              <a:gd name="connsiteY3" fmla="*/ 1462009 h 1462009"/>
              <a:gd name="connsiteX0-1" fmla="*/ 0 w 1695930"/>
              <a:gd name="connsiteY0-2" fmla="*/ 1694237 h 1694237"/>
              <a:gd name="connsiteX1-3" fmla="*/ 862480 w 1695930"/>
              <a:gd name="connsiteY1-4" fmla="*/ 0 h 1694237"/>
              <a:gd name="connsiteX2-5" fmla="*/ 1695930 w 1695930"/>
              <a:gd name="connsiteY2-6" fmla="*/ 1694237 h 1694237"/>
              <a:gd name="connsiteX3-7" fmla="*/ 0 w 1695930"/>
              <a:gd name="connsiteY3-8" fmla="*/ 1694237 h 1694237"/>
            </a:gdLst>
            <a:ahLst/>
            <a:cxnLst>
              <a:cxn ang="0">
                <a:pos x="connsiteX0-1" y="connsiteY0-2"/>
              </a:cxn>
              <a:cxn ang="0">
                <a:pos x="connsiteX1-3" y="connsiteY1-4"/>
              </a:cxn>
              <a:cxn ang="0">
                <a:pos x="connsiteX2-5" y="connsiteY2-6"/>
              </a:cxn>
              <a:cxn ang="0">
                <a:pos x="connsiteX3-7" y="connsiteY3-8"/>
              </a:cxn>
            </a:cxnLst>
            <a:rect l="l" t="t" r="r" b="b"/>
            <a:pathLst>
              <a:path w="1695930" h="1694237">
                <a:moveTo>
                  <a:pt x="0" y="1694237"/>
                </a:moveTo>
                <a:lnTo>
                  <a:pt x="862480" y="0"/>
                </a:lnTo>
                <a:lnTo>
                  <a:pt x="1695930" y="1694237"/>
                </a:lnTo>
                <a:lnTo>
                  <a:pt x="0" y="16942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2" name="标题 1"/>
          <p:cNvSpPr>
            <a:spLocks noGrp="1"/>
          </p:cNvSpPr>
          <p:nvPr>
            <p:ph type="title" hasCustomPrompt="1"/>
            <p:custDataLst>
              <p:tags r:id="rId10"/>
            </p:custDataLst>
          </p:nvPr>
        </p:nvSpPr>
        <p:spPr>
          <a:xfrm>
            <a:off x="5657520" y="2420938"/>
            <a:ext cx="5616118" cy="2016125"/>
          </a:xfrm>
        </p:spPr>
        <p:txBody>
          <a:bodyPr anchor="ctr">
            <a:normAutofit/>
          </a:bodyPr>
          <a:lstStyle>
            <a:lvl1pPr algn="ctr">
              <a:defRPr sz="8000" spc="600"/>
            </a:lvl1pPr>
          </a:lstStyle>
          <a:p>
            <a:r>
              <a:rPr lang="zh-CN" altLang="en-US" noProof="1"/>
              <a:t>编辑标题</a:t>
            </a:r>
            <a:endParaRPr lang="zh-CN" altLang="en-US" noProof="1"/>
          </a:p>
        </p:txBody>
      </p:sp>
      <p:sp>
        <p:nvSpPr>
          <p:cNvPr id="12" name="日期占位符 2"/>
          <p:cNvSpPr>
            <a:spLocks noGrp="1"/>
          </p:cNvSpPr>
          <p:nvPr>
            <p:ph type="dt" sz="half" idx="10"/>
            <p:custDataLst>
              <p:tags r:id="rId11"/>
            </p:custDataLst>
          </p:nvPr>
        </p:nvSpPr>
        <p:spPr/>
        <p:txBody>
          <a:bodyPr/>
          <a:lstStyle>
            <a:lvl1pPr>
              <a:defRPr/>
            </a:lvl1pPr>
          </a:lstStyle>
          <a:p>
            <a:fld id="{760FBDFE-C587-4B4C-A407-44438C67B59E}" type="datetimeFigureOut">
              <a:rPr lang="zh-CN" altLang="en-US"/>
            </a:fld>
            <a:endParaRPr lang="zh-CN" altLang="en-US"/>
          </a:p>
        </p:txBody>
      </p:sp>
      <p:sp>
        <p:nvSpPr>
          <p:cNvPr id="13" name="页脚占位符 3"/>
          <p:cNvSpPr>
            <a:spLocks noGrp="1"/>
          </p:cNvSpPr>
          <p:nvPr>
            <p:ph type="ftr" sz="quarter" idx="11"/>
            <p:custDataLst>
              <p:tags r:id="rId12"/>
            </p:custDataLst>
          </p:nvPr>
        </p:nvSpPr>
        <p:spPr/>
        <p:txBody>
          <a:bodyPr/>
          <a:lstStyle>
            <a:lvl1pPr>
              <a:defRPr/>
            </a:lvl1pPr>
          </a:lstStyle>
          <a:p>
            <a:endParaRPr lang="zh-CN" altLang="en-US"/>
          </a:p>
        </p:txBody>
      </p:sp>
      <p:sp>
        <p:nvSpPr>
          <p:cNvPr id="14" name="灯片编号占位符 4"/>
          <p:cNvSpPr>
            <a:spLocks noGrp="1"/>
          </p:cNvSpPr>
          <p:nvPr>
            <p:ph type="sldNum" sz="quarter" idx="12"/>
            <p:custDataLst>
              <p:tags r:id="rId13"/>
            </p:custDataLst>
          </p:nvPr>
        </p:nvSpPr>
        <p:spPr/>
        <p:txBody>
          <a:bodyPr/>
          <a:lstStyle>
            <a:lvl1pPr>
              <a:defRPr/>
            </a:lvl1pPr>
          </a:lstStyle>
          <a:p>
            <a:fld id="{26F48EE0-4ABF-491F-B0BA-FE21D3D573F9}" type="slidenum">
              <a:rPr lang="zh-CN" altLang="en-US"/>
            </a:fld>
            <a:endParaRPr lang="zh-CN" altLang="en-US"/>
          </a:p>
        </p:txBody>
      </p:sp>
      <p:pic>
        <p:nvPicPr>
          <p:cNvPr id="16" name="图片 15"/>
          <p:cNvPicPr>
            <a:picLocks noChangeAspect="1"/>
          </p:cNvPicPr>
          <p:nvPr>
            <p:custDataLst>
              <p:tags r:id="rId14"/>
            </p:custDataLst>
          </p:nvPr>
        </p:nvPicPr>
        <p:blipFill>
          <a:blip r:embed="rId15" cstate="email">
            <a:extLst>
              <a:ext uri="{BEBA8EAE-BF5A-486C-A8C5-ECC9F3942E4B}">
                <a14:imgProps xmlns:a14="http://schemas.microsoft.com/office/drawing/2010/main">
                  <a14:imgLayer r:embed="rId16">
                    <a14:imgEffect>
                      <a14:colorTemperature colorTemp="4700"/>
                    </a14:imgEffect>
                  </a14:imgLayer>
                </a14:imgProps>
              </a:ext>
            </a:extLst>
          </a:blip>
          <a:srcRect/>
          <a:stretch>
            <a:fillRect/>
          </a:stretch>
        </p:blipFill>
        <p:spPr>
          <a:xfrm rot="10800000" flipV="1">
            <a:off x="388585" y="409574"/>
            <a:ext cx="4753805" cy="6456590"/>
          </a:xfrm>
          <a:custGeom>
            <a:avLst/>
            <a:gdLst>
              <a:gd name="connsiteX0" fmla="*/ 1645443 w 4753805"/>
              <a:gd name="connsiteY0" fmla="*/ 0 h 6456590"/>
              <a:gd name="connsiteX1" fmla="*/ 2993011 w 4753805"/>
              <a:gd name="connsiteY1" fmla="*/ 2807919 h 6456590"/>
              <a:gd name="connsiteX2" fmla="*/ 2995875 w 4753805"/>
              <a:gd name="connsiteY2" fmla="*/ 2807919 h 6456590"/>
              <a:gd name="connsiteX3" fmla="*/ 4753805 w 4753805"/>
              <a:gd name="connsiteY3" fmla="*/ 6456590 h 6456590"/>
              <a:gd name="connsiteX4" fmla="*/ 1757930 w 4753805"/>
              <a:gd name="connsiteY4" fmla="*/ 6456590 h 6456590"/>
              <a:gd name="connsiteX5" fmla="*/ 0 w 4753805"/>
              <a:gd name="connsiteY5" fmla="*/ 2807919 h 6456590"/>
              <a:gd name="connsiteX6" fmla="*/ 4790 w 4753805"/>
              <a:gd name="connsiteY6" fmla="*/ 2807919 h 645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3805" h="6456590">
                <a:moveTo>
                  <a:pt x="1645443" y="0"/>
                </a:moveTo>
                <a:lnTo>
                  <a:pt x="2993011" y="2807919"/>
                </a:lnTo>
                <a:lnTo>
                  <a:pt x="2995875" y="2807919"/>
                </a:lnTo>
                <a:lnTo>
                  <a:pt x="4753805" y="6456590"/>
                </a:lnTo>
                <a:lnTo>
                  <a:pt x="1757930" y="6456590"/>
                </a:lnTo>
                <a:lnTo>
                  <a:pt x="0" y="2807919"/>
                </a:lnTo>
                <a:lnTo>
                  <a:pt x="4790" y="2807919"/>
                </a:lnTo>
                <a:close/>
              </a:path>
            </a:pathLst>
          </a:custGeom>
        </p:spPr>
      </p:pic>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3"/>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879475" y="6350000"/>
            <a:ext cx="2700338" cy="315913"/>
          </a:xfrm>
          <a:prstGeom prst="rect">
            <a:avLst/>
          </a:prstGeom>
        </p:spPr>
        <p:txBody>
          <a:bodyPr vert="horz" lIns="91440" tIns="45720" rIns="91440" bIns="45720" rtlCol="0" anchor="ctr">
            <a:normAutofit/>
          </a:bodyPr>
          <a:lstStyle>
            <a:lvl1pPr algn="l">
              <a:defRPr sz="1200" noProof="1" smtClean="0">
                <a:solidFill>
                  <a:schemeClr val="tx1">
                    <a:tint val="75000"/>
                  </a:schemeClr>
                </a:solidFill>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388" y="6350000"/>
            <a:ext cx="3959225" cy="315913"/>
          </a:xfrm>
          <a:prstGeom prst="rect">
            <a:avLst/>
          </a:prstGeom>
        </p:spPr>
        <p:txBody>
          <a:bodyPr vert="horz" lIns="91440" tIns="45720" rIns="91440" bIns="45720" rtlCol="0" anchor="ctr">
            <a:normAutofit/>
          </a:bodyPr>
          <a:lstStyle>
            <a:lvl1pPr algn="ctr">
              <a:defRPr sz="1200" noProof="1" dirty="0">
                <a:solidFill>
                  <a:schemeClr val="tx1">
                    <a:tint val="75000"/>
                  </a:schemeClr>
                </a:solidFill>
              </a:defRPr>
            </a:lvl1pPr>
          </a:lstStyle>
          <a:p>
            <a:r>
              <a:rPr lang="zh-CN" altLang="en-US" dirty="0"/>
              <a:t>前瞻产业研究院</a:t>
            </a:r>
            <a:endParaRPr lang="zh-CN" altLang="en-US" dirty="0"/>
          </a:p>
        </p:txBody>
      </p:sp>
      <p:sp>
        <p:nvSpPr>
          <p:cNvPr id="6" name="灯片编号占位符 5"/>
          <p:cNvSpPr>
            <a:spLocks noGrp="1"/>
          </p:cNvSpPr>
          <p:nvPr>
            <p:ph type="sldNum" sz="quarter" idx="4"/>
            <p:custDataLst>
              <p:tags r:id="rId16"/>
            </p:custDataLst>
          </p:nvPr>
        </p:nvSpPr>
        <p:spPr>
          <a:xfrm>
            <a:off x="8610600" y="6350000"/>
            <a:ext cx="2700338" cy="315913"/>
          </a:xfrm>
          <a:prstGeom prst="rect">
            <a:avLst/>
          </a:prstGeom>
        </p:spPr>
        <p:txBody>
          <a:bodyPr vert="horz" lIns="91440" tIns="45720" rIns="91440" bIns="45720" rtlCol="0" anchor="ctr">
            <a:normAutofit/>
          </a:bodyPr>
          <a:lstStyle>
            <a:lvl1pPr algn="r">
              <a:defRPr sz="1200" noProof="1" smtClean="0">
                <a:solidFill>
                  <a:schemeClr val="tx1">
                    <a:tint val="75000"/>
                  </a:schemeClr>
                </a:solidFill>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09.xml"/><Relationship Id="rId7" Type="http://schemas.openxmlformats.org/officeDocument/2006/relationships/slide" Target="slide9.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0.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11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4.xml"/><Relationship Id="rId1"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16.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chart" Target="../charts/char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799" y="1998662"/>
            <a:ext cx="6243723" cy="1198800"/>
          </a:xfrm>
        </p:spPr>
        <p:txBody>
          <a:bodyPr>
            <a:normAutofit/>
            <a:scene3d>
              <a:camera prst="orthographicFront"/>
              <a:lightRig rig="threePt" dir="t"/>
            </a:scene3d>
          </a:bodyPr>
          <a:p>
            <a:r>
              <a:rPr lang="zh-CN" altLang="zh-CN" sz="320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隶书" panose="02010509060101010101" charset="-122"/>
                <a:ea typeface="隶书" panose="02010509060101010101" charset="-122"/>
              </a:rPr>
              <a:t>中国电子商务行业发展现状及趋势分析</a:t>
            </a:r>
            <a:endParaRPr lang="zh-CN" altLang="zh-CN" sz="320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隶书" panose="02010509060101010101" charset="-122"/>
              <a:ea typeface="隶书" panose="02010509060101010101" charset="-122"/>
            </a:endParaRPr>
          </a:p>
        </p:txBody>
      </p:sp>
      <p:sp>
        <p:nvSpPr>
          <p:cNvPr id="3" name="副标题 2"/>
          <p:cNvSpPr>
            <a:spLocks noGrp="1"/>
          </p:cNvSpPr>
          <p:nvPr>
            <p:ph type="subTitle" idx="1"/>
            <p:custDataLst>
              <p:tags r:id="rId2"/>
            </p:custDataLst>
          </p:nvPr>
        </p:nvSpPr>
        <p:spPr/>
        <p:txBody>
          <a:bodyPr/>
          <a:p>
            <a:r>
              <a:rPr lang="zh-CN" altLang="en-US" sz="2000">
                <a:solidFill>
                  <a:schemeClr val="accent2">
                    <a:lumMod val="75000"/>
                  </a:schemeClr>
                </a:solidFill>
                <a:latin typeface="黑体" panose="02010609060101010101" charset="-122"/>
                <a:ea typeface="黑体" panose="02010609060101010101" charset="-122"/>
              </a:rPr>
              <a:t>前瞻产业研究院</a:t>
            </a:r>
            <a:endParaRPr lang="zh-CN" altLang="en-US" sz="2000">
              <a:solidFill>
                <a:schemeClr val="accent2">
                  <a:lumMod val="75000"/>
                </a:schemeClr>
              </a:solidFill>
              <a:latin typeface="黑体" panose="02010609060101010101" charset="-122"/>
              <a:ea typeface="黑体" panose="02010609060101010101" charset="-122"/>
            </a:endParaRPr>
          </a:p>
        </p:txBody>
      </p:sp>
      <p:sp>
        <p:nvSpPr>
          <p:cNvPr id="4" name="页脚占位符 3"/>
          <p:cNvSpPr>
            <a:spLocks noGrp="1"/>
          </p:cNvSpPr>
          <p:nvPr>
            <p:ph type="ftr" sz="quarter" idx="16"/>
          </p:nvPr>
        </p:nvSpPr>
        <p:spPr/>
        <p:txBody>
          <a:bodyPr/>
          <a:p>
            <a:r>
              <a:rPr lang="zh-CN" altLang="en-US" dirty="0"/>
              <a:t>前瞻产业研究院</a:t>
            </a:r>
            <a:endParaRPr lang="zh-CN" altLang="en-US" dirty="0"/>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32" fill="hold" grpId="0" nodeType="click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plus(out)">
                                      <p:cBhvr>
                                        <p:cTn id="7" dur="1000"/>
                                        <p:tgtEl>
                                          <p:spTgt spid="2"/>
                                        </p:tgtEl>
                                      </p:cBhvr>
                                    </p:animEffect>
                                  </p:childTnLst>
                                </p:cTn>
                              </p:par>
                            </p:childTnLst>
                          </p:cTn>
                        </p:par>
                        <p:par>
                          <p:cTn id="8" fill="hold">
                            <p:stCondLst>
                              <p:cond delay="1000"/>
                            </p:stCondLst>
                            <p:childTnLst>
                              <p:par>
                                <p:cTn id="9" presetID="2" presetClass="entr" presetSubtype="12"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zh-CN" altLang="en-US">
                <a:sym typeface="+mn-ea"/>
                <a:hlinkClick r:id="rId1" action="ppaction://hlinksldjump"/>
              </a:rPr>
              <a:t>电子商务概述</a:t>
            </a:r>
            <a:endParaRPr lang="zh-CN" altLang="en-US"/>
          </a:p>
          <a:p>
            <a:r>
              <a:rPr lang="zh-CN" altLang="en-US">
                <a:hlinkClick r:id="rId2" action="ppaction://hlinksldjump"/>
              </a:rPr>
              <a:t>我国电子商务行业发展历程</a:t>
            </a:r>
            <a:endParaRPr lang="zh-CN" altLang="en-US"/>
          </a:p>
          <a:p>
            <a:r>
              <a:rPr lang="zh-CN" altLang="en-US">
                <a:hlinkClick r:id="rId3" action="ppaction://hlinksldjump"/>
              </a:rPr>
              <a:t>2013-2019年中国电子商务交易规模</a:t>
            </a:r>
            <a:endParaRPr lang="zh-CN" altLang="en-US"/>
          </a:p>
          <a:p>
            <a:r>
              <a:rPr lang="zh-CN" altLang="en-US">
                <a:hlinkClick r:id="rId4" action="ppaction://hlinksldjump"/>
              </a:rPr>
              <a:t>我国电商的主要销售地区为东部地区</a:t>
            </a:r>
            <a:endParaRPr lang="zh-CN" altLang="en-US"/>
          </a:p>
          <a:p>
            <a:r>
              <a:rPr lang="zh-CN" altLang="en-US">
                <a:hlinkClick r:id="rId5" action="ppaction://hlinksldjump"/>
              </a:rPr>
              <a:t>我国商品类电商交易占比超7成</a:t>
            </a:r>
            <a:endParaRPr lang="zh-CN" altLang="en-US"/>
          </a:p>
          <a:p>
            <a:r>
              <a:rPr lang="zh-CN" altLang="en-US">
                <a:hlinkClick r:id="rId6" action="ppaction://hlinksldjump"/>
              </a:rPr>
              <a:t>预计2024年我国电商市场规模超55万亿元</a:t>
            </a:r>
            <a:endParaRPr lang="zh-CN" altLang="en-US"/>
          </a:p>
          <a:p>
            <a:r>
              <a:rPr lang="zh-CN" altLang="en-US">
                <a:hlinkClick r:id="rId7" action="ppaction://hlinksldjump"/>
              </a:rPr>
              <a:t>中国电子商务行业市场规模预测</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spTree>
    <p:custDataLst>
      <p:tags r:id="rId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t>电子商务概述</a:t>
            </a:r>
            <a:endParaRPr lang="zh-CN" altLang="en-US"/>
          </a:p>
        </p:txBody>
      </p:sp>
      <p:sp>
        <p:nvSpPr>
          <p:cNvPr id="8" name="内容占位符 7"/>
          <p:cNvSpPr>
            <a:spLocks noGrp="1"/>
          </p:cNvSpPr>
          <p:nvPr>
            <p:ph sz="half" idx="1"/>
          </p:nvPr>
        </p:nvSpPr>
        <p:spPr/>
        <p:txBody>
          <a:bodyPr/>
          <a:p>
            <a:r>
              <a:rPr lang="zh-CN" altLang="en-US"/>
              <a:t>电子商务是指以信息网络技术为手段，以商品交换为中心的商务活动；也可理解为在互联网、企业内部网和增值网上以电子交易方式进行交易活动和相关服务的活动，是传统商业活动各环节的电子化、网络化、信息化；以互联网为媒介的商业行为均属于电子商务的范畴。</a:t>
            </a:r>
            <a:endParaRPr lang="zh-CN" altLang="en-US"/>
          </a:p>
          <a:p>
            <a:r>
              <a:rPr lang="zh-CN" altLang="en-US"/>
              <a:t>近年来，随着我国电子商务行业的蓬勃发展，电子商务交易规模持续扩大，人们的消费方式也发生了一定变化，据商务部统计数据显示，2019年，我国电子商务交易额达34.81万亿元。</a:t>
            </a:r>
            <a:endParaRPr lang="zh-CN" altLang="en-US"/>
          </a:p>
          <a:p>
            <a:r>
              <a:rPr lang="zh-CN" altLang="en-US"/>
              <a:t>下面将带你了解我国电子商务的发展现状及未来发展趋势。</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pic>
        <p:nvPicPr>
          <p:cNvPr id="12" name="内容占位符 11" descr="tupian2"/>
          <p:cNvPicPr/>
          <p:nvPr>
            <p:ph sz="half" idx="2"/>
          </p:nvPr>
        </p:nvPicPr>
        <p:blipFill>
          <a:blip r:embed="rId1"/>
          <a:stretch>
            <a:fillRect/>
          </a:stretch>
        </p:blipFill>
        <p:spPr>
          <a:xfrm>
            <a:off x="7020000" y="2709000"/>
            <a:ext cx="3672000" cy="2340000"/>
          </a:xfrm>
          <a:prstGeom prst="rect">
            <a:avLst/>
          </a:prstGeom>
          <a:ln w="57150">
            <a:solidFill>
              <a:schemeClr val="accent2">
                <a:lumMod val="75000"/>
              </a:schemeClr>
            </a:solidFill>
          </a:ln>
        </p:spPr>
      </p:pic>
    </p:spTree>
    <p:custDataLst>
      <p:tags r:id="rId2"/>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000" fill="hold">
                                          <p:stCondLst>
                                            <p:cond delay="0"/>
                                          </p:stCondLst>
                                        </p:cTn>
                                        <p:tgtEl>
                                          <p:spTgt spid="8">
                                            <p:txEl>
                                              <p:pRg st="0" end="0"/>
                                            </p:txEl>
                                          </p:spTgt>
                                        </p:tgtEl>
                                        <p:attrNameLst>
                                          <p:attrName>style.visibility</p:attrName>
                                        </p:attrNameLst>
                                      </p:cBhvr>
                                      <p:to>
                                        <p:strVal val="visible"/>
                                      </p:to>
                                    </p:set>
                                    <p:animEffect transition="in" filter="checkerboard(down)">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grpId="0" nodeType="clickEffect">
                                  <p:stCondLst>
                                    <p:cond delay="0"/>
                                  </p:stCondLst>
                                  <p:childTnLst>
                                    <p:set>
                                      <p:cBhvr>
                                        <p:cTn id="11" dur="1000" fill="hold">
                                          <p:stCondLst>
                                            <p:cond delay="0"/>
                                          </p:stCondLst>
                                        </p:cTn>
                                        <p:tgtEl>
                                          <p:spTgt spid="8">
                                            <p:txEl>
                                              <p:pRg st="1" end="1"/>
                                            </p:txEl>
                                          </p:spTgt>
                                        </p:tgtEl>
                                        <p:attrNameLst>
                                          <p:attrName>style.visibility</p:attrName>
                                        </p:attrNameLst>
                                      </p:cBhvr>
                                      <p:to>
                                        <p:strVal val="visible"/>
                                      </p:to>
                                    </p:set>
                                    <p:animEffect transition="in" filter="checkerboard(down)">
                                      <p:cBhvr>
                                        <p:cTn id="12" dur="1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000" fill="hold">
                                          <p:stCondLst>
                                            <p:cond delay="0"/>
                                          </p:stCondLst>
                                        </p:cTn>
                                        <p:tgtEl>
                                          <p:spTgt spid="8">
                                            <p:txEl>
                                              <p:pRg st="2" end="2"/>
                                            </p:txEl>
                                          </p:spTgt>
                                        </p:tgtEl>
                                        <p:attrNameLst>
                                          <p:attrName>style.visibility</p:attrName>
                                        </p:attrNameLst>
                                      </p:cBhvr>
                                      <p:to>
                                        <p:strVal val="visible"/>
                                      </p:to>
                                    </p:set>
                                    <p:animEffect transition="in" filter="checkerboard(down)">
                                      <p:cBhvr>
                                        <p:cTn id="17" dur="1000"/>
                                        <p:tgtEl>
                                          <p:spTgt spid="8">
                                            <p:txEl>
                                              <p:pRg st="2" end="2"/>
                                            </p:txEl>
                                          </p:spTgt>
                                        </p:tgtEl>
                                      </p:cBhvr>
                                    </p:animEffect>
                                  </p:childTnLst>
                                </p:cTn>
                              </p:par>
                            </p:childTnLst>
                          </p:cTn>
                        </p:par>
                        <p:par>
                          <p:cTn id="18" fill="hold">
                            <p:stCondLst>
                              <p:cond delay="1000"/>
                            </p:stCondLst>
                            <p:childTnLst>
                              <p:par>
                                <p:cTn id="19" presetID="8" presetClass="emph" presetSubtype="0" fill="hold" nodeType="afterEffect">
                                  <p:stCondLst>
                                    <p:cond delay="1000"/>
                                  </p:stCondLst>
                                  <p:childTnLst>
                                    <p:animRot by="-10800000">
                                      <p:cBhvr>
                                        <p:cTn id="20" dur="2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8"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t>我国电子商务行业发展历程</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graphicFrame>
        <p:nvGraphicFramePr>
          <p:cNvPr id="8" name="图示 7"/>
          <p:cNvGraphicFramePr/>
          <p:nvPr/>
        </p:nvGraphicFramePr>
        <p:xfrm>
          <a:off x="2032635" y="719455"/>
          <a:ext cx="8128000" cy="54184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文本框 9"/>
          <p:cNvSpPr txBox="1"/>
          <p:nvPr/>
        </p:nvSpPr>
        <p:spPr>
          <a:xfrm>
            <a:off x="2439035" y="2805430"/>
            <a:ext cx="1831340" cy="368300"/>
          </a:xfrm>
          <a:prstGeom prst="rect">
            <a:avLst/>
          </a:prstGeom>
          <a:noFill/>
        </p:spPr>
        <p:txBody>
          <a:bodyPr wrap="square" rtlCol="0">
            <a:spAutoFit/>
          </a:bodyPr>
          <a:p>
            <a:r>
              <a:rPr lang="zh-CN" altLang="en-US"/>
              <a:t>2003-2008</a:t>
            </a:r>
            <a:endParaRPr lang="zh-CN" altLang="en-US"/>
          </a:p>
        </p:txBody>
      </p:sp>
      <p:sp>
        <p:nvSpPr>
          <p:cNvPr id="11" name="文本框 10"/>
          <p:cNvSpPr txBox="1"/>
          <p:nvPr/>
        </p:nvSpPr>
        <p:spPr>
          <a:xfrm>
            <a:off x="5006340" y="2057400"/>
            <a:ext cx="1831340" cy="368300"/>
          </a:xfrm>
          <a:prstGeom prst="rect">
            <a:avLst/>
          </a:prstGeom>
          <a:noFill/>
        </p:spPr>
        <p:txBody>
          <a:bodyPr wrap="square" rtlCol="0">
            <a:spAutoFit/>
          </a:bodyPr>
          <a:p>
            <a:r>
              <a:rPr lang="zh-CN" altLang="en-US"/>
              <a:t>2008-2015</a:t>
            </a:r>
            <a:endParaRPr lang="zh-CN" altLang="en-US"/>
          </a:p>
        </p:txBody>
      </p:sp>
      <p:sp>
        <p:nvSpPr>
          <p:cNvPr id="12" name="文本框 11"/>
          <p:cNvSpPr txBox="1"/>
          <p:nvPr/>
        </p:nvSpPr>
        <p:spPr>
          <a:xfrm>
            <a:off x="7790815" y="1461770"/>
            <a:ext cx="1831340" cy="368300"/>
          </a:xfrm>
          <a:prstGeom prst="rect">
            <a:avLst/>
          </a:prstGeom>
          <a:noFill/>
        </p:spPr>
        <p:txBody>
          <a:bodyPr wrap="square" rtlCol="0">
            <a:spAutoFit/>
          </a:bodyPr>
          <a:p>
            <a:r>
              <a:rPr lang="zh-CN" altLang="en-US"/>
              <a:t>2015至今</a:t>
            </a:r>
            <a:endParaRPr lang="zh-CN" altLang="en-US"/>
          </a:p>
        </p:txBody>
      </p:sp>
    </p:spTree>
    <p:custDataLst>
      <p:tags r:id="rId6"/>
    </p:custData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t>2013-2019年中国电子商务交易规模</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graphicFrame>
        <p:nvGraphicFramePr>
          <p:cNvPr id="2" name="表格 1"/>
          <p:cNvGraphicFramePr/>
          <p:nvPr>
            <p:custDataLst>
              <p:tags r:id="rId2"/>
            </p:custDataLst>
          </p:nvPr>
        </p:nvGraphicFramePr>
        <p:xfrm>
          <a:off x="433070" y="1306195"/>
          <a:ext cx="5110480" cy="4104640"/>
        </p:xfrm>
        <a:graphic>
          <a:graphicData uri="http://schemas.openxmlformats.org/drawingml/2006/table">
            <a:tbl>
              <a:tblPr firstRow="1" bandRow="1">
                <a:tableStyleId>{35758FB7-9AC5-4552-8A53-C91805E547FA}</a:tableStyleId>
              </a:tblPr>
              <a:tblGrid>
                <a:gridCol w="1435100"/>
                <a:gridCol w="2117725"/>
                <a:gridCol w="1557655"/>
              </a:tblGrid>
              <a:tr h="513080">
                <a:tc>
                  <a:txBody>
                    <a:bodyPr/>
                    <a:p>
                      <a:pPr indent="0" algn="ctr">
                        <a:buNone/>
                      </a:pPr>
                      <a:r>
                        <a:rPr lang="en-US" sz="1000"/>
                        <a:t>年份</a:t>
                      </a:r>
                      <a:endParaRPr lang="en-US" altLang="en-US" sz="1000"/>
                    </a:p>
                  </a:txBody>
                  <a:tcPr marL="9525" marR="9525" marT="9525" marB="0" vert="horz" anchor="ctr"/>
                </a:tc>
                <a:tc>
                  <a:txBody>
                    <a:bodyPr/>
                    <a:p>
                      <a:pPr indent="0" algn="ctr">
                        <a:buNone/>
                      </a:pPr>
                      <a:r>
                        <a:rPr lang="en-US" sz="1000"/>
                        <a:t>交易规模（万亿元）</a:t>
                      </a:r>
                      <a:endParaRPr lang="en-US" altLang="en-US" sz="1000"/>
                    </a:p>
                  </a:txBody>
                  <a:tcPr marL="9525" marR="9525" marT="9525" marB="0" vert="horz" anchor="ctr"/>
                </a:tc>
                <a:tc>
                  <a:txBody>
                    <a:bodyPr/>
                    <a:p>
                      <a:pPr indent="0" algn="ctr">
                        <a:buNone/>
                      </a:pPr>
                      <a:r>
                        <a:rPr lang="en-US" sz="1000"/>
                        <a:t>增长率（%）</a:t>
                      </a:r>
                      <a:endParaRPr lang="en-US" altLang="en-US" sz="1000"/>
                    </a:p>
                  </a:txBody>
                  <a:tcPr marL="9525" marR="9525" marT="9525" marB="0" vert="horz" anchor="ctr"/>
                </a:tc>
              </a:tr>
              <a:tr h="513080">
                <a:tc>
                  <a:txBody>
                    <a:bodyPr/>
                    <a:p>
                      <a:pPr indent="0" algn="ctr">
                        <a:buNone/>
                      </a:pPr>
                      <a:r>
                        <a:rPr lang="en-US" sz="1000"/>
                        <a:t>2013年</a:t>
                      </a:r>
                      <a:endParaRPr lang="en-US" altLang="en-US" sz="1000"/>
                    </a:p>
                  </a:txBody>
                  <a:tcPr marL="9525" marR="9525" marT="9525" marB="0" vert="horz" anchor="ctr"/>
                </a:tc>
                <a:tc>
                  <a:txBody>
                    <a:bodyPr/>
                    <a:p>
                      <a:pPr indent="0" algn="ctr">
                        <a:buNone/>
                      </a:pPr>
                      <a:r>
                        <a:rPr lang="en-US" sz="1000"/>
                        <a:t>10.2</a:t>
                      </a:r>
                      <a:endParaRPr lang="en-US" altLang="en-US" sz="1000"/>
                    </a:p>
                  </a:txBody>
                  <a:tcPr marL="9525" marR="9525" marT="9525" marB="0" vert="horz" anchor="ctr"/>
                </a:tc>
                <a:tc>
                  <a:txBody>
                    <a:bodyPr/>
                    <a:p>
                      <a:pPr indent="0" algn="ctr">
                        <a:buNone/>
                      </a:pPr>
                      <a:r>
                        <a:rPr lang="en-US" sz="1000"/>
                        <a:t> </a:t>
                      </a:r>
                      <a:endParaRPr lang="en-US" altLang="en-US" sz="1000"/>
                    </a:p>
                  </a:txBody>
                  <a:tcPr marL="9525" marR="9525" marT="9525" marB="0" vert="horz" anchor="ctr"/>
                </a:tc>
              </a:tr>
              <a:tr h="513080">
                <a:tc>
                  <a:txBody>
                    <a:bodyPr/>
                    <a:p>
                      <a:pPr indent="0" algn="ctr">
                        <a:buNone/>
                      </a:pPr>
                      <a:r>
                        <a:rPr lang="en-US" sz="1000"/>
                        <a:t>2014年</a:t>
                      </a:r>
                      <a:endParaRPr lang="en-US" altLang="en-US" sz="1000"/>
                    </a:p>
                  </a:txBody>
                  <a:tcPr marL="9525" marR="9525" marT="9525" marB="0" vert="horz" anchor="ctr"/>
                </a:tc>
                <a:tc>
                  <a:txBody>
                    <a:bodyPr/>
                    <a:p>
                      <a:pPr indent="0" algn="ctr">
                        <a:buNone/>
                      </a:pPr>
                      <a:r>
                        <a:rPr lang="en-US" sz="1000"/>
                        <a:t>13.4</a:t>
                      </a:r>
                      <a:endParaRPr lang="en-US" altLang="en-US" sz="1000"/>
                    </a:p>
                  </a:txBody>
                  <a:tcPr marL="9525" marR="9525" marT="9525" marB="0" vert="horz" anchor="ctr"/>
                </a:tc>
                <a:tc>
                  <a:txBody>
                    <a:bodyPr/>
                    <a:p>
                      <a:pPr indent="0" algn="ctr">
                        <a:buNone/>
                      </a:pPr>
                      <a:r>
                        <a:rPr lang="en-US" sz="1000"/>
                        <a:t>31.4%</a:t>
                      </a:r>
                      <a:endParaRPr lang="en-US" altLang="en-US" sz="1000"/>
                    </a:p>
                  </a:txBody>
                  <a:tcPr marL="9525" marR="9525" marT="9525" marB="0" vert="horz" anchor="ctr"/>
                </a:tc>
              </a:tr>
              <a:tr h="513080">
                <a:tc>
                  <a:txBody>
                    <a:bodyPr/>
                    <a:p>
                      <a:pPr indent="0" algn="ctr">
                        <a:buNone/>
                      </a:pPr>
                      <a:r>
                        <a:rPr lang="en-US" sz="1000"/>
                        <a:t>2015年</a:t>
                      </a:r>
                      <a:endParaRPr lang="en-US" altLang="en-US" sz="1000"/>
                    </a:p>
                  </a:txBody>
                  <a:tcPr marL="9525" marR="9525" marT="9525" marB="0" vert="horz" anchor="ctr"/>
                </a:tc>
                <a:tc>
                  <a:txBody>
                    <a:bodyPr/>
                    <a:p>
                      <a:pPr indent="0" algn="ctr">
                        <a:buNone/>
                      </a:pPr>
                      <a:r>
                        <a:rPr lang="en-US" sz="1000"/>
                        <a:t>18.3</a:t>
                      </a:r>
                      <a:endParaRPr lang="en-US" altLang="en-US" sz="1000"/>
                    </a:p>
                  </a:txBody>
                  <a:tcPr marL="9525" marR="9525" marT="9525" marB="0" vert="horz" anchor="ctr"/>
                </a:tc>
                <a:tc>
                  <a:txBody>
                    <a:bodyPr/>
                    <a:p>
                      <a:pPr indent="0" algn="ctr">
                        <a:buNone/>
                      </a:pPr>
                      <a:r>
                        <a:rPr lang="en-US" sz="1000"/>
                        <a:t>36.6%</a:t>
                      </a:r>
                      <a:endParaRPr lang="en-US" altLang="en-US" sz="1000"/>
                    </a:p>
                  </a:txBody>
                  <a:tcPr marL="9525" marR="9525" marT="9525" marB="0" vert="horz" anchor="ctr"/>
                </a:tc>
              </a:tr>
              <a:tr h="513080">
                <a:tc>
                  <a:txBody>
                    <a:bodyPr/>
                    <a:p>
                      <a:pPr indent="0" algn="ctr">
                        <a:buNone/>
                      </a:pPr>
                      <a:r>
                        <a:rPr lang="en-US" sz="1000"/>
                        <a:t>2016年</a:t>
                      </a:r>
                      <a:endParaRPr lang="en-US" altLang="en-US" sz="1000"/>
                    </a:p>
                  </a:txBody>
                  <a:tcPr marL="9525" marR="9525" marT="9525" marB="0" vert="horz" anchor="ctr"/>
                </a:tc>
                <a:tc>
                  <a:txBody>
                    <a:bodyPr/>
                    <a:p>
                      <a:pPr indent="0" algn="ctr">
                        <a:buNone/>
                      </a:pPr>
                      <a:r>
                        <a:rPr lang="en-US" sz="1000"/>
                        <a:t>22.97</a:t>
                      </a:r>
                      <a:endParaRPr lang="en-US" altLang="en-US" sz="1000"/>
                    </a:p>
                  </a:txBody>
                  <a:tcPr marL="9525" marR="9525" marT="9525" marB="0" vert="horz" anchor="ctr"/>
                </a:tc>
                <a:tc>
                  <a:txBody>
                    <a:bodyPr/>
                    <a:p>
                      <a:pPr indent="0" algn="ctr">
                        <a:buNone/>
                      </a:pPr>
                      <a:r>
                        <a:rPr lang="en-US" sz="1000"/>
                        <a:t>25.5%</a:t>
                      </a:r>
                      <a:endParaRPr lang="en-US" altLang="en-US" sz="1000"/>
                    </a:p>
                  </a:txBody>
                  <a:tcPr marL="9525" marR="9525" marT="9525" marB="0" vert="horz" anchor="ctr"/>
                </a:tc>
              </a:tr>
              <a:tr h="513080">
                <a:tc>
                  <a:txBody>
                    <a:bodyPr/>
                    <a:p>
                      <a:pPr indent="0" algn="ctr">
                        <a:buNone/>
                      </a:pPr>
                      <a:r>
                        <a:rPr lang="en-US" sz="1000"/>
                        <a:t>2017年</a:t>
                      </a:r>
                      <a:endParaRPr lang="en-US" altLang="en-US" sz="1000"/>
                    </a:p>
                  </a:txBody>
                  <a:tcPr marL="9525" marR="9525" marT="9525" marB="0" vert="horz" anchor="ctr"/>
                </a:tc>
                <a:tc>
                  <a:txBody>
                    <a:bodyPr/>
                    <a:p>
                      <a:pPr indent="0" algn="ctr">
                        <a:buNone/>
                      </a:pPr>
                      <a:r>
                        <a:rPr lang="en-US" sz="1000"/>
                        <a:t>29.16</a:t>
                      </a:r>
                      <a:endParaRPr lang="en-US" altLang="en-US" sz="1000"/>
                    </a:p>
                  </a:txBody>
                  <a:tcPr marL="9525" marR="9525" marT="9525" marB="0" vert="horz" anchor="ctr"/>
                </a:tc>
                <a:tc>
                  <a:txBody>
                    <a:bodyPr/>
                    <a:p>
                      <a:pPr indent="0" algn="ctr">
                        <a:buNone/>
                      </a:pPr>
                      <a:r>
                        <a:rPr lang="en-US" sz="1000"/>
                        <a:t>26.9%</a:t>
                      </a:r>
                      <a:endParaRPr lang="en-US" altLang="en-US" sz="1000"/>
                    </a:p>
                  </a:txBody>
                  <a:tcPr marL="9525" marR="9525" marT="9525" marB="0" vert="horz" anchor="ctr"/>
                </a:tc>
              </a:tr>
              <a:tr h="513080">
                <a:tc>
                  <a:txBody>
                    <a:bodyPr/>
                    <a:p>
                      <a:pPr indent="0" algn="ctr">
                        <a:buNone/>
                      </a:pPr>
                      <a:r>
                        <a:rPr lang="en-US" sz="1000"/>
                        <a:t>2018年</a:t>
                      </a:r>
                      <a:endParaRPr lang="en-US" altLang="en-US" sz="1000"/>
                    </a:p>
                  </a:txBody>
                  <a:tcPr marL="9525" marR="9525" marT="9525" marB="0" vert="horz" anchor="ctr"/>
                </a:tc>
                <a:tc>
                  <a:txBody>
                    <a:bodyPr/>
                    <a:p>
                      <a:pPr indent="0" algn="ctr">
                        <a:buNone/>
                      </a:pPr>
                      <a:r>
                        <a:rPr lang="en-US" sz="1000"/>
                        <a:t>31.63</a:t>
                      </a:r>
                      <a:endParaRPr lang="en-US" altLang="en-US" sz="1000"/>
                    </a:p>
                  </a:txBody>
                  <a:tcPr marL="9525" marR="9525" marT="9525" marB="0" vert="horz" anchor="ctr"/>
                </a:tc>
                <a:tc>
                  <a:txBody>
                    <a:bodyPr/>
                    <a:p>
                      <a:pPr indent="0" algn="ctr">
                        <a:buNone/>
                      </a:pPr>
                      <a:r>
                        <a:rPr lang="en-US" sz="1000"/>
                        <a:t>8.5%</a:t>
                      </a:r>
                      <a:endParaRPr lang="en-US" altLang="en-US" sz="1000"/>
                    </a:p>
                  </a:txBody>
                  <a:tcPr marL="9525" marR="9525" marT="9525" marB="0" vert="horz" anchor="ctr"/>
                </a:tc>
              </a:tr>
              <a:tr h="513080">
                <a:tc>
                  <a:txBody>
                    <a:bodyPr/>
                    <a:p>
                      <a:pPr indent="0" algn="ctr">
                        <a:buNone/>
                      </a:pPr>
                      <a:r>
                        <a:rPr lang="en-US" sz="1000"/>
                        <a:t>2019年</a:t>
                      </a:r>
                      <a:endParaRPr lang="en-US" altLang="en-US" sz="1000"/>
                    </a:p>
                  </a:txBody>
                  <a:tcPr marL="9525" marR="9525" marT="9525" marB="0" vert="horz" anchor="ctr"/>
                </a:tc>
                <a:tc>
                  <a:txBody>
                    <a:bodyPr/>
                    <a:p>
                      <a:pPr indent="0" algn="ctr">
                        <a:buNone/>
                      </a:pPr>
                      <a:r>
                        <a:rPr lang="en-US" sz="1000"/>
                        <a:t>34.81</a:t>
                      </a:r>
                      <a:endParaRPr lang="en-US" altLang="en-US" sz="1000"/>
                    </a:p>
                  </a:txBody>
                  <a:tcPr marL="9525" marR="9525" marT="9525" marB="0" vert="horz" anchor="ctr"/>
                </a:tc>
                <a:tc>
                  <a:txBody>
                    <a:bodyPr/>
                    <a:p>
                      <a:pPr indent="0" algn="ctr">
                        <a:buNone/>
                      </a:pPr>
                      <a:r>
                        <a:rPr lang="en-US" sz="1000"/>
                        <a:t>10.1%</a:t>
                      </a:r>
                      <a:endParaRPr lang="en-US" altLang="en-US" sz="1000"/>
                    </a:p>
                  </a:txBody>
                  <a:tcPr marL="9525" marR="9525" marT="9525" marB="0" vert="horz" anchor="ctr"/>
                </a:tc>
              </a:tr>
            </a:tbl>
          </a:graphicData>
        </a:graphic>
      </p:graphicFrame>
      <p:graphicFrame>
        <p:nvGraphicFramePr>
          <p:cNvPr id="6" name="内容占位符 5"/>
          <p:cNvGraphicFramePr/>
          <p:nvPr>
            <p:ph sz="half" idx="2"/>
          </p:nvPr>
        </p:nvGraphicFramePr>
        <p:xfrm>
          <a:off x="6238877" y="961398"/>
          <a:ext cx="5283242" cy="5388907"/>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3"/>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2000"/>
                                  </p:stCondLst>
                                  <p:childTnLst>
                                    <p:set>
                                      <p:cBhvr>
                                        <p:cTn id="6" dur="3000" fill="hold">
                                          <p:stCondLst>
                                            <p:cond delay="0"/>
                                          </p:stCondLst>
                                        </p:cTn>
                                        <p:tgtEl>
                                          <p:spTgt spid="6"/>
                                        </p:tgtEl>
                                        <p:attrNameLst>
                                          <p:attrName>style.visibility</p:attrName>
                                        </p:attrNameLst>
                                      </p:cBhvr>
                                      <p:to>
                                        <p:strVal val="visible"/>
                                      </p:to>
                                    </p:set>
                                    <p:animEffect transition="in" filter="box(out)">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我国电商的主要销售地区为东部地区</a:t>
            </a:r>
            <a:endParaRPr lang="zh-CN" altLang="en-US"/>
          </a:p>
        </p:txBody>
      </p:sp>
      <p:sp>
        <p:nvSpPr>
          <p:cNvPr id="6" name="内容占位符 5"/>
          <p:cNvSpPr>
            <a:spLocks noGrp="1"/>
          </p:cNvSpPr>
          <p:nvPr>
            <p:ph idx="1"/>
          </p:nvPr>
        </p:nvSpPr>
        <p:spPr/>
        <p:txBody>
          <a:bodyPr/>
          <a:p>
            <a:r>
              <a:rPr lang="zh-CN" altLang="en-US"/>
              <a:t>2019年全国电子商务交易额为34.81万亿元，比上年增长6.7%。从交易额看，东部地区交易额22.44万亿元，占66.4%，比上年增长8.4%；中部地区5.25万亿元，占15.6%，下降4.8%；西部地区4.93万亿元，占14.6%，增长13.6%；东北地区1.14万亿元，占3.4%，增长2.9%。</a:t>
            </a:r>
            <a:endParaRPr lang="zh-CN" altLang="en-US"/>
          </a:p>
          <a:p>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graphicFrame>
        <p:nvGraphicFramePr>
          <p:cNvPr id="3" name="图表 3"/>
          <p:cNvGraphicFramePr/>
          <p:nvPr/>
        </p:nvGraphicFramePr>
        <p:xfrm>
          <a:off x="3956685" y="2640330"/>
          <a:ext cx="5080000" cy="3810000"/>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2"/>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autoRev="1" fill="hold" grpId="0" nodeType="afterEffect">
                                  <p:stCondLst>
                                    <p:cond delay="0"/>
                                  </p:stCondLst>
                                  <p:childTnLst>
                                    <p:animClr clrSpc="rgb" dir="cw">
                                      <p:cBhvr override="childStyle">
                                        <p:cTn id="6" dur="1000" fill="hold"/>
                                        <p:tgtEl>
                                          <p:spTgt spid="5"/>
                                        </p:tgtEl>
                                        <p:attrNameLst>
                                          <p:attrName>style.color</p:attrName>
                                        </p:attrNameLst>
                                      </p:cBhvr>
                                      <p:to>
                                        <a:schemeClr val="accent2"/>
                                      </p:to>
                                    </p:animClr>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wipe(up)">
                                      <p:cBhvr>
                                        <p:cTn id="11" dur="500"/>
                                        <p:tgtEl>
                                          <p:spTgt spid="6">
                                            <p:txEl>
                                              <p:pRg st="0" end="0"/>
                                            </p:txEl>
                                          </p:spTgt>
                                        </p:tgtEl>
                                      </p:cBhvr>
                                    </p:animEffect>
                                  </p:childTnLst>
                                </p:cTn>
                              </p:par>
                            </p:childTnLst>
                          </p:cTn>
                        </p:par>
                        <p:par>
                          <p:cTn id="12" fill="hold">
                            <p:stCondLst>
                              <p:cond delay="500"/>
                            </p:stCondLst>
                            <p:childTnLst>
                              <p:par>
                                <p:cTn id="13" presetID="16" presetClass="entr" presetSubtype="37" fill="hold" nodeType="afterEffect">
                                  <p:stCondLst>
                                    <p:cond delay="500"/>
                                  </p:stCondLst>
                                  <p:childTnLst>
                                    <p:set>
                                      <p:cBhvr>
                                        <p:cTn id="14" dur="2000" fill="hold">
                                          <p:stCondLst>
                                            <p:cond delay="0"/>
                                          </p:stCondLst>
                                        </p:cTn>
                                        <p:tgtEl>
                                          <p:spTgt spid="3"/>
                                        </p:tgtEl>
                                        <p:attrNameLst>
                                          <p:attrName>style.visibility</p:attrName>
                                        </p:attrNameLst>
                                      </p:cBhvr>
                                      <p:to>
                                        <p:strVal val="visible"/>
                                      </p:to>
                                    </p:set>
                                    <p:animEffect transition="in" filter="barn(outVertical)">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uild="p"/>
      <p:bldP spid="6"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我国商品类电商交易占比超7成</a:t>
            </a:r>
            <a:endParaRPr lang="zh-CN" altLang="en-US"/>
          </a:p>
        </p:txBody>
      </p:sp>
      <p:sp>
        <p:nvSpPr>
          <p:cNvPr id="6" name="内容占位符 5"/>
          <p:cNvSpPr>
            <a:spLocks noGrp="1"/>
          </p:cNvSpPr>
          <p:nvPr>
            <p:ph idx="1"/>
          </p:nvPr>
        </p:nvSpPr>
        <p:spPr/>
        <p:txBody>
          <a:bodyPr/>
          <a:p>
            <a:r>
              <a:rPr lang="zh-CN" altLang="en-US"/>
              <a:t>据商务部统计数据显示，2019年电子商务市场细分行业结构中，商品类电商交易额25.5万亿元，占比73%;服务类电商交易额8.28万亿元，占比24%，合约类电商交易额1.03万亿元，占比3%。</a:t>
            </a:r>
            <a:endParaRPr lang="zh-CN" altLang="en-US"/>
          </a:p>
          <a:p>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graphicFrame>
        <p:nvGraphicFramePr>
          <p:cNvPr id="2" name="图表 4"/>
          <p:cNvGraphicFramePr/>
          <p:nvPr/>
        </p:nvGraphicFramePr>
        <p:xfrm>
          <a:off x="3869690" y="2163445"/>
          <a:ext cx="5080000" cy="3810000"/>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2"/>
    </p:custData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autoRev="1" fill="hold" grpId="0" nodeType="clickEffect">
                                  <p:stCondLst>
                                    <p:cond delay="0"/>
                                  </p:stCondLst>
                                  <p:childTnLst>
                                    <p:animClr clrSpc="rgb" dir="cw">
                                      <p:cBhvr override="childStyle">
                                        <p:cTn id="6" dur="1000" fill="hold"/>
                                        <p:tgtEl>
                                          <p:spTgt spid="5"/>
                                        </p:tgtEl>
                                        <p:attrNameLst>
                                          <p:attrName>style.color</p:attrName>
                                        </p:attrNameLst>
                                      </p:cBhvr>
                                      <p:to>
                                        <a:schemeClr val="accent2"/>
                                      </p:to>
                                    </p:animClr>
                                  </p:childTnLst>
                                </p:cTn>
                              </p:par>
                            </p:childTnLst>
                          </p:cTn>
                        </p:par>
                        <p:par>
                          <p:cTn id="7" fill="hold">
                            <p:stCondLst>
                              <p:cond delay="1000"/>
                            </p:stCondLst>
                            <p:childTnLst>
                              <p:par>
                                <p:cTn id="8" presetID="18" presetClass="entr" presetSubtype="3" fill="hold" grpId="0" nodeType="afterEffect">
                                  <p:stCondLst>
                                    <p:cond delay="500"/>
                                  </p:stCondLst>
                                  <p:childTnLst>
                                    <p:set>
                                      <p:cBhvr>
                                        <p:cTn id="9" dur="2000" fill="hold">
                                          <p:stCondLst>
                                            <p:cond delay="0"/>
                                          </p:stCondLst>
                                        </p:cTn>
                                        <p:tgtEl>
                                          <p:spTgt spid="6">
                                            <p:txEl>
                                              <p:pRg st="0" end="0"/>
                                            </p:txEl>
                                          </p:spTgt>
                                        </p:tgtEl>
                                        <p:attrNameLst>
                                          <p:attrName>style.visibility</p:attrName>
                                        </p:attrNameLst>
                                      </p:cBhvr>
                                      <p:to>
                                        <p:strVal val="visible"/>
                                      </p:to>
                                    </p:set>
                                    <p:animEffect transition="in" filter="strips(upRight)">
                                      <p:cBhvr>
                                        <p:cTn id="10" dur="20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build="p"/>
      <p:bldP spid="6" grpI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预计2024年我国电商市场规模超55万亿元</a:t>
            </a:r>
            <a:endParaRPr lang="zh-CN" altLang="en-US"/>
          </a:p>
        </p:txBody>
      </p:sp>
      <p:pic>
        <p:nvPicPr>
          <p:cNvPr id="8" name="图片占位符 7" descr="tupian1"/>
          <p:cNvPicPr>
            <a:picLocks noChangeAspect="1"/>
          </p:cNvPicPr>
          <p:nvPr>
            <p:ph type="pic" idx="1"/>
          </p:nvPr>
        </p:nvPicPr>
        <p:blipFill>
          <a:blip r:embed="rId1"/>
          <a:stretch>
            <a:fillRect/>
          </a:stretch>
        </p:blipFill>
        <p:spPr>
          <a:xfrm>
            <a:off x="720000" y="2160000"/>
            <a:ext cx="4860000" cy="3645154"/>
          </a:xfrm>
          <a:prstGeom prst="rect">
            <a:avLst/>
          </a:prstGeom>
          <a:effectLst>
            <a:glow rad="101600">
              <a:schemeClr val="accent4">
                <a:satMod val="175000"/>
                <a:alpha val="40000"/>
              </a:schemeClr>
            </a:glow>
          </a:effectLst>
        </p:spPr>
      </p:pic>
      <p:sp>
        <p:nvSpPr>
          <p:cNvPr id="7" name="文本占位符 6"/>
          <p:cNvSpPr>
            <a:spLocks noGrp="1"/>
          </p:cNvSpPr>
          <p:nvPr>
            <p:ph type="body" sz="half" idx="2"/>
          </p:nvPr>
        </p:nvSpPr>
        <p:spPr/>
        <p:txBody>
          <a:bodyPr/>
          <a:p>
            <a:r>
              <a:rPr lang="zh-CN" altLang="en-US"/>
              <a:t>近年来，我国出台多部政策鼓励电子商务的发展，《电子商务“十三五”发展规划》中提出，到2020年，中国电子商务交易额超过40万亿元、网络零售总额达到10万亿元左右、相关从业者超过5000万人。</a:t>
            </a:r>
            <a:endParaRPr lang="zh-CN" altLang="en-US"/>
          </a:p>
          <a:p>
            <a:r>
              <a:rPr lang="zh-CN" altLang="en-US"/>
              <a:t>前瞻预计，2019年我国电子商务的交易规模超35万亿元;未来电子商务行业成交规模的增速将有所放缓，到2024年，我国电子商务的成交规模将超过55万亿元。</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spTree>
    <p:custDataLst>
      <p:tags r:id="rId2"/>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p:tgtEl>
                                          <p:spTgt spid="7">
                                            <p:txEl>
                                              <p:pRg st="0" end="0"/>
                                            </p:txEl>
                                          </p:spTgt>
                                        </p:tgtEl>
                                        <p:attrNameLst>
                                          <p:attrName>ppt_x</p:attrName>
                                        </p:attrNameLst>
                                      </p:cBhvr>
                                      <p:tavLst>
                                        <p:tav tm="0">
                                          <p:val>
                                            <p:strVal val="#ppt_x+#ppt_w*1.125000"/>
                                          </p:val>
                                        </p:tav>
                                        <p:tav tm="100000">
                                          <p:val>
                                            <p:strVal val="#ppt_x"/>
                                          </p:val>
                                        </p:tav>
                                      </p:tavLst>
                                    </p:anim>
                                    <p:animEffect transition="in" filter="wipe(left)">
                                      <p:cBhvr>
                                        <p:cTn id="8" dur="500"/>
                                        <p:tgtEl>
                                          <p:spTgt spid="7">
                                            <p:txEl>
                                              <p:pRg st="0" end="0"/>
                                            </p:txEl>
                                          </p:spTgt>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p:tgtEl>
                                          <p:spTgt spid="7">
                                            <p:txEl>
                                              <p:pRg st="1" end="1"/>
                                            </p:txEl>
                                          </p:spTgt>
                                        </p:tgtEl>
                                        <p:attrNameLst>
                                          <p:attrName>ppt_x</p:attrName>
                                        </p:attrNameLst>
                                      </p:cBhvr>
                                      <p:tavLst>
                                        <p:tav tm="0">
                                          <p:val>
                                            <p:strVal val="#ppt_x+#ppt_w*1.125000"/>
                                          </p:val>
                                        </p:tav>
                                        <p:tav tm="100000">
                                          <p:val>
                                            <p:strVal val="#ppt_x"/>
                                          </p:val>
                                        </p:tav>
                                      </p:tavLst>
                                    </p:anim>
                                    <p:animEffect transition="in" filter="wipe(left)">
                                      <p:cBhvr>
                                        <p:cTn id="12" dur="500"/>
                                        <p:tgtEl>
                                          <p:spTgt spid="7">
                                            <p:txEl>
                                              <p:pRg st="1" end="1"/>
                                            </p:txEl>
                                          </p:spTgt>
                                        </p:tgtEl>
                                      </p:cBhvr>
                                    </p:animEffect>
                                  </p:childTnLst>
                                </p:cTn>
                              </p:par>
                            </p:childTnLst>
                          </p:cTn>
                        </p:par>
                        <p:par>
                          <p:cTn id="13" fill="hold">
                            <p:stCondLst>
                              <p:cond delay="500"/>
                            </p:stCondLst>
                            <p:childTnLst>
                              <p:par>
                                <p:cTn id="14" presetID="22" presetClass="entr" presetSubtype="8" fill="hold" nodeType="afterEffect">
                                  <p:stCondLst>
                                    <p:cond delay="1000"/>
                                  </p:stCondLst>
                                  <p:childTnLst>
                                    <p:set>
                                      <p:cBhvr>
                                        <p:cTn id="15" dur="2000" fill="hold">
                                          <p:stCondLst>
                                            <p:cond delay="0"/>
                                          </p:stCondLst>
                                        </p:cTn>
                                        <p:tgtEl>
                                          <p:spTgt spid="8"/>
                                        </p:tgtEl>
                                        <p:attrNameLst>
                                          <p:attrName>style.visibility</p:attrName>
                                        </p:attrNameLst>
                                      </p:cBhvr>
                                      <p:to>
                                        <p:strVal val="visible"/>
                                      </p:to>
                                    </p:set>
                                    <p:animEffect transition="in" filter="wipe(left)">
                                      <p:cBhvr>
                                        <p:cTn id="1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build="allAtOnce"/>
      <p:bldP spid="7"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中国电子商务行业市场规模预测</a:t>
            </a:r>
            <a:endParaRPr lang="zh-CN" altLang="en-US"/>
          </a:p>
        </p:txBody>
      </p:sp>
      <p:sp>
        <p:nvSpPr>
          <p:cNvPr id="4" name="页脚占位符 3"/>
          <p:cNvSpPr>
            <a:spLocks noGrp="1"/>
          </p:cNvSpPr>
          <p:nvPr>
            <p:ph type="ftr" sz="quarter" idx="11"/>
          </p:nvPr>
        </p:nvSpPr>
        <p:spPr/>
        <p:txBody>
          <a:bodyPr/>
          <a:p>
            <a:r>
              <a:rPr lang="zh-CN" altLang="en-US"/>
              <a:t>前瞻产业研究院</a:t>
            </a:r>
            <a:endParaRPr lang="zh-CN" altLang="en-US"/>
          </a:p>
        </p:txBody>
      </p:sp>
      <p:graphicFrame>
        <p:nvGraphicFramePr>
          <p:cNvPr id="8" name="内容占位符 7"/>
          <p:cNvGraphicFramePr/>
          <p:nvPr>
            <p:ph idx="1"/>
          </p:nvPr>
        </p:nvGraphicFramePr>
        <p:xfrm>
          <a:off x="623888" y="1454150"/>
          <a:ext cx="10944224" cy="4895850"/>
        </p:xfrm>
        <a:graphic>
          <a:graphicData uri="http://schemas.openxmlformats.org/drawingml/2006/chart">
            <c:chart xmlns:c="http://schemas.openxmlformats.org/drawingml/2006/chart" xmlns:r="http://schemas.openxmlformats.org/officeDocument/2006/relationships" r:id="rId1"/>
          </a:graphicData>
        </a:graphic>
      </p:graphicFrame>
    </p:spTree>
    <p:custDataLst>
      <p:tags r:id="rId2"/>
    </p:custDataLst>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657520" y="2420303"/>
            <a:ext cx="5616118" cy="2016125"/>
          </a:xfrm>
          <a:pattFill prst="smConfetti">
            <a:fgClr>
              <a:srgbClr val="EF8519"/>
            </a:fgClr>
            <a:bgClr>
              <a:srgbClr val="FFFFFF"/>
            </a:bgClr>
          </a:pattFill>
          <a:ln w="38100">
            <a:solidFill>
              <a:schemeClr val="accent1">
                <a:lumMod val="60000"/>
                <a:lumOff val="40000"/>
              </a:schemeClr>
            </a:solidFill>
          </a:ln>
          <a:effectLst>
            <a:glow rad="101600">
              <a:schemeClr val="accent3">
                <a:satMod val="175000"/>
                <a:alpha val="40000"/>
              </a:schemeClr>
            </a:glow>
            <a:outerShdw blurRad="152400" dist="317500" dir="5400000" sx="90000" sy="-19000" rotWithShape="0">
              <a:prstClr val="black">
                <a:alpha val="15000"/>
              </a:prstClr>
            </a:outerShdw>
          </a:effectLst>
        </p:spPr>
        <p:txBody>
          <a:bodyPr/>
          <a:p>
            <a:r>
              <a:rPr lang="zh-CN" altLang="en-US">
                <a:ln>
                  <a:noFill/>
                </a:ln>
              </a:rPr>
              <a:t>谢谢观看</a:t>
            </a:r>
            <a:endParaRPr lang="zh-CN" altLang="en-US">
              <a:ln>
                <a:noFill/>
              </a:ln>
            </a:endParaRPr>
          </a:p>
        </p:txBody>
      </p:sp>
      <p:sp>
        <p:nvSpPr>
          <p:cNvPr id="4" name="页脚占位符 3"/>
          <p:cNvSpPr>
            <a:spLocks noGrp="1"/>
          </p:cNvSpPr>
          <p:nvPr>
            <p:ph type="ftr" sz="quarter" idx="11"/>
          </p:nvPr>
        </p:nvSpPr>
        <p:spPr/>
        <p:txBody>
          <a:bodyPr/>
          <a:p>
            <a:r>
              <a:rPr lang="zh-CN" altLang="en-US"/>
              <a:t>前瞻产业研究院</a:t>
            </a:r>
            <a:endParaRPr lang="zh-CN" altLang="en-US"/>
          </a:p>
        </p:txBody>
      </p:sp>
    </p:spTree>
    <p:custDataLst>
      <p:tags r:id="rId1"/>
    </p:custDataLst>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xit" presetSubtype="1" repeatCount="3000" fill="hold" grpId="0" nodeType="afterEffect">
                                  <p:stCondLst>
                                    <p:cond delay="1500"/>
                                  </p:stCondLst>
                                  <p:childTnLst>
                                    <p:anim calcmode="lin" valueType="num">
                                      <p:cBhvr additive="base">
                                        <p:cTn id="6" dur="3000"/>
                                        <p:tgtEl>
                                          <p:spTgt spid="2"/>
                                        </p:tgtEl>
                                        <p:attrNameLst>
                                          <p:attrName>ppt_x</p:attrName>
                                        </p:attrNameLst>
                                      </p:cBhvr>
                                      <p:tavLst>
                                        <p:tav tm="0" fmla="">
                                          <p:val>
                                            <p:strVal val="ppt_x"/>
                                          </p:val>
                                        </p:tav>
                                        <p:tav tm="100000" fmla="">
                                          <p:val>
                                            <p:strVal val="ppt_x"/>
                                          </p:val>
                                        </p:tav>
                                      </p:tavLst>
                                    </p:anim>
                                    <p:anim calcmode="lin" valueType="num">
                                      <p:cBhvr additive="base">
                                        <p:cTn id="7" dur="3000"/>
                                        <p:tgtEl>
                                          <p:spTgt spid="2"/>
                                        </p:tgtEl>
                                        <p:attrNameLst>
                                          <p:attrName>ppt_y</p:attrName>
                                        </p:attrNameLst>
                                      </p:cBhvr>
                                      <p:tavLst>
                                        <p:tav tm="0" fmla="">
                                          <p:val>
                                            <p:strVal val="ppt_y"/>
                                          </p:val>
                                        </p:tav>
                                        <p:tav tm="100000" fmla="">
                                          <p:val>
                                            <p:strVal val="0-ppt_h/2"/>
                                          </p:val>
                                        </p:tav>
                                      </p:tavLst>
                                    </p:anim>
                                    <p:set>
                                      <p:cBhvr>
                                        <p:cTn id="8"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734"/>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734"/>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5.xml><?xml version="1.0" encoding="utf-8"?>
<p:tagLst xmlns:p="http://schemas.openxmlformats.org/presentationml/2006/main">
  <p:tag name="KSO_WM_TAG_VERSION" val="1.0"/>
  <p:tag name="KSO_WM_BEAUTIFY_FLAG" val="#wm#"/>
  <p:tag name="KSO_WM_TEMPLATE_CATEGORY" val="custom"/>
  <p:tag name="KSO_WM_TEMPLATE_INDEX" val="20191734"/>
  <p:tag name="KSO_WM_TEMPLATE_THUMBS_INDEX" val="1"/>
  <p:tag name="KSO_WM_TEMPLATE_TOPIC_ID" val="2869567"/>
  <p:tag name="KSO_WM_TEMPLATE_OUTLINE_ID" val="15"/>
  <p:tag name="KSO_WM_TEMPLATE_SCENE_ID" val="1"/>
  <p:tag name="KSO_WM_TEMPLATE_JOB_ID" val="2"/>
  <p:tag name="KSO_WM_TEMPLATE_TOPIC_DEFAULT" val="1"/>
  <p:tag name="KSO_WM_TEMPLATE_SUBCATEGORY" val="0"/>
</p:tagLst>
</file>

<file path=ppt/tags/tag106.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107.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10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9.xml><?xml version="1.0" encoding="utf-8"?>
<p:tagLst xmlns:p="http://schemas.openxmlformats.org/presentationml/2006/main">
  <p:tag name="KSO_WM_BEAUTIFY_FLAG" val="#wm#"/>
  <p:tag name="KSO_WM_TEMPLATE_CATEGORY" val="custom"/>
  <p:tag name="KSO_WM_TEMPLATE_INDEX" val="20205176"/>
</p:tagLst>
</file>

<file path=ppt/tags/tag110.xml><?xml version="1.0" encoding="utf-8"?>
<p:tagLst xmlns:p="http://schemas.openxmlformats.org/presentationml/2006/main">
  <p:tag name="KSO_WM_BEAUTIFY_FLAG" val="#wm#"/>
  <p:tag name="KSO_WM_TEMPLATE_CATEGORY" val="custom"/>
  <p:tag name="KSO_WM_TEMPLATE_INDEX" val="20205176"/>
</p:tagLst>
</file>

<file path=ppt/tags/tag111.xml><?xml version="1.0" encoding="utf-8"?>
<p:tagLst xmlns:p="http://schemas.openxmlformats.org/presentationml/2006/main">
  <p:tag name="KSO_WM_BEAUTIFY_FLAG" val="#wm#"/>
  <p:tag name="KSO_WM_TEMPLATE_CATEGORY" val="custom"/>
  <p:tag name="KSO_WM_TEMPLATE_INDEX" val="20205176"/>
</p:tagLst>
</file>

<file path=ppt/tags/tag112.xml><?xml version="1.0" encoding="utf-8"?>
<p:tagLst xmlns:p="http://schemas.openxmlformats.org/presentationml/2006/main">
  <p:tag name="KSO_WM_UNIT_TABLE_BEAUTIFY" val="smartTable{507e8f17-da9b-4ae1-a7ab-becea7b4ec09}"/>
</p:tagLst>
</file>

<file path=ppt/tags/tag113.xml><?xml version="1.0" encoding="utf-8"?>
<p:tagLst xmlns:p="http://schemas.openxmlformats.org/presentationml/2006/main">
  <p:tag name="KSO_WM_BEAUTIFY_FLAG" val="#wm#"/>
  <p:tag name="KSO_WM_TEMPLATE_CATEGORY" val="custom"/>
  <p:tag name="KSO_WM_TEMPLATE_INDEX" val="20205176"/>
</p:tagLst>
</file>

<file path=ppt/tags/tag114.xml><?xml version="1.0" encoding="utf-8"?>
<p:tagLst xmlns:p="http://schemas.openxmlformats.org/presentationml/2006/main">
  <p:tag name="KSO_WM_BEAUTIFY_FLAG" val="#wm#"/>
  <p:tag name="KSO_WM_TEMPLATE_CATEGORY" val="custom"/>
  <p:tag name="KSO_WM_TEMPLATE_INDEX" val="20205176"/>
</p:tagLst>
</file>

<file path=ppt/tags/tag115.xml><?xml version="1.0" encoding="utf-8"?>
<p:tagLst xmlns:p="http://schemas.openxmlformats.org/presentationml/2006/main">
  <p:tag name="KSO_WM_BEAUTIFY_FLAG" val="#wm#"/>
  <p:tag name="KSO_WM_TEMPLATE_CATEGORY" val="custom"/>
  <p:tag name="KSO_WM_TEMPLATE_INDEX" val="20205176"/>
</p:tagLst>
</file>

<file path=ppt/tags/tag116.xml><?xml version="1.0" encoding="utf-8"?>
<p:tagLst xmlns:p="http://schemas.openxmlformats.org/presentationml/2006/main">
  <p:tag name="KSO_WM_BEAUTIFY_FLAG" val="#wm#"/>
  <p:tag name="KSO_WM_TEMPLATE_CATEGORY" val="custom"/>
  <p:tag name="KSO_WM_TEMPLATE_INDEX" val="20205176"/>
</p:tagLst>
</file>

<file path=ppt/tags/tag117.xml><?xml version="1.0" encoding="utf-8"?>
<p:tagLst xmlns:p="http://schemas.openxmlformats.org/presentationml/2006/main">
  <p:tag name="KSO_WM_BEAUTIFY_FLAG" val="#wm#"/>
  <p:tag name="KSO_WM_TEMPLATE_CATEGORY" val="custom"/>
  <p:tag name="KSO_WM_TEMPLATE_INDEX" val="20205176"/>
</p:tagLst>
</file>

<file path=ppt/tags/tag118.xml><?xml version="1.0" encoding="utf-8"?>
<p:tagLst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1_Office 主题​​">
  <a:themeElements>
    <a:clrScheme name="4">
      <a:dk1>
        <a:srgbClr val="000000"/>
      </a:dk1>
      <a:lt1>
        <a:srgbClr val="FFFFFF"/>
      </a:lt1>
      <a:dk2>
        <a:srgbClr val="000000"/>
      </a:dk2>
      <a:lt2>
        <a:srgbClr val="FFFFFF"/>
      </a:lt2>
      <a:accent1>
        <a:srgbClr val="EF8519"/>
      </a:accent1>
      <a:accent2>
        <a:srgbClr val="20908A"/>
      </a:accent2>
      <a:accent3>
        <a:srgbClr val="F39231"/>
      </a:accent3>
      <a:accent4>
        <a:srgbClr val="EF8519"/>
      </a:accent4>
      <a:accent5>
        <a:srgbClr val="20908A"/>
      </a:accent5>
      <a:accent6>
        <a:srgbClr val="FFFFFF"/>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1091</Words>
  <Application>WPS 演示</Application>
  <PresentationFormat>宽屏</PresentationFormat>
  <Paragraphs>117</Paragraphs>
  <Slides>10</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宋体</vt:lpstr>
      <vt:lpstr>Wingdings</vt:lpstr>
      <vt:lpstr>微软雅黑</vt:lpstr>
      <vt:lpstr>隶书</vt:lpstr>
      <vt:lpstr>黑体</vt:lpstr>
      <vt:lpstr>Arial Unicode MS</vt:lpstr>
      <vt:lpstr>Calibri</vt:lpstr>
      <vt:lpstr>1_Office 主题​​</vt:lpstr>
      <vt:lpstr>中国电子商务行业发展现状及趋势分析</vt:lpstr>
      <vt:lpstr>目录</vt:lpstr>
      <vt:lpstr>电子商务概述</vt:lpstr>
      <vt:lpstr>我国电子商务行业发展历程</vt:lpstr>
      <vt:lpstr>2013-2019年中国电子商务交易规模</vt:lpstr>
      <vt:lpstr>我国电商的主要销售地区为东部地区</vt:lpstr>
      <vt:lpstr>我国商品类电商交易占比超7成</vt:lpstr>
      <vt:lpstr>预计2024年我国电商市场规模超55万亿元</vt:lpstr>
      <vt:lpstr>中国电子商务行业市场规模预测</vt:lpstr>
      <vt:lpstr>谢谢观看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WPS_1563888677</cp:lastModifiedBy>
  <cp:revision>198</cp:revision>
  <dcterms:created xsi:type="dcterms:W3CDTF">2019-06-19T02:08:00Z</dcterms:created>
  <dcterms:modified xsi:type="dcterms:W3CDTF">2024-08-13T01:48:54Z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