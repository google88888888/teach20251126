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442" r:id="rId3"/>
    <p:sldId id="412" r:id="rId4"/>
    <p:sldId id="413" r:id="rId5"/>
    <p:sldId id="414" r:id="rId6"/>
    <p:sldId id="470" r:id="rId7"/>
    <p:sldId id="415" r:id="rId8"/>
    <p:sldId id="416" r:id="rId10"/>
    <p:sldId id="431" r:id="rId11"/>
    <p:sldId id="477" r:id="rId12"/>
    <p:sldId id="420" r:id="rId13"/>
    <p:sldId id="421" r:id="rId14"/>
    <p:sldId id="474" r:id="rId15"/>
    <p:sldId id="462" r:id="rId16"/>
    <p:sldId id="475" r:id="rId17"/>
    <p:sldId id="425" r:id="rId18"/>
    <p:sldId id="478" r:id="rId19"/>
    <p:sldId id="479" r:id="rId20"/>
    <p:sldId id="480" r:id="rId21"/>
    <p:sldId id="481" r:id="rId22"/>
    <p:sldId id="443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ngsoft" initials="k" lastIdx="2" clrIdx="0"/>
  <p:cmAuthor id="2" name="作者" initials="作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6C1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77FDC-07E9-46A8-8B32-6776C9CC67B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占位符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98880" y="1971040"/>
            <a:ext cx="9799320" cy="1017270"/>
          </a:xfrm>
          <a:prstGeom prst="rect">
            <a:avLst/>
          </a:prstGeom>
        </p:spPr>
        <p:txBody>
          <a:bodyPr vert="horz" lIns="90170" tIns="46990" rIns="90170" bIns="46990" rtlCol="0" anchor="b" anchorCtr="0">
            <a:noAutofit/>
          </a:bodyPr>
          <a:lstStyle>
            <a:lvl1pPr algn="ctr">
              <a:defRPr sz="6000" u="none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98800" y="2987630"/>
            <a:ext cx="9799200" cy="56642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800"/>
            </a:lvl1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643245" y="607060"/>
            <a:ext cx="6548755" cy="5643245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>
              <a:lnSpc>
                <a:spcPct val="150000"/>
              </a:lnSpc>
              <a:defRPr sz="88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3"/>
            <p:custDataLst>
              <p:tags r:id="rId3"/>
            </p:custDataLst>
          </p:nvPr>
        </p:nvSpPr>
        <p:spPr>
          <a:xfrm>
            <a:off x="0" y="607060"/>
            <a:ext cx="5643245" cy="5643245"/>
          </a:xfrm>
        </p:spPr>
        <p:txBody>
          <a:bodyPr vert="horz" lIns="90000" tIns="46800" rIns="90000" bIns="468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rgbClr val="FCF6C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344355" y="1555200"/>
            <a:ext cx="5233077" cy="4608000"/>
          </a:xfrm>
        </p:spPr>
        <p:txBody>
          <a:bodyPr vert="horz" lIns="90000" tIns="46800" rIns="90000" bIns="468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800" b="0" i="0" u="none" strike="noStrike" kern="1200" cap="none" spc="0" normalizeH="0" baseline="0" noProof="1" dirty="0">
                <a:solidFill>
                  <a:srgbClr val="FCF6C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idx="14"/>
            <p:custDataLst>
              <p:tags r:id="rId4"/>
            </p:custDataLst>
          </p:nvPr>
        </p:nvSpPr>
        <p:spPr>
          <a:xfrm>
            <a:off x="612192" y="1484767"/>
            <a:ext cx="5176838" cy="4748644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Autofit/>
          </a:bodyPr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Autofit/>
          </a:bodyPr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Autofit/>
          </a:bodyPr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>
            <a:no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>
            <a:no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12000" y="914447"/>
            <a:ext cx="918845" cy="5029458"/>
          </a:xfrm>
          <a:prstGeom prst="rect">
            <a:avLst/>
          </a:prstGeom>
        </p:spPr>
        <p:txBody>
          <a:bodyPr vert="eaVert" lIns="90170" tIns="46990" rIns="90170" bIns="46990" rtlCol="0" anchor="ctr" anchorCtr="0">
            <a:noAutofit/>
          </a:bodyPr>
          <a:lstStyle>
            <a:lvl1pPr>
              <a:defRPr sz="48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>
            <a:no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>
            <a:no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000" u="none" strike="noStrike" kern="1200" cap="none" spc="0" normalizeH="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000" u="none" strike="noStrike" kern="1200" cap="none" spc="0" normalizeH="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000" u="none" strike="noStrike" kern="1200" cap="none" spc="0" normalizeH="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4800" b="1" u="none" strike="noStrike" kern="1200" cap="none" spc="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28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457200" indent="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tabLst>
          <a:tab pos="1609725" algn="l"/>
          <a:tab pos="1609725" algn="l"/>
          <a:tab pos="1609725" algn="l"/>
          <a:tab pos="1609725" algn="l"/>
        </a:tabLst>
        <a:defRPr sz="24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914400" indent="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24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371600" indent="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Font typeface="Wingdings" panose="05000000000000000000" charset="0"/>
        <a:buNone/>
        <a:defRPr sz="2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828800" indent="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2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41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4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8.xml"/><Relationship Id="rId2" Type="http://schemas.openxmlformats.org/officeDocument/2006/relationships/image" Target="../media/image1.sv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9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50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5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52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53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4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55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56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57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58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2392680" y="1971040"/>
            <a:ext cx="9799320" cy="1017270"/>
          </a:xfrm>
        </p:spPr>
        <p:txBody>
          <a:bodyPr/>
          <a:p>
            <a:r>
              <a:rPr lang="zh-CN" altLang="zh-CN"/>
              <a:t>保持初心</a:t>
            </a:r>
            <a:r>
              <a:rPr lang="en-US" altLang="zh-CN"/>
              <a:t> </a:t>
            </a:r>
            <a:r>
              <a:rPr lang="zh-CN" altLang="zh-CN"/>
              <a:t>奔赴未来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body" idx="4294967295"/>
            <p:custDataLst>
              <p:tags r:id="rId2"/>
            </p:custDataLst>
          </p:nvPr>
        </p:nvSpPr>
        <p:spPr>
          <a:xfrm>
            <a:off x="2392680" y="2987675"/>
            <a:ext cx="9799320" cy="566420"/>
          </a:xfrm>
        </p:spPr>
        <p:txBody>
          <a:bodyPr/>
          <a:p>
            <a:r>
              <a:rPr lang="zh-CN" altLang="en-US"/>
              <a:t>金山办公软件202</a:t>
            </a:r>
            <a:r>
              <a:rPr lang="en-US" altLang="zh-CN"/>
              <a:t>1</a:t>
            </a:r>
            <a:r>
              <a:rPr lang="zh-CN" altLang="en-US"/>
              <a:t>主题年会暨颁奖典礼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96400" y="6551295"/>
            <a:ext cx="9799200" cy="30670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ctr"/>
            <a:r>
              <a:rPr lang="en-US" sz="1400">
                <a:solidFill>
                  <a:srgbClr val="FCF6C1"/>
                </a:solidFill>
                <a:effectLst/>
              </a:rPr>
              <a:t>KINGSOFT OFFICE 2021 THEME ANNUAL MEETING AND AWARD CEREMONY</a:t>
            </a:r>
            <a:endParaRPr lang="en-US" sz="1400">
              <a:solidFill>
                <a:srgbClr val="FCF6C1"/>
              </a:solidFill>
              <a:effectLst/>
            </a:endParaRPr>
          </a:p>
        </p:txBody>
      </p:sp>
      <p:pic>
        <p:nvPicPr>
          <p:cNvPr id="18" name="图片 4" descr="金山办公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07757" y="596265"/>
            <a:ext cx="2176487" cy="900000"/>
          </a:xfrm>
          <a:prstGeom prst="rect">
            <a:avLst/>
          </a:prstGeom>
        </p:spPr>
      </p:pic>
      <p:pic>
        <p:nvPicPr>
          <p:cNvPr id="20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657475" y="3759200"/>
            <a:ext cx="6877050" cy="26797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1"/>
          <p:cNvSpPr txBox="1"/>
          <p:nvPr/>
        </p:nvSpPr>
        <p:spPr>
          <a:xfrm>
            <a:off x="4887278" y="844233"/>
            <a:ext cx="2417445" cy="51695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 defTabSz="96012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</a:pPr>
            <a:r>
              <a:rPr lang="en-US" altLang="zh-CN" sz="3000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endParaRPr lang="en-US" altLang="zh-CN" sz="3000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1"/>
          <p:cNvSpPr txBox="1"/>
          <p:nvPr/>
        </p:nvSpPr>
        <p:spPr>
          <a:xfrm>
            <a:off x="4887278" y="844233"/>
            <a:ext cx="2417445" cy="51695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 defTabSz="96012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</a:pPr>
            <a:r>
              <a:rPr lang="en-US" altLang="zh-CN" sz="3000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endParaRPr lang="en-US" altLang="zh-CN" sz="3000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1"/>
          <p:cNvSpPr txBox="1"/>
          <p:nvPr/>
        </p:nvSpPr>
        <p:spPr>
          <a:xfrm>
            <a:off x="4887278" y="844233"/>
            <a:ext cx="2417445" cy="51695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 defTabSz="96012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</a:pPr>
            <a:r>
              <a:rPr lang="en-US" altLang="zh-CN" sz="3000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endParaRPr lang="en-US" altLang="zh-CN" sz="3000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5643245" y="607060"/>
            <a:ext cx="6548755" cy="5643245"/>
          </a:xfrm>
        </p:spPr>
        <p:txBody>
          <a:bodyPr/>
          <a:p>
            <a:r>
              <a:rPr lang="zh-CN" altLang="en-US"/>
              <a:t>盛会启航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49045" y="1487488"/>
            <a:ext cx="969391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defTabSz="96012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</a:pPr>
            <a:r>
              <a:rPr sz="4800" b="1" spc="300">
                <a:solidFill>
                  <a:srgbClr val="FCF6C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回首2020</a:t>
            </a:r>
            <a:endParaRPr lang="zh-CN" sz="4800" b="1" spc="300">
              <a:solidFill>
                <a:srgbClr val="FCF6C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 defTabSz="96012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</a:pPr>
            <a:r>
              <a:rPr sz="4800" b="1" spc="300">
                <a:solidFill>
                  <a:srgbClr val="FCF6C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我们取得了卓越的成绩！</a:t>
            </a:r>
            <a:endParaRPr sz="4800" b="1" spc="300">
              <a:solidFill>
                <a:srgbClr val="FCF6C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1"/>
          <p:cNvSpPr txBox="1"/>
          <p:nvPr/>
        </p:nvSpPr>
        <p:spPr>
          <a:xfrm>
            <a:off x="4226560" y="1029970"/>
            <a:ext cx="37388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 defTabSz="960120" fontAlgn="base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</a:pPr>
            <a:r>
              <a:rPr lang="zh-CN" altLang="en-US" sz="2800">
                <a:solidFill>
                  <a:srgbClr val="FCF6C1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主要产品月活跃用户数</a:t>
            </a:r>
            <a:endParaRPr lang="zh-CN" altLang="en-US" sz="2800">
              <a:solidFill>
                <a:srgbClr val="FCF6C1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2"/>
          <p:cNvSpPr txBox="1"/>
          <p:nvPr/>
        </p:nvSpPr>
        <p:spPr>
          <a:xfrm>
            <a:off x="110753" y="1552173"/>
            <a:ext cx="11969956" cy="393827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algn="ctr" defTabSz="96012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</a:pPr>
            <a:r>
              <a:rPr lang="en-US" altLang="zh-CN" sz="25000" b="1">
                <a:solidFill>
                  <a:srgbClr val="FCF6C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r>
              <a:rPr lang="zh-CN" altLang="en-US" sz="10000" b="1">
                <a:solidFill>
                  <a:srgbClr val="FCF6C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亿</a:t>
            </a:r>
            <a:endParaRPr lang="zh-CN" altLang="en-US" sz="10000" b="1">
              <a:solidFill>
                <a:srgbClr val="FCF6C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Arial" panose="020B0604020202020204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7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66" y="1831092"/>
            <a:ext cx="12191462" cy="502690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使命 愿景 价值观</a:t>
            </a:r>
            <a:endParaRPr lang="zh-CN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612140" y="2016125"/>
            <a:ext cx="10965180" cy="3230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/>
              <a:t>VALUES</a:t>
            </a:r>
            <a:endParaRPr lang="zh-CN" altLang="en-US" sz="2800"/>
          </a:p>
          <a:p>
            <a:r>
              <a:rPr lang="zh-CN" altLang="en-US" sz="2000"/>
              <a:t>用户第一、坚持创新、诚信正直、乐观坚韧。</a:t>
            </a:r>
            <a:endParaRPr lang="zh-CN" altLang="en-US" sz="2000"/>
          </a:p>
          <a:p>
            <a:endParaRPr lang="zh-CN" altLang="en-US" sz="2000"/>
          </a:p>
          <a:p>
            <a:pPr algn="l">
              <a:buClrTx/>
              <a:buSzTx/>
              <a:buFontTx/>
            </a:pPr>
            <a:r>
              <a:rPr lang="zh-CN" altLang="en-US" sz="2800">
                <a:sym typeface="+mn-ea"/>
              </a:rPr>
              <a:t>VISION</a:t>
            </a:r>
            <a:endParaRPr lang="zh-CN" altLang="en-US" sz="2800"/>
          </a:p>
          <a:p>
            <a:r>
              <a:rPr lang="zh-CN" altLang="en-US" sz="2000">
                <a:sym typeface="+mn-ea"/>
              </a:rPr>
              <a:t>我们将成为一家用户喜爱、员工自豪、社会尊敬的公司。为用户提供超出预期、不可思议的办公体验，成为全球办公服务的领导者。</a:t>
            </a:r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r>
              <a:rPr lang="zh-CN" altLang="en-US" sz="2800">
                <a:sym typeface="+mn-ea"/>
              </a:rPr>
              <a:t>MISSION</a:t>
            </a:r>
            <a:endParaRPr lang="zh-CN" altLang="en-US" sz="2800"/>
          </a:p>
          <a:p>
            <a:r>
              <a:rPr lang="zh-CN" altLang="en-US" sz="2000">
                <a:sym typeface="+mn-ea"/>
              </a:rPr>
              <a:t>简单创作、轻松表达、实现价值的连接。</a:t>
            </a:r>
            <a:endParaRPr lang="zh-CN" altLang="en-US" sz="200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价值观宣传片</a:t>
            </a:r>
            <a:r>
              <a:rPr lang="zh-CN" altLang="en-US">
                <a:sym typeface="+mn-ea"/>
              </a:rPr>
              <a:t>「使命愿景篇」</a:t>
            </a:r>
            <a:endParaRPr lang="zh-CN" altLang="en-US"/>
          </a:p>
        </p:txBody>
      </p:sp>
      <p:sp>
        <p:nvSpPr>
          <p:cNvPr id="1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2020年，经过全员的共创及努力，金山办公明确了使命愿景，树立了在任何情况下都坚定不渝的企业价值观，未来在共同的使命愿景价值观驱动下，我们将朝着共同认可的行为方式，步调一致的砥砺前行。</a:t>
            </a:r>
            <a:endParaRPr lang="zh-CN" altLang="en-US"/>
          </a:p>
        </p:txBody>
      </p:sp>
      <p:pic>
        <p:nvPicPr>
          <p:cNvPr id="14" name="播放视频图标" descr="resourc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95240" y="4003040"/>
            <a:ext cx="1994535" cy="1303655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</p:pic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1"/>
          <p:cNvSpPr>
            <a:spLocks noGrp="1"/>
          </p:cNvSpPr>
          <p:nvPr>
            <p:ph type="title" idx="4294967295"/>
          </p:nvPr>
        </p:nvSpPr>
        <p:spPr>
          <a:xfrm>
            <a:off x="5643245" y="607060"/>
            <a:ext cx="6548755" cy="5643245"/>
          </a:xfrm>
        </p:spPr>
        <p:txBody>
          <a:bodyPr/>
          <a:p>
            <a:r>
              <a:rPr lang="zh-CN" altLang="en-US"/>
              <a:t>颁奖典礼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最佳团队奖</a:t>
            </a:r>
            <a:endParaRPr lang="zh-CN" altLang="en-US"/>
          </a:p>
        </p:txBody>
      </p:sp>
      <p:pic>
        <p:nvPicPr>
          <p:cNvPr id="18" name="图片占位符 2"/>
          <p:cNvPicPr>
            <a:picLocks noChangeAspect="1"/>
          </p:cNvPicPr>
          <p:nvPr>
            <p:ph type="pic" idx="1"/>
          </p:nvPr>
        </p:nvPicPr>
        <p:blipFill>
          <a:blip r:embed="rId1"/>
          <a:stretch>
            <a:fillRect/>
          </a:stretch>
        </p:blipFill>
        <p:spPr>
          <a:xfrm>
            <a:off x="6991985" y="1890395"/>
            <a:ext cx="3937000" cy="3937000"/>
          </a:xfrm>
          <a:prstGeom prst="rect">
            <a:avLst/>
          </a:prstGeom>
        </p:spPr>
      </p:pic>
      <p:sp>
        <p:nvSpPr>
          <p:cNvPr id="3" name="文本占位符 3"/>
          <p:cNvSpPr>
            <a:spLocks noGrp="1"/>
          </p:cNvSpPr>
          <p:nvPr>
            <p:ph type="body" idx="14"/>
          </p:nvPr>
        </p:nvSpPr>
        <p:spPr/>
        <p:txBody>
          <a:bodyPr/>
          <a:p>
            <a:r>
              <a:rPr lang="zh-CN" altLang="en-US"/>
              <a:t>具备大局意识、服务意识和协调意识的团队才是优秀的团队。他们具有较高的团队精神，相互团结，相互支持，相互帮助，成员间配合默契，依靠团队集体力量，出色完成各项工作要求和指标。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获奖名单</a:t>
            </a:r>
            <a:endParaRPr lang="zh-CN" altLang="en-US"/>
          </a:p>
        </p:txBody>
      </p:sp>
      <p:sp>
        <p:nvSpPr>
          <p:cNvPr id="25" name="文本框 2"/>
          <p:cNvSpPr txBox="1"/>
          <p:nvPr/>
        </p:nvSpPr>
        <p:spPr>
          <a:xfrm>
            <a:off x="3757295" y="2425065"/>
            <a:ext cx="1198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000" b="1">
                <a:solidFill>
                  <a:srgbClr val="FCF6C1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培训一组</a:t>
            </a:r>
            <a:endParaRPr lang="zh-CN" altLang="en-US" sz="2000" b="1">
              <a:solidFill>
                <a:srgbClr val="FCF6C1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文本框 3"/>
          <p:cNvSpPr txBox="1"/>
          <p:nvPr/>
        </p:nvSpPr>
        <p:spPr>
          <a:xfrm>
            <a:off x="6899275" y="2425065"/>
            <a:ext cx="1198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000" b="1">
                <a:solidFill>
                  <a:srgbClr val="FCF6C1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销售二组</a:t>
            </a:r>
            <a:endParaRPr lang="zh-CN" altLang="en-US" sz="2000" b="1">
              <a:solidFill>
                <a:srgbClr val="FCF6C1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文本框 4"/>
          <p:cNvSpPr txBox="1"/>
          <p:nvPr/>
        </p:nvSpPr>
        <p:spPr>
          <a:xfrm>
            <a:off x="3758565" y="4572635"/>
            <a:ext cx="1198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000" b="1">
                <a:solidFill>
                  <a:srgbClr val="FCF6C1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研发三组</a:t>
            </a:r>
            <a:endParaRPr lang="zh-CN" altLang="en-US" sz="2000" b="1">
              <a:solidFill>
                <a:srgbClr val="FCF6C1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1" name="文本框 5"/>
          <p:cNvSpPr txBox="1"/>
          <p:nvPr/>
        </p:nvSpPr>
        <p:spPr>
          <a:xfrm>
            <a:off x="6899910" y="4572635"/>
            <a:ext cx="1198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000" b="1">
                <a:solidFill>
                  <a:srgbClr val="FCF6C1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项目四组</a:t>
            </a:r>
            <a:endParaRPr lang="zh-CN" altLang="en-US" sz="2000" b="1">
              <a:solidFill>
                <a:srgbClr val="FCF6C1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3710" y="913765"/>
            <a:ext cx="2686050" cy="1511300"/>
          </a:xfrm>
          <a:prstGeom prst="rect">
            <a:avLst/>
          </a:prstGeom>
        </p:spPr>
      </p:pic>
      <p:pic>
        <p:nvPicPr>
          <p:cNvPr id="6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325" y="914400"/>
            <a:ext cx="2686050" cy="1511300"/>
          </a:xfrm>
          <a:prstGeom prst="rect">
            <a:avLst/>
          </a:prstGeom>
        </p:spPr>
      </p:pic>
      <p:pic>
        <p:nvPicPr>
          <p:cNvPr id="6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980" y="3061970"/>
            <a:ext cx="2686050" cy="1511300"/>
          </a:xfrm>
          <a:prstGeom prst="rect">
            <a:avLst/>
          </a:prstGeom>
        </p:spPr>
      </p:pic>
      <p:pic>
        <p:nvPicPr>
          <p:cNvPr id="7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325" y="3061335"/>
            <a:ext cx="2686050" cy="15113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最佳个人奖</a:t>
            </a:r>
            <a:endParaRPr lang="zh-CN" altLang="en-US"/>
          </a:p>
        </p:txBody>
      </p:sp>
      <p:pic>
        <p:nvPicPr>
          <p:cNvPr id="10" name="图片占位符 2" descr="最佳个人奖"/>
          <p:cNvPicPr>
            <a:picLocks noChangeAspect="1"/>
          </p:cNvPicPr>
          <p:nvPr>
            <p:ph type="pic" idx="1"/>
          </p:nvPr>
        </p:nvPicPr>
        <p:blipFill>
          <a:blip r:embed="rId1"/>
          <a:stretch>
            <a:fillRect/>
          </a:stretch>
        </p:blipFill>
        <p:spPr>
          <a:xfrm>
            <a:off x="6899910" y="1798320"/>
            <a:ext cx="4121150" cy="412115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/>
        <p:txBody>
          <a:bodyPr/>
          <a:p>
            <a:r>
              <a:rPr lang="zh-CN" altLang="en-US"/>
              <a:t>他们的每一次前进总是焕发青春的奇迹，他们的每一次出场都是彰显无穷的力量。他们以淳朴的风格和坚毅的脚步，走出自己的节奏与特色当心的挑战到来的时候，他们选取振翅飞翔。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获奖名单</a:t>
            </a:r>
            <a:endParaRPr lang="zh-CN" altLang="en-US"/>
          </a:p>
        </p:txBody>
      </p:sp>
      <p:sp>
        <p:nvSpPr>
          <p:cNvPr id="44" name="文本框 2"/>
          <p:cNvSpPr txBox="1"/>
          <p:nvPr/>
        </p:nvSpPr>
        <p:spPr>
          <a:xfrm>
            <a:off x="2941320" y="2894330"/>
            <a:ext cx="944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000" b="1">
                <a:solidFill>
                  <a:srgbClr val="FCF6C1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郑百万</a:t>
            </a:r>
            <a:endParaRPr lang="zh-CN" altLang="en-US" sz="2000" b="1">
              <a:solidFill>
                <a:srgbClr val="FCF6C1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5" name="文本框 3"/>
          <p:cNvSpPr txBox="1"/>
          <p:nvPr/>
        </p:nvSpPr>
        <p:spPr>
          <a:xfrm>
            <a:off x="6541770" y="2894330"/>
            <a:ext cx="944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000" b="1">
                <a:solidFill>
                  <a:srgbClr val="FCF6C1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万德芙</a:t>
            </a:r>
            <a:endParaRPr lang="zh-CN" altLang="en-US" sz="2000" b="1">
              <a:solidFill>
                <a:srgbClr val="FCF6C1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3" name="文本框 4"/>
          <p:cNvSpPr txBox="1"/>
          <p:nvPr/>
        </p:nvSpPr>
        <p:spPr>
          <a:xfrm>
            <a:off x="4741545" y="5273040"/>
            <a:ext cx="944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000" b="1">
                <a:solidFill>
                  <a:srgbClr val="FCF6C1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孙小麦</a:t>
            </a:r>
            <a:endParaRPr lang="zh-CN" altLang="en-US" sz="2000" b="1">
              <a:solidFill>
                <a:srgbClr val="FCF6C1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6" name="文本框 5"/>
          <p:cNvSpPr txBox="1"/>
          <p:nvPr/>
        </p:nvSpPr>
        <p:spPr>
          <a:xfrm>
            <a:off x="8341995" y="5273040"/>
            <a:ext cx="944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000" b="1">
                <a:solidFill>
                  <a:srgbClr val="FCF6C1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张懒懒</a:t>
            </a:r>
            <a:endParaRPr lang="zh-CN" altLang="en-US" sz="2000" b="1">
              <a:solidFill>
                <a:srgbClr val="FCF6C1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4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795" y="914400"/>
            <a:ext cx="1979930" cy="1979930"/>
          </a:xfrm>
          <a:prstGeom prst="rect">
            <a:avLst/>
          </a:prstGeom>
        </p:spPr>
      </p:pic>
      <p:pic>
        <p:nvPicPr>
          <p:cNvPr id="53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245" y="914400"/>
            <a:ext cx="1979930" cy="1979930"/>
          </a:xfrm>
          <a:prstGeom prst="rect">
            <a:avLst/>
          </a:prstGeom>
        </p:spPr>
      </p:pic>
      <p:pic>
        <p:nvPicPr>
          <p:cNvPr id="47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020" y="3293110"/>
            <a:ext cx="1979930" cy="1979930"/>
          </a:xfrm>
          <a:prstGeom prst="rect">
            <a:avLst/>
          </a:prstGeom>
        </p:spPr>
      </p:pic>
      <p:pic>
        <p:nvPicPr>
          <p:cNvPr id="5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4470" y="3293110"/>
            <a:ext cx="1979930" cy="197993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1"/>
          <p:cNvSpPr>
            <a:spLocks noGrp="1"/>
          </p:cNvSpPr>
          <p:nvPr>
            <p:ph type="title" idx="4294967295"/>
          </p:nvPr>
        </p:nvSpPr>
        <p:spPr>
          <a:xfrm>
            <a:off x="5643245" y="607060"/>
            <a:ext cx="6548755" cy="5643245"/>
          </a:xfrm>
        </p:spPr>
        <p:txBody>
          <a:bodyPr/>
          <a:p>
            <a:r>
              <a:rPr lang="zh-CN" altLang="en-US"/>
              <a:t>节目汇演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3481" y="2232131"/>
            <a:ext cx="1785949" cy="180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文本框 2"/>
          <p:cNvSpPr txBox="1"/>
          <p:nvPr/>
        </p:nvSpPr>
        <p:spPr>
          <a:xfrm>
            <a:off x="4121786" y="1801376"/>
            <a:ext cx="5989320" cy="2230755"/>
          </a:xfrm>
          <a:prstGeom prst="rect">
            <a:avLst/>
          </a:prstGeom>
          <a:noFill/>
          <a:effectLst/>
        </p:spPr>
        <p:txBody>
          <a:bodyPr wrap="none" lIns="61420" tIns="30709" rIns="61420" bIns="30709" rtlCol="0">
            <a:spAutoFit/>
          </a:bodyPr>
          <a:lstStyle>
            <a:defPPr>
              <a:defRPr lang="en-US"/>
            </a:defPPr>
            <a:lvl1pPr algn="ctr">
              <a:defRPr sz="19900">
                <a:gradFill>
                  <a:gsLst>
                    <a:gs pos="100000">
                      <a:srgbClr val="FBFCD3"/>
                    </a:gs>
                    <a:gs pos="31000">
                      <a:srgbClr val="FDEA9A"/>
                    </a:gs>
                  </a:gsLst>
                  <a:lin ang="4200000" scaled="0"/>
                </a:gradFill>
                <a:effectLst>
                  <a:outerShdw blurRad="45339" dist="45339" dir="2699995" algn="tl">
                    <a:srgbClr val="000000">
                      <a:alpha val="43137"/>
                    </a:srgbClr>
                  </a:outerShdw>
                </a:effectLst>
                <a:latin typeface="汉仪尚巍手书W" panose="00020600040101010101" pitchFamily="18" charset="-122"/>
                <a:ea typeface="汉仪尚巍手书W" panose="00020600040101010101" pitchFamily="18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6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《最好的舞台》</a:t>
            </a:r>
            <a:endParaRPr sz="6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表演团队：国内政企事业部</a:t>
            </a:r>
            <a:endParaRPr sz="6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6455" y="2232131"/>
            <a:ext cx="1800000" cy="180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文本框 2"/>
          <p:cNvSpPr txBox="1"/>
          <p:nvPr/>
        </p:nvSpPr>
        <p:spPr>
          <a:xfrm>
            <a:off x="4121786" y="1801376"/>
            <a:ext cx="5989320" cy="2230755"/>
          </a:xfrm>
          <a:prstGeom prst="rect">
            <a:avLst/>
          </a:prstGeom>
          <a:noFill/>
          <a:effectLst/>
        </p:spPr>
        <p:txBody>
          <a:bodyPr wrap="none" lIns="61420" tIns="30709" rIns="61420" bIns="30709" rtlCol="0">
            <a:spAutoFit/>
          </a:bodyPr>
          <a:lstStyle>
            <a:defPPr>
              <a:defRPr lang="en-US"/>
            </a:defPPr>
            <a:lvl1pPr algn="ctr">
              <a:defRPr sz="19900">
                <a:gradFill>
                  <a:gsLst>
                    <a:gs pos="100000">
                      <a:srgbClr val="FBFCD3"/>
                    </a:gs>
                    <a:gs pos="31000">
                      <a:srgbClr val="FDEA9A"/>
                    </a:gs>
                  </a:gsLst>
                  <a:lin ang="4200000" scaled="0"/>
                </a:gradFill>
                <a:effectLst>
                  <a:outerShdw blurRad="45339" dist="45339" dir="2699995" algn="tl">
                    <a:srgbClr val="000000">
                      <a:alpha val="43137"/>
                    </a:srgbClr>
                  </a:outerShdw>
                </a:effectLst>
                <a:latin typeface="汉仪尚巍手书W" panose="00020600040101010101" pitchFamily="18" charset="-122"/>
                <a:ea typeface="汉仪尚巍手书W" panose="00020600040101010101" pitchFamily="18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6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《</a:t>
            </a:r>
            <a:r>
              <a:rPr lang="zh-CN" sz="6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明天会更好</a:t>
            </a:r>
            <a:r>
              <a:rPr sz="6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》</a:t>
            </a:r>
            <a:endParaRPr sz="6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表演团队：国内个人事业部</a:t>
            </a:r>
            <a:endParaRPr lang="zh-CN" altLang="en-US" sz="2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3481" y="2232131"/>
            <a:ext cx="1785949" cy="180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文本框 2"/>
          <p:cNvSpPr txBox="1"/>
          <p:nvPr/>
        </p:nvSpPr>
        <p:spPr>
          <a:xfrm>
            <a:off x="4121786" y="1801376"/>
            <a:ext cx="5989320" cy="2230755"/>
          </a:xfrm>
          <a:prstGeom prst="rect">
            <a:avLst/>
          </a:prstGeom>
          <a:noFill/>
          <a:effectLst/>
        </p:spPr>
        <p:txBody>
          <a:bodyPr wrap="none" lIns="61420" tIns="30709" rIns="61420" bIns="30709" rtlCol="0">
            <a:spAutoFit/>
          </a:bodyPr>
          <a:lstStyle>
            <a:defPPr>
              <a:defRPr lang="en-US"/>
            </a:defPPr>
            <a:lvl1pPr algn="ctr">
              <a:defRPr sz="19900">
                <a:gradFill>
                  <a:gsLst>
                    <a:gs pos="100000">
                      <a:srgbClr val="FBFCD3"/>
                    </a:gs>
                    <a:gs pos="31000">
                      <a:srgbClr val="FDEA9A"/>
                    </a:gs>
                  </a:gsLst>
                  <a:lin ang="4200000" scaled="0"/>
                </a:gradFill>
                <a:effectLst>
                  <a:outerShdw blurRad="45339" dist="45339" dir="2699995" algn="tl">
                    <a:srgbClr val="000000">
                      <a:alpha val="43137"/>
                    </a:srgbClr>
                  </a:outerShdw>
                </a:effectLst>
                <a:latin typeface="汉仪尚巍手书W" panose="00020600040101010101" pitchFamily="18" charset="-122"/>
                <a:ea typeface="汉仪尚巍手书W" panose="00020600040101010101" pitchFamily="18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6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《</a:t>
            </a:r>
            <a:r>
              <a:rPr lang="zh-CN" sz="6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科技新物种</a:t>
            </a:r>
            <a:r>
              <a:rPr sz="6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》</a:t>
            </a:r>
            <a:endParaRPr sz="6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表演团队：研发中台事业部</a:t>
            </a:r>
            <a:endParaRPr lang="zh-CN" altLang="en-US" sz="2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6455" y="2232131"/>
            <a:ext cx="1800000" cy="180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文本框 2"/>
          <p:cNvSpPr txBox="1"/>
          <p:nvPr/>
        </p:nvSpPr>
        <p:spPr>
          <a:xfrm>
            <a:off x="3763963" y="1801376"/>
            <a:ext cx="6704965" cy="2230755"/>
          </a:xfrm>
          <a:prstGeom prst="rect">
            <a:avLst/>
          </a:prstGeom>
          <a:noFill/>
          <a:effectLst/>
        </p:spPr>
        <p:txBody>
          <a:bodyPr wrap="none" lIns="61420" tIns="30709" rIns="61420" bIns="30709" rtlCol="0">
            <a:spAutoFit/>
          </a:bodyPr>
          <a:lstStyle>
            <a:defPPr>
              <a:defRPr lang="en-US"/>
            </a:defPPr>
            <a:lvl1pPr algn="ctr">
              <a:defRPr sz="19900">
                <a:gradFill>
                  <a:gsLst>
                    <a:gs pos="100000">
                      <a:srgbClr val="FBFCD3"/>
                    </a:gs>
                    <a:gs pos="31000">
                      <a:srgbClr val="FDEA9A"/>
                    </a:gs>
                  </a:gsLst>
                  <a:lin ang="4200000" scaled="0"/>
                </a:gradFill>
                <a:effectLst>
                  <a:outerShdw blurRad="45339" dist="45339" dir="2699995" algn="tl">
                    <a:srgbClr val="000000">
                      <a:alpha val="43137"/>
                    </a:srgbClr>
                  </a:outerShdw>
                </a:effectLst>
                <a:latin typeface="汉仪尚巍手书W" panose="00020600040101010101" pitchFamily="18" charset="-122"/>
                <a:ea typeface="汉仪尚巍手书W" panose="00020600040101010101" pitchFamily="18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6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《It's Amazing》</a:t>
            </a:r>
            <a:endParaRPr sz="6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表演团队：国际事业部</a:t>
            </a:r>
            <a:endParaRPr lang="zh-CN" altLang="en-US" sz="2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392680" y="1971040"/>
            <a:ext cx="9799320" cy="1017270"/>
          </a:xfrm>
        </p:spPr>
        <p:txBody>
          <a:bodyPr/>
          <a:p>
            <a:r>
              <a:rPr lang="zh-CN"/>
              <a:t>晚会结束 有序退场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body" idx="4294967295"/>
          </p:nvPr>
        </p:nvSpPr>
        <p:spPr>
          <a:xfrm>
            <a:off x="2392680" y="2987675"/>
            <a:ext cx="9799320" cy="566420"/>
          </a:xfrm>
        </p:spPr>
        <p:txBody>
          <a:bodyPr/>
          <a:p>
            <a:r>
              <a:rPr lang="zh-CN" altLang="en-US"/>
              <a:t>金山办公软件2021主题年会暨颁奖典礼</a:t>
            </a:r>
            <a:endParaRPr lang="zh-CN" altLang="en-US"/>
          </a:p>
        </p:txBody>
      </p:sp>
      <p:sp>
        <p:nvSpPr>
          <p:cNvPr id="41" name="文本框 3"/>
          <p:cNvSpPr txBox="1"/>
          <p:nvPr/>
        </p:nvSpPr>
        <p:spPr>
          <a:xfrm>
            <a:off x="1196400" y="6551295"/>
            <a:ext cx="9799200" cy="30670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ctr"/>
            <a:r>
              <a:rPr lang="en-US" sz="1400">
                <a:solidFill>
                  <a:srgbClr val="FCF6C1"/>
                </a:solidFill>
                <a:effectLst/>
              </a:rPr>
              <a:t>KINGSOFT OFFICE 2021 THEME ANNUAL MEETING AND AWARD CEREMONY</a:t>
            </a:r>
            <a:endParaRPr lang="en-US" sz="1400">
              <a:solidFill>
                <a:srgbClr val="FCF6C1"/>
              </a:solidFill>
              <a:effectLst/>
            </a:endParaRPr>
          </a:p>
        </p:txBody>
      </p:sp>
      <p:pic>
        <p:nvPicPr>
          <p:cNvPr id="26" name="图片 4" descr="金山办公LOGO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5007757" y="596265"/>
            <a:ext cx="2176487" cy="900000"/>
          </a:xfrm>
          <a:prstGeom prst="rect">
            <a:avLst/>
          </a:prstGeom>
        </p:spPr>
      </p:pic>
      <p:pic>
        <p:nvPicPr>
          <p:cNvPr id="28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57475" y="3759200"/>
            <a:ext cx="6877050" cy="26797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0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51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52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53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5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5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56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57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58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742</Words>
  <Application>WPS 演示</Application>
  <PresentationFormat>宽屏</PresentationFormat>
  <Paragraphs>86</Paragraphs>
  <Slides>20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汉仪尚巍手书W</vt:lpstr>
      <vt:lpstr>Office 主题​​</vt:lpstr>
      <vt:lpstr>保持初心 奔赴未来</vt:lpstr>
      <vt:lpstr>PowerPoint 演示文稿</vt:lpstr>
      <vt:lpstr>PowerPoint 演示文稿</vt:lpstr>
      <vt:lpstr>PowerPoint 演示文稿</vt:lpstr>
      <vt:lpstr>盛会启航</vt:lpstr>
      <vt:lpstr>PowerPoint 演示文稿</vt:lpstr>
      <vt:lpstr>PowerPoint 演示文稿</vt:lpstr>
      <vt:lpstr>使命 愿景 价值观</vt:lpstr>
      <vt:lpstr>价值观宣传片「使命愿景篇」</vt:lpstr>
      <vt:lpstr>颁奖典礼</vt:lpstr>
      <vt:lpstr>最佳团队奖</vt:lpstr>
      <vt:lpstr>获奖名单</vt:lpstr>
      <vt:lpstr>最佳个人奖</vt:lpstr>
      <vt:lpstr>获奖名单</vt:lpstr>
      <vt:lpstr>节目汇演</vt:lpstr>
      <vt:lpstr>PowerPoint 演示文稿</vt:lpstr>
      <vt:lpstr>PowerPoint 演示文稿</vt:lpstr>
      <vt:lpstr>PowerPoint 演示文稿</vt:lpstr>
      <vt:lpstr>PowerPoint 演示文稿</vt:lpstr>
      <vt:lpstr>晚会结束 有序退场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万涛</cp:lastModifiedBy>
  <cp:revision>278</cp:revision>
  <dcterms:created xsi:type="dcterms:W3CDTF">2019-06-19T02:08:00Z</dcterms:created>
  <dcterms:modified xsi:type="dcterms:W3CDTF">2021-11-10T12:02:33Z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