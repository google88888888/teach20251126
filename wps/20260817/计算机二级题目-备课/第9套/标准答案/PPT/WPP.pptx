
<file path=[Content_Types].xml><?xml version="1.0" encoding="utf-8"?>
<Types xmlns="http://schemas.openxmlformats.org/package/2006/content-types">
  <Default Extension="wav" ContentType="audio/x-wav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442" r:id="rId3"/>
    <p:sldId id="412" r:id="rId4"/>
    <p:sldId id="413" r:id="rId5"/>
    <p:sldId id="414" r:id="rId6"/>
    <p:sldId id="470" r:id="rId7"/>
    <p:sldId id="415" r:id="rId8"/>
    <p:sldId id="416" r:id="rId10"/>
    <p:sldId id="431" r:id="rId11"/>
    <p:sldId id="477" r:id="rId12"/>
    <p:sldId id="420" r:id="rId13"/>
    <p:sldId id="421" r:id="rId14"/>
    <p:sldId id="474" r:id="rId15"/>
    <p:sldId id="462" r:id="rId16"/>
    <p:sldId id="475" r:id="rId17"/>
    <p:sldId id="425" r:id="rId18"/>
    <p:sldId id="478" r:id="rId19"/>
    <p:sldId id="479" r:id="rId20"/>
    <p:sldId id="480" r:id="rId21"/>
    <p:sldId id="481" r:id="rId22"/>
    <p:sldId id="443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ngsoft" initials="k" lastIdx="2" clrIdx="0"/>
  <p:cmAuthor id="2" name="作者" initials="作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6C1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7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5">
  <dgm:title val=""/>
  <dgm:desc val=""/>
  <dgm:catLst>
    <dgm:cat type="accent5" pri="11500"/>
  </dgm:catLst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C000F8-565F-47C8-934D-04C4161F3991}" type="doc">
      <dgm:prSet loTypeId="urn:microsoft.com/office/officeart/2005/8/layout/hList6" loCatId="list" qsTypeId="urn:microsoft.com/office/officeart/2005/8/quickstyle/simple1" qsCatId="simple" csTypeId="urn:microsoft.com/office/officeart/2005/8/colors/accent5_5" csCatId="accent1" phldr="0"/>
      <dgm:spPr/>
      <dgm:t>
        <a:bodyPr/>
        <a:p>
          <a:endParaRPr lang="zh-CN" altLang="en-US"/>
        </a:p>
      </dgm:t>
    </dgm:pt>
    <dgm:pt modelId="{B35DC22E-F108-4B3B-9710-DB9DE75343ED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>
              <a:sym typeface="+mn-ea"/>
            </a:rPr>
            <a:t>VALUES</a:t>
          </a:r>
          <a:r>
            <a:rPr lang="zh-CN" altLang="en-US"/>
            <a:t/>
          </a:r>
          <a:endParaRPr lang="zh-CN" altLang="en-US"/>
        </a:p>
      </dgm:t>
    </dgm:pt>
    <dgm:pt modelId="{EBB93E41-453D-43F8-A2E3-A239D5DD76EF}" cxnId="{4689CACF-979E-4D60-84F9-8D03591CF185}" type="parTrans">
      <dgm:prSet/>
      <dgm:spPr/>
      <dgm:t>
        <a:bodyPr/>
        <a:p>
          <a:endParaRPr lang="zh-CN" altLang="en-US"/>
        </a:p>
      </dgm:t>
    </dgm:pt>
    <dgm:pt modelId="{AE268020-85A8-42C2-B5CC-9F1AA3B5FF0D}" cxnId="{4689CACF-979E-4D60-84F9-8D03591CF185}" type="sibTrans">
      <dgm:prSet/>
      <dgm:spPr/>
      <dgm:t>
        <a:bodyPr/>
        <a:p>
          <a:endParaRPr lang="zh-CN" altLang="en-US"/>
        </a:p>
      </dgm:t>
    </dgm:pt>
    <dgm:pt modelId="{C4CB4832-56D3-4258-B554-22D550C4082C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>
              <a:sym typeface="+mn-ea"/>
            </a:rPr>
            <a:t>用户第一、坚持创新、诚信正直、乐观坚韧。</a:t>
          </a:r>
          <a:r>
            <a:rPr lang="zh-CN" altLang="en-US"/>
            <a:t/>
          </a:r>
          <a:endParaRPr lang="zh-CN" altLang="en-US"/>
        </a:p>
      </dgm:t>
    </dgm:pt>
    <dgm:pt modelId="{9760D99E-1681-418C-9E6F-82418A8FA513}" cxnId="{BD25ED7B-CD09-4FF2-9AE8-F1AD8D8913E3}" type="parTrans">
      <dgm:prSet/>
      <dgm:spPr/>
    </dgm:pt>
    <dgm:pt modelId="{71A97467-7482-4A9D-BF6F-8F59A9042A1E}" cxnId="{BD25ED7B-CD09-4FF2-9AE8-F1AD8D8913E3}" type="sibTrans">
      <dgm:prSet/>
      <dgm:spPr/>
    </dgm:pt>
    <dgm:pt modelId="{23131DDC-A01B-4344-BF1A-BB816EB5AC77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sym typeface="+mn-ea"/>
            </a:rPr>
            <a:t>VISION</a:t>
          </a:r>
          <a:r>
            <a:rPr lang="zh-CN" altLang="en-US"/>
            <a:t/>
          </a:r>
          <a:endParaRPr lang="zh-CN" altLang="en-US"/>
        </a:p>
      </dgm:t>
    </dgm:pt>
    <dgm:pt modelId="{12FEF91F-8EE0-4AC9-A4D2-80055CFE585C}" cxnId="{64015683-6E93-4D69-8B6C-563F0C129925}" type="parTrans">
      <dgm:prSet/>
      <dgm:spPr/>
      <dgm:t>
        <a:bodyPr/>
        <a:p>
          <a:endParaRPr lang="zh-CN" altLang="en-US"/>
        </a:p>
      </dgm:t>
    </dgm:pt>
    <dgm:pt modelId="{185FD9E9-AAAD-4507-8496-8C5AE802B8F3}" cxnId="{64015683-6E93-4D69-8B6C-563F0C129925}" type="sibTrans">
      <dgm:prSet/>
      <dgm:spPr/>
      <dgm:t>
        <a:bodyPr/>
        <a:p>
          <a:endParaRPr lang="zh-CN" altLang="en-US"/>
        </a:p>
      </dgm:t>
    </dgm:pt>
    <dgm:pt modelId="{D503D990-B073-409B-B029-F481DAFD6421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>
              <a:sym typeface="+mn-ea"/>
            </a:rPr>
            <a:t>我们将成为一家用户喜爱、员工自豪、社会尊敬的公司。为用户提供超出预期、不可思议的办公体验，成为全球办公服务的领导者。</a:t>
          </a:r>
          <a:r>
            <a:rPr lang="zh-CN" altLang="en-US"/>
            <a:t/>
          </a:r>
          <a:endParaRPr lang="zh-CN" altLang="en-US"/>
        </a:p>
      </dgm:t>
    </dgm:pt>
    <dgm:pt modelId="{C7D01B96-5696-462E-B31C-3BB0C19B47DE}" cxnId="{4505E536-DAAC-4CC5-9140-AD62302C2631}" type="parTrans">
      <dgm:prSet/>
      <dgm:spPr/>
    </dgm:pt>
    <dgm:pt modelId="{2DB1B179-4E26-4FAA-8D9C-52EA0B129D37}" cxnId="{4505E536-DAAC-4CC5-9140-AD62302C2631}" type="sibTrans">
      <dgm:prSet/>
      <dgm:spPr/>
    </dgm:pt>
    <dgm:pt modelId="{AAD6C221-DD80-42A7-ADB3-2F6C0D7FA118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sym typeface="+mn-ea"/>
            </a:rPr>
            <a:t>MISSION</a:t>
          </a:r>
          <a:r>
            <a:rPr lang="zh-CN" altLang="en-US"/>
            <a:t/>
          </a:r>
          <a:endParaRPr lang="zh-CN" altLang="en-US"/>
        </a:p>
      </dgm:t>
    </dgm:pt>
    <dgm:pt modelId="{358DB283-DA3B-40D5-83BA-EEE6A1F7F1AB}" cxnId="{C73E3BAD-9D41-4D5F-B4B3-27C24A08C22B}" type="parTrans">
      <dgm:prSet/>
      <dgm:spPr/>
      <dgm:t>
        <a:bodyPr/>
        <a:p>
          <a:endParaRPr lang="zh-CN" altLang="en-US"/>
        </a:p>
      </dgm:t>
    </dgm:pt>
    <dgm:pt modelId="{D69A2F7E-A0DD-4385-AB14-80EBD0482338}" cxnId="{C73E3BAD-9D41-4D5F-B4B3-27C24A08C22B}" type="sibTrans">
      <dgm:prSet/>
      <dgm:spPr/>
      <dgm:t>
        <a:bodyPr/>
        <a:p>
          <a:endParaRPr lang="zh-CN" altLang="en-US"/>
        </a:p>
      </dgm:t>
    </dgm:pt>
    <dgm:pt modelId="{CC9BDA1E-84D5-464D-9CB8-030F036A0B79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>
              <a:sym typeface="+mn-ea"/>
            </a:rPr>
            <a:t>简单创作、轻松表达、实现价值的连接。</a:t>
          </a:r>
          <a:r>
            <a:rPr lang="zh-CN" altLang="en-US"/>
            <a:t/>
          </a:r>
          <a:endParaRPr lang="zh-CN" altLang="en-US"/>
        </a:p>
      </dgm:t>
    </dgm:pt>
    <dgm:pt modelId="{8A23F568-A795-4841-A867-C169B6BFA713}" cxnId="{D00B3B64-66EE-46F0-9F94-CAEF9430EE52}" type="parTrans">
      <dgm:prSet/>
      <dgm:spPr/>
    </dgm:pt>
    <dgm:pt modelId="{C92D60CC-515B-4F9C-BB6C-9FC5A29FB580}" cxnId="{D00B3B64-66EE-46F0-9F94-CAEF9430EE52}" type="sibTrans">
      <dgm:prSet/>
      <dgm:spPr/>
    </dgm:pt>
    <dgm:pt modelId="{A944CCA1-9FB5-4093-86A8-89045A44E778}" type="pres">
      <dgm:prSet presAssocID="{ACC000F8-565F-47C8-934D-04C4161F3991}" presName="Name0" presStyleCnt="0">
        <dgm:presLayoutVars>
          <dgm:dir val="rev"/>
          <dgm:resizeHandles val="exact"/>
        </dgm:presLayoutVars>
      </dgm:prSet>
      <dgm:spPr/>
    </dgm:pt>
    <dgm:pt modelId="{8A0A2265-FBC1-4B12-98E0-7D91387047CB}" type="pres">
      <dgm:prSet presAssocID="{B35DC22E-F108-4B3B-9710-DB9DE75343ED}" presName="node" presStyleLbl="node1" presStyleIdx="0" presStyleCnt="3">
        <dgm:presLayoutVars>
          <dgm:bulletEnabled val="1"/>
        </dgm:presLayoutVars>
      </dgm:prSet>
      <dgm:spPr/>
    </dgm:pt>
    <dgm:pt modelId="{0EBC7ECC-B294-4427-ABE7-478E5559C6EE}" type="pres">
      <dgm:prSet presAssocID="{AE268020-85A8-42C2-B5CC-9F1AA3B5FF0D}" presName="sibTrans" presStyleCnt="0"/>
      <dgm:spPr/>
    </dgm:pt>
    <dgm:pt modelId="{5CD5B18C-5B5C-41F1-969F-468111D317DF}" type="pres">
      <dgm:prSet presAssocID="{23131DDC-A01B-4344-BF1A-BB816EB5AC77}" presName="node" presStyleLbl="node1" presStyleIdx="1" presStyleCnt="3">
        <dgm:presLayoutVars>
          <dgm:bulletEnabled val="1"/>
        </dgm:presLayoutVars>
      </dgm:prSet>
      <dgm:spPr/>
    </dgm:pt>
    <dgm:pt modelId="{2D730973-E442-4361-B2A7-2FE0B894A1F4}" type="pres">
      <dgm:prSet presAssocID="{185FD9E9-AAAD-4507-8496-8C5AE802B8F3}" presName="sibTrans" presStyleCnt="0"/>
      <dgm:spPr/>
    </dgm:pt>
    <dgm:pt modelId="{52D58EB8-4BA0-4252-B53D-2EF30D5347E3}" type="pres">
      <dgm:prSet presAssocID="{AAD6C221-DD80-42A7-ADB3-2F6C0D7FA118}" presName="node" presStyleLbl="node1" presStyleIdx="2" presStyleCnt="3">
        <dgm:presLayoutVars>
          <dgm:bulletEnabled val="1"/>
        </dgm:presLayoutVars>
      </dgm:prSet>
      <dgm:spPr/>
    </dgm:pt>
  </dgm:ptLst>
  <dgm:cxnLst>
    <dgm:cxn modelId="{4689CACF-979E-4D60-84F9-8D03591CF185}" srcId="{ACC000F8-565F-47C8-934D-04C4161F3991}" destId="{B35DC22E-F108-4B3B-9710-DB9DE75343ED}" srcOrd="0" destOrd="0" parTransId="{EBB93E41-453D-43F8-A2E3-A239D5DD76EF}" sibTransId="{AE268020-85A8-42C2-B5CC-9F1AA3B5FF0D}"/>
    <dgm:cxn modelId="{BD25ED7B-CD09-4FF2-9AE8-F1AD8D8913E3}" srcId="{B35DC22E-F108-4B3B-9710-DB9DE75343ED}" destId="{C4CB4832-56D3-4258-B554-22D550C4082C}" srcOrd="0" destOrd="0" parTransId="{9760D99E-1681-418C-9E6F-82418A8FA513}" sibTransId="{71A97467-7482-4A9D-BF6F-8F59A9042A1E}"/>
    <dgm:cxn modelId="{64015683-6E93-4D69-8B6C-563F0C129925}" srcId="{ACC000F8-565F-47C8-934D-04C4161F3991}" destId="{23131DDC-A01B-4344-BF1A-BB816EB5AC77}" srcOrd="1" destOrd="0" parTransId="{12FEF91F-8EE0-4AC9-A4D2-80055CFE585C}" sibTransId="{185FD9E9-AAAD-4507-8496-8C5AE802B8F3}"/>
    <dgm:cxn modelId="{4505E536-DAAC-4CC5-9140-AD62302C2631}" srcId="{23131DDC-A01B-4344-BF1A-BB816EB5AC77}" destId="{D503D990-B073-409B-B029-F481DAFD6421}" srcOrd="0" destOrd="1" parTransId="{C7D01B96-5696-462E-B31C-3BB0C19B47DE}" sibTransId="{2DB1B179-4E26-4FAA-8D9C-52EA0B129D37}"/>
    <dgm:cxn modelId="{C73E3BAD-9D41-4D5F-B4B3-27C24A08C22B}" srcId="{ACC000F8-565F-47C8-934D-04C4161F3991}" destId="{AAD6C221-DD80-42A7-ADB3-2F6C0D7FA118}" srcOrd="2" destOrd="0" parTransId="{358DB283-DA3B-40D5-83BA-EEE6A1F7F1AB}" sibTransId="{D69A2F7E-A0DD-4385-AB14-80EBD0482338}"/>
    <dgm:cxn modelId="{D00B3B64-66EE-46F0-9F94-CAEF9430EE52}" srcId="{AAD6C221-DD80-42A7-ADB3-2F6C0D7FA118}" destId="{CC9BDA1E-84D5-464D-9CB8-030F036A0B79}" srcOrd="0" destOrd="2" parTransId="{8A23F568-A795-4841-A867-C169B6BFA713}" sibTransId="{C92D60CC-515B-4F9C-BB6C-9FC5A29FB580}"/>
    <dgm:cxn modelId="{00C38644-7B98-4B78-8958-D7931F48407C}" type="presOf" srcId="{ACC000F8-565F-47C8-934D-04C4161F3991}" destId="{A944CCA1-9FB5-4093-86A8-89045A44E778}" srcOrd="0" destOrd="0" presId="urn:microsoft.com/office/officeart/2005/8/layout/hList6"/>
    <dgm:cxn modelId="{8248E69E-52F7-442D-8773-F3358A2DD4F5}" type="presParOf" srcId="{A944CCA1-9FB5-4093-86A8-89045A44E778}" destId="{8A0A2265-FBC1-4B12-98E0-7D91387047CB}" srcOrd="0" destOrd="0" presId="urn:microsoft.com/office/officeart/2005/8/layout/hList6"/>
    <dgm:cxn modelId="{425FE374-81F2-4E03-9846-E9D4CB5E449A}" type="presOf" srcId="{B35DC22E-F108-4B3B-9710-DB9DE75343ED}" destId="{8A0A2265-FBC1-4B12-98E0-7D91387047CB}" srcOrd="0" destOrd="0" presId="urn:microsoft.com/office/officeart/2005/8/layout/hList6"/>
    <dgm:cxn modelId="{AB5E496F-EAA1-4D17-B3A3-EE7573047ABE}" type="presOf" srcId="{C4CB4832-56D3-4258-B554-22D550C4082C}" destId="{8A0A2265-FBC1-4B12-98E0-7D91387047CB}" srcOrd="0" destOrd="1" presId="urn:microsoft.com/office/officeart/2005/8/layout/hList6"/>
    <dgm:cxn modelId="{7B61B448-4D46-4CB0-833B-92F083DEC7EF}" type="presParOf" srcId="{A944CCA1-9FB5-4093-86A8-89045A44E778}" destId="{0EBC7ECC-B294-4427-ABE7-478E5559C6EE}" srcOrd="1" destOrd="0" presId="urn:microsoft.com/office/officeart/2005/8/layout/hList6"/>
    <dgm:cxn modelId="{AC453F85-1B4A-495D-B6FB-2D9386D8A0EC}" type="presParOf" srcId="{A944CCA1-9FB5-4093-86A8-89045A44E778}" destId="{5CD5B18C-5B5C-41F1-969F-468111D317DF}" srcOrd="2" destOrd="0" presId="urn:microsoft.com/office/officeart/2005/8/layout/hList6"/>
    <dgm:cxn modelId="{673B065D-34A3-4A55-BE75-9359F0C19919}" type="presOf" srcId="{23131DDC-A01B-4344-BF1A-BB816EB5AC77}" destId="{5CD5B18C-5B5C-41F1-969F-468111D317DF}" srcOrd="0" destOrd="0" presId="urn:microsoft.com/office/officeart/2005/8/layout/hList6"/>
    <dgm:cxn modelId="{EBC3C750-A1F6-4463-AD9B-A06257B4DDD1}" type="presOf" srcId="{D503D990-B073-409B-B029-F481DAFD6421}" destId="{5CD5B18C-5B5C-41F1-969F-468111D317DF}" srcOrd="0" destOrd="1" presId="urn:microsoft.com/office/officeart/2005/8/layout/hList6"/>
    <dgm:cxn modelId="{DE113E4A-418B-4E71-A739-4BBAD765A3C3}" type="presParOf" srcId="{A944CCA1-9FB5-4093-86A8-89045A44E778}" destId="{2D730973-E442-4361-B2A7-2FE0B894A1F4}" srcOrd="3" destOrd="0" presId="urn:microsoft.com/office/officeart/2005/8/layout/hList6"/>
    <dgm:cxn modelId="{3176114F-FD24-42CC-AF3E-90B5B2BA0EBF}" type="presParOf" srcId="{A944CCA1-9FB5-4093-86A8-89045A44E778}" destId="{52D58EB8-4BA0-4252-B53D-2EF30D5347E3}" srcOrd="4" destOrd="0" presId="urn:microsoft.com/office/officeart/2005/8/layout/hList6"/>
    <dgm:cxn modelId="{DF554D8F-AF35-43F1-8154-787004E5E6FD}" type="presOf" srcId="{AAD6C221-DD80-42A7-ADB3-2F6C0D7FA118}" destId="{52D58EB8-4BA0-4252-B53D-2EF30D5347E3}" srcOrd="0" destOrd="0" presId="urn:microsoft.com/office/officeart/2005/8/layout/hList6"/>
    <dgm:cxn modelId="{2638167F-6395-47B0-B545-EF6B2E01FF4B}" type="presOf" srcId="{CC9BDA1E-84D5-464D-9CB8-030F036A0B79}" destId="{52D58EB8-4BA0-4252-B53D-2EF30D5347E3}" srcOrd="0" destOrd="1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8128000" cy="3061335"/>
        <a:chOff x="0" y="0"/>
        <a:chExt cx="8128000" cy="3061335"/>
      </a:xfrm>
    </dsp:grpSpPr>
    <dsp:sp modelId="{8A0A2265-FBC1-4B12-98E0-7D91387047CB}">
      <dsp:nvSpPr>
        <dsp:cNvPr id="3" name="流程图: 手动操作 2"/>
        <dsp:cNvSpPr/>
      </dsp:nvSpPr>
      <dsp:spPr bwMode="white">
        <a:xfrm rot="5400000">
          <a:off x="5307174" y="240509"/>
          <a:ext cx="3061335" cy="2580317"/>
        </a:xfrm>
        <a:prstGeom prst="flowChartManualOperation">
          <a:avLst/>
        </a:prstGeom>
      </dsp:spPr>
      <dsp:style>
        <a:lnRef idx="2">
          <a:schemeClr val="lt1"/>
        </a:lnRef>
        <a:fillRef idx="1">
          <a:schemeClr val="accent5">
            <a:alpha val="9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127000" tIns="0" rIns="127000" bIns="0" anchor="t"/>
        <a:lstStyle>
          <a:lvl1pPr algn="l">
            <a:defRPr sz="2000"/>
          </a:lvl1pPr>
          <a:lvl2pPr marL="114300" indent="-114300" algn="l">
            <a:defRPr sz="1500"/>
          </a:lvl2pPr>
          <a:lvl3pPr marL="228600" indent="-114300" algn="l">
            <a:defRPr sz="1500"/>
          </a:lvl3pPr>
          <a:lvl4pPr marL="342900" indent="-114300" algn="l">
            <a:defRPr sz="1500"/>
          </a:lvl4pPr>
          <a:lvl5pPr marL="457200" indent="-114300" algn="l">
            <a:defRPr sz="1500"/>
          </a:lvl5pPr>
          <a:lvl6pPr marL="571500" indent="-114300" algn="l">
            <a:defRPr sz="1500"/>
          </a:lvl6pPr>
          <a:lvl7pPr marL="685800" indent="-114300" algn="l">
            <a:defRPr sz="1500"/>
          </a:lvl7pPr>
          <a:lvl8pPr marL="800100" indent="-114300" algn="l">
            <a:defRPr sz="1500"/>
          </a:lvl8pPr>
          <a:lvl9pPr marL="914400" indent="-114300" algn="l">
            <a:defRPr sz="1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>
              <a:sym typeface="+mn-ea"/>
            </a:rPr>
            <a:t>VALUES</a:t>
          </a:r>
          <a:endParaRPr lang="zh-CN" altLang="en-US"/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ym typeface="+mn-ea"/>
            </a:rPr>
            <a:t>用户第一、坚持创新、诚信正直、乐观坚韧。</a:t>
          </a:r>
          <a:endParaRPr lang="zh-CN" altLang="en-US"/>
        </a:p>
      </dsp:txBody>
      <dsp:txXfrm rot="5400000">
        <a:off x="5307174" y="240509"/>
        <a:ext cx="3061335" cy="2580317"/>
      </dsp:txXfrm>
    </dsp:sp>
    <dsp:sp modelId="{5CD5B18C-5B5C-41F1-969F-468111D317DF}">
      <dsp:nvSpPr>
        <dsp:cNvPr id="4" name="流程图: 手动操作 3"/>
        <dsp:cNvSpPr/>
      </dsp:nvSpPr>
      <dsp:spPr bwMode="white">
        <a:xfrm rot="5400000">
          <a:off x="2533332" y="240509"/>
          <a:ext cx="3061335" cy="2580317"/>
        </a:xfrm>
        <a:prstGeom prst="flowChartManualOperation">
          <a:avLst/>
        </a:prstGeom>
      </dsp:spPr>
      <dsp:style>
        <a:lnRef idx="2">
          <a:schemeClr val="lt1"/>
        </a:lnRef>
        <a:fillRef idx="1">
          <a:schemeClr val="accent5">
            <a:alpha val="9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127000" tIns="0" rIns="127000" bIns="0" anchor="t"/>
        <a:lstStyle>
          <a:lvl1pPr algn="l">
            <a:defRPr sz="2000"/>
          </a:lvl1pPr>
          <a:lvl2pPr marL="114300" indent="-114300" algn="l">
            <a:defRPr sz="1500"/>
          </a:lvl2pPr>
          <a:lvl3pPr marL="228600" indent="-114300" algn="l">
            <a:defRPr sz="1500"/>
          </a:lvl3pPr>
          <a:lvl4pPr marL="342900" indent="-114300" algn="l">
            <a:defRPr sz="1500"/>
          </a:lvl4pPr>
          <a:lvl5pPr marL="457200" indent="-114300" algn="l">
            <a:defRPr sz="1500"/>
          </a:lvl5pPr>
          <a:lvl6pPr marL="571500" indent="-114300" algn="l">
            <a:defRPr sz="1500"/>
          </a:lvl6pPr>
          <a:lvl7pPr marL="685800" indent="-114300" algn="l">
            <a:defRPr sz="1500"/>
          </a:lvl7pPr>
          <a:lvl8pPr marL="800100" indent="-114300" algn="l">
            <a:defRPr sz="1500"/>
          </a:lvl8pPr>
          <a:lvl9pPr marL="914400" indent="-114300" algn="l">
            <a:defRPr sz="1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sym typeface="+mn-ea"/>
            </a:rPr>
            <a:t>VISION</a:t>
          </a:r>
          <a:endParaRPr lang="zh-CN" altLang="en-US"/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ym typeface="+mn-ea"/>
            </a:rPr>
            <a:t>我们将成为一家用户喜爱、员工自豪、社会尊敬的公司。为用户提供超出预期、不可思议的办公体验，成为全球办公服务的领导者。</a:t>
          </a:r>
          <a:endParaRPr lang="zh-CN" altLang="en-US"/>
        </a:p>
      </dsp:txBody>
      <dsp:txXfrm rot="5400000">
        <a:off x="2533332" y="240509"/>
        <a:ext cx="3061335" cy="2580317"/>
      </dsp:txXfrm>
    </dsp:sp>
    <dsp:sp modelId="{52D58EB8-4BA0-4252-B53D-2EF30D5347E3}">
      <dsp:nvSpPr>
        <dsp:cNvPr id="5" name="流程图: 手动操作 4"/>
        <dsp:cNvSpPr/>
      </dsp:nvSpPr>
      <dsp:spPr bwMode="white">
        <a:xfrm rot="5400000">
          <a:off x="-240509" y="240509"/>
          <a:ext cx="3061335" cy="2580317"/>
        </a:xfrm>
        <a:prstGeom prst="flowChartManualOperation">
          <a:avLst/>
        </a:prstGeom>
      </dsp:spPr>
      <dsp:style>
        <a:lnRef idx="2">
          <a:schemeClr val="lt1"/>
        </a:lnRef>
        <a:fillRef idx="1">
          <a:schemeClr val="accent5">
            <a:alpha val="90000"/>
            <a:hueOff val="0"/>
            <a:satOff val="0"/>
            <a:lumOff val="0"/>
            <a:alpha val="5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vert="horz" wrap="square" lIns="127000" tIns="0" rIns="127000" bIns="0" anchor="t"/>
        <a:lstStyle>
          <a:lvl1pPr algn="l">
            <a:defRPr sz="2000"/>
          </a:lvl1pPr>
          <a:lvl2pPr marL="114300" indent="-114300" algn="l">
            <a:defRPr sz="1500"/>
          </a:lvl2pPr>
          <a:lvl3pPr marL="228600" indent="-114300" algn="l">
            <a:defRPr sz="1500"/>
          </a:lvl3pPr>
          <a:lvl4pPr marL="342900" indent="-114300" algn="l">
            <a:defRPr sz="1500"/>
          </a:lvl4pPr>
          <a:lvl5pPr marL="457200" indent="-114300" algn="l">
            <a:defRPr sz="1500"/>
          </a:lvl5pPr>
          <a:lvl6pPr marL="571500" indent="-114300" algn="l">
            <a:defRPr sz="1500"/>
          </a:lvl6pPr>
          <a:lvl7pPr marL="685800" indent="-114300" algn="l">
            <a:defRPr sz="1500"/>
          </a:lvl7pPr>
          <a:lvl8pPr marL="800100" indent="-114300" algn="l">
            <a:defRPr sz="1500"/>
          </a:lvl8pPr>
          <a:lvl9pPr marL="914400" indent="-114300" algn="l">
            <a:defRPr sz="1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sym typeface="+mn-ea"/>
            </a:rPr>
            <a:t>MISSION</a:t>
          </a:r>
          <a:endParaRPr lang="zh-CN" altLang="en-US"/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ym typeface="+mn-ea"/>
            </a:rPr>
            <a:t>简单创作、轻松表达、实现价值的连接。</a:t>
          </a:r>
          <a:endParaRPr lang="zh-CN" altLang="en-US"/>
        </a:p>
      </dsp:txBody>
      <dsp:txXfrm rot="5400000">
        <a:off x="-240509" y="240509"/>
        <a:ext cx="3061335" cy="25803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type="flowChartManualOperation" r:blip="" rot="-90">
              <dgm:adjLst/>
            </dgm:shape>
          </dgm:if>
          <dgm:else name="Name6">
            <dgm:shape xmlns:r="http://schemas.openxmlformats.org/officeDocument/2006/relationships" type="flowChartManualOperation" r:blip="" rot="90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77FDC-07E9-46A8-8B32-6776C9CC67B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占位符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98880" y="1971040"/>
            <a:ext cx="9799320" cy="1017270"/>
          </a:xfrm>
          <a:prstGeom prst="rect">
            <a:avLst/>
          </a:prstGeom>
        </p:spPr>
        <p:txBody>
          <a:bodyPr vert="horz" lIns="90170" tIns="46990" rIns="90170" bIns="46990" rtlCol="0" anchor="b" anchorCtr="0">
            <a:noAutofit/>
          </a:bodyPr>
          <a:lstStyle>
            <a:lvl1pPr algn="ctr">
              <a:defRPr sz="6000" u="none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98800" y="2987630"/>
            <a:ext cx="9799200" cy="56642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800"/>
            </a:lvl1pPr>
          </a:lstStyle>
          <a:p>
            <a:pPr lvl="0"/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>
            <a:no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>
            <a:no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643245" y="607060"/>
            <a:ext cx="6548755" cy="5643245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>
              <a:lnSpc>
                <a:spcPct val="150000"/>
              </a:lnSpc>
              <a:defRPr sz="88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3"/>
            <p:custDataLst>
              <p:tags r:id="rId3"/>
            </p:custDataLst>
          </p:nvPr>
        </p:nvSpPr>
        <p:spPr>
          <a:xfrm>
            <a:off x="0" y="607060"/>
            <a:ext cx="5643245" cy="5643245"/>
          </a:xfrm>
        </p:spPr>
        <p:txBody>
          <a:bodyPr vert="horz" lIns="90000" tIns="46800" rIns="90000" bIns="468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rgbClr val="FCF6C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>
            <a:no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>
            <a:no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占位符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Autofit/>
          </a:bodyPr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344355" y="1555200"/>
            <a:ext cx="5233077" cy="4608000"/>
          </a:xfrm>
        </p:spPr>
        <p:txBody>
          <a:bodyPr vert="horz" lIns="90000" tIns="46800" rIns="90000" bIns="468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2800" b="0" i="0" u="none" strike="noStrike" kern="1200" cap="none" spc="0" normalizeH="0" baseline="0" noProof="1" dirty="0">
                <a:solidFill>
                  <a:srgbClr val="FCF6C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idx="14"/>
            <p:custDataLst>
              <p:tags r:id="rId4"/>
            </p:custDataLst>
          </p:nvPr>
        </p:nvSpPr>
        <p:spPr>
          <a:xfrm>
            <a:off x="612192" y="1484767"/>
            <a:ext cx="5176838" cy="4748644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>
            <a:noAutofit/>
          </a:bodyPr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Autofit/>
          </a:bodyPr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>
            <a:noAutofit/>
          </a:bodyPr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占位符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>
            <a:no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>
            <a:no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占位符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12000" y="914447"/>
            <a:ext cx="918845" cy="5029458"/>
          </a:xfrm>
          <a:prstGeom prst="rect">
            <a:avLst/>
          </a:prstGeom>
        </p:spPr>
        <p:txBody>
          <a:bodyPr vert="eaVert" lIns="90170" tIns="46990" rIns="90170" bIns="46990" rtlCol="0" anchor="ctr" anchorCtr="0">
            <a:noAutofit/>
          </a:bodyPr>
          <a:lstStyle>
            <a:lvl1pPr>
              <a:defRPr sz="48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>
            <a:no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>
            <a:no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tags" Target="../tags/tag38.xml"/><Relationship Id="rId14" Type="http://schemas.openxmlformats.org/officeDocument/2006/relationships/image" Target="../media/image2.png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8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0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000" u="none" strike="noStrike" kern="1200" cap="none" spc="0" normalizeH="0" baseline="0">
                <a:solidFill>
                  <a:srgbClr val="FCF6C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000" u="none" strike="noStrike" kern="1200" cap="none" spc="0" normalizeH="0" baseline="0">
                <a:solidFill>
                  <a:srgbClr val="FCF6C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000" u="none" strike="noStrike" kern="1200" cap="none" spc="0" normalizeH="0" baseline="0">
                <a:solidFill>
                  <a:srgbClr val="FCF6C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 descr="LOGO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729595" y="0"/>
            <a:ext cx="1462405" cy="604520"/>
          </a:xfrm>
          <a:prstGeom prst="rect">
            <a:avLst/>
          </a:prstGeom>
        </p:spPr>
      </p:pic>
    </p:spTree>
    <p:custDataLst>
      <p:tags r:id="rId1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4800" b="1" u="none" strike="noStrike" kern="1200" cap="none" spc="0" normalizeH="0" baseline="0">
          <a:solidFill>
            <a:srgbClr val="FCF6C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0" indent="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2800" u="none" strike="noStrike" kern="1200" cap="none" spc="0" normalizeH="0" baseline="0">
          <a:solidFill>
            <a:srgbClr val="FCF6C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457200" indent="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tabLst>
          <a:tab pos="1609725" algn="l"/>
          <a:tab pos="1609725" algn="l"/>
          <a:tab pos="1609725" algn="l"/>
          <a:tab pos="1609725" algn="l"/>
        </a:tabLst>
        <a:defRPr sz="2400" u="none" strike="noStrike" kern="1200" cap="none" spc="0" normalizeH="0" baseline="0">
          <a:solidFill>
            <a:srgbClr val="FCF6C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914400" indent="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2400" u="none" strike="noStrike" kern="1200" cap="none" spc="0" normalizeH="0" baseline="0">
          <a:solidFill>
            <a:srgbClr val="FCF6C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371600" indent="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0"/>
        </a:spcAft>
        <a:buFont typeface="Wingdings" panose="05000000000000000000" charset="0"/>
        <a:buNone/>
        <a:defRPr sz="2000" u="none" strike="noStrike" kern="1200" cap="none" spc="0" normalizeH="0" baseline="0">
          <a:solidFill>
            <a:srgbClr val="FCF6C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1828800" indent="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2000" u="none" strike="noStrike" kern="1200" cap="none" spc="0" normalizeH="0" baseline="0">
          <a:solidFill>
            <a:srgbClr val="FCF6C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4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audio" Target="../media/audio1.wav"/><Relationship Id="rId2" Type="http://schemas.openxmlformats.org/officeDocument/2006/relationships/tags" Target="../tags/tag42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audio" Target="../media/audio1.wav"/><Relationship Id="rId2" Type="http://schemas.openxmlformats.org/officeDocument/2006/relationships/tags" Target="../tags/tag43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audio" Target="../media/audio1.wav"/><Relationship Id="rId2" Type="http://schemas.openxmlformats.org/officeDocument/2006/relationships/tags" Target="../tags/tag44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audio" Target="../media/audio2.wav"/><Relationship Id="rId2" Type="http://schemas.openxmlformats.org/officeDocument/2006/relationships/tags" Target="../tags/tag45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audio" Target="../media/audio4.wav"/><Relationship Id="rId2" Type="http://schemas.openxmlformats.org/officeDocument/2006/relationships/audio" Target="../media/audio3.wav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tags" Target="../tags/tag47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49.xml"/><Relationship Id="rId6" Type="http://schemas.openxmlformats.org/officeDocument/2006/relationships/image" Target="../media/image9.png"/><Relationship Id="rId5" Type="http://schemas.openxmlformats.org/officeDocument/2006/relationships/tags" Target="../tags/tag48.xml"/><Relationship Id="rId4" Type="http://schemas.microsoft.com/office/2007/relationships/media" Target="file:///D:\xhktSoft\wps2\xhkt\&#32771;&#29983;&#25991;&#20214;&#22841;\&#20351;&#21629;&#24895;&#26223;.mp4" TargetMode="External"/><Relationship Id="rId3" Type="http://schemas.openxmlformats.org/officeDocument/2006/relationships/video" Target="file:///D:\xhktSoft\wps2\xhkt\&#32771;&#29983;&#25991;&#20214;&#22841;\&#20351;&#21629;&#24895;&#26223;.mp4" TargetMode="External"/><Relationship Id="rId2" Type="http://schemas.openxmlformats.org/officeDocument/2006/relationships/image" Target="../media/image5.sv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audio" Target="../media/audio2.wav"/><Relationship Id="rId2" Type="http://schemas.openxmlformats.org/officeDocument/2006/relationships/tags" Target="../tags/tag50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51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52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53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54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audio" Target="../media/audio2.wav"/><Relationship Id="rId2" Type="http://schemas.openxmlformats.org/officeDocument/2006/relationships/tags" Target="../tags/tag55.xml"/><Relationship Id="rId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56.xml"/><Relationship Id="rId1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57.xml"/><Relationship Id="rId1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58.xml"/><Relationship Id="rId1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59.xml"/><Relationship Id="rId1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保持初心</a:t>
            </a:r>
            <a:r>
              <a:rPr lang="en-US" altLang="zh-CN"/>
              <a:t> </a:t>
            </a:r>
            <a:r>
              <a:rPr lang="zh-CN" altLang="zh-CN"/>
              <a:t>奔赴未来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金山办公软件202</a:t>
            </a:r>
            <a:r>
              <a:rPr lang="en-US" altLang="zh-CN"/>
              <a:t>1</a:t>
            </a:r>
            <a:r>
              <a:rPr lang="zh-CN" altLang="en-US"/>
              <a:t>主题年会暨颁奖典礼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196400" y="6551295"/>
            <a:ext cx="9799200" cy="30670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algn="ctr"/>
            <a:r>
              <a:rPr lang="en-US" sz="1400">
                <a:solidFill>
                  <a:srgbClr val="FCF6C1"/>
                </a:solidFill>
                <a:effectLst/>
              </a:rPr>
              <a:t>KINGSOFT OFFICE 2021 THEME ANNUAL MEETING AND AWARD CEREMONY</a:t>
            </a:r>
            <a:endParaRPr lang="en-US" sz="1400">
              <a:solidFill>
                <a:srgbClr val="FCF6C1"/>
              </a:solidFill>
              <a:effectLst/>
            </a:endParaRPr>
          </a:p>
        </p:txBody>
      </p:sp>
      <p:pic>
        <p:nvPicPr>
          <p:cNvPr id="18" name="图片 4" descr="金山办公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07757" y="596265"/>
            <a:ext cx="2176487" cy="900000"/>
          </a:xfrm>
          <a:prstGeom prst="rect">
            <a:avLst/>
          </a:prstGeom>
        </p:spPr>
      </p:pic>
      <p:pic>
        <p:nvPicPr>
          <p:cNvPr id="20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657475" y="3759200"/>
            <a:ext cx="6877050" cy="26797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custDataLst>
      <p:tags r:id="rId5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1"/>
          <p:cNvSpPr txBox="1"/>
          <p:nvPr/>
        </p:nvSpPr>
        <p:spPr>
          <a:xfrm>
            <a:off x="4887278" y="844233"/>
            <a:ext cx="2417445" cy="51695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 defTabSz="96012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</a:pPr>
            <a:r>
              <a:rPr lang="en-US" altLang="zh-CN" sz="30000">
                <a:blipFill>
                  <a:blip r:embed="rId1"/>
                  <a:tile tx="0" ty="0" sx="100000" sy="100000" flip="none" algn="tl"/>
                </a:blip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endParaRPr lang="en-US" altLang="zh-CN" sz="30000">
              <a:blipFill>
                <a:blip r:embed="rId1"/>
                <a:tile tx="0" ty="0" sx="100000" sy="100000" flip="none" algn="tl"/>
              </a:blip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ransition advTm="1000">
    <p:sndAc>
      <p:stSnd>
        <p:snd r:embed="rId3" name="hamm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1"/>
          <p:cNvSpPr txBox="1"/>
          <p:nvPr/>
        </p:nvSpPr>
        <p:spPr>
          <a:xfrm>
            <a:off x="4887278" y="844233"/>
            <a:ext cx="2417445" cy="51695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ctr" defTabSz="96012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</a:pPr>
            <a:r>
              <a:rPr lang="en-US" altLang="zh-CN" sz="30000">
                <a:blipFill>
                  <a:blip r:embed="rId1"/>
                  <a:tile tx="0" ty="0" sx="100000" sy="100000" flip="none" algn="tl"/>
                </a:blip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endParaRPr lang="en-US" altLang="zh-CN" sz="30000">
              <a:blipFill>
                <a:blip r:embed="rId1"/>
                <a:tile tx="0" ty="0" sx="100000" sy="100000" flip="none" algn="tl"/>
              </a:blip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ransition advTm="1000">
    <p:sndAc>
      <p:stSnd>
        <p:snd r:embed="rId3" name="hamm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1"/>
          <p:cNvSpPr txBox="1"/>
          <p:nvPr/>
        </p:nvSpPr>
        <p:spPr>
          <a:xfrm>
            <a:off x="4887278" y="844233"/>
            <a:ext cx="2417445" cy="51695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ctr" defTabSz="96012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</a:pPr>
            <a:r>
              <a:rPr lang="en-US" altLang="zh-CN" sz="30000">
                <a:blipFill>
                  <a:blip r:embed="rId1"/>
                  <a:tile tx="0" ty="0" sx="100000" sy="100000" flip="none" algn="tl"/>
                </a:blip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endParaRPr lang="en-US" altLang="zh-CN" sz="3000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ransition advTm="1000">
    <p:sndAc>
      <p:stSnd>
        <p:snd r:embed="rId3" name="hamm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盛会启航</a:t>
            </a:r>
            <a:endParaRPr lang="zh-CN" altLang="en-US"/>
          </a:p>
        </p:txBody>
      </p:sp>
      <p:pic>
        <p:nvPicPr>
          <p:cNvPr id="4" name="图片占位符 3" descr="盛会启航"/>
          <p:cNvPicPr>
            <a:picLocks noChangeAspect="1"/>
          </p:cNvPicPr>
          <p:nvPr>
            <p:ph type="pic" idx="13"/>
          </p:nvPr>
        </p:nvPicPr>
        <p:blipFill>
          <a:blip r:embed="rId1"/>
          <a:stretch>
            <a:fillRect/>
          </a:stretch>
        </p:blipFill>
        <p:spPr>
          <a:xfrm>
            <a:off x="0" y="607060"/>
            <a:ext cx="5643245" cy="564324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d"/>
        <p:sndAc>
          <p:stSnd>
            <p:snd r:embed="rId3" name="drumroll.wav"/>
          </p:stSnd>
        </p:sndAc>
      </p:transition>
    </mc:Choice>
    <mc:Fallback>
      <p:transition spd="slow">
        <p:push dir="d"/>
        <p:sndAc>
          <p:stSnd>
            <p:snd r:embed="rId3" name="drumroll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49045" y="1487488"/>
            <a:ext cx="9693910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defTabSz="96012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</a:pPr>
            <a:r>
              <a:rPr sz="4800" b="1" spc="300">
                <a:solidFill>
                  <a:srgbClr val="FCF6C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回首2020</a:t>
            </a:r>
            <a:endParaRPr lang="zh-CN" sz="4800" b="1" spc="300">
              <a:solidFill>
                <a:srgbClr val="FCF6C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 defTabSz="96012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</a:pPr>
            <a:r>
              <a:rPr sz="4800" b="1" spc="300">
                <a:solidFill>
                  <a:srgbClr val="FCF6C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我们取得了卓越的成绩！</a:t>
            </a:r>
            <a:endParaRPr sz="4800" b="1" spc="300">
              <a:solidFill>
                <a:srgbClr val="FCF6C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" name="菱形 2"/>
          <p:cNvSpPr/>
          <p:nvPr/>
        </p:nvSpPr>
        <p:spPr>
          <a:xfrm>
            <a:off x="5655945" y="2997200"/>
            <a:ext cx="826135" cy="615315"/>
          </a:xfrm>
          <a:prstGeom prst="diamond">
            <a:avLst/>
          </a:prstGeom>
          <a:gradFill>
            <a:gsLst>
              <a:gs pos="0">
                <a:srgbClr val="FCF6C1"/>
              </a:gs>
              <a:gs pos="100000">
                <a:srgbClr val="C00000">
                  <a:alpha val="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1"/>
          <p:cNvSpPr txBox="1"/>
          <p:nvPr/>
        </p:nvSpPr>
        <p:spPr>
          <a:xfrm>
            <a:off x="4226560" y="1029970"/>
            <a:ext cx="37388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 defTabSz="960120" fontAlgn="base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</a:pPr>
            <a:r>
              <a:rPr lang="zh-CN" altLang="en-US" sz="2800">
                <a:solidFill>
                  <a:srgbClr val="FCF6C1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rPr>
              <a:t>主要产品月活跃用户数</a:t>
            </a:r>
            <a:endParaRPr lang="zh-CN" altLang="en-US" sz="2800">
              <a:solidFill>
                <a:srgbClr val="FCF6C1"/>
              </a:solidFill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2"/>
          <p:cNvSpPr txBox="1"/>
          <p:nvPr/>
        </p:nvSpPr>
        <p:spPr>
          <a:xfrm>
            <a:off x="110753" y="1552173"/>
            <a:ext cx="11969956" cy="393827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ctr" defTabSz="96012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</a:pPr>
            <a:r>
              <a:rPr lang="en-US" altLang="zh-CN" sz="25000" b="1">
                <a:solidFill>
                  <a:srgbClr val="FCF6C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rPr>
              <a:t>5</a:t>
            </a:r>
            <a:r>
              <a:rPr lang="zh-CN" altLang="en-US" sz="10000" b="1">
                <a:solidFill>
                  <a:srgbClr val="FCF6C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rPr>
              <a:t>亿</a:t>
            </a:r>
            <a:endParaRPr lang="zh-CN" altLang="en-US" sz="10000" b="1">
              <a:solidFill>
                <a:srgbClr val="FCF6C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Arial" panose="020B0604020202020204" pitchFamily="34" charset="0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7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66" y="1831092"/>
            <a:ext cx="12191462" cy="5026908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</p:cBhvr>
                                      <p:by x="400000" y="4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5" grpId="0"/>
      <p:bldP spid="5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使命 愿景 价值观</a:t>
            </a:r>
            <a:endParaRPr lang="zh-CN" altLang="en-US"/>
          </a:p>
        </p:txBody>
      </p:sp>
      <p:sp>
        <p:nvSpPr>
          <p:cNvPr id="2" name="文本框 2"/>
          <p:cNvSpPr txBox="1"/>
          <p:nvPr/>
        </p:nvSpPr>
        <p:spPr>
          <a:xfrm>
            <a:off x="207645" y="6858000"/>
            <a:ext cx="1096518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zh-CN" altLang="en-US" sz="2000"/>
          </a:p>
          <a:p>
            <a:endParaRPr lang="zh-CN" altLang="en-US" sz="2000">
              <a:sym typeface="+mn-ea"/>
            </a:endParaRPr>
          </a:p>
          <a:p>
            <a:endParaRPr lang="zh-CN" altLang="en-US" sz="2000"/>
          </a:p>
        </p:txBody>
      </p:sp>
      <p:graphicFrame>
        <p:nvGraphicFramePr>
          <p:cNvPr id="3" name="图示 2"/>
          <p:cNvGraphicFramePr/>
          <p:nvPr/>
        </p:nvGraphicFramePr>
        <p:xfrm>
          <a:off x="2032000" y="1898650"/>
          <a:ext cx="8128000" cy="30613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价值观宣传片</a:t>
            </a:r>
            <a:r>
              <a:rPr lang="zh-CN" altLang="en-US">
                <a:sym typeface="+mn-ea"/>
              </a:rPr>
              <a:t>「使命愿景篇」</a:t>
            </a:r>
            <a:endParaRPr lang="zh-CN" altLang="en-US"/>
          </a:p>
        </p:txBody>
      </p:sp>
      <p:sp>
        <p:nvSpPr>
          <p:cNvPr id="1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2020年，经过全员的共创及努力，金山办公明确了使命愿景，树立了在任何情况下都坚定不渝的企业价值观，未来在共同的使命愿景价值观驱动下，我们将朝着共同认可的行为方式，步调一致的砥砺前行。</a:t>
            </a:r>
            <a:endParaRPr lang="zh-CN" altLang="en-US"/>
          </a:p>
        </p:txBody>
      </p:sp>
      <p:pic>
        <p:nvPicPr>
          <p:cNvPr id="14" name="播放视频图标" descr="resourc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95240" y="4003040"/>
            <a:ext cx="1994535" cy="1303655"/>
          </a:xfrm>
          <a:prstGeom prst="rect">
            <a:avLst/>
          </a:prstGeom>
          <a:effectLst>
            <a:reflection blurRad="6350" stA="50000" endA="300" endPos="55000" dir="5400000" sy="-100000" algn="bl" rotWithShape="0"/>
          </a:effectLst>
        </p:spPr>
      </p:pic>
      <p:pic>
        <p:nvPicPr>
          <p:cNvPr id="2" name="使命愿景">
            <a:hlinkClick r:id="" action="ppaction://media"/>
          </p:cNvPr>
          <p:cNvPicPr/>
          <p:nvPr>
            <a:videoFile r:link="rId3"/>
            <p:extLst>
              <p:ext uri="{DAA4B4D4-6D71-4841-9C94-3DE7FCFB9230}">
                <p14:media xmlns:p14="http://schemas.microsoft.com/office/powerpoint/2010/main" r:link="rId4"/>
              </p:ext>
            </p:extLst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6967855"/>
            <a:ext cx="12192000" cy="685736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>
          <p:childTnLst>
            <p:video fullScrn="1"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颁奖典礼</a:t>
            </a:r>
            <a:endParaRPr lang="zh-CN" altLang="en-US"/>
          </a:p>
        </p:txBody>
      </p:sp>
      <p:pic>
        <p:nvPicPr>
          <p:cNvPr id="3" name="图片占位符 2" descr="颁奖典礼"/>
          <p:cNvPicPr>
            <a:picLocks noChangeAspect="1"/>
          </p:cNvPicPr>
          <p:nvPr>
            <p:ph type="pic" idx="13"/>
          </p:nvPr>
        </p:nvPicPr>
        <p:blipFill>
          <a:blip r:embed="rId1"/>
          <a:stretch>
            <a:fillRect/>
          </a:stretch>
        </p:blipFill>
        <p:spPr>
          <a:xfrm>
            <a:off x="0" y="607060"/>
            <a:ext cx="5643245" cy="564324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d"/>
        <p:sndAc>
          <p:stSnd>
            <p:snd r:embed="rId3" name="drumroll.wav"/>
          </p:stSnd>
        </p:sndAc>
      </p:transition>
    </mc:Choice>
    <mc:Fallback>
      <p:transition spd="slow">
        <p:push dir="d"/>
        <p:sndAc>
          <p:stSnd>
            <p:snd r:embed="rId3" name="drumroll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最佳团队奖</a:t>
            </a:r>
            <a:endParaRPr lang="zh-CN" altLang="en-US"/>
          </a:p>
        </p:txBody>
      </p:sp>
      <p:pic>
        <p:nvPicPr>
          <p:cNvPr id="18" name="图片占位符 2"/>
          <p:cNvPicPr>
            <a:picLocks noChangeAspect="1"/>
          </p:cNvPicPr>
          <p:nvPr>
            <p:ph type="pic" idx="1"/>
          </p:nvPr>
        </p:nvPicPr>
        <p:blipFill>
          <a:blip r:embed="rId1"/>
          <a:stretch>
            <a:fillRect/>
          </a:stretch>
        </p:blipFill>
        <p:spPr>
          <a:xfrm>
            <a:off x="6991985" y="1890395"/>
            <a:ext cx="3937000" cy="3937000"/>
          </a:xfrm>
          <a:prstGeom prst="rect">
            <a:avLst/>
          </a:prstGeom>
        </p:spPr>
      </p:pic>
      <p:sp>
        <p:nvSpPr>
          <p:cNvPr id="3" name="文本占位符 3"/>
          <p:cNvSpPr>
            <a:spLocks noGrp="1"/>
          </p:cNvSpPr>
          <p:nvPr>
            <p:ph type="body" idx="14"/>
          </p:nvPr>
        </p:nvSpPr>
        <p:spPr/>
        <p:txBody>
          <a:bodyPr/>
          <a:p>
            <a:r>
              <a:rPr lang="zh-CN" altLang="en-US"/>
              <a:t>具备大局意识、服务意识和协调意识的团队才是优秀的团队。他们具有较高的团队精神，相互团结，相互支持，相互帮助，成员间配合默契，依靠团队集体力量，出色完成各项工作要求和指标。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获奖名单</a:t>
            </a:r>
            <a:endParaRPr lang="zh-CN" altLang="en-US"/>
          </a:p>
        </p:txBody>
      </p:sp>
      <p:sp>
        <p:nvSpPr>
          <p:cNvPr id="25" name="文本框 2"/>
          <p:cNvSpPr txBox="1"/>
          <p:nvPr/>
        </p:nvSpPr>
        <p:spPr>
          <a:xfrm>
            <a:off x="3757295" y="2425065"/>
            <a:ext cx="119888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2000" b="1">
                <a:solidFill>
                  <a:srgbClr val="FCF6C1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培训一组</a:t>
            </a:r>
            <a:endParaRPr lang="zh-CN" altLang="en-US" sz="2000" b="1">
              <a:solidFill>
                <a:srgbClr val="FCF6C1"/>
              </a:solidFill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3" name="文本框 3"/>
          <p:cNvSpPr txBox="1"/>
          <p:nvPr/>
        </p:nvSpPr>
        <p:spPr>
          <a:xfrm>
            <a:off x="6899275" y="2425065"/>
            <a:ext cx="119888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000" b="1">
                <a:solidFill>
                  <a:srgbClr val="FCF6C1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销售二组</a:t>
            </a:r>
            <a:endParaRPr lang="zh-CN" altLang="en-US" sz="2000" b="1">
              <a:solidFill>
                <a:srgbClr val="FCF6C1"/>
              </a:solidFill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4" name="文本框 4"/>
          <p:cNvSpPr txBox="1"/>
          <p:nvPr/>
        </p:nvSpPr>
        <p:spPr>
          <a:xfrm>
            <a:off x="3758565" y="4572635"/>
            <a:ext cx="119888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000" b="1">
                <a:solidFill>
                  <a:srgbClr val="FCF6C1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研发三组</a:t>
            </a:r>
            <a:endParaRPr lang="zh-CN" altLang="en-US" sz="2000" b="1">
              <a:solidFill>
                <a:srgbClr val="FCF6C1"/>
              </a:solidFill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1" name="文本框 5"/>
          <p:cNvSpPr txBox="1"/>
          <p:nvPr/>
        </p:nvSpPr>
        <p:spPr>
          <a:xfrm>
            <a:off x="6899910" y="4572635"/>
            <a:ext cx="119888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000" b="1">
                <a:solidFill>
                  <a:srgbClr val="FCF6C1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项目四组</a:t>
            </a:r>
            <a:endParaRPr lang="zh-CN" altLang="en-US" sz="2000" b="1">
              <a:solidFill>
                <a:srgbClr val="FCF6C1"/>
              </a:solidFill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6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3710" y="913765"/>
            <a:ext cx="2686050" cy="1511300"/>
          </a:xfrm>
          <a:prstGeom prst="round2Diag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reflection blurRad="6350" stA="52000" endA="300" endPos="35000" dir="5400000" sy="-100000" algn="bl" rotWithShape="0"/>
          </a:effectLst>
        </p:spPr>
      </p:pic>
      <p:pic>
        <p:nvPicPr>
          <p:cNvPr id="6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325" y="914400"/>
            <a:ext cx="2686050" cy="1511300"/>
          </a:xfrm>
          <a:prstGeom prst="round2Diag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reflection blurRad="6350" stA="52000" endA="300" endPos="35000" dir="5400000" sy="-100000" algn="bl" rotWithShape="0"/>
          </a:effectLst>
        </p:spPr>
      </p:pic>
      <p:pic>
        <p:nvPicPr>
          <p:cNvPr id="6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4980" y="3061970"/>
            <a:ext cx="2686050" cy="1511300"/>
          </a:xfrm>
          <a:prstGeom prst="round2Diag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reflection blurRad="6350" stA="52000" endA="300" endPos="35000" dir="5400000" sy="-100000" algn="bl" rotWithShape="0"/>
          </a:effectLst>
        </p:spPr>
      </p:pic>
      <p:pic>
        <p:nvPicPr>
          <p:cNvPr id="7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325" y="3061335"/>
            <a:ext cx="2686050" cy="1511300"/>
          </a:xfrm>
          <a:prstGeom prst="round2Diag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reflection blurRad="6350" stA="52000" endA="300" endPos="35000" dir="5400000" sy="-100000" algn="bl" rotWithShape="0"/>
          </a:effectLst>
        </p:spPr>
      </p:pic>
    </p:spTree>
    <p:custDataLst>
      <p:tags r:id="rId5"/>
    </p:custData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最佳个人奖</a:t>
            </a:r>
            <a:endParaRPr lang="zh-CN" altLang="en-US"/>
          </a:p>
        </p:txBody>
      </p:sp>
      <p:pic>
        <p:nvPicPr>
          <p:cNvPr id="10" name="图片占位符 2" descr="最佳个人奖"/>
          <p:cNvPicPr>
            <a:picLocks noChangeAspect="1"/>
          </p:cNvPicPr>
          <p:nvPr>
            <p:ph type="pic" idx="1"/>
          </p:nvPr>
        </p:nvPicPr>
        <p:blipFill>
          <a:blip r:embed="rId1"/>
          <a:stretch>
            <a:fillRect/>
          </a:stretch>
        </p:blipFill>
        <p:spPr>
          <a:xfrm>
            <a:off x="6899910" y="1798320"/>
            <a:ext cx="4121150" cy="4121150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idx="14"/>
          </p:nvPr>
        </p:nvSpPr>
        <p:spPr/>
        <p:txBody>
          <a:bodyPr/>
          <a:p>
            <a:r>
              <a:rPr lang="zh-CN" altLang="en-US"/>
              <a:t>他们的每一次前进总是焕发青春的奇迹，他们的每一次出场都是彰显无穷的力量。他们以淳朴的风格和坚毅的脚步，走出自己的节奏与特色当心的挑战到来的时候，他们选取振翅飞翔。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获奖名单</a:t>
            </a:r>
            <a:endParaRPr lang="zh-CN" altLang="en-US"/>
          </a:p>
        </p:txBody>
      </p:sp>
      <p:sp>
        <p:nvSpPr>
          <p:cNvPr id="44" name="文本框 2"/>
          <p:cNvSpPr txBox="1"/>
          <p:nvPr/>
        </p:nvSpPr>
        <p:spPr>
          <a:xfrm>
            <a:off x="2941320" y="2894330"/>
            <a:ext cx="94488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000" b="1">
                <a:solidFill>
                  <a:srgbClr val="FCF6C1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郑百万</a:t>
            </a:r>
            <a:endParaRPr lang="zh-CN" altLang="en-US" sz="2000" b="1">
              <a:solidFill>
                <a:srgbClr val="FCF6C1"/>
              </a:solidFill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5" name="文本框 3"/>
          <p:cNvSpPr txBox="1"/>
          <p:nvPr/>
        </p:nvSpPr>
        <p:spPr>
          <a:xfrm>
            <a:off x="6541770" y="2894330"/>
            <a:ext cx="94488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000" b="1">
                <a:solidFill>
                  <a:srgbClr val="FCF6C1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万德芙</a:t>
            </a:r>
            <a:endParaRPr lang="zh-CN" altLang="en-US" sz="2000" b="1">
              <a:solidFill>
                <a:srgbClr val="FCF6C1"/>
              </a:solidFill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3" name="文本框 4"/>
          <p:cNvSpPr txBox="1"/>
          <p:nvPr/>
        </p:nvSpPr>
        <p:spPr>
          <a:xfrm>
            <a:off x="4741545" y="5273040"/>
            <a:ext cx="94488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000" b="1">
                <a:solidFill>
                  <a:srgbClr val="FCF6C1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孙小麦</a:t>
            </a:r>
            <a:endParaRPr lang="zh-CN" altLang="en-US" sz="2000" b="1">
              <a:solidFill>
                <a:srgbClr val="FCF6C1"/>
              </a:solidFill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6" name="文本框 5"/>
          <p:cNvSpPr txBox="1"/>
          <p:nvPr/>
        </p:nvSpPr>
        <p:spPr>
          <a:xfrm>
            <a:off x="8341995" y="5273040"/>
            <a:ext cx="94488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000" b="1">
                <a:solidFill>
                  <a:srgbClr val="FCF6C1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张懒懒</a:t>
            </a:r>
            <a:endParaRPr lang="zh-CN" altLang="en-US" sz="2000" b="1">
              <a:solidFill>
                <a:srgbClr val="FCF6C1"/>
              </a:solidFill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54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795" y="914400"/>
            <a:ext cx="1979930" cy="1979930"/>
          </a:xfrm>
          <a:prstGeom prst="round2Diag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reflection blurRad="6350" stA="52000" endA="300" endPos="35000" dir="5400000" sy="-100000" algn="bl" rotWithShape="0"/>
          </a:effectLst>
        </p:spPr>
      </p:pic>
      <p:pic>
        <p:nvPicPr>
          <p:cNvPr id="53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4245" y="914400"/>
            <a:ext cx="1979930" cy="1979930"/>
          </a:xfrm>
          <a:prstGeom prst="round2Diag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reflection blurRad="6350" stA="52000" endA="300" endPos="35000" dir="5400000" sy="-100000" algn="bl" rotWithShape="0"/>
          </a:effectLst>
        </p:spPr>
      </p:pic>
      <p:pic>
        <p:nvPicPr>
          <p:cNvPr id="47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020" y="3293110"/>
            <a:ext cx="1979930" cy="1979930"/>
          </a:xfrm>
          <a:prstGeom prst="round2Diag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reflection blurRad="6350" stA="52000" endA="300" endPos="35000" dir="5400000" sy="-100000" algn="bl" rotWithShape="0"/>
          </a:effectLst>
        </p:spPr>
      </p:pic>
      <p:pic>
        <p:nvPicPr>
          <p:cNvPr id="5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4470" y="3293110"/>
            <a:ext cx="1979930" cy="1979930"/>
          </a:xfrm>
          <a:prstGeom prst="round2Diag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reflection blurRad="6350" stA="52000" endA="300" endPos="35000" dir="5400000" sy="-100000" algn="bl" rotWithShape="0"/>
          </a:effectLst>
        </p:spPr>
      </p:pic>
    </p:spTree>
    <p:custDataLst>
      <p:tags r:id="rId5"/>
    </p:custData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节目汇演</a:t>
            </a:r>
            <a:endParaRPr lang="zh-CN" altLang="en-US"/>
          </a:p>
        </p:txBody>
      </p:sp>
      <p:pic>
        <p:nvPicPr>
          <p:cNvPr id="3" name="图片占位符 2" descr="节目汇演"/>
          <p:cNvPicPr>
            <a:picLocks noChangeAspect="1"/>
          </p:cNvPicPr>
          <p:nvPr>
            <p:ph type="pic" idx="13"/>
          </p:nvPr>
        </p:nvPicPr>
        <p:blipFill>
          <a:blip r:embed="rId1"/>
          <a:stretch>
            <a:fillRect/>
          </a:stretch>
        </p:blipFill>
        <p:spPr>
          <a:xfrm>
            <a:off x="0" y="607060"/>
            <a:ext cx="5643245" cy="564324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d"/>
        <p:sndAc>
          <p:stSnd>
            <p:snd r:embed="rId3" name="drumroll.wav"/>
          </p:stSnd>
        </p:sndAc>
      </p:transition>
    </mc:Choice>
    <mc:Fallback>
      <p:transition spd="slow">
        <p:push dir="d"/>
        <p:sndAc>
          <p:stSnd>
            <p:snd r:embed="rId3" name="drumroll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3481" y="2232131"/>
            <a:ext cx="1785949" cy="180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文本框 2"/>
          <p:cNvSpPr txBox="1"/>
          <p:nvPr/>
        </p:nvSpPr>
        <p:spPr>
          <a:xfrm>
            <a:off x="4121786" y="1801376"/>
            <a:ext cx="5989320" cy="2230755"/>
          </a:xfrm>
          <a:prstGeom prst="rect">
            <a:avLst/>
          </a:prstGeom>
          <a:noFill/>
          <a:effectLst/>
        </p:spPr>
        <p:txBody>
          <a:bodyPr wrap="none" lIns="61420" tIns="30709" rIns="61420" bIns="30709" rtlCol="0">
            <a:spAutoFit/>
          </a:bodyPr>
          <a:lstStyle>
            <a:defPPr>
              <a:defRPr lang="en-US"/>
            </a:defPPr>
            <a:lvl1pPr algn="ctr">
              <a:defRPr sz="19900">
                <a:gradFill>
                  <a:gsLst>
                    <a:gs pos="100000">
                      <a:srgbClr val="FBFCD3"/>
                    </a:gs>
                    <a:gs pos="31000">
                      <a:srgbClr val="FDEA9A"/>
                    </a:gs>
                  </a:gsLst>
                  <a:lin ang="4200000" scaled="0"/>
                </a:gradFill>
                <a:effectLst>
                  <a:outerShdw blurRad="45339" dist="45339" dir="2699995" algn="tl">
                    <a:srgbClr val="000000">
                      <a:alpha val="43137"/>
                    </a:srgbClr>
                  </a:outerShdw>
                </a:effectLst>
                <a:latin typeface="汉仪尚巍手书W" panose="00020600040101010101" pitchFamily="18" charset="-122"/>
                <a:ea typeface="汉仪尚巍手书W" panose="00020600040101010101" pitchFamily="18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sz="6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《最好的舞台》</a:t>
            </a:r>
            <a:endParaRPr sz="6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表演团队：国内政企事业部</a:t>
            </a:r>
            <a:endParaRPr sz="6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</p:spTree>
    <p:custDataLst>
      <p:tags r:id="rId2"/>
    </p:custData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6455" y="2232131"/>
            <a:ext cx="1800000" cy="180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文本框 2"/>
          <p:cNvSpPr txBox="1"/>
          <p:nvPr/>
        </p:nvSpPr>
        <p:spPr>
          <a:xfrm>
            <a:off x="4121786" y="1801376"/>
            <a:ext cx="5989320" cy="2230755"/>
          </a:xfrm>
          <a:prstGeom prst="rect">
            <a:avLst/>
          </a:prstGeom>
          <a:noFill/>
          <a:effectLst/>
        </p:spPr>
        <p:txBody>
          <a:bodyPr wrap="none" lIns="61420" tIns="30709" rIns="61420" bIns="30709" rtlCol="0">
            <a:spAutoFit/>
          </a:bodyPr>
          <a:lstStyle>
            <a:defPPr>
              <a:defRPr lang="en-US"/>
            </a:defPPr>
            <a:lvl1pPr algn="ctr">
              <a:defRPr sz="19900">
                <a:gradFill>
                  <a:gsLst>
                    <a:gs pos="100000">
                      <a:srgbClr val="FBFCD3"/>
                    </a:gs>
                    <a:gs pos="31000">
                      <a:srgbClr val="FDEA9A"/>
                    </a:gs>
                  </a:gsLst>
                  <a:lin ang="4200000" scaled="0"/>
                </a:gradFill>
                <a:effectLst>
                  <a:outerShdw blurRad="45339" dist="45339" dir="2699995" algn="tl">
                    <a:srgbClr val="000000">
                      <a:alpha val="43137"/>
                    </a:srgbClr>
                  </a:outerShdw>
                </a:effectLst>
                <a:latin typeface="汉仪尚巍手书W" panose="00020600040101010101" pitchFamily="18" charset="-122"/>
                <a:ea typeface="汉仪尚巍手书W" panose="00020600040101010101" pitchFamily="18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sz="6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《</a:t>
            </a:r>
            <a:r>
              <a:rPr lang="zh-CN" sz="6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明天会更好</a:t>
            </a:r>
            <a:r>
              <a:rPr sz="6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》</a:t>
            </a:r>
            <a:endParaRPr sz="6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表演团队：国内个人事业部</a:t>
            </a:r>
            <a:endParaRPr lang="zh-CN" altLang="en-US" sz="2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</p:spTree>
    <p:custDataLst>
      <p:tags r:id="rId2"/>
    </p:custData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3481" y="2232131"/>
            <a:ext cx="1785949" cy="180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文本框 2"/>
          <p:cNvSpPr txBox="1"/>
          <p:nvPr/>
        </p:nvSpPr>
        <p:spPr>
          <a:xfrm>
            <a:off x="4121786" y="1801376"/>
            <a:ext cx="5989320" cy="2230755"/>
          </a:xfrm>
          <a:prstGeom prst="rect">
            <a:avLst/>
          </a:prstGeom>
          <a:noFill/>
          <a:effectLst/>
        </p:spPr>
        <p:txBody>
          <a:bodyPr wrap="none" lIns="61420" tIns="30709" rIns="61420" bIns="30709" rtlCol="0">
            <a:spAutoFit/>
          </a:bodyPr>
          <a:lstStyle>
            <a:defPPr>
              <a:defRPr lang="en-US"/>
            </a:defPPr>
            <a:lvl1pPr algn="ctr">
              <a:defRPr sz="19900">
                <a:gradFill>
                  <a:gsLst>
                    <a:gs pos="100000">
                      <a:srgbClr val="FBFCD3"/>
                    </a:gs>
                    <a:gs pos="31000">
                      <a:srgbClr val="FDEA9A"/>
                    </a:gs>
                  </a:gsLst>
                  <a:lin ang="4200000" scaled="0"/>
                </a:gradFill>
                <a:effectLst>
                  <a:outerShdw blurRad="45339" dist="45339" dir="2699995" algn="tl">
                    <a:srgbClr val="000000">
                      <a:alpha val="43137"/>
                    </a:srgbClr>
                  </a:outerShdw>
                </a:effectLst>
                <a:latin typeface="汉仪尚巍手书W" panose="00020600040101010101" pitchFamily="18" charset="-122"/>
                <a:ea typeface="汉仪尚巍手书W" panose="00020600040101010101" pitchFamily="18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sz="6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《</a:t>
            </a:r>
            <a:r>
              <a:rPr lang="zh-CN" sz="6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科技新物种</a:t>
            </a:r>
            <a:r>
              <a:rPr sz="6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》</a:t>
            </a:r>
            <a:endParaRPr sz="6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表演团队：研发中台事业部</a:t>
            </a:r>
            <a:endParaRPr lang="zh-CN" altLang="en-US" sz="2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</p:spTree>
    <p:custDataLst>
      <p:tags r:id="rId2"/>
    </p:custData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6455" y="2232131"/>
            <a:ext cx="1800000" cy="180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文本框 2"/>
          <p:cNvSpPr txBox="1"/>
          <p:nvPr/>
        </p:nvSpPr>
        <p:spPr>
          <a:xfrm>
            <a:off x="3763963" y="1801376"/>
            <a:ext cx="6704965" cy="2230755"/>
          </a:xfrm>
          <a:prstGeom prst="rect">
            <a:avLst/>
          </a:prstGeom>
          <a:noFill/>
          <a:effectLst/>
        </p:spPr>
        <p:txBody>
          <a:bodyPr wrap="none" lIns="61420" tIns="30709" rIns="61420" bIns="30709" rtlCol="0">
            <a:spAutoFit/>
          </a:bodyPr>
          <a:lstStyle>
            <a:defPPr>
              <a:defRPr lang="en-US"/>
            </a:defPPr>
            <a:lvl1pPr algn="ctr">
              <a:defRPr sz="19900">
                <a:gradFill>
                  <a:gsLst>
                    <a:gs pos="100000">
                      <a:srgbClr val="FBFCD3"/>
                    </a:gs>
                    <a:gs pos="31000">
                      <a:srgbClr val="FDEA9A"/>
                    </a:gs>
                  </a:gsLst>
                  <a:lin ang="4200000" scaled="0"/>
                </a:gradFill>
                <a:effectLst>
                  <a:outerShdw blurRad="45339" dist="45339" dir="2699995" algn="tl">
                    <a:srgbClr val="000000">
                      <a:alpha val="43137"/>
                    </a:srgbClr>
                  </a:outerShdw>
                </a:effectLst>
                <a:latin typeface="汉仪尚巍手书W" panose="00020600040101010101" pitchFamily="18" charset="-122"/>
                <a:ea typeface="汉仪尚巍手书W" panose="00020600040101010101" pitchFamily="18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sz="6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《It's Amazing》</a:t>
            </a:r>
            <a:endParaRPr sz="6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表演团队：国际事业部</a:t>
            </a:r>
            <a:endParaRPr lang="zh-CN" altLang="en-US" sz="2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</p:spTree>
    <p:custDataLst>
      <p:tags r:id="rId2"/>
    </p:custData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晚会结束 有序退场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金山办公软件2021主题年会暨颁奖典礼</a:t>
            </a:r>
            <a:endParaRPr lang="zh-CN" altLang="en-US"/>
          </a:p>
        </p:txBody>
      </p:sp>
      <p:sp>
        <p:nvSpPr>
          <p:cNvPr id="41" name="文本框 3"/>
          <p:cNvSpPr txBox="1"/>
          <p:nvPr/>
        </p:nvSpPr>
        <p:spPr>
          <a:xfrm>
            <a:off x="1196400" y="6551295"/>
            <a:ext cx="9799200" cy="30670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algn="ctr"/>
            <a:r>
              <a:rPr lang="en-US" sz="1400">
                <a:solidFill>
                  <a:srgbClr val="FCF6C1"/>
                </a:solidFill>
                <a:effectLst/>
              </a:rPr>
              <a:t>KINGSOFT OFFICE 2021 THEME ANNUAL MEETING AND AWARD CEREMONY</a:t>
            </a:r>
            <a:endParaRPr lang="en-US" sz="1400">
              <a:solidFill>
                <a:srgbClr val="FCF6C1"/>
              </a:solidFill>
              <a:effectLst/>
            </a:endParaRPr>
          </a:p>
        </p:txBody>
      </p:sp>
      <p:pic>
        <p:nvPicPr>
          <p:cNvPr id="26" name="图片 4" descr="金山办公LOGO"/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5007757" y="596265"/>
            <a:ext cx="2176487" cy="900000"/>
          </a:xfrm>
          <a:prstGeom prst="rect">
            <a:avLst/>
          </a:prstGeom>
        </p:spPr>
      </p:pic>
      <p:pic>
        <p:nvPicPr>
          <p:cNvPr id="28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57475" y="3759200"/>
            <a:ext cx="6877050" cy="26797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9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8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9369*5169*460*460"/>
  <p:tag name="KSO_WM_UNIT_MEDIACOVER_STYLEID" val="1"/>
  <p:tag name="KSO_WM_UNIT_MEDIACOVER_TEXTSTATE" val="0"/>
  <p:tag name="KSO_WM_UNIT_MEDIACOVER_BTN_POS" val="c"/>
  <p:tag name="KSO_WM_UNIT_MEDIACOVER_BTN_STYLE" val="ee0bc779c1f3d7f3e90c96344320e69a"/>
  <p:tag name="KSO_WM_UNIT_MEDIACOVER_RGB" val="000000"/>
  <p:tag name="KSO_WM_UNIT_MEDIACOVER_TRANSPARENCY" val="0.5"/>
</p:tagLst>
</file>

<file path=ppt/tags/tag4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1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</p:tagLst>
</file>

<file path=ppt/tags/tag52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</p:tagLst>
</file>

<file path=ppt/tags/tag53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</p:tagLst>
</file>

<file path=ppt/tags/tag54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</p:tagLst>
</file>

<file path=ppt/tags/tag5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6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</p:tagLst>
</file>

<file path=ppt/tags/tag57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</p:tagLst>
</file>

<file path=ppt/tags/tag58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</p:tagLst>
</file>

<file path=ppt/tags/tag59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628</Words>
  <Application>WPS 演示</Application>
  <PresentationFormat>宽屏</PresentationFormat>
  <Paragraphs>80</Paragraphs>
  <Slides>20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Wingdings</vt:lpstr>
      <vt:lpstr>Arial Unicode MS</vt:lpstr>
      <vt:lpstr>Calibri</vt:lpstr>
      <vt:lpstr>汉仪尚巍手书W</vt:lpstr>
      <vt:lpstr>Office 主题​​</vt:lpstr>
      <vt:lpstr>保持初心 奔赴未来</vt:lpstr>
      <vt:lpstr>PowerPoint 演示文稿</vt:lpstr>
      <vt:lpstr>PowerPoint 演示文稿</vt:lpstr>
      <vt:lpstr>PowerPoint 演示文稿</vt:lpstr>
      <vt:lpstr>盛会启航</vt:lpstr>
      <vt:lpstr>PowerPoint 演示文稿</vt:lpstr>
      <vt:lpstr>PowerPoint 演示文稿</vt:lpstr>
      <vt:lpstr>使命 愿景 价值观</vt:lpstr>
      <vt:lpstr>价值观宣传片「使命愿景篇」</vt:lpstr>
      <vt:lpstr>颁奖典礼</vt:lpstr>
      <vt:lpstr>最佳团队奖</vt:lpstr>
      <vt:lpstr>获奖名单</vt:lpstr>
      <vt:lpstr>最佳个人奖</vt:lpstr>
      <vt:lpstr>获奖名单</vt:lpstr>
      <vt:lpstr>节目汇演</vt:lpstr>
      <vt:lpstr>PowerPoint 演示文稿</vt:lpstr>
      <vt:lpstr>PowerPoint 演示文稿</vt:lpstr>
      <vt:lpstr>PowerPoint 演示文稿</vt:lpstr>
      <vt:lpstr>PowerPoint 演示文稿</vt:lpstr>
      <vt:lpstr>晚会结束 有序退场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超呆萌的小黑老师</cp:lastModifiedBy>
  <cp:revision>279</cp:revision>
  <dcterms:created xsi:type="dcterms:W3CDTF">2019-06-19T02:08:00Z</dcterms:created>
  <dcterms:modified xsi:type="dcterms:W3CDTF">2023-10-21T02:50:31Z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</Properties>
</file>