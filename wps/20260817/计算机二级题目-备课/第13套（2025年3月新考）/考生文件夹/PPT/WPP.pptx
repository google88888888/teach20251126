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3"/>
    <p:sldId id="258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9" r:id="rId20"/>
    <p:sldId id="281" r:id="rId21"/>
    <p:sldId id="283" r:id="rId22"/>
  </p:sldIdLst>
  <p:sldSz cx="12192000" cy="6858000"/>
  <p:notesSz cx="6858000" cy="9144000"/>
  <p:custShowLst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C4B07E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78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63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a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18" name="Object 506"/>
          <p:cNvSpPr txBox="1"/>
          <p:nvPr/>
        </p:nvSpPr>
        <p:spPr>
          <a:xfrm>
            <a:off x="2957195" y="2661285"/>
            <a:ext cx="6277610" cy="153543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11500" spc="-500" dirty="0">
                <a:solidFill>
                  <a:srgbClr val="005178"/>
                </a:solidFill>
                <a:uFillTx/>
                <a:latin typeface="华文行楷" panose="02010800040101010101" charset="-122"/>
                <a:ea typeface="华文行楷" panose="02010800040101010101" charset="-122"/>
                <a:sym typeface="Arial" panose="020B0604020202020204" pitchFamily="34" charset="0"/>
              </a:rPr>
              <a:t>苏轼</a:t>
            </a:r>
            <a:endParaRPr lang="zh-CN" altLang="en-US" sz="11500" spc="-500" dirty="0">
              <a:solidFill>
                <a:srgbClr val="005178"/>
              </a:solidFill>
              <a:uFillTx/>
              <a:latin typeface="华文行楷" panose="02010800040101010101" charset="-122"/>
              <a:ea typeface="华文行楷" panose="02010800040101010101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resour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0995" y="0"/>
            <a:ext cx="3005455" cy="3005455"/>
          </a:xfrm>
          <a:prstGeom prst="rect">
            <a:avLst/>
          </a:prstGeom>
        </p:spPr>
      </p:pic>
      <p:pic>
        <p:nvPicPr>
          <p:cNvPr id="4" name="图片 3" descr="resourc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0720" y="4328795"/>
            <a:ext cx="2437765" cy="2437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image 5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509" name="Object 509"/>
          <p:cNvSpPr txBox="1"/>
          <p:nvPr/>
        </p:nvSpPr>
        <p:spPr>
          <a:xfrm>
            <a:off x="5519420" y="2178050"/>
            <a:ext cx="5464810" cy="223520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1037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日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—1101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24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日），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字子瞻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，一字和仲，号铁冠道人、东坡居士，世称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苏东坡、苏仙 </a:t>
            </a:r>
            <a:r>
              <a:rPr lang="en-US" altLang="zh-CN" sz="1600" spc="300" dirty="0" smtClean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、坡仙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3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汉族，眉州眉山（今四川省眉山市）人，祖籍河北栾城，</a:t>
            </a:r>
            <a:r>
              <a:rPr lang="zh-CN" altLang="en-US" sz="1600" spc="300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北宋文学家、书法家、美食家、画家，历史治水名人</a:t>
            </a:r>
            <a:r>
              <a:rPr lang="zh-CN" altLang="en-US" sz="1600" spc="3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 </a:t>
            </a:r>
            <a:endParaRPr lang="zh-CN" altLang="en-US" sz="1000" dirty="0"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07" name="Object 507"/>
          <p:cNvSpPr txBox="1"/>
          <p:nvPr/>
        </p:nvSpPr>
        <p:spPr>
          <a:xfrm>
            <a:off x="3306938" y="4615542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dirty="0" smtClean="0">
                <a:solidFill>
                  <a:srgbClr val="005178"/>
                </a:solidFill>
                <a:uFillTx/>
                <a:latin typeface="华文行楷" panose="02010800040101010101" charset="-122"/>
                <a:ea typeface="华文行楷" panose="02010800040101010101" charset="-122"/>
                <a:cs typeface="+mn-ea"/>
                <a:sym typeface="Arial" panose="020B0604020202020204" pitchFamily="34" charset="0"/>
              </a:rPr>
              <a:t>苏轼</a:t>
            </a:r>
            <a:endParaRPr lang="zh-CN" altLang="en-US" sz="3200" b="0" i="0" dirty="0" smtClean="0">
              <a:solidFill>
                <a:srgbClr val="005178"/>
              </a:solidFill>
              <a:uFillTx/>
              <a:latin typeface="华文行楷" panose="02010800040101010101" charset="-122"/>
              <a:ea typeface="华文行楷" panose="0201080004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9733" y="4514473"/>
            <a:ext cx="2397760" cy="63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2" r="26024"/>
          <a:stretch>
            <a:fillRect/>
          </a:stretch>
        </p:blipFill>
        <p:spPr>
          <a:xfrm>
            <a:off x="811848" y="872265"/>
            <a:ext cx="2377440" cy="48465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"/>
          <p:cNvSpPr txBox="1"/>
          <p:nvPr/>
        </p:nvSpPr>
        <p:spPr>
          <a:xfrm>
            <a:off x="551229" y="514003"/>
            <a:ext cx="18084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b="0" i="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人物关系</a:t>
            </a:r>
            <a:endParaRPr lang="zh-CN" altLang="en-US" sz="3200" b="0" i="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0" name="image 1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-579377" y="755165"/>
            <a:ext cx="1685315" cy="311150"/>
          </a:xfrm>
          <a:prstGeom prst="rect">
            <a:avLst/>
          </a:prstGeom>
        </p:spPr>
      </p:pic>
      <p:pic>
        <p:nvPicPr>
          <p:cNvPr id="22" name="image 2"/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0477500" y="2943860"/>
            <a:ext cx="2457450" cy="565150"/>
          </a:xfrm>
          <a:prstGeom prst="rect">
            <a:avLst/>
          </a:prstGeom>
        </p:spPr>
      </p:pic>
      <p:pic>
        <p:nvPicPr>
          <p:cNvPr id="3" name="图片 1"/>
          <p:cNvPicPr/>
          <p:nvPr/>
        </p:nvPicPr>
        <p:blipFill rotWithShape="1">
          <a:blip r:embed="rId3"/>
          <a:srcRect l="49979" r="37311"/>
          <a:stretch>
            <a:fillRect/>
          </a:stretch>
        </p:blipFill>
        <p:spPr>
          <a:xfrm>
            <a:off x="2505075" y="1497965"/>
            <a:ext cx="1339215" cy="1498600"/>
          </a:xfrm>
          <a:prstGeom prst="rect">
            <a:avLst/>
          </a:prstGeom>
        </p:spPr>
      </p:pic>
      <p:pic>
        <p:nvPicPr>
          <p:cNvPr id="4" name="图片 2"/>
          <p:cNvPicPr/>
          <p:nvPr/>
        </p:nvPicPr>
        <p:blipFill rotWithShape="1">
          <a:blip r:embed="rId3"/>
          <a:srcRect l="62427" r="25070"/>
          <a:stretch>
            <a:fillRect/>
          </a:stretch>
        </p:blipFill>
        <p:spPr>
          <a:xfrm>
            <a:off x="4154805" y="1497965"/>
            <a:ext cx="2128520" cy="2381885"/>
          </a:xfrm>
          <a:prstGeom prst="rect">
            <a:avLst/>
          </a:prstGeom>
        </p:spPr>
      </p:pic>
      <p:pic>
        <p:nvPicPr>
          <p:cNvPr id="7" name="图片 3"/>
          <p:cNvPicPr/>
          <p:nvPr/>
        </p:nvPicPr>
        <p:blipFill rotWithShape="1">
          <a:blip r:embed="rId3"/>
          <a:srcRect l="25312" r="62253"/>
          <a:stretch>
            <a:fillRect/>
          </a:stretch>
        </p:blipFill>
        <p:spPr>
          <a:xfrm>
            <a:off x="6595110" y="1770380"/>
            <a:ext cx="1478280" cy="1654175"/>
          </a:xfrm>
          <a:prstGeom prst="rect">
            <a:avLst/>
          </a:prstGeom>
        </p:spPr>
      </p:pic>
      <p:pic>
        <p:nvPicPr>
          <p:cNvPr id="9" name="图片 4"/>
          <p:cNvPicPr/>
          <p:nvPr/>
        </p:nvPicPr>
        <p:blipFill rotWithShape="1">
          <a:blip r:embed="rId3"/>
          <a:srcRect l="37760" r="49806"/>
          <a:stretch>
            <a:fillRect/>
          </a:stretch>
        </p:blipFill>
        <p:spPr>
          <a:xfrm>
            <a:off x="8491220" y="1657350"/>
            <a:ext cx="1986280" cy="2222500"/>
          </a:xfrm>
          <a:prstGeom prst="rect">
            <a:avLst/>
          </a:prstGeom>
        </p:spPr>
      </p:pic>
      <p:pic>
        <p:nvPicPr>
          <p:cNvPr id="2" name="图片 5"/>
          <p:cNvPicPr/>
          <p:nvPr/>
        </p:nvPicPr>
        <p:blipFill rotWithShape="1">
          <a:blip r:embed="rId3"/>
          <a:srcRect r="87150"/>
          <a:stretch>
            <a:fillRect/>
          </a:stretch>
        </p:blipFill>
        <p:spPr>
          <a:xfrm>
            <a:off x="1627505" y="4224020"/>
            <a:ext cx="1242060" cy="1389380"/>
          </a:xfrm>
          <a:prstGeom prst="rect">
            <a:avLst/>
          </a:prstGeom>
        </p:spPr>
      </p:pic>
      <p:pic>
        <p:nvPicPr>
          <p:cNvPr id="8" name="图片 6"/>
          <p:cNvPicPr/>
          <p:nvPr/>
        </p:nvPicPr>
        <p:blipFill rotWithShape="1">
          <a:blip r:embed="rId3"/>
          <a:srcRect l="12794" r="74562"/>
          <a:stretch>
            <a:fillRect/>
          </a:stretch>
        </p:blipFill>
        <p:spPr>
          <a:xfrm>
            <a:off x="3558540" y="4095750"/>
            <a:ext cx="1724025" cy="1880870"/>
          </a:xfrm>
          <a:prstGeom prst="rect">
            <a:avLst/>
          </a:prstGeom>
        </p:spPr>
      </p:pic>
      <p:pic>
        <p:nvPicPr>
          <p:cNvPr id="6" name="图片 7"/>
          <p:cNvPicPr/>
          <p:nvPr/>
        </p:nvPicPr>
        <p:blipFill rotWithShape="1">
          <a:blip r:embed="rId3"/>
          <a:srcRect l="74876" r="12622"/>
          <a:stretch>
            <a:fillRect/>
          </a:stretch>
        </p:blipFill>
        <p:spPr>
          <a:xfrm>
            <a:off x="5983605" y="3717290"/>
            <a:ext cx="2357755" cy="2637790"/>
          </a:xfrm>
          <a:prstGeom prst="rect">
            <a:avLst/>
          </a:prstGeom>
        </p:spPr>
      </p:pic>
      <p:pic>
        <p:nvPicPr>
          <p:cNvPr id="5" name="图片 8"/>
          <p:cNvPicPr/>
          <p:nvPr/>
        </p:nvPicPr>
        <p:blipFill rotWithShape="1">
          <a:blip r:embed="rId3"/>
          <a:srcRect l="87254" r="-35"/>
          <a:stretch>
            <a:fillRect/>
          </a:stretch>
        </p:blipFill>
        <p:spPr>
          <a:xfrm>
            <a:off x="9457055" y="3936365"/>
            <a:ext cx="1823720" cy="2040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07525" y="3380105"/>
            <a:ext cx="1554480" cy="923226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早年经历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进京应试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名动京师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自请出京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徙知徐州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乌台诗案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被贬黄州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东山再起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二任杭州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流落儋州</a:t>
            </a:r>
            <a:endParaRPr lang="zh-CN" altLang="en-US" sz="27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7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身逝常州</a:t>
            </a:r>
            <a:endParaRPr lang="zh-CN" altLang="en-US" sz="27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0"/>
            <a:ext cx="12211050" cy="2952750"/>
            <a:chOff x="0" y="0"/>
            <a:chExt cx="19230" cy="4650"/>
          </a:xfrm>
        </p:grpSpPr>
        <p:pic>
          <p:nvPicPr>
            <p:cNvPr id="601" name="image 601"/>
            <p:cNvPicPr>
              <a:picLocks noChangeAspect="1"/>
            </p:cNvPicPr>
            <p:nvPr/>
          </p:nvPicPr>
          <p:blipFill>
            <a:blip r:embed="rId1">
              <a:grayscl/>
            </a:blip>
            <a:srcRect/>
            <a:stretch>
              <a:fillRect/>
            </a:stretch>
          </p:blipFill>
          <p:spPr>
            <a:xfrm>
              <a:off x="0" y="0"/>
              <a:ext cx="19230" cy="465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5" y="1525"/>
              <a:ext cx="5300" cy="16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9" y="464627"/>
            <a:ext cx="4980842" cy="461147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早年经历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于宋仁宗景祐三年十二月十九日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1037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日）出生于眉州眉山，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是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初唐大臣苏味道之后。苏轼的父亲苏洵，即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三字经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里提到的“二十七，始发奋”的“苏老泉”。苏洵发奋虽晚，但是很用功。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苏轼其名“轼”原意为车前的扶手，取其默默无闻却扶危救困，不可或缺之意。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庆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历八年（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1048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年），苏洵因父丧居家，闭户读书，把自己的学识品行教授给苏轼与幼子苏辙。 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苏轼生性放达，为人率真，深得道家风范。好交友、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好美食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创造许多饮食精品，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好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品茗，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亦雅好游山林。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6681910" y="232314"/>
            <a:ext cx="5310065" cy="6393373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进京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应试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嘉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祐元年（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1056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年），苏轼首次出川赴京，参加朝廷的科举考试。苏洵带着二十一岁（农历虚岁）的苏轼、十九岁的苏辙，自偏僻的西蜀地区，沿江东下，于嘉祐二年（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1057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年）进京应试。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当时的主考官是文坛领袖欧阳修，小试官是诗坛宿将梅尧臣。二人正锐意于诗文革新，苏轼清新洒脱的文风，一下子把他们震动了。策论的题目是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刑赏忠厚之至论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，苏轼的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刑赏忠厚之至论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获得主考官欧阳修的赏识，却因欧阳修误认为是自己的弟子曾巩所作，为了避嫌，使他只得第二。苏轼在文中写道：“皋陶为士，将杀人。皋陶曰杀之三，尧曰宥之三。”欧、梅二公既叹赏其文，却不知这几句话的出处。及苏轼谒谢，即以此问轼，苏轼答道：“何必知道出处！”欧阳修听后，不禁对苏轼的豪迈、敢于创新极为欣赏，而且预见了苏轼的将来：“此人可谓善读书，善用书，他日文章必独步天下。”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1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2272445" y="5396773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9" y="464627"/>
            <a:ext cx="52516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名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动京师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在欧阳修的一再称赞下，苏轼一时声名大噪。他每有新作，立刻就会传遍京师。当父子名动京师、正要大展身手时，突然传来苏轼苏辙的母亲病故的噩耗。二兄弟随父回乡奔丧。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嘉祐四年（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1059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年）十月，守丧期满回京。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嘉祐六年（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1061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年），苏轼应中制科考试，即通常所谓的“三年京察”，入第三等，为“百年第一”，授大理评事、签书凤翔府判官。 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四年后还朝，任判登闻鼓院。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治平三年（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1066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洵病逝，苏轼、苏辙兄弟扶柩还乡，守孝三年。三年之后，苏轼还朝。此时，震动朝野的王安石变法开始。苏轼的许多师友，包括当初赏识他的欧阳修在内，因反对新法与新任宰相王安石政见不合，被迫离京。朝野旧雨凋零，苏轼眼中所见，已不是他二十岁时所见的“平和世界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6771542" y="464627"/>
            <a:ext cx="5124939" cy="3196687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自请出京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熙宁四年（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年），苏轼上书谈论新法的弊病。王安石颇感愤怒，于是让御史谢景在神宗面前陈说苏轼的过失。苏轼于是请求出京任职，被授为杭州通判。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熙宁七年（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年）秋，苏轼调往密州（山东诸城）任知州。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1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691684" y="4755423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551228" y="464627"/>
            <a:ext cx="111952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徙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知徐州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熙宁十年（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1077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年）四月至元丰二年（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三月，在徐州任知州。黄河在曹村决口，使梁山泊泛滥，南清河水溢出故道，洪水汇聚在徐州城下，暴涨的洪水不时泄出，城墙即将被洪水冲毁，富有的百姓争相出城躲避洪水，苏轼说：“富民出城，全城百姓都会动摇，我和谁来守城？我在这里，洪水决不能冲毁城墙。”驱使富民重新回到城里。苏轼到武卫营，呼喊士兵长官说：“河水即将冲毁城墙，事情危急，虽然你们是禁军，但也请你们为我尽一点力。”士兵长官说：“太守尚且不躲避路上的洪水，我辈小人，应当效命。”带领他的士兵们拿着畚箕铁锹出来，修筑东南长堤，头起戏马台，尾连着城墙。雨日夜不停地下，城墙露出水面仅仅只有三版那么高。苏轼搭建小草屋住在城墙上，路过自己家门也不进去，派官吏分别堵塞缺口以守护城墙，终于保全了徐州城。又请求征调明年夫役增筑徐州旧城，修建木质护岸，以防洪水再来。朝廷同意了他的请求。 </a:t>
            </a:r>
            <a:r>
              <a:rPr lang="en-US" altLang="zh-CN" sz="15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苏轼在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上皇帝书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中说：“及移守徐州，览观山川之形势，察其风俗之所上，而考之于载籍，然后又知徐州为南北之襟要，而京东诸郡安危所寄也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……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州之东北七十余里，即利国监，自古为铁官，商贾所聚，其民富乐，凡三十六冶，冶户皆大家，藏镪巨万，常为盗贼所窥，而兵卫寡弱，有同儿戏。” </a:t>
            </a:r>
            <a:endParaRPr lang="en-US" altLang="zh-CN" sz="15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在徐州期间，建苏堤、筑黄楼、种植青松、访获石炭，于徐门石潭祈雨，于徐州汉高帝庙祈晴，于萧县雾猪泉祈雪，与弟弟苏辙会宿于逍遥堂百余日，“同泛清河古汴”，与客游泗水，登魋山，吹笛饮酒，乘月而归。苏轼对王巩说：“李太白死，世无此乐三百年矣！”苏轼离开徐州之际，卜田徐州城南的尔家川，“欲买尔家田，归种三顷稻。因营山前宅，遂作泗滨老。” </a:t>
            </a:r>
            <a:r>
              <a:rPr lang="en-US" altLang="zh-CN" sz="15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 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称“余为彭城二年，乐其土风。将去不忍，而彭城之父老亦莫余厌也，将买田于泗水之上而老焉。”</a:t>
            </a:r>
            <a:endParaRPr lang="zh-CN" altLang="en-US" sz="15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元丰二年（</a:t>
            </a:r>
            <a:r>
              <a:rPr lang="en-US" altLang="zh-CN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5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年）四月调为湖州知州。他在地方任职时革新除弊，因法便民，颇有政绩。</a:t>
            </a:r>
            <a:endParaRPr lang="en-US" altLang="zh-CN" sz="15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9" name="image 1208"/>
          <p:cNvPicPr>
            <a:picLocks noChangeAspect="1"/>
          </p:cNvPicPr>
          <p:nvPr/>
        </p:nvPicPr>
        <p:blipFill>
          <a:blip r:embed="rId1">
            <a:alphaModFix amt="60000"/>
          </a:blip>
          <a:srcRect/>
          <a:stretch>
            <a:fillRect/>
          </a:stretch>
        </p:blipFill>
        <p:spPr>
          <a:xfrm>
            <a:off x="9497158" y="6289137"/>
            <a:ext cx="1473200" cy="33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694942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乌台诗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案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丰二年（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1079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年），四十四岁的苏轼被调为湖州知州。上任后，他即给神宗写了一封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湖州谢表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这本是例行公事，但苏轼是诗人，笔端常带感情，即使官样文章，也忘不了加上点个人色彩，说自己“愚不适时，难以追陪新进”，“老不生事或能牧养小民”，这些话被新党利用，说他“愚弄朝廷，妄自尊大”、“衔怨怀怒”、“指斥乘舆”、“包藏祸心”，又讽刺政府，莽撞无礼，对皇帝不忠，如此大罪可谓死有余辜。他们从苏轼的大量诗作中挑出他们认为隐含讥讽之意的句子，一时间，朝廷内一片倒苏之声。七月二十八日，上任才三个月的苏轼被御史台的吏卒逮捕，解往京师，受牵连者达数十人。这就是北宋著名的“乌台诗案”（乌台，即御史台，因其上植柏树，终年栖息乌鸦，故称乌台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乌台诗案这一巨大打击成为苏轼一生的转折点。新党们非要置苏轼于死地不可，救援活动也在朝野同时展开。不但与苏轼政见相同的许多元老纷纷上书，连一些变法派的有识之士也劝谏神宗不要杀苏轼。王安石当时退休金陵，也上书说：“安有圣世而杀才士乎？”在大家努力下，这场诗案就因王安石“一言而决”，苏轼得到从轻发落，贬为黄州（今湖北黄冈）团练副使，“本州安置”，受当地官员监视。苏轼下狱一百零三日，险遭杀身之祸。幸亏宋太祖赵匡胤时定下不杀士大夫的国策，他才算躲过一劫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6475485" y="464627"/>
            <a:ext cx="5251695" cy="616106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21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东山再起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1000"/>
              </a:lnSpc>
            </a:pPr>
            <a:r>
              <a:rPr lang="zh-CN" altLang="en-US" sz="14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丰七年（</a:t>
            </a:r>
            <a:r>
              <a:rPr lang="en-US" altLang="zh-CN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1084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轼离开黄州，奉诏赴汝州就任。由于长途跋涉，旅途劳顿，苏轼的幼儿不幸夭折。汝州路途遥远，且路费已尽，再加上丧子之痛，苏轼便上书朝廷，请求暂时不去汝州，先到常州居住，后被批准。当他准备要南返常州时，神宗驾崩。常州一带水网交错，风景优美。他在常州居住，既无饥寒之忧，又可享美景之乐，而且远离了京城政治的纷争，能与家人、众多朋友朝夕相处。苏轼于是选择常州作为自己的终老之地。 </a:t>
            </a:r>
            <a:endParaRPr lang="en-US" altLang="zh-CN" sz="14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1000"/>
              </a:lnSpc>
            </a:pP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元丰八年（</a:t>
            </a:r>
            <a:r>
              <a:rPr lang="en-US" altLang="zh-CN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1085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宋哲宗即位，高太后以哲宗年幼为名，临朝听政，司马光重新被启用为相，以王安石为首的新党被打压。苏轼复为朝奉郎知登州（蓬莱）。四个月后，以礼部郎中被召还朝。在朝半月，升为起居舍人。三个月后，升中书舍人。不久，再又升翰林学士、知制诰，知礼部贡举。 </a:t>
            </a:r>
            <a:r>
              <a:rPr lang="en-US" altLang="zh-CN" sz="14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4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当苏轼看到新兴势力拼命压制王安石集团的人物及尽废新法后，认为其与所谓“王党”不过一丘之貉，再次向朝廷提出谏议。他对旧党执政后，暴露出的腐败现象进行了抨击，由此，他又引起了保守势力的极力反对，于是又遭诬告陷害。苏轼至此是既不能容于新党，又不能见谅于旧党，因而再度自求外调。</a:t>
            </a:r>
            <a:endParaRPr lang="en-US" altLang="zh-CN" sz="14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Object 1007"/>
          <p:cNvSpPr txBox="1"/>
          <p:nvPr/>
        </p:nvSpPr>
        <p:spPr>
          <a:xfrm>
            <a:off x="382172" y="464627"/>
            <a:ext cx="5124939" cy="3196687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被</a:t>
            </a: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贬黄州</a:t>
            </a:r>
            <a:endParaRPr lang="zh-CN" altLang="en-US" sz="2000" b="1" spc="292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黄州团练副使一职相当低微，并无实权，而此时苏轼经此一役已变得心灰意冷。苏轼到任后，心情郁闷，曾多次到黄州城外的赤壁山游览，写下了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后赤壁赋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念奴娇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·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赤壁怀古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等名作，以此来寄托他谪居时的思想感情。公务之余，他带领家人开垦城东的一块坡地，种田帮补生计。“东坡居士”的别号便是苏轼在这时起的。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1016311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二任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杭州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祐四年（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1089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年），苏轼任龙图阁学士、知杭州。苏轼第二次到杭州做官，杭州大旱，饥馑瘟疫一起发生。苏轼向朝廷请求，减免本路上供米三分之一，又得到赐给剃度和尚的度牒，换成大米来救济饥饿的百姓。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元祐五年（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1090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春天，又减价出卖常平米，做了很多的厚粥和汤药，派人带着医生分街坊给百姓治病，救活了很多人。苏轼说：“杭州，水陆交会的地方，因瘟疫死亡的人常常比其他地方多。”于是集中多余的公款二千缗，苏轼又拿出自己的黄金五十两，办起病坊，稍微积蓄一些钱粮收治有病的百姓。苏轼看到茅山有一条河专门容纳钱塘江潮水，盐桥有一条河专门容纳西湖水，于是疏浚这二条河道以通航。再修造堤堰闸门，控制西湖水的蓄积与排泄，钱塘江潮水不再进入杭州城内。又用剩余的人力修复了六井，再把挖出来的淤泥堆积在西湖中，南北长三十里，修筑成长堤以来往行人。吴地百姓种菱，春天就除草，不留寸草。苏轼又雇募人力在西湖中种菱，水草不再生长。把种菱的收入备作以后修浚西湖的费用，取救济荒灾剩余的一万缗钱、万石粮食；以及申请得到的一百张僧人度牒用来雇募民工。长堤筑成，在堤上种植芙蓉、杨柳，望去好像图画，杭州人把长堤命名为苏公堤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785690" y="694942"/>
            <a:ext cx="10808434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流落儋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在杭州过得很惬意，自比唐代的白居易。元祐六年（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年），他又被召回朝。不久即元祐六年八月，又因为政见不合，调往颍州任知州。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元祐七年（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1092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年）二月，任扬州知州。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元祐八年（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1093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年）九月，任定州知州。是年高太后去世，哲宗执政，新党再度执政。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绍圣元年（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年）六月，贬为宁远军节度副使，再次被贬至惠州（今广东惠州）。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绍圣四年（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1097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年已六十二岁的苏轼被一叶孤舟送到了徼边荒凉之地海南岛儋州（今海南儋州）。据说在宋朝，放逐海南是仅比满门抄斩罪轻一等的处罚。他把儋州当成了自己的第二故乡，“我本儋耳氏，寄生西蜀州”。他在这里办学堂，介学风，以致许多人不远千里，追至儋州，从苏轼学。在宋代一百多年里，海南从没有人进士及第。但苏轼北归不久，这里的姜唐佐就举乡贡。为此苏轼题诗：“沧海何曾断地脉，珠崖从此破天荒。”人们一直把苏轼看作是儋州文化的开拓者、播种人，对他怀有深深的崇敬。在儋州流传下来的东坡村、东坡井、东坡田、东坡路、东坡桥、东坡帽等等，表达了人们的缅怀之情，连语言都有一种“东坡话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Object 1007"/>
          <p:cNvSpPr txBox="1"/>
          <p:nvPr/>
        </p:nvSpPr>
        <p:spPr>
          <a:xfrm>
            <a:off x="671390" y="1195527"/>
            <a:ext cx="5237921" cy="5103835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spc="292" dirty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身逝</a:t>
            </a:r>
            <a:r>
              <a:rPr lang="zh-CN" altLang="en-US" sz="2000" b="1" spc="292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常州</a:t>
            </a:r>
            <a:endParaRPr lang="en-US" altLang="zh-CN" sz="2000" b="1" spc="292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宋徽宗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即位后，苏轼相继被调为廉州安置、舒州团练副使、永州安置。元符三年四月（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1100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年），朝廷颁行大赦，苏轼复任朝奉郎。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北归途中，苏轼于建中靖国元年七月二十八日（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1101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8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月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24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日）在常州（今属江苏）逝世，享年六十六岁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r>
              <a:rPr lang="en-US" altLang="zh-CN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 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苏轼留下遗嘱葬汝州郏城县（今河南郏县）钧台乡上瑞里。次年，其子苏过遵嘱将父亲灵柩运至郏城县安葬。 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宋高宗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即位后，追赠苏轼为太师；宋孝宗时，追谥“文忠”。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image 705"/>
          <p:cNvPicPr>
            <a:picLocks noChangeAspect="1"/>
          </p:cNvPicPr>
          <p:nvPr/>
        </p:nvPicPr>
        <p:blipFill>
          <a:blip r:embed="rId1">
            <a:alphaModFix amt="30196"/>
          </a:blip>
          <a:srcRect/>
          <a:stretch>
            <a:fillRect/>
          </a:stretch>
        </p:blipFill>
        <p:spPr>
          <a:xfrm>
            <a:off x="8492392" y="5798777"/>
            <a:ext cx="2813050" cy="641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0" y="0"/>
            <a:ext cx="6367780" cy="6858000"/>
            <a:chOff x="0" y="0"/>
            <a:chExt cx="10028" cy="10800"/>
          </a:xfrm>
        </p:grpSpPr>
        <p:pic>
          <p:nvPicPr>
            <p:cNvPr id="23" name="image 601"/>
            <p:cNvPicPr>
              <a:picLocks noChangeAspect="1"/>
            </p:cNvPicPr>
            <p:nvPr/>
          </p:nvPicPr>
          <p:blipFill>
            <a:blip r:embed="rId1">
              <a:grayscl/>
            </a:blip>
            <a:srcRect/>
            <a:stretch>
              <a:fillRect/>
            </a:stretch>
          </p:blipFill>
          <p:spPr>
            <a:xfrm>
              <a:off x="0" y="0"/>
              <a:ext cx="10029" cy="10801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0" y="4601"/>
              <a:ext cx="5090" cy="1600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7149465" y="1555115"/>
            <a:ext cx="359410" cy="3747770"/>
            <a:chOff x="11259" y="2122"/>
            <a:chExt cx="566" cy="5902"/>
          </a:xfrm>
        </p:grpSpPr>
        <p:pic>
          <p:nvPicPr>
            <p:cNvPr id="26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2122"/>
              <a:ext cx="567" cy="567"/>
            </a:xfrm>
            <a:prstGeom prst="rect">
              <a:avLst/>
            </a:prstGeom>
          </p:spPr>
        </p:pic>
        <p:pic>
          <p:nvPicPr>
            <p:cNvPr id="27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3456"/>
              <a:ext cx="567" cy="567"/>
            </a:xfrm>
            <a:prstGeom prst="rect">
              <a:avLst/>
            </a:prstGeom>
          </p:spPr>
        </p:pic>
        <p:pic>
          <p:nvPicPr>
            <p:cNvPr id="28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4790"/>
              <a:ext cx="567" cy="567"/>
            </a:xfrm>
            <a:prstGeom prst="rect">
              <a:avLst/>
            </a:prstGeom>
          </p:spPr>
        </p:pic>
        <p:pic>
          <p:nvPicPr>
            <p:cNvPr id="29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6124"/>
              <a:ext cx="567" cy="567"/>
            </a:xfrm>
            <a:prstGeom prst="rect">
              <a:avLst/>
            </a:prstGeom>
          </p:spPr>
        </p:pic>
        <p:pic>
          <p:nvPicPr>
            <p:cNvPr id="30" name="image 90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259" y="7458"/>
              <a:ext cx="567" cy="567"/>
            </a:xfrm>
            <a:prstGeom prst="rect">
              <a:avLst/>
            </a:prstGeom>
          </p:spPr>
        </p:pic>
      </p:grpSp>
      <p:sp>
        <p:nvSpPr>
          <p:cNvPr id="31" name="文本框 30"/>
          <p:cNvSpPr txBox="1"/>
          <p:nvPr/>
        </p:nvSpPr>
        <p:spPr>
          <a:xfrm>
            <a:off x="8012430" y="1444625"/>
            <a:ext cx="3475990" cy="396938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p>
            <a:pPr indent="0" algn="l" fontAlgn="auto">
              <a:lnSpc>
                <a:spcPct val="1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诗作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词作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文章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书法</a:t>
            </a:r>
            <a:endParaRPr lang="en-US" altLang="zh-CN" sz="2800" spc="30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  <a:p>
            <a:pPr indent="0" algn="l" fontAlgn="auto">
              <a:lnSpc>
                <a:spcPct val="200000"/>
              </a:lnSpc>
              <a:buNone/>
            </a:pPr>
            <a:r>
              <a:rPr lang="zh-CN" altLang="en-US" sz="2800" spc="30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绘画</a:t>
            </a:r>
            <a:endParaRPr lang="zh-CN" altLang="en-US" sz="2800">
              <a:latin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诗作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苏轼一生宦海浮沉，奔走四方，生活阅历极为丰富。他善于从人生遭遇中总结经验，也善于从客观事物中见出规律。在他眼中，极平常的生活内容和自然景物都蕴含着深刻的道理，如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题西林壁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和子由渑池怀旧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两诗。在这些诗中，自然现象已上升为哲理，人生的感受也已转化为理性的反思。尤为难能可贵的是，诗中的哲理是通过生动、鲜明的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艺术意象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自然而然地表达出来，而不是经过逻辑推导或议论分析所得。这样的诗歌既优美动人，又饶有趣味，是名副其实的理趣诗。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“不识庐山真面目”和“雪泥鸿爪”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一问世即流行为成语，说明苏轼的理趣诗受到普遍喜爱。苏诗中类似的作品还有很多，如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泗州僧伽塔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饮湖上初晴后雨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慈湖夹阻风</a:t>
            </a:r>
            <a:r>
              <a:rPr lang="en-US" altLang="zh-CN" sz="1600" spc="292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等。苏轼极具灵心慧眼，所以到处都能发现妙理新意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深刻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的人生思考使苏轼对沉浮荣辱持有冷静、旷达的态度，这在苏诗中有充分的体现。苏轼在逆境中的诗篇当然含有痛苦、愤懑、消沉的一面，但苏轼更多的诗则表现了对苦难的傲视和对痛苦的超越。</a:t>
            </a:r>
            <a:endParaRPr lang="zh-CN" altLang="en-US" sz="900" dirty="0"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68126" y="948549"/>
            <a:ext cx="323850" cy="323850"/>
          </a:xfrm>
          <a:prstGeom prst="rect">
            <a:avLst/>
          </a:prstGeom>
        </p:spPr>
      </p:pic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5160" y="2829560"/>
            <a:ext cx="21310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1800"/>
              <a:t>《春宵》</a:t>
            </a:r>
            <a:endParaRPr lang="zh-CN" altLang="en-US" sz="1800"/>
          </a:p>
          <a:p>
            <a:pPr algn="l">
              <a:buClrTx/>
              <a:buSzTx/>
              <a:buFontTx/>
            </a:pPr>
            <a:r>
              <a:rPr lang="zh-CN" altLang="en-US" sz="1800"/>
              <a:t>《和子由踏青》</a:t>
            </a:r>
            <a:endParaRPr lang="zh-CN" altLang="en-US" sz="1800"/>
          </a:p>
          <a:p>
            <a:pPr algn="l">
              <a:buClrTx/>
              <a:buSzTx/>
              <a:buFontTx/>
            </a:pPr>
            <a:r>
              <a:rPr lang="zh-CN" altLang="en-US" sz="1800"/>
              <a:t>《后赤壁赋》</a:t>
            </a:r>
            <a:endParaRPr lang="zh-CN" altLang="en-US" sz="1800"/>
          </a:p>
          <a:p>
            <a:pPr algn="l">
              <a:buClrTx/>
              <a:buSzTx/>
              <a:buFontTx/>
            </a:pPr>
            <a:r>
              <a:rPr lang="zh-CN" altLang="en-US" sz="1800"/>
              <a:t>《雪后北台书壁》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1169035" y="948055"/>
            <a:ext cx="18084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诗作作品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8260" y="282956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《上元侍宴》</a:t>
            </a:r>
            <a:endParaRPr lang="zh-CN" altLang="en-US"/>
          </a:p>
          <a:p>
            <a:r>
              <a:rPr lang="zh-CN" altLang="en-US">
                <a:sym typeface="+mn-ea"/>
              </a:rPr>
              <a:t>《海棠》</a:t>
            </a:r>
            <a:endParaRPr lang="zh-CN" altLang="en-US"/>
          </a:p>
          <a:p>
            <a:r>
              <a:rPr lang="zh-CN" altLang="en-US">
                <a:sym typeface="+mn-ea"/>
              </a:rPr>
              <a:t>《和子由渑池怀旧》</a:t>
            </a:r>
            <a:endParaRPr lang="zh-CN" altLang="en-US"/>
          </a:p>
          <a:p>
            <a:r>
              <a:rPr lang="zh-CN" altLang="en-US">
                <a:sym typeface="+mn-ea"/>
              </a:rPr>
              <a:t>《望海楼晚景》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40300" y="282956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《花影》</a:t>
            </a:r>
            <a:endParaRPr lang="zh-CN" altLang="en-US"/>
          </a:p>
          <a:p>
            <a:r>
              <a:rPr lang="zh-CN" altLang="en-US">
                <a:sym typeface="+mn-ea"/>
              </a:rPr>
              <a:t>《有美堂暴雨》</a:t>
            </a:r>
            <a:endParaRPr lang="zh-CN" altLang="en-US"/>
          </a:p>
          <a:p>
            <a:r>
              <a:rPr lang="zh-CN" altLang="en-US">
                <a:sym typeface="+mn-ea"/>
              </a:rPr>
              <a:t>《题西林壁》</a:t>
            </a:r>
            <a:endParaRPr lang="zh-CN" altLang="en-US"/>
          </a:p>
          <a:p>
            <a:r>
              <a:rPr lang="zh-CN" altLang="en-US">
                <a:sym typeface="+mn-ea"/>
              </a:rPr>
              <a:t>《饮湖上初晴后雨》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292340" y="282956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《游金山寺》</a:t>
            </a:r>
            <a:endParaRPr lang="zh-CN" altLang="en-US"/>
          </a:p>
          <a:p>
            <a:r>
              <a:rPr lang="zh-CN" altLang="en-US">
                <a:sym typeface="+mn-ea"/>
              </a:rPr>
              <a:t>《赤壁赋》</a:t>
            </a:r>
            <a:endParaRPr lang="zh-CN" altLang="en-US"/>
          </a:p>
          <a:p>
            <a:r>
              <a:rPr lang="zh-CN" altLang="en-US">
                <a:sym typeface="+mn-ea"/>
              </a:rPr>
              <a:t>《惠崇春江晚景》</a:t>
            </a:r>
            <a:endParaRPr lang="zh-CN" altLang="en-US"/>
          </a:p>
          <a:p>
            <a:r>
              <a:rPr lang="zh-CN" altLang="en-US">
                <a:sym typeface="+mn-ea"/>
              </a:rPr>
              <a:t>《三月二十九日二首》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644380" y="2829560"/>
            <a:ext cx="20593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《赠刘景文》</a:t>
            </a:r>
            <a:endParaRPr lang="zh-CN" altLang="en-US"/>
          </a:p>
          <a:p>
            <a:r>
              <a:rPr lang="zh-CN" altLang="en-US">
                <a:sym typeface="+mn-ea"/>
              </a:rPr>
              <a:t>《东栏梨花》</a:t>
            </a:r>
            <a:endParaRPr lang="zh-CN" altLang="en-US"/>
          </a:p>
          <a:p>
            <a:r>
              <a:rPr lang="zh-CN" altLang="en-US">
                <a:sym typeface="+mn-ea"/>
              </a:rPr>
              <a:t>《新城道中二首》</a:t>
            </a:r>
            <a:endParaRPr lang="zh-CN" altLang="en-US"/>
          </a:p>
          <a:p>
            <a:r>
              <a:rPr lang="zh-CN" altLang="en-US">
                <a:sym typeface="+mn-ea"/>
              </a:rPr>
              <a:t>《石苍舒醉墨堂》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词</a:t>
            </a: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作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在词的创作上取得了非凡的成就，就一种文体自身的发展而言，苏词的历史性贡献又超过了苏文和苏诗。苏轼继柳永之后，对词体进行了全面的改革，最终突破了词为“艳科”的传统格局，提高了词的文学地位，使词从音乐的附属品转变为一种独立的抒情诗体，从根本上改变了词史的发展方向。</a:t>
            </a:r>
            <a:endParaRPr lang="en-US" altLang="zh-CN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“以诗为词”的手法则是苏轼变革词风的主要武器。所谓“以诗为词”，是将诗的表现手法移植到词中。苏词中较成功的表现有用题序和用典故两个方面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写词，主要是供人阅读，而不求人演唱，故注重抒情言志的自由，虽也遵守词的音律规范而不为音律所拘。正因如此，苏轼作词时挥洒如意，即使偶尔不协音律规范也在所不顾。也正是如此，苏词像苏诗一样，表现出丰沛的激情，丰富的想象力和变化自如、多姿多彩的语言风格。虽然苏轼现存的三百六十二首词中，大多数词的风格仍与传统的婉约柔美之风比较接近，但已有相当数量的作品体现出奔放豪迈、倾荡磊落如天风海雨般的新风格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水调歌头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·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明月几时有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87757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spc="-468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文章</a:t>
            </a:r>
            <a:endParaRPr lang="zh-CN" altLang="en-US" sz="3200" spc="-468" dirty="0" smtClean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8"/>
            <a:ext cx="9019540" cy="3776411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苏轼擅长写议论文。他早年写的史论有较浓的纵横家习气，有时故作惊人之论而不合义理，如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贾谊论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责备贾谊不知结交大臣以图见信于朝廷，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范增论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提出范增应为义帝诛杀项羽。但也有许多独到的见解，如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留侯论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谓圯上老人是秦时的隐君子，折辱张良是为了培育其坚忍之性；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平王论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批评周平王避寇迁都之失策，见解新颖而深刻，富有启发性。这些史论在写作上善于随机生发，翻空出奇，表现出高度的论说技巧，成为当时士子参加科场考试的范文，所以流传极广。苏轼早年的政论文也有类似的风格特点，但随着阅历的加深，纵横家的习气遂逐渐减弱，例如元祐以后所写的一些奏议，内容上有的放矢，言词则剀切沉着，接近于贾谊、陆贽的文风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endParaRPr lang="en-US" altLang="zh-CN" sz="1600" spc="292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轼的叙事记游之文，叙事、抒情、议论三种功能更是结合得水乳交融。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由于苏轼作文以“辞达”为准则，所以当行即行，当止就止，很少有芜词累句，这在他的笔记小品中表现得最为突出。如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记承天寺夜游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，全文仅八十余字，但意境超然，韵味隽永，为宋代小品文中的妙品</a:t>
            </a:r>
            <a:r>
              <a:rPr lang="zh-CN" altLang="en-US" sz="1600" spc="292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14" name="image 1208"/>
          <p:cNvPicPr>
            <a:picLocks noChangeAspect="1"/>
          </p:cNvPicPr>
          <p:nvPr/>
        </p:nvPicPr>
        <p:blipFill>
          <a:blip r:embed="rId4">
            <a:alphaModFix amt="60000"/>
          </a:blip>
          <a:srcRect/>
          <a:stretch>
            <a:fillRect/>
          </a:stretch>
        </p:blipFill>
        <p:spPr>
          <a:xfrm>
            <a:off x="1466850" y="5655312"/>
            <a:ext cx="1473200" cy="336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书法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9"/>
            <a:ext cx="9019540" cy="1904752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擅长写行书、楷书，与黄庭坚、米芾、蔡襄并称为“宋四家”。他曾经遍学晋、唐、五代的各位名家之长，再将王僧虔、徐浩、李邕、颜真卿、杨凝式等名家的创作风格融会贯通后自成一家。他曾自称：“我书造意本无法”、“自出新意，不践古人”。黄庭坚称他：“早年用笔精到，不及老大渐近自然。”这说明苏轼一生屡经坎坷，致使他的书法风格跌宕。存世作品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赤壁赋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黄州寒食诗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和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祭黄几道文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等帖。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52"/>
          <a:stretch>
            <a:fillRect/>
          </a:stretch>
        </p:blipFill>
        <p:spPr>
          <a:xfrm>
            <a:off x="1799992" y="3704591"/>
            <a:ext cx="8752573" cy="21721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image 12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52450"/>
            <a:ext cx="10972800" cy="5791200"/>
          </a:xfrm>
          <a:prstGeom prst="rect">
            <a:avLst/>
          </a:prstGeom>
        </p:spPr>
      </p:pic>
      <p:sp>
        <p:nvSpPr>
          <p:cNvPr id="12010" name="Object 12010"/>
          <p:cNvSpPr txBox="1"/>
          <p:nvPr/>
        </p:nvSpPr>
        <p:spPr>
          <a:xfrm>
            <a:off x="1642247" y="1153240"/>
            <a:ext cx="995680" cy="583565"/>
          </a:xfrm>
          <a:prstGeom prst="rect">
            <a:avLst/>
          </a:prstGeom>
        </p:spPr>
        <p:txBody>
          <a:bodyPr vert="horz" wrap="none" rtlCol="0" anchor="t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3200" dirty="0" smtClean="0">
                <a:solidFill>
                  <a:srgbClr val="005178"/>
                </a:solidFill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绘画</a:t>
            </a:r>
            <a:endParaRPr lang="zh-CN" altLang="en-US" sz="3200" dirty="0" smtClean="0">
              <a:solidFill>
                <a:srgbClr val="005178"/>
              </a:solidFill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1" name="image 100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16200" y="1213877"/>
            <a:ext cx="323850" cy="323850"/>
          </a:xfrm>
          <a:prstGeom prst="rect">
            <a:avLst/>
          </a:prstGeom>
        </p:spPr>
      </p:pic>
      <p:sp>
        <p:nvSpPr>
          <p:cNvPr id="15" name="Object 12012"/>
          <p:cNvSpPr txBox="1"/>
          <p:nvPr/>
        </p:nvSpPr>
        <p:spPr>
          <a:xfrm>
            <a:off x="1642247" y="1787139"/>
            <a:ext cx="9019540" cy="1904752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>
              <a:lnSpc>
                <a:spcPct val="131000"/>
              </a:lnSpc>
            </a:pP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苏轼擅长画墨竹，且绘画重视神似，主张画外有情，画要有寄托，反对形似，反对程序的束缚，提倡“诗画本一律，天工与清新”，而且明确地提出了“士人画”的概念，对以后“文人画”的发展奠定了一定的理论基础。其作品有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枯木怪石图卷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》《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潇湘竹石图卷</a:t>
            </a:r>
            <a:r>
              <a:rPr lang="en-US" altLang="zh-CN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》</a:t>
            </a:r>
            <a:r>
              <a:rPr lang="zh-CN" altLang="en-US" sz="1600" spc="292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等。</a:t>
            </a:r>
            <a:endParaRPr lang="zh-CN" altLang="en-US" sz="1600" spc="292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7" name="image 1209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9227820" y="891474"/>
            <a:ext cx="3352800" cy="768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831" y="3469320"/>
            <a:ext cx="3622834" cy="2162467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608058" y="3510388"/>
            <a:ext cx="3884951" cy="2184528"/>
            <a:chOff x="13271996" y="6465084"/>
            <a:chExt cx="7769901" cy="436905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71996" y="6465084"/>
              <a:ext cx="7769901" cy="4343655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15897299" y="10391492"/>
              <a:ext cx="1485900" cy="4426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0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" y="533400"/>
            <a:ext cx="10972800" cy="5791200"/>
          </a:xfrm>
          <a:prstGeom prst="rect">
            <a:avLst/>
          </a:prstGeom>
        </p:spPr>
      </p:pic>
      <p:sp>
        <p:nvSpPr>
          <p:cNvPr id="17" name="文本框1"/>
          <p:cNvSpPr txBox="1"/>
          <p:nvPr/>
        </p:nvSpPr>
        <p:spPr>
          <a:xfrm>
            <a:off x="2947035" y="2683510"/>
            <a:ext cx="6297930" cy="1490980"/>
          </a:xfrm>
          <a:prstGeom prst="rect">
            <a:avLst/>
          </a:prstGeom>
        </p:spPr>
        <p:txBody>
          <a:bodyPr vert="horz" rtlCol="0" anchor="t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9600" dirty="0" smtClean="0">
                <a:solidFill>
                  <a:srgbClr val="005178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谢谢观看</a:t>
            </a:r>
            <a:endParaRPr lang="zh-CN" altLang="en-US" sz="2400" dirty="0">
              <a:solidFill>
                <a:srgbClr val="005178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" name="仙鹤1" descr="resour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915" y="-132080"/>
            <a:ext cx="3005455" cy="3005455"/>
          </a:xfrm>
          <a:prstGeom prst="rect">
            <a:avLst/>
          </a:prstGeom>
        </p:spPr>
      </p:pic>
      <p:pic>
        <p:nvPicPr>
          <p:cNvPr id="4" name="仙鹤2" descr="resour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4648835"/>
            <a:ext cx="2437765" cy="2437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MzNhNjcwN2E4ODlmNTA0OGYyNDVmZDcyMWU4ODMxZmUifQ=="/>
  <p:tag name="KSO_WPP_MARK_KEY" val="88f316f4-ad22-44cb-a9da-e9ce4de96c95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5969</Words>
  <Application>WPS 演示</Application>
  <PresentationFormat>宽屏</PresentationFormat>
  <Paragraphs>129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  <vt:variant>
        <vt:lpstr>自定义放映</vt:lpstr>
      </vt:variant>
      <vt:variant>
        <vt:i4>0</vt:i4>
      </vt:variant>
    </vt:vector>
  </HeadingPairs>
  <TitlesOfParts>
    <vt:vector size="28" baseType="lpstr">
      <vt:lpstr>Arial</vt:lpstr>
      <vt:lpstr>宋体</vt:lpstr>
      <vt:lpstr>Wingdings</vt:lpstr>
      <vt:lpstr>Wingdings</vt:lpstr>
      <vt:lpstr>华文行楷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TaoTalk</cp:lastModifiedBy>
  <cp:revision>231</cp:revision>
  <dcterms:created xsi:type="dcterms:W3CDTF">2019-06-19T02:08:00Z</dcterms:created>
  <dcterms:modified xsi:type="dcterms:W3CDTF">2022-12-06T01:51:41Z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8CCE7302C74E4DDD9EADBBBF2D49C2BC</vt:lpwstr>
  </property>
</Properties>
</file>