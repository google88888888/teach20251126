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wdp" ContentType="image/vnd.ms-photo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635" cy="6858000"/>
  <p:notesSz cx="6858000" cy="9144000"/>
  <p:custShowLst>
    <p:custShow name="简短放映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7"/>
        <p:sld r:id="rId18"/>
        <p:sld r:id="rId19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01c98986-59c6-4bdd-b209-f4f3698e28a3}">
          <p14:sldIdLst>
            <p14:sldId id="256"/>
            <p14:sldId id="257"/>
          </p14:sldIdLst>
        </p14:section>
        <p14:section name="城市概括" id="{ef203f1d-3fd8-462e-b0e4-a648e476ad30}">
          <p14:sldIdLst>
            <p14:sldId id="258"/>
            <p14:sldId id="259"/>
            <p14:sldId id="260"/>
            <p14:sldId id="261"/>
            <p14:sldId id="262"/>
          </p14:sldIdLst>
        </p14:section>
        <p14:section name="政治文化中心" id="{ea2c7f06-0140-44a9-87a5-b75991932541}">
          <p14:sldIdLst>
            <p14:sldId id="263"/>
            <p14:sldId id="264"/>
            <p14:sldId id="266"/>
            <p14:sldId id="265"/>
          </p14:sldIdLst>
        </p14:section>
        <p14:section name="历史悠久的古城" id="{310deeef-6f8c-49d0-91e1-1f4c4bc2b7fc}">
          <p14:sldIdLst>
            <p14:sldId id="267"/>
            <p14:sldId id="268"/>
            <p14:sldId id="269"/>
            <p14:sldId id="270"/>
            <p14:sldId id="271"/>
          </p14:sldIdLst>
        </p14:section>
        <p14:section name="名胜古迹" id="{10704cba-c5d5-43c8-80a8-79b7a9e21be7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高等学府" id="{ca289a1e-8569-450f-80eb-f9f64e6eaa88}">
          <p14:sldIdLst>
            <p14:sldId id="278"/>
            <p14:sldId id="279"/>
            <p14:sldId id="280"/>
            <p14:sldId id="281"/>
          </p14:sldIdLst>
        </p14:section>
        <p14:section name="结束" id="{ed35e3c3-d15d-468d-92e0-a6933c190e2d}">
          <p14:sldIdLst>
            <p14:sldId id="28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custShow id="0"/>
  </p:showPr>
  <p:clrMru>
    <a:srgbClr val="FF010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F218E0-E72F-4FB4-B861-C83F0E35F934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accent1" phldr="0"/>
      <dgm:spPr/>
      <dgm:t>
        <a:bodyPr/>
        <a:p>
          <a:endParaRPr lang="zh-CN" altLang="en-US"/>
        </a:p>
      </dgm:t>
    </dgm:pt>
    <dgm:pt modelId="{17264811-B842-45CA-8023-890707C56826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charset="0"/>
              <a:ea typeface="华文楷体" charset="0"/>
            </a:rPr>
            <a:t>伍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A109D010-9885-4F8F-B8E9-E2C717658764}" cxnId="{B6DF8BDD-113D-4E6A-B7BB-25C331D1FE32}" type="parTrans">
      <dgm:prSet/>
      <dgm:spPr/>
      <dgm:t>
        <a:bodyPr/>
        <a:p>
          <a:endParaRPr lang="zh-CN" altLang="en-US"/>
        </a:p>
      </dgm:t>
    </dgm:pt>
    <dgm:pt modelId="{ABC69D63-56ED-48ED-9346-231F6A6139BF}" cxnId="{B6DF8BDD-113D-4E6A-B7BB-25C331D1FE32}" type="sibTrans">
      <dgm:prSet/>
      <dgm:spPr/>
      <dgm:t>
        <a:bodyPr/>
        <a:p>
          <a:endParaRPr lang="zh-CN" altLang="en-US"/>
        </a:p>
      </dgm:t>
    </dgm:pt>
    <dgm:pt modelId="{3A04E1E2-A022-47CE-8997-EF18827AD0A2}">
      <dgm:prSet phldrT="[文本]" phldr="0" custT="1"/>
      <dgm:spPr/>
      <dgm:t>
        <a:bodyPr vert="eaVert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微软雅黑" panose="020B0503020204020204" pitchFamily="34" charset="-122"/>
            </a:rPr>
            <a:t>高等学府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27D8CDC7-1381-4175-B7BB-6022CF4D82E6}" cxnId="{F1050D1A-9798-4708-BF32-5AC8A0AE1129}" type="parTrans">
      <dgm:prSet/>
      <dgm:spPr/>
      <dgm:t>
        <a:bodyPr/>
        <a:p>
          <a:endParaRPr lang="zh-CN" altLang="en-US"/>
        </a:p>
      </dgm:t>
    </dgm:pt>
    <dgm:pt modelId="{6093660C-20EB-4964-87F9-BCEC151AEF5F}" cxnId="{F1050D1A-9798-4708-BF32-5AC8A0AE1129}" type="sibTrans">
      <dgm:prSet/>
      <dgm:spPr/>
      <dgm:t>
        <a:bodyPr/>
        <a:p>
          <a:endParaRPr lang="zh-CN" altLang="en-US"/>
        </a:p>
      </dgm:t>
    </dgm:pt>
    <dgm:pt modelId="{1E2CC1A7-EE79-4C18-A179-CE42EF3B3F4A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charset="0"/>
              <a:ea typeface="华文楷体" charset="0"/>
            </a:rPr>
            <a:t>肆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4420C36B-7FD0-41F4-845A-9000C47B4900}" cxnId="{2FF7348F-BADC-414A-BBD7-7AC24EFB798A}" type="parTrans">
      <dgm:prSet/>
      <dgm:spPr/>
      <dgm:t>
        <a:bodyPr/>
        <a:p>
          <a:endParaRPr lang="zh-CN" altLang="en-US"/>
        </a:p>
      </dgm:t>
    </dgm:pt>
    <dgm:pt modelId="{1BAAE311-27E8-4383-9AB4-C15DA1D4E64A}" cxnId="{2FF7348F-BADC-414A-BBD7-7AC24EFB798A}" type="sibTrans">
      <dgm:prSet/>
      <dgm:spPr/>
      <dgm:t>
        <a:bodyPr/>
        <a:p>
          <a:endParaRPr lang="zh-CN" altLang="en-US"/>
        </a:p>
      </dgm:t>
    </dgm:pt>
    <dgm:pt modelId="{99B048AD-4207-4FBF-AC96-32E95F737103}">
      <dgm:prSet phldrT="[文本]" phldr="0" custT="1"/>
      <dgm:spPr/>
      <dgm:t>
        <a:bodyPr vert="eaVert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微软雅黑" panose="020B0503020204020204" pitchFamily="34" charset="-122"/>
            </a:rPr>
            <a:t>名胜古迹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51D632FF-BB4F-4E18-882E-B48E55588B8F}" cxnId="{E8F4BA54-5CC8-45DC-8892-80949237398E}" type="parTrans">
      <dgm:prSet/>
      <dgm:spPr/>
      <dgm:t>
        <a:bodyPr/>
        <a:p>
          <a:endParaRPr lang="zh-CN" altLang="en-US"/>
        </a:p>
      </dgm:t>
    </dgm:pt>
    <dgm:pt modelId="{FF53DED4-9E89-47A5-A21C-6C2BA42171BF}" cxnId="{E8F4BA54-5CC8-45DC-8892-80949237398E}" type="sibTrans">
      <dgm:prSet/>
      <dgm:spPr/>
      <dgm:t>
        <a:bodyPr/>
        <a:p>
          <a:endParaRPr lang="zh-CN" altLang="en-US"/>
        </a:p>
      </dgm:t>
    </dgm:pt>
    <dgm:pt modelId="{A484B16A-D33B-49BA-80C2-13C962B6C989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charset="0"/>
              <a:ea typeface="华文楷体" charset="0"/>
            </a:rPr>
            <a:t>叁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57CF6C04-37F5-4AE7-BD5A-88A90D22B7DF}" cxnId="{9BA28131-D43C-4969-B73E-8FF272186799}" type="parTrans">
      <dgm:prSet/>
      <dgm:spPr/>
      <dgm:t>
        <a:bodyPr/>
        <a:p>
          <a:endParaRPr lang="zh-CN" altLang="en-US"/>
        </a:p>
      </dgm:t>
    </dgm:pt>
    <dgm:pt modelId="{A5EBB2B7-A37E-4898-A92E-017C79366253}" cxnId="{9BA28131-D43C-4969-B73E-8FF272186799}" type="sibTrans">
      <dgm:prSet/>
      <dgm:spPr/>
      <dgm:t>
        <a:bodyPr/>
        <a:p>
          <a:endParaRPr lang="zh-CN" altLang="en-US"/>
        </a:p>
      </dgm:t>
    </dgm:pt>
    <dgm:pt modelId="{3FE43A09-7FA9-430A-9A2C-BD8BB8A3FABC}">
      <dgm:prSet phldrT="[文本]" phldr="0" custT="1"/>
      <dgm:spPr/>
      <dgm:t>
        <a:bodyPr vert="eaVert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+mn-ea"/>
            </a:rPr>
            <a:t>历史悠久的</a:t>
          </a: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+mn-ea"/>
            </a:rPr>
            <a:t>古城</a:t>
          </a:r>
          <a:r>
            <a:rPr lang="zh-CN" altLang="en-US" sz="2800">
              <a:latin typeface="华文楷体" charset="0"/>
              <a:ea typeface="华文楷体" charset="0"/>
            </a:rPr>
            <a:t/>
          </a:r>
          <a:endParaRPr lang="zh-CN" altLang="en-US" sz="2800">
            <a:latin typeface="华文楷体" charset="0"/>
            <a:ea typeface="华文楷体" charset="0"/>
          </a:endParaRPr>
        </a:p>
      </dgm:t>
    </dgm:pt>
    <dgm:pt modelId="{681C8A90-C430-46FD-B21C-339809E07A93}" cxnId="{59C37407-4B75-43DC-AB48-D624C277D463}" type="parTrans">
      <dgm:prSet/>
      <dgm:spPr/>
      <dgm:t>
        <a:bodyPr/>
        <a:p>
          <a:endParaRPr lang="zh-CN" altLang="en-US"/>
        </a:p>
      </dgm:t>
    </dgm:pt>
    <dgm:pt modelId="{65E243BC-A999-421C-8C58-849682F62438}" cxnId="{59C37407-4B75-43DC-AB48-D624C277D463}" type="sibTrans">
      <dgm:prSet/>
      <dgm:spPr/>
      <dgm:t>
        <a:bodyPr/>
        <a:p>
          <a:endParaRPr lang="zh-CN" altLang="en-US"/>
        </a:p>
      </dgm:t>
    </dgm:pt>
    <dgm:pt modelId="{36DE127F-1AA2-4410-8A03-1CD93F9F8D9E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>
              <a:latin typeface="华文楷体" charset="0"/>
              <a:ea typeface="华文楷体" charset="0"/>
            </a:rPr>
            <a:t>贰</a:t>
          </a:r>
          <a:r>
            <a:rPr lang="zh-CN" sz="2800">
              <a:latin typeface="华文楷体" charset="0"/>
              <a:ea typeface="华文楷体" charset="0"/>
            </a:rPr>
            <a:t/>
          </a:r>
          <a:endParaRPr lang="zh-CN" sz="2800">
            <a:latin typeface="华文楷体" charset="0"/>
            <a:ea typeface="华文楷体" charset="0"/>
          </a:endParaRPr>
        </a:p>
      </dgm:t>
    </dgm:pt>
    <dgm:pt modelId="{49FE0E6E-B1F7-44A7-B276-55236DDB7D2F}" cxnId="{FF169479-7F5C-489F-B9B1-04406BD28B7F}" type="parTrans">
      <dgm:prSet/>
      <dgm:spPr/>
    </dgm:pt>
    <dgm:pt modelId="{AAD5FBD7-6D4D-4400-ADEF-99BA675D7650}" cxnId="{FF169479-7F5C-489F-B9B1-04406BD28B7F}" type="sibTrans">
      <dgm:prSet/>
      <dgm:spPr/>
    </dgm:pt>
    <dgm:pt modelId="{D45DBA64-64EB-4E7F-A4CC-880C08326B33}">
      <dgm:prSet phldr="0" custT="1"/>
      <dgm:spPr/>
      <dgm:t>
        <a:bodyPr vert="eaVert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800">
              <a:latin typeface="华文楷体" charset="0"/>
              <a:ea typeface="华文楷体" charset="0"/>
              <a:sym typeface="微软雅黑" panose="020B0503020204020204" pitchFamily="34" charset="-122"/>
            </a:rPr>
            <a:t>政</a:t>
          </a: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微软雅黑" panose="020B0503020204020204" pitchFamily="34" charset="-122"/>
            </a:rPr>
            <a:t>治文化中心</a:t>
          </a: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</a:rPr>
            <a:t/>
          </a:r>
          <a:endParaRPr lang="zh-CN" altLang="en-US" sz="2800">
            <a:ln>
              <a:noFill/>
            </a:ln>
            <a:effectLst/>
            <a:uLnTx/>
            <a:latin typeface="华文楷体" charset="0"/>
            <a:ea typeface="华文楷体" charset="0"/>
          </a:endParaRPr>
        </a:p>
      </dgm:t>
    </dgm:pt>
    <dgm:pt modelId="{F82D2785-CE51-4C82-A29D-E46C3029D9DA}" cxnId="{95CBD6FB-3431-4DA7-902F-19FB96EFF401}" type="parTrans">
      <dgm:prSet/>
      <dgm:spPr/>
    </dgm:pt>
    <dgm:pt modelId="{80E17649-31FA-4B7F-B2E2-C4813D1C587F}" cxnId="{95CBD6FB-3431-4DA7-902F-19FB96EFF401}" type="sibTrans">
      <dgm:prSet/>
      <dgm:spPr/>
    </dgm:pt>
    <dgm:pt modelId="{F69D0499-FE75-4349-8109-46A2DDDD9E6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>
              <a:latin typeface="华文楷体" charset="0"/>
              <a:ea typeface="华文楷体" charset="0"/>
            </a:rPr>
            <a:t>壹</a:t>
          </a:r>
          <a:r>
            <a:rPr lang="zh-CN" sz="2800">
              <a:latin typeface="华文楷体" charset="0"/>
              <a:ea typeface="华文楷体" charset="0"/>
            </a:rPr>
            <a:t/>
          </a:r>
          <a:endParaRPr lang="zh-CN" sz="2800">
            <a:latin typeface="华文楷体" charset="0"/>
            <a:ea typeface="华文楷体" charset="0"/>
          </a:endParaRPr>
        </a:p>
      </dgm:t>
    </dgm:pt>
    <dgm:pt modelId="{3850DC82-5D67-4B38-B25C-1E5FB3F98B56}" cxnId="{7AE8236C-9D86-40E5-BA08-B25FCF0FDCCA}" type="parTrans">
      <dgm:prSet/>
      <dgm:spPr/>
    </dgm:pt>
    <dgm:pt modelId="{ECA8AAF4-23D2-4F2D-8A6C-D2BCFEA925DF}" cxnId="{7AE8236C-9D86-40E5-BA08-B25FCF0FDCCA}" type="sibTrans">
      <dgm:prSet/>
      <dgm:spPr/>
    </dgm:pt>
    <dgm:pt modelId="{41407C06-9526-4C42-8260-3538982E5EC5}">
      <dgm:prSet phldr="0" custT="1"/>
      <dgm:spPr/>
      <dgm:t>
        <a:bodyPr vert="eaVert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800">
              <a:latin typeface="华文楷体" charset="0"/>
              <a:ea typeface="华文楷体" charset="0"/>
              <a:sym typeface="微软雅黑" panose="020B0503020204020204" pitchFamily="34" charset="-122"/>
            </a:rPr>
            <a:t>城</a:t>
          </a: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  <a:sym typeface="微软雅黑" panose="020B0503020204020204" pitchFamily="34" charset="-122"/>
            </a:rPr>
            <a:t>市概况</a:t>
          </a:r>
          <a:r>
            <a:rPr lang="zh-CN" altLang="en-US" sz="2800">
              <a:ln>
                <a:noFill/>
              </a:ln>
              <a:effectLst/>
              <a:uLnTx/>
              <a:latin typeface="华文楷体" charset="0"/>
              <a:ea typeface="华文楷体" charset="0"/>
            </a:rPr>
            <a:t/>
          </a:r>
          <a:endParaRPr lang="zh-CN" altLang="en-US" sz="2800">
            <a:ln>
              <a:noFill/>
            </a:ln>
            <a:effectLst/>
            <a:uLnTx/>
            <a:latin typeface="华文楷体" charset="0"/>
            <a:ea typeface="华文楷体" charset="0"/>
          </a:endParaRPr>
        </a:p>
      </dgm:t>
    </dgm:pt>
    <dgm:pt modelId="{42ACB6E4-B3EF-4C70-886E-C951FA0C752B}" cxnId="{7B7ADE51-3498-47B0-B9CD-FAFEFDDFA00C}" type="parTrans">
      <dgm:prSet/>
      <dgm:spPr/>
    </dgm:pt>
    <dgm:pt modelId="{24B26B33-AEDF-4321-AF55-3212ED28461C}" cxnId="{7B7ADE51-3498-47B0-B9CD-FAFEFDDFA00C}" type="sibTrans">
      <dgm:prSet/>
      <dgm:spPr/>
    </dgm:pt>
    <dgm:pt modelId="{7CF2E237-A323-4932-9A99-5C3801C407F7}" type="pres">
      <dgm:prSet presAssocID="{49F218E0-E72F-4FB4-B861-C83F0E35F934}" presName="Name0" presStyleCnt="0">
        <dgm:presLayoutVars>
          <dgm:dir/>
          <dgm:animLvl val="lvl"/>
          <dgm:resizeHandles val="exact"/>
        </dgm:presLayoutVars>
      </dgm:prSet>
      <dgm:spPr/>
    </dgm:pt>
    <dgm:pt modelId="{600174B3-3EC6-4ED8-9A64-BCC193972B36}" type="pres">
      <dgm:prSet presAssocID="{17264811-B842-45CA-8023-890707C56826}" presName="composite" presStyleCnt="0"/>
      <dgm:spPr/>
    </dgm:pt>
    <dgm:pt modelId="{27C3B081-C62D-4789-ACCC-6B5C4C4AC593}" type="pres">
      <dgm:prSet presAssocID="{17264811-B842-45CA-8023-890707C56826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EF7A3F2B-0DDF-464D-BB82-2FD9B2735E45}" type="pres">
      <dgm:prSet presAssocID="{17264811-B842-45CA-8023-890707C56826}" presName="desTx" presStyleLbl="alignAccFollowNode1" presStyleIdx="0" presStyleCnt="5">
        <dgm:presLayoutVars>
          <dgm:bulletEnabled val="1"/>
        </dgm:presLayoutVars>
      </dgm:prSet>
      <dgm:spPr/>
    </dgm:pt>
    <dgm:pt modelId="{74BFF946-DBE8-4C9C-BE94-FFDC86C27C98}" type="pres">
      <dgm:prSet presAssocID="{ABC69D63-56ED-48ED-9346-231F6A6139BF}" presName="space" presStyleCnt="0"/>
      <dgm:spPr/>
    </dgm:pt>
    <dgm:pt modelId="{F09E7C67-D483-4458-8932-ED733A6AD0BE}" type="pres">
      <dgm:prSet presAssocID="{1E2CC1A7-EE79-4C18-A179-CE42EF3B3F4A}" presName="composite" presStyleCnt="0"/>
      <dgm:spPr/>
    </dgm:pt>
    <dgm:pt modelId="{F8668B23-714E-4127-97FC-1CD6337621BE}" type="pres">
      <dgm:prSet presAssocID="{1E2CC1A7-EE79-4C18-A179-CE42EF3B3F4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BD11FAB-8B7F-4F8A-8171-934118D8A205}" type="pres">
      <dgm:prSet presAssocID="{1E2CC1A7-EE79-4C18-A179-CE42EF3B3F4A}" presName="desTx" presStyleLbl="alignAccFollowNode1" presStyleIdx="1" presStyleCnt="5">
        <dgm:presLayoutVars>
          <dgm:bulletEnabled val="1"/>
        </dgm:presLayoutVars>
      </dgm:prSet>
      <dgm:spPr/>
    </dgm:pt>
    <dgm:pt modelId="{D35F3378-C772-4716-BE81-93512F9BEC82}" type="pres">
      <dgm:prSet presAssocID="{1BAAE311-27E8-4383-9AB4-C15DA1D4E64A}" presName="space" presStyleCnt="0"/>
      <dgm:spPr/>
    </dgm:pt>
    <dgm:pt modelId="{AF734243-87E9-4C66-B7B8-A3E0E4E6C1E3}" type="pres">
      <dgm:prSet presAssocID="{A484B16A-D33B-49BA-80C2-13C962B6C989}" presName="composite" presStyleCnt="0"/>
      <dgm:spPr/>
    </dgm:pt>
    <dgm:pt modelId="{85F0829B-F0D0-4040-B2D6-0D289700BD62}" type="pres">
      <dgm:prSet presAssocID="{A484B16A-D33B-49BA-80C2-13C962B6C989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8E8B5376-0863-491C-83DC-52E304B5A1D3}" type="pres">
      <dgm:prSet presAssocID="{A484B16A-D33B-49BA-80C2-13C962B6C989}" presName="desTx" presStyleLbl="alignAccFollowNode1" presStyleIdx="2" presStyleCnt="5">
        <dgm:presLayoutVars>
          <dgm:bulletEnabled val="1"/>
        </dgm:presLayoutVars>
      </dgm:prSet>
      <dgm:spPr/>
    </dgm:pt>
    <dgm:pt modelId="{C524D3C2-5BC3-4E16-91F4-7C56D2E106A8}" type="pres">
      <dgm:prSet presAssocID="{A5EBB2B7-A37E-4898-A92E-017C79366253}" presName="space" presStyleCnt="0"/>
      <dgm:spPr/>
    </dgm:pt>
    <dgm:pt modelId="{52A1A44C-E058-4241-A654-D51567EA8A74}" type="pres">
      <dgm:prSet presAssocID="{36DE127F-1AA2-4410-8A03-1CD93F9F8D9E}" presName="composite" presStyleCnt="0"/>
      <dgm:spPr/>
    </dgm:pt>
    <dgm:pt modelId="{5EECE7B6-5073-4C18-B5FA-07E7A25C40DD}" type="pres">
      <dgm:prSet presAssocID="{36DE127F-1AA2-4410-8A03-1CD93F9F8D9E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ABF34BBC-FA87-4E20-AB00-2B0B4852912E}" type="pres">
      <dgm:prSet presAssocID="{36DE127F-1AA2-4410-8A03-1CD93F9F8D9E}" presName="desTx" presStyleLbl="alignAccFollowNode1" presStyleIdx="3" presStyleCnt="5">
        <dgm:presLayoutVars>
          <dgm:bulletEnabled val="1"/>
        </dgm:presLayoutVars>
      </dgm:prSet>
      <dgm:spPr/>
    </dgm:pt>
    <dgm:pt modelId="{117DADB2-C6EA-4057-8116-1887253A39F6}" type="pres">
      <dgm:prSet presAssocID="{AAD5FBD7-6D4D-4400-ADEF-99BA675D7650}" presName="space" presStyleCnt="0"/>
      <dgm:spPr/>
    </dgm:pt>
    <dgm:pt modelId="{9412F2E2-8F35-4E56-98BF-3DEF0ED61F7F}" type="pres">
      <dgm:prSet presAssocID="{F69D0499-FE75-4349-8109-46A2DDDD9E68}" presName="composite" presStyleCnt="0"/>
      <dgm:spPr/>
    </dgm:pt>
    <dgm:pt modelId="{FC0477A2-F29A-4C71-9523-DD90CA26025B}" type="pres">
      <dgm:prSet presAssocID="{F69D0499-FE75-4349-8109-46A2DDDD9E68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74CEF0B3-CF99-4E7A-AE5A-C930F3C81ACE}" type="pres">
      <dgm:prSet presAssocID="{F69D0499-FE75-4349-8109-46A2DDDD9E68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B6DF8BDD-113D-4E6A-B7BB-25C331D1FE32}" srcId="{49F218E0-E72F-4FB4-B861-C83F0E35F934}" destId="{17264811-B842-45CA-8023-890707C56826}" srcOrd="0" destOrd="0" parTransId="{A109D010-9885-4F8F-B8E9-E2C717658764}" sibTransId="{ABC69D63-56ED-48ED-9346-231F6A6139BF}"/>
    <dgm:cxn modelId="{F1050D1A-9798-4708-BF32-5AC8A0AE1129}" srcId="{17264811-B842-45CA-8023-890707C56826}" destId="{3A04E1E2-A022-47CE-8997-EF18827AD0A2}" srcOrd="0" destOrd="0" parTransId="{27D8CDC7-1381-4175-B7BB-6022CF4D82E6}" sibTransId="{6093660C-20EB-4964-87F9-BCEC151AEF5F}"/>
    <dgm:cxn modelId="{2FF7348F-BADC-414A-BBD7-7AC24EFB798A}" srcId="{49F218E0-E72F-4FB4-B861-C83F0E35F934}" destId="{1E2CC1A7-EE79-4C18-A179-CE42EF3B3F4A}" srcOrd="1" destOrd="0" parTransId="{4420C36B-7FD0-41F4-845A-9000C47B4900}" sibTransId="{1BAAE311-27E8-4383-9AB4-C15DA1D4E64A}"/>
    <dgm:cxn modelId="{E8F4BA54-5CC8-45DC-8892-80949237398E}" srcId="{1E2CC1A7-EE79-4C18-A179-CE42EF3B3F4A}" destId="{99B048AD-4207-4FBF-AC96-32E95F737103}" srcOrd="0" destOrd="1" parTransId="{51D632FF-BB4F-4E18-882E-B48E55588B8F}" sibTransId="{FF53DED4-9E89-47A5-A21C-6C2BA42171BF}"/>
    <dgm:cxn modelId="{9BA28131-D43C-4969-B73E-8FF272186799}" srcId="{49F218E0-E72F-4FB4-B861-C83F0E35F934}" destId="{A484B16A-D33B-49BA-80C2-13C962B6C989}" srcOrd="2" destOrd="0" parTransId="{57CF6C04-37F5-4AE7-BD5A-88A90D22B7DF}" sibTransId="{A5EBB2B7-A37E-4898-A92E-017C79366253}"/>
    <dgm:cxn modelId="{59C37407-4B75-43DC-AB48-D624C277D463}" srcId="{A484B16A-D33B-49BA-80C2-13C962B6C989}" destId="{3FE43A09-7FA9-430A-9A2C-BD8BB8A3FABC}" srcOrd="0" destOrd="2" parTransId="{681C8A90-C430-46FD-B21C-339809E07A93}" sibTransId="{65E243BC-A999-421C-8C58-849682F62438}"/>
    <dgm:cxn modelId="{FF169479-7F5C-489F-B9B1-04406BD28B7F}" srcId="{49F218E0-E72F-4FB4-B861-C83F0E35F934}" destId="{36DE127F-1AA2-4410-8A03-1CD93F9F8D9E}" srcOrd="3" destOrd="0" parTransId="{49FE0E6E-B1F7-44A7-B276-55236DDB7D2F}" sibTransId="{AAD5FBD7-6D4D-4400-ADEF-99BA675D7650}"/>
    <dgm:cxn modelId="{95CBD6FB-3431-4DA7-902F-19FB96EFF401}" srcId="{36DE127F-1AA2-4410-8A03-1CD93F9F8D9E}" destId="{D45DBA64-64EB-4E7F-A4CC-880C08326B33}" srcOrd="0" destOrd="3" parTransId="{F82D2785-CE51-4C82-A29D-E46C3029D9DA}" sibTransId="{80E17649-31FA-4B7F-B2E2-C4813D1C587F}"/>
    <dgm:cxn modelId="{7AE8236C-9D86-40E5-BA08-B25FCF0FDCCA}" srcId="{49F218E0-E72F-4FB4-B861-C83F0E35F934}" destId="{F69D0499-FE75-4349-8109-46A2DDDD9E68}" srcOrd="4" destOrd="0" parTransId="{3850DC82-5D67-4B38-B25C-1E5FB3F98B56}" sibTransId="{ECA8AAF4-23D2-4F2D-8A6C-D2BCFEA925DF}"/>
    <dgm:cxn modelId="{7B7ADE51-3498-47B0-B9CD-FAFEFDDFA00C}" srcId="{F69D0499-FE75-4349-8109-46A2DDDD9E68}" destId="{41407C06-9526-4C42-8260-3538982E5EC5}" srcOrd="0" destOrd="4" parTransId="{42ACB6E4-B3EF-4C70-886E-C951FA0C752B}" sibTransId="{24B26B33-AEDF-4321-AF55-3212ED28461C}"/>
    <dgm:cxn modelId="{71C694DA-B770-4CEE-9D7B-4E30B2A61E18}" type="presOf" srcId="{49F218E0-E72F-4FB4-B861-C83F0E35F934}" destId="{7CF2E237-A323-4932-9A99-5C3801C407F7}" srcOrd="0" destOrd="0" presId="urn:microsoft.com/office/officeart/2005/8/layout/hList1"/>
    <dgm:cxn modelId="{259540D8-160E-41A4-9FF5-7DC116CD7A2B}" type="presParOf" srcId="{7CF2E237-A323-4932-9A99-5C3801C407F7}" destId="{600174B3-3EC6-4ED8-9A64-BCC193972B36}" srcOrd="0" destOrd="0" presId="urn:microsoft.com/office/officeart/2005/8/layout/hList1"/>
    <dgm:cxn modelId="{3E37B636-08DC-4E53-8375-68AA15448FD8}" type="presParOf" srcId="{600174B3-3EC6-4ED8-9A64-BCC193972B36}" destId="{27C3B081-C62D-4789-ACCC-6B5C4C4AC593}" srcOrd="0" destOrd="0" presId="urn:microsoft.com/office/officeart/2005/8/layout/hList1"/>
    <dgm:cxn modelId="{E46A1F44-63E7-4292-9261-BD02A0BDCAFD}" type="presOf" srcId="{17264811-B842-45CA-8023-890707C56826}" destId="{27C3B081-C62D-4789-ACCC-6B5C4C4AC593}" srcOrd="0" destOrd="0" presId="urn:microsoft.com/office/officeart/2005/8/layout/hList1"/>
    <dgm:cxn modelId="{78DBA651-FFCE-44C1-98E3-6E860F2014B1}" type="presParOf" srcId="{600174B3-3EC6-4ED8-9A64-BCC193972B36}" destId="{EF7A3F2B-0DDF-464D-BB82-2FD9B2735E45}" srcOrd="1" destOrd="0" presId="urn:microsoft.com/office/officeart/2005/8/layout/hList1"/>
    <dgm:cxn modelId="{3F1667AF-4F55-44F3-81E8-71BDCDD182D1}" type="presOf" srcId="{3A04E1E2-A022-47CE-8997-EF18827AD0A2}" destId="{EF7A3F2B-0DDF-464D-BB82-2FD9B2735E45}" srcOrd="0" destOrd="0" presId="urn:microsoft.com/office/officeart/2005/8/layout/hList1"/>
    <dgm:cxn modelId="{9E469ACC-BD24-45FB-B6BD-CDBEF46B53A8}" type="presParOf" srcId="{7CF2E237-A323-4932-9A99-5C3801C407F7}" destId="{74BFF946-DBE8-4C9C-BE94-FFDC86C27C98}" srcOrd="1" destOrd="0" presId="urn:microsoft.com/office/officeart/2005/8/layout/hList1"/>
    <dgm:cxn modelId="{E80177E0-9DE7-485D-BC9C-32BEEAA42793}" type="presParOf" srcId="{7CF2E237-A323-4932-9A99-5C3801C407F7}" destId="{F09E7C67-D483-4458-8932-ED733A6AD0BE}" srcOrd="2" destOrd="0" presId="urn:microsoft.com/office/officeart/2005/8/layout/hList1"/>
    <dgm:cxn modelId="{7116D99B-D6DB-44C3-87D6-560BC15FDDEF}" type="presParOf" srcId="{F09E7C67-D483-4458-8932-ED733A6AD0BE}" destId="{F8668B23-714E-4127-97FC-1CD6337621BE}" srcOrd="0" destOrd="2" presId="urn:microsoft.com/office/officeart/2005/8/layout/hList1"/>
    <dgm:cxn modelId="{425AD388-1D44-4DD8-9365-B360129628C2}" type="presOf" srcId="{1E2CC1A7-EE79-4C18-A179-CE42EF3B3F4A}" destId="{F8668B23-714E-4127-97FC-1CD6337621BE}" srcOrd="0" destOrd="0" presId="urn:microsoft.com/office/officeart/2005/8/layout/hList1"/>
    <dgm:cxn modelId="{10A2DE14-B8C0-4429-84D8-8F129982C9CC}" type="presParOf" srcId="{F09E7C67-D483-4458-8932-ED733A6AD0BE}" destId="{DBD11FAB-8B7F-4F8A-8171-934118D8A205}" srcOrd="1" destOrd="2" presId="urn:microsoft.com/office/officeart/2005/8/layout/hList1"/>
    <dgm:cxn modelId="{AAB8EF6B-91DA-4C71-A207-661B3FED0084}" type="presOf" srcId="{99B048AD-4207-4FBF-AC96-32E95F737103}" destId="{DBD11FAB-8B7F-4F8A-8171-934118D8A205}" srcOrd="0" destOrd="0" presId="urn:microsoft.com/office/officeart/2005/8/layout/hList1"/>
    <dgm:cxn modelId="{3F2A345B-DAD0-45A4-856C-3DAAFC16430C}" type="presParOf" srcId="{7CF2E237-A323-4932-9A99-5C3801C407F7}" destId="{D35F3378-C772-4716-BE81-93512F9BEC82}" srcOrd="3" destOrd="0" presId="urn:microsoft.com/office/officeart/2005/8/layout/hList1"/>
    <dgm:cxn modelId="{3D5A8283-43CF-4F15-8BF3-94CB209CC5B8}" type="presParOf" srcId="{7CF2E237-A323-4932-9A99-5C3801C407F7}" destId="{AF734243-87E9-4C66-B7B8-A3E0E4E6C1E3}" srcOrd="4" destOrd="0" presId="urn:microsoft.com/office/officeart/2005/8/layout/hList1"/>
    <dgm:cxn modelId="{4A82FF4F-A8C0-4DA9-B6C8-E746B49B7852}" type="presParOf" srcId="{AF734243-87E9-4C66-B7B8-A3E0E4E6C1E3}" destId="{85F0829B-F0D0-4040-B2D6-0D289700BD62}" srcOrd="0" destOrd="4" presId="urn:microsoft.com/office/officeart/2005/8/layout/hList1"/>
    <dgm:cxn modelId="{3CAC8FA0-075B-4698-B885-94ED55E95575}" type="presOf" srcId="{A484B16A-D33B-49BA-80C2-13C962B6C989}" destId="{85F0829B-F0D0-4040-B2D6-0D289700BD62}" srcOrd="0" destOrd="0" presId="urn:microsoft.com/office/officeart/2005/8/layout/hList1"/>
    <dgm:cxn modelId="{61688FA6-2C5E-4D4A-832C-51C378254C62}" type="presParOf" srcId="{AF734243-87E9-4C66-B7B8-A3E0E4E6C1E3}" destId="{8E8B5376-0863-491C-83DC-52E304B5A1D3}" srcOrd="1" destOrd="4" presId="urn:microsoft.com/office/officeart/2005/8/layout/hList1"/>
    <dgm:cxn modelId="{91568A87-CFB4-4DCF-B3B8-F535EAAC2E61}" type="presOf" srcId="{3FE43A09-7FA9-430A-9A2C-BD8BB8A3FABC}" destId="{8E8B5376-0863-491C-83DC-52E304B5A1D3}" srcOrd="0" destOrd="0" presId="urn:microsoft.com/office/officeart/2005/8/layout/hList1"/>
    <dgm:cxn modelId="{DA16475D-C948-4A0A-9B19-695E812600EF}" type="presParOf" srcId="{7CF2E237-A323-4932-9A99-5C3801C407F7}" destId="{C524D3C2-5BC3-4E16-91F4-7C56D2E106A8}" srcOrd="5" destOrd="0" presId="urn:microsoft.com/office/officeart/2005/8/layout/hList1"/>
    <dgm:cxn modelId="{F963814F-7E13-4A3B-8903-52FF422ECC62}" type="presParOf" srcId="{7CF2E237-A323-4932-9A99-5C3801C407F7}" destId="{52A1A44C-E058-4241-A654-D51567EA8A74}" srcOrd="6" destOrd="0" presId="urn:microsoft.com/office/officeart/2005/8/layout/hList1"/>
    <dgm:cxn modelId="{5FEF1BC1-171A-48CA-A807-0861344EA113}" type="presParOf" srcId="{52A1A44C-E058-4241-A654-D51567EA8A74}" destId="{5EECE7B6-5073-4C18-B5FA-07E7A25C40DD}" srcOrd="0" destOrd="6" presId="urn:microsoft.com/office/officeart/2005/8/layout/hList1"/>
    <dgm:cxn modelId="{593902A3-0B6F-484C-BD79-131D791AB1C1}" type="presOf" srcId="{36DE127F-1AA2-4410-8A03-1CD93F9F8D9E}" destId="{5EECE7B6-5073-4C18-B5FA-07E7A25C40DD}" srcOrd="0" destOrd="0" presId="urn:microsoft.com/office/officeart/2005/8/layout/hList1"/>
    <dgm:cxn modelId="{F2FFC380-72E6-486A-98AF-E484F7B4D2CC}" type="presParOf" srcId="{52A1A44C-E058-4241-A654-D51567EA8A74}" destId="{ABF34BBC-FA87-4E20-AB00-2B0B4852912E}" srcOrd="1" destOrd="6" presId="urn:microsoft.com/office/officeart/2005/8/layout/hList1"/>
    <dgm:cxn modelId="{200B22D5-704D-40D5-B5AB-6A9913660BC9}" type="presOf" srcId="{D45DBA64-64EB-4E7F-A4CC-880C08326B33}" destId="{ABF34BBC-FA87-4E20-AB00-2B0B4852912E}" srcOrd="0" destOrd="0" presId="urn:microsoft.com/office/officeart/2005/8/layout/hList1"/>
    <dgm:cxn modelId="{2C3EC3AF-351C-499F-B9F5-7A27FB9FF6A9}" type="presParOf" srcId="{7CF2E237-A323-4932-9A99-5C3801C407F7}" destId="{117DADB2-C6EA-4057-8116-1887253A39F6}" srcOrd="7" destOrd="0" presId="urn:microsoft.com/office/officeart/2005/8/layout/hList1"/>
    <dgm:cxn modelId="{A5D30E9E-08A1-4D3C-A6E4-9555B2C3FE4E}" type="presParOf" srcId="{7CF2E237-A323-4932-9A99-5C3801C407F7}" destId="{9412F2E2-8F35-4E56-98BF-3DEF0ED61F7F}" srcOrd="8" destOrd="0" presId="urn:microsoft.com/office/officeart/2005/8/layout/hList1"/>
    <dgm:cxn modelId="{7D3ECCC6-35CB-4781-BECF-C92BBDA52FCB}" type="presParOf" srcId="{9412F2E2-8F35-4E56-98BF-3DEF0ED61F7F}" destId="{FC0477A2-F29A-4C71-9523-DD90CA26025B}" srcOrd="0" destOrd="8" presId="urn:microsoft.com/office/officeart/2005/8/layout/hList1"/>
    <dgm:cxn modelId="{4F1A93D8-8617-429B-B165-566FCEAE8AD0}" type="presOf" srcId="{F69D0499-FE75-4349-8109-46A2DDDD9E68}" destId="{FC0477A2-F29A-4C71-9523-DD90CA26025B}" srcOrd="0" destOrd="0" presId="urn:microsoft.com/office/officeart/2005/8/layout/hList1"/>
    <dgm:cxn modelId="{3A488F70-4027-4B53-ADF2-73BC51BF6EBD}" type="presParOf" srcId="{9412F2E2-8F35-4E56-98BF-3DEF0ED61F7F}" destId="{74CEF0B3-CF99-4E7A-AE5A-C930F3C81ACE}" srcOrd="1" destOrd="8" presId="urn:microsoft.com/office/officeart/2005/8/layout/hList1"/>
    <dgm:cxn modelId="{FA611D2E-0BF8-40AC-AD7C-ADF13BA6FF71}" type="presOf" srcId="{41407C06-9526-4C42-8260-3538982E5EC5}" destId="{74CEF0B3-CF99-4E7A-AE5A-C930F3C81ACE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5400000" cy="3600000"/>
        <a:chOff x="0" y="0"/>
        <a:chExt cx="5400000" cy="3600000"/>
      </a:xfrm>
    </dsp:grpSpPr>
    <dsp:sp modelId="{27C3B081-C62D-4789-ACCC-6B5C4C4AC593}">
      <dsp:nvSpPr>
        <dsp:cNvPr id="3" name="矩形 2"/>
        <dsp:cNvSpPr/>
      </dsp:nvSpPr>
      <dsp:spPr bwMode="white">
        <a:xfrm>
          <a:off x="0" y="178355"/>
          <a:ext cx="971223" cy="388489"/>
        </a:xfrm>
        <a:prstGeom prst="rect">
          <a:avLst/>
        </a:prstGeom>
      </dsp:spPr>
      <dsp:style>
        <a:lnRef idx="2">
          <a:schemeClr val="accent2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panose="02010600040101010101" charset="-122"/>
              <a:ea typeface="华文楷体" panose="02010600040101010101" charset="-122"/>
            </a:rPr>
            <a:t>伍</a:t>
          </a:r>
          <a:endParaRPr lang="zh-CN" altLang="en-US" sz="2800"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0" y="178355"/>
        <a:ext cx="971223" cy="388489"/>
      </dsp:txXfrm>
    </dsp:sp>
    <dsp:sp modelId="{EF7A3F2B-0DDF-464D-BB82-2FD9B2735E45}">
      <dsp:nvSpPr>
        <dsp:cNvPr id="4" name="矩形 3"/>
        <dsp:cNvSpPr/>
      </dsp:nvSpPr>
      <dsp:spPr bwMode="white">
        <a:xfrm>
          <a:off x="0" y="566845"/>
          <a:ext cx="971223" cy="2854800"/>
        </a:xfrm>
        <a:prstGeom prst="rect">
          <a:avLst/>
        </a:prstGeom>
      </dsp:spPr>
      <dsp:style>
        <a:lnRef idx="2">
          <a:schemeClr val="accent2">
            <a:tint val="40000"/>
            <a:alpha val="90000"/>
          </a:schemeClr>
        </a:lnRef>
        <a:fillRef idx="1">
          <a:schemeClr val="accent2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vert="eaVert" wrap="square" lIns="149352" tIns="149352" rIns="199136" bIns="224028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高等学府</a:t>
          </a:r>
          <a:endParaRPr lang="zh-CN" altLang="en-US" sz="2800">
            <a:solidFill>
              <a:schemeClr val="dk1"/>
            </a:solidFill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0" y="566845"/>
        <a:ext cx="971223" cy="2854800"/>
      </dsp:txXfrm>
    </dsp:sp>
    <dsp:sp modelId="{F8668B23-714E-4127-97FC-1CD6337621BE}">
      <dsp:nvSpPr>
        <dsp:cNvPr id="5" name="矩形 4"/>
        <dsp:cNvSpPr/>
      </dsp:nvSpPr>
      <dsp:spPr bwMode="white">
        <a:xfrm>
          <a:off x="1107194" y="178355"/>
          <a:ext cx="971223" cy="388489"/>
        </a:xfrm>
        <a:prstGeom prst="rect">
          <a:avLst/>
        </a:prstGeom>
      </dsp:spPr>
      <dsp:style>
        <a:lnRef idx="2">
          <a:schemeClr val="accent3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panose="02010600040101010101" charset="-122"/>
              <a:ea typeface="华文楷体" panose="02010600040101010101" charset="-122"/>
            </a:rPr>
            <a:t>肆</a:t>
          </a:r>
          <a:endParaRPr lang="zh-CN" altLang="en-US" sz="2800"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1107194" y="178355"/>
        <a:ext cx="971223" cy="388489"/>
      </dsp:txXfrm>
    </dsp:sp>
    <dsp:sp modelId="{DBD11FAB-8B7F-4F8A-8171-934118D8A205}">
      <dsp:nvSpPr>
        <dsp:cNvPr id="6" name="矩形 5"/>
        <dsp:cNvSpPr/>
      </dsp:nvSpPr>
      <dsp:spPr bwMode="white">
        <a:xfrm>
          <a:off x="1107194" y="566845"/>
          <a:ext cx="971223" cy="2854800"/>
        </a:xfrm>
        <a:prstGeom prst="rect">
          <a:avLst/>
        </a:prstGeom>
      </dsp:spPr>
      <dsp:style>
        <a:lnRef idx="2">
          <a:schemeClr val="accent3">
            <a:tint val="40000"/>
            <a:alpha val="90000"/>
          </a:schemeClr>
        </a:lnRef>
        <a:fillRef idx="1">
          <a:schemeClr val="accent3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vert="eaVert" wrap="square" lIns="149352" tIns="149352" rIns="199136" bIns="224028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名胜古迹</a:t>
          </a:r>
          <a:endParaRPr lang="zh-CN" altLang="en-US" sz="2800">
            <a:solidFill>
              <a:schemeClr val="dk1"/>
            </a:solidFill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1107194" y="566845"/>
        <a:ext cx="971223" cy="2854800"/>
      </dsp:txXfrm>
    </dsp:sp>
    <dsp:sp modelId="{85F0829B-F0D0-4040-B2D6-0D289700BD62}">
      <dsp:nvSpPr>
        <dsp:cNvPr id="7" name="矩形 6"/>
        <dsp:cNvSpPr/>
      </dsp:nvSpPr>
      <dsp:spPr bwMode="white">
        <a:xfrm>
          <a:off x="2214388" y="178355"/>
          <a:ext cx="971223" cy="388489"/>
        </a:xfrm>
        <a:prstGeom prst="rect">
          <a:avLst/>
        </a:prstGeom>
      </dsp:spPr>
      <dsp:style>
        <a:lnRef idx="2">
          <a:schemeClr val="accent4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>
              <a:latin typeface="华文楷体" panose="02010600040101010101" charset="-122"/>
              <a:ea typeface="华文楷体" panose="02010600040101010101" charset="-122"/>
            </a:rPr>
            <a:t>叁</a:t>
          </a:r>
          <a:endParaRPr lang="zh-CN" altLang="en-US" sz="2800"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2214388" y="178355"/>
        <a:ext cx="971223" cy="388489"/>
      </dsp:txXfrm>
    </dsp:sp>
    <dsp:sp modelId="{8E8B5376-0863-491C-83DC-52E304B5A1D3}">
      <dsp:nvSpPr>
        <dsp:cNvPr id="8" name="矩形 7"/>
        <dsp:cNvSpPr/>
      </dsp:nvSpPr>
      <dsp:spPr bwMode="white">
        <a:xfrm>
          <a:off x="2214388" y="566845"/>
          <a:ext cx="971223" cy="2854800"/>
        </a:xfrm>
        <a:prstGeom prst="rect">
          <a:avLst/>
        </a:prstGeom>
      </dsp:spPr>
      <dsp:style>
        <a:lnRef idx="2">
          <a:schemeClr val="accent4">
            <a:tint val="40000"/>
            <a:alpha val="90000"/>
          </a:schemeClr>
        </a:lnRef>
        <a:fillRef idx="1">
          <a:schemeClr val="accent4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vert="eaVert" wrap="square" lIns="149352" tIns="149352" rIns="199136" bIns="224028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+mn-ea"/>
            </a:rPr>
            <a:t>历史悠久的</a:t>
          </a: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+mn-ea"/>
            </a:rPr>
            <a:t>古城</a:t>
          </a:r>
          <a:endParaRPr lang="zh-CN" altLang="en-US" sz="2800">
            <a:solidFill>
              <a:schemeClr val="dk1"/>
            </a:solidFill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2214388" y="566845"/>
        <a:ext cx="971223" cy="2854800"/>
      </dsp:txXfrm>
    </dsp:sp>
    <dsp:sp modelId="{5EECE7B6-5073-4C18-B5FA-07E7A25C40DD}">
      <dsp:nvSpPr>
        <dsp:cNvPr id="9" name="矩形 8"/>
        <dsp:cNvSpPr/>
      </dsp:nvSpPr>
      <dsp:spPr bwMode="white">
        <a:xfrm>
          <a:off x="3321583" y="178355"/>
          <a:ext cx="971223" cy="388489"/>
        </a:xfrm>
        <a:prstGeom prst="rect">
          <a:avLst/>
        </a:prstGeom>
      </dsp:spPr>
      <dsp:style>
        <a:lnRef idx="2">
          <a:schemeClr val="accent5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>
              <a:latin typeface="华文楷体" panose="02010600040101010101" charset="-122"/>
              <a:ea typeface="华文楷体" panose="02010600040101010101" charset="-122"/>
            </a:rPr>
            <a:t>贰</a:t>
          </a:r>
          <a:endParaRPr lang="zh-CN" sz="2800"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3321583" y="178355"/>
        <a:ext cx="971223" cy="388489"/>
      </dsp:txXfrm>
    </dsp:sp>
    <dsp:sp modelId="{ABF34BBC-FA87-4E20-AB00-2B0B4852912E}">
      <dsp:nvSpPr>
        <dsp:cNvPr id="10" name="矩形 9"/>
        <dsp:cNvSpPr/>
      </dsp:nvSpPr>
      <dsp:spPr bwMode="white">
        <a:xfrm>
          <a:off x="3321583" y="566845"/>
          <a:ext cx="971223" cy="2854800"/>
        </a:xfrm>
        <a:prstGeom prst="rect">
          <a:avLst/>
        </a:prstGeom>
      </dsp:spPr>
      <dsp:style>
        <a:lnRef idx="2">
          <a:schemeClr val="accent5">
            <a:tint val="40000"/>
            <a:alpha val="90000"/>
          </a:schemeClr>
        </a:lnRef>
        <a:fillRef idx="1">
          <a:schemeClr val="accent5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vert="eaVert" wrap="square" lIns="149352" tIns="149352" rIns="199136" bIns="224028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800">
              <a:solidFill>
                <a:schemeClr val="dk1"/>
              </a:solidFill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政</a:t>
          </a: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治文化中心</a:t>
          </a:r>
          <a:endParaRPr lang="zh-CN" altLang="en-US" sz="2800">
            <a:ln>
              <a:noFill/>
            </a:ln>
            <a:solidFill>
              <a:schemeClr val="dk1"/>
            </a:solidFill>
            <a:effectLst/>
            <a:uLnTx/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3321583" y="566845"/>
        <a:ext cx="971223" cy="2854800"/>
      </dsp:txXfrm>
    </dsp:sp>
    <dsp:sp modelId="{FC0477A2-F29A-4C71-9523-DD90CA26025B}">
      <dsp:nvSpPr>
        <dsp:cNvPr id="11" name="矩形 10"/>
        <dsp:cNvSpPr/>
      </dsp:nvSpPr>
      <dsp:spPr bwMode="white">
        <a:xfrm>
          <a:off x="4428777" y="178355"/>
          <a:ext cx="971223" cy="388489"/>
        </a:xfrm>
        <a:prstGeom prst="rect">
          <a:avLst/>
        </a:prstGeom>
      </dsp:spPr>
      <dsp:style>
        <a:lnRef idx="2">
          <a:schemeClr val="accent6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>
              <a:latin typeface="华文楷体" panose="02010600040101010101" charset="-122"/>
              <a:ea typeface="华文楷体" panose="02010600040101010101" charset="-122"/>
            </a:rPr>
            <a:t>壹</a:t>
          </a:r>
          <a:endParaRPr lang="zh-CN" sz="2800"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4428777" y="178355"/>
        <a:ext cx="971223" cy="388489"/>
      </dsp:txXfrm>
    </dsp:sp>
    <dsp:sp modelId="{74CEF0B3-CF99-4E7A-AE5A-C930F3C81ACE}">
      <dsp:nvSpPr>
        <dsp:cNvPr id="12" name="矩形 11"/>
        <dsp:cNvSpPr/>
      </dsp:nvSpPr>
      <dsp:spPr bwMode="white">
        <a:xfrm>
          <a:off x="4428777" y="566845"/>
          <a:ext cx="971223" cy="2854800"/>
        </a:xfrm>
        <a:prstGeom prst="rect">
          <a:avLst/>
        </a:prstGeom>
      </dsp:spPr>
      <dsp:style>
        <a:lnRef idx="2">
          <a:schemeClr val="accent6">
            <a:tint val="40000"/>
            <a:alpha val="90000"/>
          </a:schemeClr>
        </a:lnRef>
        <a:fillRef idx="1">
          <a:schemeClr val="accent6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vert="eaVert" wrap="square" lIns="149352" tIns="149352" rIns="199136" bIns="224028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85750" lvl="1" indent="-285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800">
              <a:solidFill>
                <a:schemeClr val="dk1"/>
              </a:solidFill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城</a:t>
          </a:r>
          <a:r>
            <a:rPr lang="zh-CN" altLang="en-US" sz="2800">
              <a:ln>
                <a:noFill/>
              </a:ln>
              <a:solidFill>
                <a:schemeClr val="dk1"/>
              </a:solidFill>
              <a:effectLst/>
              <a:uLnTx/>
              <a:latin typeface="华文楷体" panose="02010600040101010101" charset="-122"/>
              <a:ea typeface="华文楷体" panose="02010600040101010101" charset="-122"/>
              <a:sym typeface="微软雅黑" panose="020B0503020204020204" pitchFamily="34" charset="-122"/>
            </a:rPr>
            <a:t>市概况</a:t>
          </a:r>
          <a:endParaRPr lang="zh-CN" altLang="en-US" sz="2800">
            <a:ln>
              <a:noFill/>
            </a:ln>
            <a:solidFill>
              <a:schemeClr val="dk1"/>
            </a:solidFill>
            <a:effectLst/>
            <a:uLnTx/>
            <a:latin typeface="华文楷体" panose="02010600040101010101" charset="-122"/>
            <a:ea typeface="华文楷体" panose="02010600040101010101" charset="-122"/>
          </a:endParaRPr>
        </a:p>
      </dsp:txBody>
      <dsp:txXfrm>
        <a:off x="4428777" y="566845"/>
        <a:ext cx="971223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>
          <a:noFill/>
          <a:ln>
            <a:miter lim="800000"/>
          </a:ln>
        </p:spPr>
        <p:txBody>
          <a:bodyPr rtlCol="0"/>
          <a:lstStyle/>
          <a:p>
            <a:pPr fontAlgn="auto">
              <a:defRPr/>
            </a:pP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悠久的历史为北京留下了无数名胜古迹，</a:t>
            </a:r>
            <a:r>
              <a:rPr lang="zh-CN" altLang="en-US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长城、明清故宫、周口店北京猿人遗址、颐和园、天坛、明十三陵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等先后被列入</a:t>
            </a:r>
            <a:r>
              <a:rPr lang="zh-CN" altLang="en-US" noProof="1">
                <a:solidFill>
                  <a:srgbClr val="0000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世界遗产名录</a:t>
            </a:r>
            <a:r>
              <a:rPr lang="zh-CN" altLang="en-US" noProof="1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j-lt"/>
                <a:ea typeface="黑体" panose="02010609060101010101" charset="-122"/>
                <a:cs typeface="+mj-cs"/>
                <a:sym typeface="+mn-ea"/>
              </a:rPr>
              <a:t>。</a:t>
            </a:r>
            <a:endParaRPr lang="zh-CN" altLang="en-US" noProof="1">
              <a:solidFill>
                <a:srgbClr val="FF0000"/>
              </a:solidFill>
              <a:effectLst>
                <a:outerShdw blurRad="38100" dist="38100" dir="2700000">
                  <a:srgbClr val="C0C0C0"/>
                </a:outerShdw>
              </a:effectLst>
              <a:latin typeface="+mj-lt"/>
              <a:ea typeface="黑体" panose="02010609060101010101" charset="-122"/>
              <a:cs typeface="+mj-cs"/>
            </a:endParaRPr>
          </a:p>
          <a:p>
            <a:pPr fontAlgn="auto">
              <a:defRPr/>
            </a:pPr>
            <a:endParaRPr lang="zh-CN" altLang="en-US" noProof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918" y="914400"/>
            <a:ext cx="9800165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918" y="3560400"/>
            <a:ext cx="9800165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800000" y="6120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 Black" panose="020B0A04020102020204" charset="0"/>
                <a:ea typeface="楷体" panose="02010609060101010101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00"/>
            <a:ext cx="1097028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 sz="2400" b="1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ea typeface="宋体" panose="02010600030101010101" pitchFamily="2" charset="-122"/>
              </a:defRPr>
            </a:lvl2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天安门logo"/>
          <p:cNvPicPr/>
          <p:nvPr userDrawn="1"/>
        </p:nvPicPr>
        <p:blipFill>
          <a:blip r:embed="rId7"/>
          <a:stretch>
            <a:fillRect/>
          </a:stretch>
        </p:blipFill>
        <p:spPr>
          <a:xfrm>
            <a:off x="360000" y="450000"/>
            <a:ext cx="1260000" cy="900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400"/>
            <a:ext cx="77695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200"/>
            <a:ext cx="776956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00"/>
            <a:ext cx="517731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00"/>
            <a:ext cx="517731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00"/>
            <a:ext cx="5342926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5" y="1421729"/>
            <a:ext cx="5342926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5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00"/>
            <a:ext cx="5233593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00"/>
            <a:ext cx="522771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00"/>
            <a:ext cx="1044103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00"/>
            <a:ext cx="9170103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00"/>
            <a:ext cx="1097388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000"/>
            <a:ext cx="9800165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400"/>
            <a:ext cx="9800165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608400"/>
            <a:ext cx="1097028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490400"/>
            <a:ext cx="1097028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6314400"/>
            <a:ext cx="396039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2.wav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jpeg"/><Relationship Id="rId2" Type="http://schemas.openxmlformats.org/officeDocument/2006/relationships/hyperlink" Target="http://image.baidu.com/i?ct=503316480&amp;tn=baiduimagedetail&amp;cg=landscape&amp;statnum=landscape&amp;ipn=d&amp;word=%E5%8D%97%E9%94%A3%E9%BC%93%E5%B7%B7&amp;ie=utf-8&amp;in=3354&amp;cl=2&amp;lm=-1&amp;st=&amp;pn=17&amp;rn=1&amp;di=&amp;ln=2038&amp;fr=&amp;&amp;fmq=1378374347070_R&amp;ic=&amp;s=&amp;se=&amp;sme=0&amp;tab=&amp;face=&amp;&amp;is=0,0&amp;istype=&amp;ist=&amp;jit=&amp;objurl=http%3A%2F%2Fhiphotos.baidu.com%2Flvpics%2Fpic%2Fitem%2F91ef76c6a7efce1bf16edd85ae51f3deb48f6533.jpg" TargetMode="Externa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3.wav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3.wav"/><Relationship Id="rId5" Type="http://schemas.openxmlformats.org/officeDocument/2006/relationships/image" Target="../media/image25.jpeg"/><Relationship Id="rId4" Type="http://schemas.openxmlformats.org/officeDocument/2006/relationships/tags" Target="../tags/tag65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3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3.wav"/><Relationship Id="rId1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3.wav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3.wav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4.wav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4.wav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4.wav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4.wav"/><Relationship Id="rId3" Type="http://schemas.openxmlformats.org/officeDocument/2006/relationships/image" Target="../media/image40.jpeg"/><Relationship Id="rId2" Type="http://schemas.openxmlformats.org/officeDocument/2006/relationships/image" Target="../media/image39.GIF"/><Relationship Id="rId1" Type="http://schemas.openxmlformats.org/officeDocument/2006/relationships/image" Target="../media/image38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jpeg"/><Relationship Id="rId8" Type="http://schemas.openxmlformats.org/officeDocument/2006/relationships/image" Target="../media/image48.jpeg"/><Relationship Id="rId7" Type="http://schemas.openxmlformats.org/officeDocument/2006/relationships/image" Target="../media/image47.jpeg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51.jpeg"/><Relationship Id="rId10" Type="http://schemas.openxmlformats.org/officeDocument/2006/relationships/image" Target="../media/image50.jpeg"/><Relationship Id="rId1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195486" y="1748835"/>
            <a:ext cx="5801663" cy="336033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240000" cy="6840000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4192847" y="3013710"/>
            <a:ext cx="3806941" cy="830580"/>
            <a:chOff x="4212330" y="1126104"/>
            <a:chExt cx="3806567" cy="830498"/>
          </a:xfrm>
        </p:grpSpPr>
        <p:sp>
          <p:nvSpPr>
            <p:cNvPr id="30" name="文本框 29"/>
            <p:cNvSpPr txBox="1"/>
            <p:nvPr/>
          </p:nvSpPr>
          <p:spPr>
            <a:xfrm>
              <a:off x="4577197" y="1126104"/>
              <a:ext cx="3237582" cy="83049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</a:t>
              </a:r>
              <a:r>
                <a:rPr kumimoji="0" lang="en-US" altLang="zh-CN" sz="5400" b="1" i="0" u="none" strike="noStrike" kern="1200" cap="none" spc="0" normalizeH="0" baseline="0" noProof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</a:t>
              </a:r>
              <a:r>
                <a:rPr kumimoji="0" lang="zh-CN" altLang="en-US" sz="5400" b="1" i="0" u="none" strike="noStrike" kern="1200" cap="none" spc="0" normalizeH="0" baseline="0" noProof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tx1"/>
                  </a:solidFill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北京</a:t>
              </a:r>
              <a:endParaRPr kumimoji="0" lang="zh-CN" altLang="en-US" sz="5400" b="1" i="0" u="none" strike="noStrike" kern="1200" cap="none" spc="0" normalizeH="0" baseline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quotation-marks_897"/>
            <p:cNvSpPr>
              <a:spLocks noChangeAspect="1"/>
            </p:cNvSpPr>
            <p:nvPr/>
          </p:nvSpPr>
          <p:spPr bwMode="auto">
            <a:xfrm flipV="1">
              <a:off x="4212330" y="12403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  <p:sp>
          <p:nvSpPr>
            <p:cNvPr id="32" name="quotation-marks_897"/>
            <p:cNvSpPr>
              <a:spLocks noChangeAspect="1"/>
            </p:cNvSpPr>
            <p:nvPr/>
          </p:nvSpPr>
          <p:spPr bwMode="auto">
            <a:xfrm rot="10800000" flipV="1">
              <a:off x="7755630" y="16594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</p:grp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Picture 2" descr="cb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71695"/>
            <a:ext cx="12193201" cy="292975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图示 4"/>
          <p:cNvGraphicFramePr/>
          <p:nvPr/>
        </p:nvGraphicFramePr>
        <p:xfrm>
          <a:off x="3396318" y="900000"/>
          <a:ext cx="5400000" cy="36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custDataLst>
      <p:tags r:id="rId7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组合 46"/>
          <p:cNvGrpSpPr/>
          <p:nvPr/>
        </p:nvGrpSpPr>
        <p:grpSpPr bwMode="auto">
          <a:xfrm>
            <a:off x="752" y="438"/>
            <a:ext cx="12191695" cy="6857829"/>
            <a:chOff x="0" y="0"/>
            <a:chExt cx="12192000" cy="6858000"/>
          </a:xfrm>
        </p:grpSpPr>
        <p:pic>
          <p:nvPicPr>
            <p:cNvPr id="194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0" name="组合 30"/>
          <p:cNvGrpSpPr/>
          <p:nvPr/>
        </p:nvGrpSpPr>
        <p:grpSpPr bwMode="auto">
          <a:xfrm>
            <a:off x="5599726" y="-142433"/>
            <a:ext cx="6592722" cy="6857829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194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464" name="矩形 11"/>
          <p:cNvSpPr>
            <a:spLocks noChangeArrowheads="1"/>
          </p:cNvSpPr>
          <p:nvPr/>
        </p:nvSpPr>
        <p:spPr bwMode="auto">
          <a:xfrm>
            <a:off x="8619075" y="1505352"/>
            <a:ext cx="379403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dirty="0">
                <a:latin typeface="方正清楷 简" panose="02000500000000000000" charset="-122"/>
                <a:ea typeface="方正清楷 简" panose="02000500000000000000" charset="-122"/>
              </a:rPr>
              <a:t>城市概况</a:t>
            </a:r>
            <a:endParaRPr lang="zh-CN" altLang="en-US" sz="3600" dirty="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8253325" y="1521227"/>
            <a:ext cx="30162" cy="35638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9144524" y="1505352"/>
            <a:ext cx="30162" cy="35924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7" name="文本框 14"/>
          <p:cNvSpPr txBox="1">
            <a:spLocks noChangeArrowheads="1"/>
          </p:cNvSpPr>
          <p:nvPr/>
        </p:nvSpPr>
        <p:spPr bwMode="auto">
          <a:xfrm>
            <a:off x="8446041" y="306819"/>
            <a:ext cx="72864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7200">
                <a:latin typeface="方正清楷 简" panose="02000500000000000000" charset="-122"/>
                <a:ea typeface="方正清楷 简" panose="02000500000000000000" charset="-122"/>
              </a:rPr>
              <a:t>壹</a:t>
            </a:r>
            <a:endParaRPr lang="zh-CN" altLang="en-US" sz="72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  <p:sndAc>
          <p:stSnd>
            <p:snd r:embed="rId4" name="push.wav"/>
          </p:stSnd>
        </p:sndAc>
      </p:transition>
    </mc:Choice>
    <mc:Fallback>
      <p:transition spd="slow">
        <p:wipe dir="r"/>
        <p:sndAc>
          <p:stSnd>
            <p:snd r:embed="rId4" name="pu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地理位置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纬度位置：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（40ºN ，116ºE）位于暖温带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海陆位置：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位于华北平原的西北角，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西面和北面有山脉环绕，东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面朝渤海。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相对位置：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东临天津市，其余三面被河北省包围。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  <p:sndAc>
          <p:stSnd>
            <p:snd r:embed="rId1" name="push.wav"/>
          </p:stSnd>
        </p:sndAc>
      </p:transition>
    </mc:Choice>
    <mc:Fallback>
      <p:transition spd="slow">
        <p:wipe dir="r"/>
        <p:sndAc>
          <p:stSnd>
            <p:snd r:embed="rId1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地形地势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地势：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地势由西北向东南倾斜。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地形：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地形以平原为主，三面环山。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北面、东北面为燕山，连内蒙古高原（畜牧业基地）；西面为太行山，接黄土高原（能源基地）；南面为华北平原（棉粮油基地）。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  <p:sndAc>
          <p:stSnd>
            <p:snd r:embed="rId1" name="push.wav"/>
          </p:stSnd>
        </p:sndAc>
      </p:transition>
    </mc:Choice>
    <mc:Fallback>
      <p:transition spd="slow">
        <p:wipe dir="r"/>
        <p:sndAc>
          <p:stSnd>
            <p:snd r:embed="rId1" name="pu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河流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91" y="1490154"/>
            <a:ext cx="5764462" cy="4759794"/>
          </a:xfrm>
        </p:spPr>
        <p:txBody>
          <a:bodyPr>
            <a:normAutofit lnSpcReduction="20000"/>
          </a:bodyPr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河流：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北京的河流属海河水系，永定河、温榆河和潮白河是全市三条主要的河流。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流向：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受地势影响，分别自西北向东南流入天津。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入海口：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汇入海河，最终注入渤海。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149" y="525525"/>
            <a:ext cx="5542364" cy="6301059"/>
          </a:xfrm>
          <a:prstGeom prst="rect">
            <a:avLst/>
          </a:prstGeom>
        </p:spPr>
      </p:pic>
      <p:sp>
        <p:nvSpPr>
          <p:cNvPr id="4" name="任意多边形 3"/>
          <p:cNvSpPr/>
          <p:nvPr/>
        </p:nvSpPr>
        <p:spPr>
          <a:xfrm>
            <a:off x="6940530" y="3451228"/>
            <a:ext cx="2489445" cy="3053063"/>
          </a:xfrm>
          <a:custGeom>
            <a:avLst/>
            <a:gdLst>
              <a:gd name="connisteX0" fmla="*/ 0 w 2489200"/>
              <a:gd name="connsiteY0" fmla="*/ 0 h 3052445"/>
              <a:gd name="connisteX1" fmla="*/ 14605 w 2489200"/>
              <a:gd name="connsiteY1" fmla="*/ 65405 h 3052445"/>
              <a:gd name="connisteX2" fmla="*/ 14605 w 2489200"/>
              <a:gd name="connsiteY2" fmla="*/ 130175 h 3052445"/>
              <a:gd name="connisteX3" fmla="*/ 14605 w 2489200"/>
              <a:gd name="connsiteY3" fmla="*/ 194945 h 3052445"/>
              <a:gd name="connisteX4" fmla="*/ 79375 w 2489200"/>
              <a:gd name="connsiteY4" fmla="*/ 216535 h 3052445"/>
              <a:gd name="connisteX5" fmla="*/ 115570 w 2489200"/>
              <a:gd name="connsiteY5" fmla="*/ 281940 h 3052445"/>
              <a:gd name="connisteX6" fmla="*/ 165735 w 2489200"/>
              <a:gd name="connsiteY6" fmla="*/ 346710 h 3052445"/>
              <a:gd name="connisteX7" fmla="*/ 208915 w 2489200"/>
              <a:gd name="connsiteY7" fmla="*/ 411480 h 3052445"/>
              <a:gd name="connisteX8" fmla="*/ 223520 w 2489200"/>
              <a:gd name="connsiteY8" fmla="*/ 476250 h 3052445"/>
              <a:gd name="connisteX9" fmla="*/ 245110 w 2489200"/>
              <a:gd name="connsiteY9" fmla="*/ 541655 h 3052445"/>
              <a:gd name="connisteX10" fmla="*/ 309880 w 2489200"/>
              <a:gd name="connsiteY10" fmla="*/ 584835 h 3052445"/>
              <a:gd name="connisteX11" fmla="*/ 382270 w 2489200"/>
              <a:gd name="connsiteY11" fmla="*/ 555625 h 3052445"/>
              <a:gd name="connisteX12" fmla="*/ 403860 w 2489200"/>
              <a:gd name="connsiteY12" fmla="*/ 621030 h 3052445"/>
              <a:gd name="connisteX13" fmla="*/ 425450 w 2489200"/>
              <a:gd name="connsiteY13" fmla="*/ 685800 h 3052445"/>
              <a:gd name="connisteX14" fmla="*/ 490855 w 2489200"/>
              <a:gd name="connsiteY14" fmla="*/ 707390 h 3052445"/>
              <a:gd name="connisteX15" fmla="*/ 555625 w 2489200"/>
              <a:gd name="connsiteY15" fmla="*/ 758190 h 3052445"/>
              <a:gd name="connisteX16" fmla="*/ 620395 w 2489200"/>
              <a:gd name="connsiteY16" fmla="*/ 743585 h 3052445"/>
              <a:gd name="connisteX17" fmla="*/ 627380 w 2489200"/>
              <a:gd name="connsiteY17" fmla="*/ 678815 h 3052445"/>
              <a:gd name="connisteX18" fmla="*/ 699770 w 2489200"/>
              <a:gd name="connsiteY18" fmla="*/ 692785 h 3052445"/>
              <a:gd name="connisteX19" fmla="*/ 750570 w 2489200"/>
              <a:gd name="connsiteY19" fmla="*/ 758190 h 3052445"/>
              <a:gd name="connisteX20" fmla="*/ 800735 w 2489200"/>
              <a:gd name="connsiteY20" fmla="*/ 822960 h 3052445"/>
              <a:gd name="connisteX21" fmla="*/ 858520 w 2489200"/>
              <a:gd name="connsiteY21" fmla="*/ 887730 h 3052445"/>
              <a:gd name="connisteX22" fmla="*/ 923290 w 2489200"/>
              <a:gd name="connsiteY22" fmla="*/ 923925 h 3052445"/>
              <a:gd name="connisteX23" fmla="*/ 967105 w 2489200"/>
              <a:gd name="connsiteY23" fmla="*/ 859155 h 3052445"/>
              <a:gd name="connisteX24" fmla="*/ 1010285 w 2489200"/>
              <a:gd name="connsiteY24" fmla="*/ 923925 h 3052445"/>
              <a:gd name="connisteX25" fmla="*/ 1075055 w 2489200"/>
              <a:gd name="connsiteY25" fmla="*/ 887730 h 3052445"/>
              <a:gd name="connisteX26" fmla="*/ 1132840 w 2489200"/>
              <a:gd name="connsiteY26" fmla="*/ 952500 h 3052445"/>
              <a:gd name="connisteX27" fmla="*/ 1132840 w 2489200"/>
              <a:gd name="connsiteY27" fmla="*/ 1017905 h 3052445"/>
              <a:gd name="connisteX28" fmla="*/ 1132840 w 2489200"/>
              <a:gd name="connsiteY28" fmla="*/ 1089660 h 3052445"/>
              <a:gd name="connisteX29" fmla="*/ 1183005 w 2489200"/>
              <a:gd name="connsiteY29" fmla="*/ 1155065 h 3052445"/>
              <a:gd name="connisteX30" fmla="*/ 1226820 w 2489200"/>
              <a:gd name="connsiteY30" fmla="*/ 1219835 h 3052445"/>
              <a:gd name="connisteX31" fmla="*/ 1276985 w 2489200"/>
              <a:gd name="connsiteY31" fmla="*/ 1284605 h 3052445"/>
              <a:gd name="connisteX32" fmla="*/ 1341755 w 2489200"/>
              <a:gd name="connsiteY32" fmla="*/ 1342390 h 3052445"/>
              <a:gd name="connisteX33" fmla="*/ 1407160 w 2489200"/>
              <a:gd name="connsiteY33" fmla="*/ 1370965 h 3052445"/>
              <a:gd name="connisteX34" fmla="*/ 1428750 w 2489200"/>
              <a:gd name="connsiteY34" fmla="*/ 1436370 h 3052445"/>
              <a:gd name="connisteX35" fmla="*/ 1435735 w 2489200"/>
              <a:gd name="connsiteY35" fmla="*/ 1501140 h 3052445"/>
              <a:gd name="connisteX36" fmla="*/ 1457325 w 2489200"/>
              <a:gd name="connsiteY36" fmla="*/ 1565910 h 3052445"/>
              <a:gd name="connisteX37" fmla="*/ 1471930 w 2489200"/>
              <a:gd name="connsiteY37" fmla="*/ 1631315 h 3052445"/>
              <a:gd name="connisteX38" fmla="*/ 1478915 w 2489200"/>
              <a:gd name="connsiteY38" fmla="*/ 1696085 h 3052445"/>
              <a:gd name="connisteX39" fmla="*/ 1486535 w 2489200"/>
              <a:gd name="connsiteY39" fmla="*/ 1760855 h 3052445"/>
              <a:gd name="connisteX40" fmla="*/ 1493520 w 2489200"/>
              <a:gd name="connsiteY40" fmla="*/ 1825625 h 3052445"/>
              <a:gd name="connisteX41" fmla="*/ 1493520 w 2489200"/>
              <a:gd name="connsiteY41" fmla="*/ 1891030 h 3052445"/>
              <a:gd name="connisteX42" fmla="*/ 1486535 w 2489200"/>
              <a:gd name="connsiteY42" fmla="*/ 1955800 h 3052445"/>
              <a:gd name="connisteX43" fmla="*/ 1471930 w 2489200"/>
              <a:gd name="connsiteY43" fmla="*/ 2020570 h 3052445"/>
              <a:gd name="connisteX44" fmla="*/ 1457325 w 2489200"/>
              <a:gd name="connsiteY44" fmla="*/ 2085340 h 3052445"/>
              <a:gd name="connisteX45" fmla="*/ 1435735 w 2489200"/>
              <a:gd name="connsiteY45" fmla="*/ 2150745 h 3052445"/>
              <a:gd name="connisteX46" fmla="*/ 1428750 w 2489200"/>
              <a:gd name="connsiteY46" fmla="*/ 2215515 h 3052445"/>
              <a:gd name="connisteX47" fmla="*/ 1421130 w 2489200"/>
              <a:gd name="connsiteY47" fmla="*/ 2280285 h 3052445"/>
              <a:gd name="connisteX48" fmla="*/ 1414145 w 2489200"/>
              <a:gd name="connsiteY48" fmla="*/ 2345690 h 3052445"/>
              <a:gd name="connisteX49" fmla="*/ 1435735 w 2489200"/>
              <a:gd name="connsiteY49" fmla="*/ 2410460 h 3052445"/>
              <a:gd name="connisteX50" fmla="*/ 1450340 w 2489200"/>
              <a:gd name="connsiteY50" fmla="*/ 2475230 h 3052445"/>
              <a:gd name="connisteX51" fmla="*/ 1471930 w 2489200"/>
              <a:gd name="connsiteY51" fmla="*/ 2540000 h 3052445"/>
              <a:gd name="connisteX52" fmla="*/ 1493520 w 2489200"/>
              <a:gd name="connsiteY52" fmla="*/ 2612390 h 3052445"/>
              <a:gd name="connisteX53" fmla="*/ 1508125 w 2489200"/>
              <a:gd name="connsiteY53" fmla="*/ 2684780 h 3052445"/>
              <a:gd name="connisteX54" fmla="*/ 1551305 w 2489200"/>
              <a:gd name="connsiteY54" fmla="*/ 2749550 h 3052445"/>
              <a:gd name="connisteX55" fmla="*/ 1623695 w 2489200"/>
              <a:gd name="connsiteY55" fmla="*/ 2814320 h 3052445"/>
              <a:gd name="connisteX56" fmla="*/ 1688465 w 2489200"/>
              <a:gd name="connsiteY56" fmla="*/ 2850515 h 3052445"/>
              <a:gd name="connisteX57" fmla="*/ 1753235 w 2489200"/>
              <a:gd name="connsiteY57" fmla="*/ 2879090 h 3052445"/>
              <a:gd name="connisteX58" fmla="*/ 1818005 w 2489200"/>
              <a:gd name="connsiteY58" fmla="*/ 2901315 h 3052445"/>
              <a:gd name="connisteX59" fmla="*/ 1883410 w 2489200"/>
              <a:gd name="connsiteY59" fmla="*/ 2915285 h 3052445"/>
              <a:gd name="connisteX60" fmla="*/ 1948180 w 2489200"/>
              <a:gd name="connsiteY60" fmla="*/ 2922905 h 3052445"/>
              <a:gd name="connisteX61" fmla="*/ 2012950 w 2489200"/>
              <a:gd name="connsiteY61" fmla="*/ 2908300 h 3052445"/>
              <a:gd name="connisteX62" fmla="*/ 2078355 w 2489200"/>
              <a:gd name="connsiteY62" fmla="*/ 2879090 h 3052445"/>
              <a:gd name="connisteX63" fmla="*/ 2143125 w 2489200"/>
              <a:gd name="connsiteY63" fmla="*/ 2857500 h 3052445"/>
              <a:gd name="connisteX64" fmla="*/ 2207895 w 2489200"/>
              <a:gd name="connsiteY64" fmla="*/ 2843530 h 3052445"/>
              <a:gd name="connisteX65" fmla="*/ 2272665 w 2489200"/>
              <a:gd name="connsiteY65" fmla="*/ 2843530 h 3052445"/>
              <a:gd name="connisteX66" fmla="*/ 2338070 w 2489200"/>
              <a:gd name="connsiteY66" fmla="*/ 2872105 h 3052445"/>
              <a:gd name="connisteX67" fmla="*/ 2402840 w 2489200"/>
              <a:gd name="connsiteY67" fmla="*/ 2922905 h 3052445"/>
              <a:gd name="connisteX68" fmla="*/ 2446020 w 2489200"/>
              <a:gd name="connsiteY68" fmla="*/ 2987675 h 3052445"/>
              <a:gd name="connisteX69" fmla="*/ 2489200 w 2489200"/>
              <a:gd name="connsiteY69" fmla="*/ 3052445 h 305244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</a:cxnLst>
            <a:rect l="l" t="t" r="r" b="b"/>
            <a:pathLst>
              <a:path w="2489200" h="3052445">
                <a:moveTo>
                  <a:pt x="0" y="0"/>
                </a:moveTo>
                <a:cubicBezTo>
                  <a:pt x="3175" y="12065"/>
                  <a:pt x="11430" y="39370"/>
                  <a:pt x="14605" y="65405"/>
                </a:cubicBezTo>
                <a:cubicBezTo>
                  <a:pt x="17780" y="91440"/>
                  <a:pt x="14605" y="104140"/>
                  <a:pt x="14605" y="130175"/>
                </a:cubicBezTo>
                <a:cubicBezTo>
                  <a:pt x="14605" y="156210"/>
                  <a:pt x="1905" y="177800"/>
                  <a:pt x="14605" y="194945"/>
                </a:cubicBezTo>
                <a:cubicBezTo>
                  <a:pt x="27305" y="212090"/>
                  <a:pt x="59055" y="199390"/>
                  <a:pt x="79375" y="216535"/>
                </a:cubicBezTo>
                <a:cubicBezTo>
                  <a:pt x="99695" y="233680"/>
                  <a:pt x="98425" y="255905"/>
                  <a:pt x="115570" y="281940"/>
                </a:cubicBezTo>
                <a:cubicBezTo>
                  <a:pt x="132715" y="307975"/>
                  <a:pt x="147320" y="320675"/>
                  <a:pt x="165735" y="346710"/>
                </a:cubicBezTo>
                <a:cubicBezTo>
                  <a:pt x="184150" y="372745"/>
                  <a:pt x="197485" y="385445"/>
                  <a:pt x="208915" y="411480"/>
                </a:cubicBezTo>
                <a:cubicBezTo>
                  <a:pt x="220345" y="437515"/>
                  <a:pt x="216535" y="450215"/>
                  <a:pt x="223520" y="476250"/>
                </a:cubicBezTo>
                <a:cubicBezTo>
                  <a:pt x="230505" y="502285"/>
                  <a:pt x="227965" y="520065"/>
                  <a:pt x="245110" y="541655"/>
                </a:cubicBezTo>
                <a:cubicBezTo>
                  <a:pt x="262255" y="563245"/>
                  <a:pt x="282575" y="582295"/>
                  <a:pt x="309880" y="584835"/>
                </a:cubicBezTo>
                <a:cubicBezTo>
                  <a:pt x="337185" y="587375"/>
                  <a:pt x="363220" y="548640"/>
                  <a:pt x="382270" y="555625"/>
                </a:cubicBezTo>
                <a:cubicBezTo>
                  <a:pt x="401320" y="562610"/>
                  <a:pt x="394970" y="594995"/>
                  <a:pt x="403860" y="621030"/>
                </a:cubicBezTo>
                <a:cubicBezTo>
                  <a:pt x="412750" y="647065"/>
                  <a:pt x="408305" y="668655"/>
                  <a:pt x="425450" y="685800"/>
                </a:cubicBezTo>
                <a:cubicBezTo>
                  <a:pt x="442595" y="702945"/>
                  <a:pt x="464820" y="692785"/>
                  <a:pt x="490855" y="707390"/>
                </a:cubicBezTo>
                <a:cubicBezTo>
                  <a:pt x="516890" y="721995"/>
                  <a:pt x="529590" y="751205"/>
                  <a:pt x="555625" y="758190"/>
                </a:cubicBezTo>
                <a:cubicBezTo>
                  <a:pt x="581660" y="765175"/>
                  <a:pt x="605790" y="759460"/>
                  <a:pt x="620395" y="743585"/>
                </a:cubicBezTo>
                <a:cubicBezTo>
                  <a:pt x="635000" y="727710"/>
                  <a:pt x="611505" y="688975"/>
                  <a:pt x="627380" y="678815"/>
                </a:cubicBezTo>
                <a:cubicBezTo>
                  <a:pt x="643255" y="668655"/>
                  <a:pt x="675005" y="676910"/>
                  <a:pt x="699770" y="692785"/>
                </a:cubicBezTo>
                <a:cubicBezTo>
                  <a:pt x="724535" y="708660"/>
                  <a:pt x="730250" y="732155"/>
                  <a:pt x="750570" y="758190"/>
                </a:cubicBezTo>
                <a:cubicBezTo>
                  <a:pt x="770890" y="784225"/>
                  <a:pt x="779145" y="796925"/>
                  <a:pt x="800735" y="822960"/>
                </a:cubicBezTo>
                <a:cubicBezTo>
                  <a:pt x="822325" y="848995"/>
                  <a:pt x="833755" y="867410"/>
                  <a:pt x="858520" y="887730"/>
                </a:cubicBezTo>
                <a:cubicBezTo>
                  <a:pt x="883285" y="908050"/>
                  <a:pt x="901700" y="929640"/>
                  <a:pt x="923290" y="923925"/>
                </a:cubicBezTo>
                <a:cubicBezTo>
                  <a:pt x="944880" y="918210"/>
                  <a:pt x="949960" y="859155"/>
                  <a:pt x="967105" y="859155"/>
                </a:cubicBezTo>
                <a:cubicBezTo>
                  <a:pt x="984250" y="859155"/>
                  <a:pt x="988695" y="918210"/>
                  <a:pt x="1010285" y="923925"/>
                </a:cubicBezTo>
                <a:cubicBezTo>
                  <a:pt x="1031875" y="929640"/>
                  <a:pt x="1050290" y="882015"/>
                  <a:pt x="1075055" y="887730"/>
                </a:cubicBezTo>
                <a:cubicBezTo>
                  <a:pt x="1099820" y="893445"/>
                  <a:pt x="1121410" y="926465"/>
                  <a:pt x="1132840" y="952500"/>
                </a:cubicBezTo>
                <a:cubicBezTo>
                  <a:pt x="1144270" y="978535"/>
                  <a:pt x="1132840" y="990600"/>
                  <a:pt x="1132840" y="1017905"/>
                </a:cubicBezTo>
                <a:cubicBezTo>
                  <a:pt x="1132840" y="1045210"/>
                  <a:pt x="1122680" y="1062355"/>
                  <a:pt x="1132840" y="1089660"/>
                </a:cubicBezTo>
                <a:cubicBezTo>
                  <a:pt x="1143000" y="1116965"/>
                  <a:pt x="1163955" y="1129030"/>
                  <a:pt x="1183005" y="1155065"/>
                </a:cubicBezTo>
                <a:cubicBezTo>
                  <a:pt x="1202055" y="1181100"/>
                  <a:pt x="1207770" y="1193800"/>
                  <a:pt x="1226820" y="1219835"/>
                </a:cubicBezTo>
                <a:cubicBezTo>
                  <a:pt x="1245870" y="1245870"/>
                  <a:pt x="1254125" y="1259840"/>
                  <a:pt x="1276985" y="1284605"/>
                </a:cubicBezTo>
                <a:cubicBezTo>
                  <a:pt x="1299845" y="1309370"/>
                  <a:pt x="1315720" y="1325245"/>
                  <a:pt x="1341755" y="1342390"/>
                </a:cubicBezTo>
                <a:cubicBezTo>
                  <a:pt x="1367790" y="1359535"/>
                  <a:pt x="1390015" y="1351915"/>
                  <a:pt x="1407160" y="1370965"/>
                </a:cubicBezTo>
                <a:cubicBezTo>
                  <a:pt x="1424305" y="1390015"/>
                  <a:pt x="1423035" y="1410335"/>
                  <a:pt x="1428750" y="1436370"/>
                </a:cubicBezTo>
                <a:cubicBezTo>
                  <a:pt x="1434465" y="1462405"/>
                  <a:pt x="1430020" y="1475105"/>
                  <a:pt x="1435735" y="1501140"/>
                </a:cubicBezTo>
                <a:cubicBezTo>
                  <a:pt x="1441450" y="1527175"/>
                  <a:pt x="1450340" y="1539875"/>
                  <a:pt x="1457325" y="1565910"/>
                </a:cubicBezTo>
                <a:cubicBezTo>
                  <a:pt x="1464310" y="1591945"/>
                  <a:pt x="1467485" y="1605280"/>
                  <a:pt x="1471930" y="1631315"/>
                </a:cubicBezTo>
                <a:cubicBezTo>
                  <a:pt x="1476375" y="1657350"/>
                  <a:pt x="1475740" y="1670050"/>
                  <a:pt x="1478915" y="1696085"/>
                </a:cubicBezTo>
                <a:cubicBezTo>
                  <a:pt x="1482090" y="1722120"/>
                  <a:pt x="1483360" y="1734820"/>
                  <a:pt x="1486535" y="1760855"/>
                </a:cubicBezTo>
                <a:cubicBezTo>
                  <a:pt x="1489710" y="1786890"/>
                  <a:pt x="1492250" y="1799590"/>
                  <a:pt x="1493520" y="1825625"/>
                </a:cubicBezTo>
                <a:cubicBezTo>
                  <a:pt x="1494790" y="1851660"/>
                  <a:pt x="1494790" y="1864995"/>
                  <a:pt x="1493520" y="1891030"/>
                </a:cubicBezTo>
                <a:cubicBezTo>
                  <a:pt x="1492250" y="1917065"/>
                  <a:pt x="1490980" y="1929765"/>
                  <a:pt x="1486535" y="1955800"/>
                </a:cubicBezTo>
                <a:cubicBezTo>
                  <a:pt x="1482090" y="1981835"/>
                  <a:pt x="1477645" y="1994535"/>
                  <a:pt x="1471930" y="2020570"/>
                </a:cubicBezTo>
                <a:cubicBezTo>
                  <a:pt x="1466215" y="2046605"/>
                  <a:pt x="1464310" y="2059305"/>
                  <a:pt x="1457325" y="2085340"/>
                </a:cubicBezTo>
                <a:cubicBezTo>
                  <a:pt x="1450340" y="2111375"/>
                  <a:pt x="1441450" y="2124710"/>
                  <a:pt x="1435735" y="2150745"/>
                </a:cubicBezTo>
                <a:cubicBezTo>
                  <a:pt x="1430020" y="2176780"/>
                  <a:pt x="1431925" y="2189480"/>
                  <a:pt x="1428750" y="2215515"/>
                </a:cubicBezTo>
                <a:cubicBezTo>
                  <a:pt x="1425575" y="2241550"/>
                  <a:pt x="1424305" y="2254250"/>
                  <a:pt x="1421130" y="2280285"/>
                </a:cubicBezTo>
                <a:cubicBezTo>
                  <a:pt x="1417955" y="2306320"/>
                  <a:pt x="1410970" y="2319655"/>
                  <a:pt x="1414145" y="2345690"/>
                </a:cubicBezTo>
                <a:cubicBezTo>
                  <a:pt x="1417320" y="2371725"/>
                  <a:pt x="1428750" y="2384425"/>
                  <a:pt x="1435735" y="2410460"/>
                </a:cubicBezTo>
                <a:cubicBezTo>
                  <a:pt x="1442720" y="2436495"/>
                  <a:pt x="1443355" y="2449195"/>
                  <a:pt x="1450340" y="2475230"/>
                </a:cubicBezTo>
                <a:cubicBezTo>
                  <a:pt x="1457325" y="2501265"/>
                  <a:pt x="1463040" y="2512695"/>
                  <a:pt x="1471930" y="2540000"/>
                </a:cubicBezTo>
                <a:cubicBezTo>
                  <a:pt x="1480820" y="2567305"/>
                  <a:pt x="1486535" y="2583180"/>
                  <a:pt x="1493520" y="2612390"/>
                </a:cubicBezTo>
                <a:cubicBezTo>
                  <a:pt x="1500505" y="2641600"/>
                  <a:pt x="1496695" y="2657475"/>
                  <a:pt x="1508125" y="2684780"/>
                </a:cubicBezTo>
                <a:cubicBezTo>
                  <a:pt x="1519555" y="2712085"/>
                  <a:pt x="1528445" y="2723515"/>
                  <a:pt x="1551305" y="2749550"/>
                </a:cubicBezTo>
                <a:cubicBezTo>
                  <a:pt x="1574165" y="2775585"/>
                  <a:pt x="1596390" y="2794000"/>
                  <a:pt x="1623695" y="2814320"/>
                </a:cubicBezTo>
                <a:cubicBezTo>
                  <a:pt x="1651000" y="2834640"/>
                  <a:pt x="1662430" y="2837815"/>
                  <a:pt x="1688465" y="2850515"/>
                </a:cubicBezTo>
                <a:cubicBezTo>
                  <a:pt x="1714500" y="2863215"/>
                  <a:pt x="1727200" y="2868930"/>
                  <a:pt x="1753235" y="2879090"/>
                </a:cubicBezTo>
                <a:cubicBezTo>
                  <a:pt x="1779270" y="2889250"/>
                  <a:pt x="1791970" y="2894330"/>
                  <a:pt x="1818005" y="2901315"/>
                </a:cubicBezTo>
                <a:cubicBezTo>
                  <a:pt x="1844040" y="2908300"/>
                  <a:pt x="1857375" y="2910840"/>
                  <a:pt x="1883410" y="2915285"/>
                </a:cubicBezTo>
                <a:cubicBezTo>
                  <a:pt x="1909445" y="2919730"/>
                  <a:pt x="1922145" y="2924175"/>
                  <a:pt x="1948180" y="2922905"/>
                </a:cubicBezTo>
                <a:cubicBezTo>
                  <a:pt x="1974215" y="2921635"/>
                  <a:pt x="1986915" y="2917190"/>
                  <a:pt x="2012950" y="2908300"/>
                </a:cubicBezTo>
                <a:cubicBezTo>
                  <a:pt x="2038985" y="2899410"/>
                  <a:pt x="2052320" y="2889250"/>
                  <a:pt x="2078355" y="2879090"/>
                </a:cubicBezTo>
                <a:cubicBezTo>
                  <a:pt x="2104390" y="2868930"/>
                  <a:pt x="2117090" y="2864485"/>
                  <a:pt x="2143125" y="2857500"/>
                </a:cubicBezTo>
                <a:cubicBezTo>
                  <a:pt x="2169160" y="2850515"/>
                  <a:pt x="2181860" y="2846070"/>
                  <a:pt x="2207895" y="2843530"/>
                </a:cubicBezTo>
                <a:cubicBezTo>
                  <a:pt x="2233930" y="2840990"/>
                  <a:pt x="2246630" y="2837815"/>
                  <a:pt x="2272665" y="2843530"/>
                </a:cubicBezTo>
                <a:cubicBezTo>
                  <a:pt x="2298700" y="2849245"/>
                  <a:pt x="2312035" y="2856230"/>
                  <a:pt x="2338070" y="2872105"/>
                </a:cubicBezTo>
                <a:cubicBezTo>
                  <a:pt x="2364105" y="2887980"/>
                  <a:pt x="2381250" y="2900045"/>
                  <a:pt x="2402840" y="2922905"/>
                </a:cubicBezTo>
                <a:cubicBezTo>
                  <a:pt x="2424430" y="2945765"/>
                  <a:pt x="2428875" y="2961640"/>
                  <a:pt x="2446020" y="2987675"/>
                </a:cubicBezTo>
                <a:cubicBezTo>
                  <a:pt x="2463165" y="3013710"/>
                  <a:pt x="2481580" y="3041015"/>
                  <a:pt x="2489200" y="3052445"/>
                </a:cubicBezTo>
              </a:path>
            </a:pathLst>
          </a:custGeom>
          <a:noFill/>
          <a:ln w="63500">
            <a:solidFill>
              <a:srgbClr val="1D41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grpSp>
        <p:nvGrpSpPr>
          <p:cNvPr id="5" name="组合 7"/>
          <p:cNvGrpSpPr/>
          <p:nvPr/>
        </p:nvGrpSpPr>
        <p:grpSpPr bwMode="auto">
          <a:xfrm>
            <a:off x="9406159" y="3011447"/>
            <a:ext cx="1955993" cy="3464266"/>
            <a:chOff x="14811" y="4743"/>
            <a:chExt cx="3079" cy="5454"/>
          </a:xfrm>
        </p:grpSpPr>
        <p:sp>
          <p:nvSpPr>
            <p:cNvPr id="6" name="任意多边形 5"/>
            <p:cNvSpPr/>
            <p:nvPr/>
          </p:nvSpPr>
          <p:spPr>
            <a:xfrm>
              <a:off x="14811" y="4743"/>
              <a:ext cx="922" cy="3002"/>
            </a:xfrm>
            <a:custGeom>
              <a:avLst/>
              <a:gdLst>
                <a:gd name="connisteX0" fmla="*/ 376343 w 585258"/>
                <a:gd name="connsiteY0" fmla="*/ 0 h 1906481"/>
                <a:gd name="connisteX1" fmla="*/ 310938 w 585258"/>
                <a:gd name="connsiteY1" fmla="*/ 50165 h 1906481"/>
                <a:gd name="connisteX2" fmla="*/ 267758 w 585258"/>
                <a:gd name="connsiteY2" fmla="*/ 114935 h 1906481"/>
                <a:gd name="connisteX3" fmla="*/ 224578 w 585258"/>
                <a:gd name="connsiteY3" fmla="*/ 180340 h 1906481"/>
                <a:gd name="connisteX4" fmla="*/ 188383 w 585258"/>
                <a:gd name="connsiteY4" fmla="*/ 245110 h 1906481"/>
                <a:gd name="connisteX5" fmla="*/ 123613 w 585258"/>
                <a:gd name="connsiteY5" fmla="*/ 317500 h 1906481"/>
                <a:gd name="connisteX6" fmla="*/ 72813 w 585258"/>
                <a:gd name="connsiteY6" fmla="*/ 382270 h 1906481"/>
                <a:gd name="connisteX7" fmla="*/ 44238 w 585258"/>
                <a:gd name="connsiteY7" fmla="*/ 447040 h 1906481"/>
                <a:gd name="connisteX8" fmla="*/ 22648 w 585258"/>
                <a:gd name="connsiteY8" fmla="*/ 511810 h 1906481"/>
                <a:gd name="connisteX9" fmla="*/ 1058 w 585258"/>
                <a:gd name="connsiteY9" fmla="*/ 577215 h 1906481"/>
                <a:gd name="connisteX10" fmla="*/ 8043 w 585258"/>
                <a:gd name="connsiteY10" fmla="*/ 641985 h 1906481"/>
                <a:gd name="connisteX11" fmla="*/ 29633 w 585258"/>
                <a:gd name="connsiteY11" fmla="*/ 714375 h 1906481"/>
                <a:gd name="connisteX12" fmla="*/ 36618 w 585258"/>
                <a:gd name="connsiteY12" fmla="*/ 779145 h 1906481"/>
                <a:gd name="connisteX13" fmla="*/ 36618 w 585258"/>
                <a:gd name="connsiteY13" fmla="*/ 843915 h 1906481"/>
                <a:gd name="connisteX14" fmla="*/ 109008 w 585258"/>
                <a:gd name="connsiteY14" fmla="*/ 887095 h 1906481"/>
                <a:gd name="connisteX15" fmla="*/ 159808 w 585258"/>
                <a:gd name="connsiteY15" fmla="*/ 952500 h 1906481"/>
                <a:gd name="connisteX16" fmla="*/ 166793 w 585258"/>
                <a:gd name="connsiteY16" fmla="*/ 1017270 h 1906481"/>
                <a:gd name="connisteX17" fmla="*/ 166793 w 585258"/>
                <a:gd name="connsiteY17" fmla="*/ 1082040 h 1906481"/>
                <a:gd name="connisteX18" fmla="*/ 231563 w 585258"/>
                <a:gd name="connsiteY18" fmla="*/ 1096645 h 1906481"/>
                <a:gd name="connisteX19" fmla="*/ 253153 w 585258"/>
                <a:gd name="connsiteY19" fmla="*/ 1161415 h 1906481"/>
                <a:gd name="connisteX20" fmla="*/ 260773 w 585258"/>
                <a:gd name="connsiteY20" fmla="*/ 1226185 h 1906481"/>
                <a:gd name="connisteX21" fmla="*/ 260773 w 585258"/>
                <a:gd name="connsiteY21" fmla="*/ 1291590 h 1906481"/>
                <a:gd name="connisteX22" fmla="*/ 260773 w 585258"/>
                <a:gd name="connsiteY22" fmla="*/ 1356360 h 1906481"/>
                <a:gd name="connisteX23" fmla="*/ 253153 w 585258"/>
                <a:gd name="connsiteY23" fmla="*/ 1421130 h 1906481"/>
                <a:gd name="connisteX24" fmla="*/ 246168 w 585258"/>
                <a:gd name="connsiteY24" fmla="*/ 1486535 h 1906481"/>
                <a:gd name="connisteX25" fmla="*/ 253153 w 585258"/>
                <a:gd name="connsiteY25" fmla="*/ 1551305 h 1906481"/>
                <a:gd name="connisteX26" fmla="*/ 289348 w 585258"/>
                <a:gd name="connsiteY26" fmla="*/ 1616075 h 1906481"/>
                <a:gd name="connisteX27" fmla="*/ 289348 w 585258"/>
                <a:gd name="connsiteY27" fmla="*/ 1680845 h 1906481"/>
                <a:gd name="connisteX28" fmla="*/ 332528 w 585258"/>
                <a:gd name="connsiteY28" fmla="*/ 1753235 h 1906481"/>
                <a:gd name="connisteX29" fmla="*/ 390313 w 585258"/>
                <a:gd name="connsiteY29" fmla="*/ 1818005 h 1906481"/>
                <a:gd name="connisteX30" fmla="*/ 455718 w 585258"/>
                <a:gd name="connsiteY30" fmla="*/ 1875790 h 1906481"/>
                <a:gd name="connisteX31" fmla="*/ 520488 w 585258"/>
                <a:gd name="connsiteY31" fmla="*/ 1905000 h 1906481"/>
                <a:gd name="connisteX32" fmla="*/ 570653 w 585258"/>
                <a:gd name="connsiteY32" fmla="*/ 1839595 h 1906481"/>
                <a:gd name="connisteX33" fmla="*/ 585258 w 585258"/>
                <a:gd name="connsiteY33" fmla="*/ 1825625 h 190648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</a:cxnLst>
              <a:rect l="l" t="t" r="r" b="b"/>
              <a:pathLst>
                <a:path w="585259" h="1906482">
                  <a:moveTo>
                    <a:pt x="376344" y="0"/>
                  </a:moveTo>
                  <a:cubicBezTo>
                    <a:pt x="364279" y="8890"/>
                    <a:pt x="332529" y="27305"/>
                    <a:pt x="310939" y="50165"/>
                  </a:cubicBezTo>
                  <a:cubicBezTo>
                    <a:pt x="289349" y="73025"/>
                    <a:pt x="284904" y="88900"/>
                    <a:pt x="267759" y="114935"/>
                  </a:cubicBezTo>
                  <a:cubicBezTo>
                    <a:pt x="250614" y="140970"/>
                    <a:pt x="240454" y="154305"/>
                    <a:pt x="224579" y="180340"/>
                  </a:cubicBezTo>
                  <a:cubicBezTo>
                    <a:pt x="208704" y="206375"/>
                    <a:pt x="208704" y="217805"/>
                    <a:pt x="188384" y="245110"/>
                  </a:cubicBezTo>
                  <a:cubicBezTo>
                    <a:pt x="168064" y="272415"/>
                    <a:pt x="146474" y="290195"/>
                    <a:pt x="123614" y="317500"/>
                  </a:cubicBezTo>
                  <a:cubicBezTo>
                    <a:pt x="100754" y="344805"/>
                    <a:pt x="88689" y="356235"/>
                    <a:pt x="72814" y="382270"/>
                  </a:cubicBezTo>
                  <a:cubicBezTo>
                    <a:pt x="56939" y="408305"/>
                    <a:pt x="54399" y="421005"/>
                    <a:pt x="44239" y="447040"/>
                  </a:cubicBezTo>
                  <a:cubicBezTo>
                    <a:pt x="34079" y="473075"/>
                    <a:pt x="31539" y="485775"/>
                    <a:pt x="22649" y="511810"/>
                  </a:cubicBezTo>
                  <a:cubicBezTo>
                    <a:pt x="13759" y="537845"/>
                    <a:pt x="4234" y="551180"/>
                    <a:pt x="1059" y="577215"/>
                  </a:cubicBezTo>
                  <a:cubicBezTo>
                    <a:pt x="-2116" y="603250"/>
                    <a:pt x="2329" y="614680"/>
                    <a:pt x="8044" y="641985"/>
                  </a:cubicBezTo>
                  <a:cubicBezTo>
                    <a:pt x="13759" y="669290"/>
                    <a:pt x="23919" y="687070"/>
                    <a:pt x="29634" y="714375"/>
                  </a:cubicBezTo>
                  <a:cubicBezTo>
                    <a:pt x="35349" y="741680"/>
                    <a:pt x="35349" y="753110"/>
                    <a:pt x="36619" y="779145"/>
                  </a:cubicBezTo>
                  <a:cubicBezTo>
                    <a:pt x="37889" y="805180"/>
                    <a:pt x="22014" y="822325"/>
                    <a:pt x="36619" y="843915"/>
                  </a:cubicBezTo>
                  <a:cubicBezTo>
                    <a:pt x="51224" y="865505"/>
                    <a:pt x="84244" y="865505"/>
                    <a:pt x="109009" y="887095"/>
                  </a:cubicBezTo>
                  <a:cubicBezTo>
                    <a:pt x="133774" y="908685"/>
                    <a:pt x="148379" y="926465"/>
                    <a:pt x="159809" y="952500"/>
                  </a:cubicBezTo>
                  <a:cubicBezTo>
                    <a:pt x="171239" y="978535"/>
                    <a:pt x="165524" y="991235"/>
                    <a:pt x="166794" y="1017270"/>
                  </a:cubicBezTo>
                  <a:cubicBezTo>
                    <a:pt x="168064" y="1043305"/>
                    <a:pt x="154094" y="1066165"/>
                    <a:pt x="166794" y="1082040"/>
                  </a:cubicBezTo>
                  <a:cubicBezTo>
                    <a:pt x="179494" y="1097915"/>
                    <a:pt x="214419" y="1080770"/>
                    <a:pt x="231564" y="1096645"/>
                  </a:cubicBezTo>
                  <a:cubicBezTo>
                    <a:pt x="248709" y="1112520"/>
                    <a:pt x="247439" y="1135380"/>
                    <a:pt x="253154" y="1161415"/>
                  </a:cubicBezTo>
                  <a:cubicBezTo>
                    <a:pt x="258869" y="1187450"/>
                    <a:pt x="259504" y="1200150"/>
                    <a:pt x="260774" y="1226185"/>
                  </a:cubicBezTo>
                  <a:cubicBezTo>
                    <a:pt x="262044" y="1252220"/>
                    <a:pt x="260774" y="1265555"/>
                    <a:pt x="260774" y="1291590"/>
                  </a:cubicBezTo>
                  <a:cubicBezTo>
                    <a:pt x="260774" y="1317625"/>
                    <a:pt x="262044" y="1330325"/>
                    <a:pt x="260774" y="1356360"/>
                  </a:cubicBezTo>
                  <a:cubicBezTo>
                    <a:pt x="259504" y="1382395"/>
                    <a:pt x="256329" y="1395095"/>
                    <a:pt x="253154" y="1421130"/>
                  </a:cubicBezTo>
                  <a:cubicBezTo>
                    <a:pt x="249979" y="1447165"/>
                    <a:pt x="246169" y="1460500"/>
                    <a:pt x="246169" y="1486535"/>
                  </a:cubicBezTo>
                  <a:cubicBezTo>
                    <a:pt x="246169" y="1512570"/>
                    <a:pt x="244264" y="1525270"/>
                    <a:pt x="253154" y="1551305"/>
                  </a:cubicBezTo>
                  <a:cubicBezTo>
                    <a:pt x="262044" y="1577340"/>
                    <a:pt x="282364" y="1590040"/>
                    <a:pt x="289349" y="1616075"/>
                  </a:cubicBezTo>
                  <a:cubicBezTo>
                    <a:pt x="296334" y="1642110"/>
                    <a:pt x="280459" y="1653540"/>
                    <a:pt x="289349" y="1680845"/>
                  </a:cubicBezTo>
                  <a:cubicBezTo>
                    <a:pt x="298239" y="1708150"/>
                    <a:pt x="312209" y="1725930"/>
                    <a:pt x="332529" y="1753235"/>
                  </a:cubicBezTo>
                  <a:cubicBezTo>
                    <a:pt x="352849" y="1780540"/>
                    <a:pt x="365549" y="1793240"/>
                    <a:pt x="390314" y="1818005"/>
                  </a:cubicBezTo>
                  <a:cubicBezTo>
                    <a:pt x="415079" y="1842770"/>
                    <a:pt x="429684" y="1858645"/>
                    <a:pt x="455719" y="1875790"/>
                  </a:cubicBezTo>
                  <a:cubicBezTo>
                    <a:pt x="481754" y="1892935"/>
                    <a:pt x="497629" y="1911985"/>
                    <a:pt x="520489" y="1905000"/>
                  </a:cubicBezTo>
                  <a:cubicBezTo>
                    <a:pt x="543349" y="1898015"/>
                    <a:pt x="557954" y="1855470"/>
                    <a:pt x="570654" y="1839595"/>
                  </a:cubicBezTo>
                  <a:cubicBezTo>
                    <a:pt x="583354" y="1823720"/>
                    <a:pt x="583354" y="1826895"/>
                    <a:pt x="585259" y="1825625"/>
                  </a:cubicBezTo>
                </a:path>
              </a:pathLst>
            </a:custGeom>
            <a:noFill/>
            <a:ln w="63500">
              <a:solidFill>
                <a:srgbClr val="1D41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noProof="1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5721" y="7630"/>
              <a:ext cx="2169" cy="2567"/>
            </a:xfrm>
            <a:custGeom>
              <a:avLst/>
              <a:gdLst>
                <a:gd name="connisteX0" fmla="*/ 0 w 1377950"/>
                <a:gd name="connsiteY0" fmla="*/ 0 h 1630680"/>
                <a:gd name="connisteX1" fmla="*/ 43180 w 1377950"/>
                <a:gd name="connsiteY1" fmla="*/ 64770 h 1630680"/>
                <a:gd name="connisteX2" fmla="*/ 57785 w 1377950"/>
                <a:gd name="connsiteY2" fmla="*/ 130175 h 1630680"/>
                <a:gd name="connisteX3" fmla="*/ 71755 w 1377950"/>
                <a:gd name="connsiteY3" fmla="*/ 194945 h 1630680"/>
                <a:gd name="connisteX4" fmla="*/ 107950 w 1377950"/>
                <a:gd name="connsiteY4" fmla="*/ 266700 h 1630680"/>
                <a:gd name="connisteX5" fmla="*/ 172720 w 1377950"/>
                <a:gd name="connsiteY5" fmla="*/ 302895 h 1630680"/>
                <a:gd name="connisteX6" fmla="*/ 238125 w 1377950"/>
                <a:gd name="connsiteY6" fmla="*/ 310515 h 1630680"/>
                <a:gd name="connisteX7" fmla="*/ 302895 w 1377950"/>
                <a:gd name="connsiteY7" fmla="*/ 332105 h 1630680"/>
                <a:gd name="connisteX8" fmla="*/ 353695 w 1377950"/>
                <a:gd name="connsiteY8" fmla="*/ 396875 h 1630680"/>
                <a:gd name="connisteX9" fmla="*/ 418465 w 1377950"/>
                <a:gd name="connsiteY9" fmla="*/ 433070 h 1630680"/>
                <a:gd name="connisteX10" fmla="*/ 490220 w 1377950"/>
                <a:gd name="connsiteY10" fmla="*/ 469265 h 1630680"/>
                <a:gd name="connisteX11" fmla="*/ 555625 w 1377950"/>
                <a:gd name="connsiteY11" fmla="*/ 490855 h 1630680"/>
                <a:gd name="connisteX12" fmla="*/ 620395 w 1377950"/>
                <a:gd name="connsiteY12" fmla="*/ 512445 h 1630680"/>
                <a:gd name="connisteX13" fmla="*/ 685165 w 1377950"/>
                <a:gd name="connsiteY13" fmla="*/ 548640 h 1630680"/>
                <a:gd name="connisteX14" fmla="*/ 750570 w 1377950"/>
                <a:gd name="connsiteY14" fmla="*/ 598805 h 1630680"/>
                <a:gd name="connisteX15" fmla="*/ 815340 w 1377950"/>
                <a:gd name="connsiteY15" fmla="*/ 649605 h 1630680"/>
                <a:gd name="connisteX16" fmla="*/ 880110 w 1377950"/>
                <a:gd name="connsiteY16" fmla="*/ 707390 h 1630680"/>
                <a:gd name="connisteX17" fmla="*/ 944880 w 1377950"/>
                <a:gd name="connsiteY17" fmla="*/ 742950 h 1630680"/>
                <a:gd name="connisteX18" fmla="*/ 1010285 w 1377950"/>
                <a:gd name="connsiteY18" fmla="*/ 779145 h 1630680"/>
                <a:gd name="connisteX19" fmla="*/ 1068070 w 1377950"/>
                <a:gd name="connsiteY19" fmla="*/ 844550 h 1630680"/>
                <a:gd name="connisteX20" fmla="*/ 1096645 w 1377950"/>
                <a:gd name="connsiteY20" fmla="*/ 909320 h 1630680"/>
                <a:gd name="connisteX21" fmla="*/ 1111250 w 1377950"/>
                <a:gd name="connsiteY21" fmla="*/ 974090 h 1630680"/>
                <a:gd name="connisteX22" fmla="*/ 1132840 w 1377950"/>
                <a:gd name="connsiteY22" fmla="*/ 1038860 h 1630680"/>
                <a:gd name="connisteX23" fmla="*/ 1176020 w 1377950"/>
                <a:gd name="connsiteY23" fmla="*/ 1111250 h 1630680"/>
                <a:gd name="connisteX24" fmla="*/ 1212215 w 1377950"/>
                <a:gd name="connsiteY24" fmla="*/ 1176020 h 1630680"/>
                <a:gd name="connisteX25" fmla="*/ 1248410 w 1377950"/>
                <a:gd name="connsiteY25" fmla="*/ 1241425 h 1630680"/>
                <a:gd name="connisteX26" fmla="*/ 1283970 w 1377950"/>
                <a:gd name="connsiteY26" fmla="*/ 1306195 h 1630680"/>
                <a:gd name="connisteX27" fmla="*/ 1298575 w 1377950"/>
                <a:gd name="connsiteY27" fmla="*/ 1370965 h 1630680"/>
                <a:gd name="connisteX28" fmla="*/ 1320165 w 1377950"/>
                <a:gd name="connsiteY28" fmla="*/ 1435735 h 1630680"/>
                <a:gd name="connisteX29" fmla="*/ 1349375 w 1377950"/>
                <a:gd name="connsiteY29" fmla="*/ 1501140 h 1630680"/>
                <a:gd name="connisteX30" fmla="*/ 1370965 w 1377950"/>
                <a:gd name="connsiteY30" fmla="*/ 1565910 h 1630680"/>
                <a:gd name="connisteX31" fmla="*/ 1377950 w 1377950"/>
                <a:gd name="connsiteY31" fmla="*/ 1630680 h 163068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</a:cxnLst>
              <a:rect l="l" t="t" r="r" b="b"/>
              <a:pathLst>
                <a:path w="1377950" h="1630680">
                  <a:moveTo>
                    <a:pt x="0" y="0"/>
                  </a:moveTo>
                  <a:cubicBezTo>
                    <a:pt x="8255" y="11430"/>
                    <a:pt x="31750" y="38735"/>
                    <a:pt x="43180" y="64770"/>
                  </a:cubicBezTo>
                  <a:cubicBezTo>
                    <a:pt x="54610" y="90805"/>
                    <a:pt x="52070" y="104140"/>
                    <a:pt x="57785" y="130175"/>
                  </a:cubicBezTo>
                  <a:cubicBezTo>
                    <a:pt x="63500" y="156210"/>
                    <a:pt x="61595" y="167640"/>
                    <a:pt x="71755" y="194945"/>
                  </a:cubicBezTo>
                  <a:cubicBezTo>
                    <a:pt x="81915" y="222250"/>
                    <a:pt x="87630" y="245110"/>
                    <a:pt x="107950" y="266700"/>
                  </a:cubicBezTo>
                  <a:cubicBezTo>
                    <a:pt x="128270" y="288290"/>
                    <a:pt x="146685" y="294005"/>
                    <a:pt x="172720" y="302895"/>
                  </a:cubicBezTo>
                  <a:cubicBezTo>
                    <a:pt x="198755" y="311785"/>
                    <a:pt x="212090" y="304800"/>
                    <a:pt x="238125" y="310515"/>
                  </a:cubicBezTo>
                  <a:cubicBezTo>
                    <a:pt x="264160" y="316230"/>
                    <a:pt x="280035" y="314960"/>
                    <a:pt x="302895" y="332105"/>
                  </a:cubicBezTo>
                  <a:cubicBezTo>
                    <a:pt x="325755" y="349250"/>
                    <a:pt x="330835" y="376555"/>
                    <a:pt x="353695" y="396875"/>
                  </a:cubicBezTo>
                  <a:cubicBezTo>
                    <a:pt x="376555" y="417195"/>
                    <a:pt x="391160" y="418465"/>
                    <a:pt x="418465" y="433070"/>
                  </a:cubicBezTo>
                  <a:cubicBezTo>
                    <a:pt x="445770" y="447675"/>
                    <a:pt x="462915" y="457835"/>
                    <a:pt x="490220" y="469265"/>
                  </a:cubicBezTo>
                  <a:cubicBezTo>
                    <a:pt x="517525" y="480695"/>
                    <a:pt x="529590" y="481965"/>
                    <a:pt x="555625" y="490855"/>
                  </a:cubicBezTo>
                  <a:cubicBezTo>
                    <a:pt x="581660" y="499745"/>
                    <a:pt x="594360" y="501015"/>
                    <a:pt x="620395" y="512445"/>
                  </a:cubicBezTo>
                  <a:cubicBezTo>
                    <a:pt x="646430" y="523875"/>
                    <a:pt x="659130" y="531495"/>
                    <a:pt x="685165" y="548640"/>
                  </a:cubicBezTo>
                  <a:cubicBezTo>
                    <a:pt x="711200" y="565785"/>
                    <a:pt x="724535" y="578485"/>
                    <a:pt x="750570" y="598805"/>
                  </a:cubicBezTo>
                  <a:cubicBezTo>
                    <a:pt x="776605" y="619125"/>
                    <a:pt x="789305" y="628015"/>
                    <a:pt x="815340" y="649605"/>
                  </a:cubicBezTo>
                  <a:cubicBezTo>
                    <a:pt x="841375" y="671195"/>
                    <a:pt x="854075" y="688975"/>
                    <a:pt x="880110" y="707390"/>
                  </a:cubicBezTo>
                  <a:cubicBezTo>
                    <a:pt x="906145" y="725805"/>
                    <a:pt x="918845" y="728345"/>
                    <a:pt x="944880" y="742950"/>
                  </a:cubicBezTo>
                  <a:cubicBezTo>
                    <a:pt x="970915" y="757555"/>
                    <a:pt x="985520" y="758825"/>
                    <a:pt x="1010285" y="779145"/>
                  </a:cubicBezTo>
                  <a:cubicBezTo>
                    <a:pt x="1035050" y="799465"/>
                    <a:pt x="1050925" y="818515"/>
                    <a:pt x="1068070" y="844550"/>
                  </a:cubicBezTo>
                  <a:cubicBezTo>
                    <a:pt x="1085215" y="870585"/>
                    <a:pt x="1087755" y="883285"/>
                    <a:pt x="1096645" y="909320"/>
                  </a:cubicBezTo>
                  <a:cubicBezTo>
                    <a:pt x="1105535" y="935355"/>
                    <a:pt x="1104265" y="948055"/>
                    <a:pt x="1111250" y="974090"/>
                  </a:cubicBezTo>
                  <a:cubicBezTo>
                    <a:pt x="1118235" y="1000125"/>
                    <a:pt x="1120140" y="1011555"/>
                    <a:pt x="1132840" y="1038860"/>
                  </a:cubicBezTo>
                  <a:cubicBezTo>
                    <a:pt x="1145540" y="1066165"/>
                    <a:pt x="1160145" y="1083945"/>
                    <a:pt x="1176020" y="1111250"/>
                  </a:cubicBezTo>
                  <a:cubicBezTo>
                    <a:pt x="1191895" y="1138555"/>
                    <a:pt x="1197610" y="1149985"/>
                    <a:pt x="1212215" y="1176020"/>
                  </a:cubicBezTo>
                  <a:cubicBezTo>
                    <a:pt x="1226820" y="1202055"/>
                    <a:pt x="1233805" y="1215390"/>
                    <a:pt x="1248410" y="1241425"/>
                  </a:cubicBezTo>
                  <a:cubicBezTo>
                    <a:pt x="1263015" y="1267460"/>
                    <a:pt x="1273810" y="1280160"/>
                    <a:pt x="1283970" y="1306195"/>
                  </a:cubicBezTo>
                  <a:cubicBezTo>
                    <a:pt x="1294130" y="1332230"/>
                    <a:pt x="1291590" y="1344930"/>
                    <a:pt x="1298575" y="1370965"/>
                  </a:cubicBezTo>
                  <a:cubicBezTo>
                    <a:pt x="1305560" y="1397000"/>
                    <a:pt x="1310005" y="1409700"/>
                    <a:pt x="1320165" y="1435735"/>
                  </a:cubicBezTo>
                  <a:cubicBezTo>
                    <a:pt x="1330325" y="1461770"/>
                    <a:pt x="1339215" y="1475105"/>
                    <a:pt x="1349375" y="1501140"/>
                  </a:cubicBezTo>
                  <a:cubicBezTo>
                    <a:pt x="1359535" y="1527175"/>
                    <a:pt x="1365250" y="1539875"/>
                    <a:pt x="1370965" y="1565910"/>
                  </a:cubicBezTo>
                  <a:cubicBezTo>
                    <a:pt x="1376680" y="1591945"/>
                    <a:pt x="1376680" y="1619250"/>
                    <a:pt x="1377950" y="1630680"/>
                  </a:cubicBezTo>
                </a:path>
              </a:pathLst>
            </a:custGeom>
            <a:noFill/>
            <a:ln w="63500">
              <a:solidFill>
                <a:srgbClr val="1D41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buFontTx/>
                <a:buNone/>
                <a:defRPr/>
              </a:pPr>
              <a:endParaRPr lang="zh-CN" altLang="en-US" noProof="1"/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8437689" y="3459166"/>
            <a:ext cx="990698" cy="1205031"/>
          </a:xfrm>
          <a:custGeom>
            <a:avLst/>
            <a:gdLst>
              <a:gd name="connisteX0" fmla="*/ 30561 w 990681"/>
              <a:gd name="connsiteY0" fmla="*/ 0 h 1205230"/>
              <a:gd name="connisteX1" fmla="*/ 38181 w 990681"/>
              <a:gd name="connsiteY1" fmla="*/ 64770 h 1205230"/>
              <a:gd name="connisteX2" fmla="*/ 23576 w 990681"/>
              <a:gd name="connsiteY2" fmla="*/ 130175 h 1205230"/>
              <a:gd name="connisteX3" fmla="*/ 8971 w 990681"/>
              <a:gd name="connsiteY3" fmla="*/ 194945 h 1205230"/>
              <a:gd name="connisteX4" fmla="*/ 1986 w 990681"/>
              <a:gd name="connsiteY4" fmla="*/ 259715 h 1205230"/>
              <a:gd name="connisteX5" fmla="*/ 8971 w 990681"/>
              <a:gd name="connsiteY5" fmla="*/ 325120 h 1205230"/>
              <a:gd name="connisteX6" fmla="*/ 74376 w 990681"/>
              <a:gd name="connsiteY6" fmla="*/ 368300 h 1205230"/>
              <a:gd name="connisteX7" fmla="*/ 139146 w 990681"/>
              <a:gd name="connsiteY7" fmla="*/ 360680 h 1205230"/>
              <a:gd name="connisteX8" fmla="*/ 210901 w 990681"/>
              <a:gd name="connsiteY8" fmla="*/ 396875 h 1205230"/>
              <a:gd name="connisteX9" fmla="*/ 276306 w 990681"/>
              <a:gd name="connsiteY9" fmla="*/ 411480 h 1205230"/>
              <a:gd name="connisteX10" fmla="*/ 341076 w 990681"/>
              <a:gd name="connsiteY10" fmla="*/ 382270 h 1205230"/>
              <a:gd name="connisteX11" fmla="*/ 405846 w 990681"/>
              <a:gd name="connsiteY11" fmla="*/ 339090 h 1205230"/>
              <a:gd name="connisteX12" fmla="*/ 471251 w 990681"/>
              <a:gd name="connsiteY12" fmla="*/ 339090 h 1205230"/>
              <a:gd name="connisteX13" fmla="*/ 485221 w 990681"/>
              <a:gd name="connsiteY13" fmla="*/ 404495 h 1205230"/>
              <a:gd name="connisteX14" fmla="*/ 536021 w 990681"/>
              <a:gd name="connsiteY14" fmla="*/ 469265 h 1205230"/>
              <a:gd name="connisteX15" fmla="*/ 579201 w 990681"/>
              <a:gd name="connsiteY15" fmla="*/ 534035 h 1205230"/>
              <a:gd name="connisteX16" fmla="*/ 600791 w 990681"/>
              <a:gd name="connsiteY16" fmla="*/ 598805 h 1205230"/>
              <a:gd name="connisteX17" fmla="*/ 665561 w 990681"/>
              <a:gd name="connsiteY17" fmla="*/ 642620 h 1205230"/>
              <a:gd name="connisteX18" fmla="*/ 716361 w 990681"/>
              <a:gd name="connsiteY18" fmla="*/ 714375 h 1205230"/>
              <a:gd name="connisteX19" fmla="*/ 744936 w 990681"/>
              <a:gd name="connsiteY19" fmla="*/ 779145 h 1205230"/>
              <a:gd name="connisteX20" fmla="*/ 788751 w 990681"/>
              <a:gd name="connsiteY20" fmla="*/ 844550 h 1205230"/>
              <a:gd name="connisteX21" fmla="*/ 853521 w 990681"/>
              <a:gd name="connsiteY21" fmla="*/ 880745 h 1205230"/>
              <a:gd name="connisteX22" fmla="*/ 896701 w 990681"/>
              <a:gd name="connsiteY22" fmla="*/ 945515 h 1205230"/>
              <a:gd name="connisteX23" fmla="*/ 896701 w 990681"/>
              <a:gd name="connsiteY23" fmla="*/ 1010285 h 1205230"/>
              <a:gd name="connisteX24" fmla="*/ 925276 w 990681"/>
              <a:gd name="connsiteY24" fmla="*/ 1075055 h 1205230"/>
              <a:gd name="connisteX25" fmla="*/ 961471 w 990681"/>
              <a:gd name="connsiteY25" fmla="*/ 1140460 h 1205230"/>
              <a:gd name="connisteX26" fmla="*/ 990681 w 990681"/>
              <a:gd name="connsiteY26" fmla="*/ 1205230 h 12052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990682" h="1205230">
                <a:moveTo>
                  <a:pt x="30562" y="0"/>
                </a:moveTo>
                <a:cubicBezTo>
                  <a:pt x="32467" y="11430"/>
                  <a:pt x="39452" y="38735"/>
                  <a:pt x="38182" y="64770"/>
                </a:cubicBezTo>
                <a:cubicBezTo>
                  <a:pt x="36912" y="90805"/>
                  <a:pt x="29292" y="104140"/>
                  <a:pt x="23577" y="130175"/>
                </a:cubicBezTo>
                <a:cubicBezTo>
                  <a:pt x="17862" y="156210"/>
                  <a:pt x="13417" y="168910"/>
                  <a:pt x="8972" y="194945"/>
                </a:cubicBezTo>
                <a:cubicBezTo>
                  <a:pt x="4527" y="220980"/>
                  <a:pt x="1987" y="233680"/>
                  <a:pt x="1987" y="259715"/>
                </a:cubicBezTo>
                <a:cubicBezTo>
                  <a:pt x="1987" y="285750"/>
                  <a:pt x="-5633" y="303530"/>
                  <a:pt x="8972" y="325120"/>
                </a:cubicBezTo>
                <a:cubicBezTo>
                  <a:pt x="23577" y="346710"/>
                  <a:pt x="48342" y="361315"/>
                  <a:pt x="74377" y="368300"/>
                </a:cubicBezTo>
                <a:cubicBezTo>
                  <a:pt x="100412" y="375285"/>
                  <a:pt x="111842" y="354965"/>
                  <a:pt x="139147" y="360680"/>
                </a:cubicBezTo>
                <a:cubicBezTo>
                  <a:pt x="166452" y="366395"/>
                  <a:pt x="183597" y="386715"/>
                  <a:pt x="210902" y="396875"/>
                </a:cubicBezTo>
                <a:cubicBezTo>
                  <a:pt x="238207" y="407035"/>
                  <a:pt x="250272" y="414655"/>
                  <a:pt x="276307" y="411480"/>
                </a:cubicBezTo>
                <a:cubicBezTo>
                  <a:pt x="302342" y="408305"/>
                  <a:pt x="315042" y="396875"/>
                  <a:pt x="341077" y="382270"/>
                </a:cubicBezTo>
                <a:cubicBezTo>
                  <a:pt x="367112" y="367665"/>
                  <a:pt x="379812" y="347980"/>
                  <a:pt x="405847" y="339090"/>
                </a:cubicBezTo>
                <a:cubicBezTo>
                  <a:pt x="431882" y="330200"/>
                  <a:pt x="455377" y="325755"/>
                  <a:pt x="471252" y="339090"/>
                </a:cubicBezTo>
                <a:cubicBezTo>
                  <a:pt x="487127" y="352425"/>
                  <a:pt x="472522" y="378460"/>
                  <a:pt x="485222" y="404495"/>
                </a:cubicBezTo>
                <a:cubicBezTo>
                  <a:pt x="497922" y="430530"/>
                  <a:pt x="516972" y="443230"/>
                  <a:pt x="536022" y="469265"/>
                </a:cubicBezTo>
                <a:cubicBezTo>
                  <a:pt x="555072" y="495300"/>
                  <a:pt x="566502" y="508000"/>
                  <a:pt x="579202" y="534035"/>
                </a:cubicBezTo>
                <a:cubicBezTo>
                  <a:pt x="591902" y="560070"/>
                  <a:pt x="583647" y="577215"/>
                  <a:pt x="600792" y="598805"/>
                </a:cubicBezTo>
                <a:cubicBezTo>
                  <a:pt x="617937" y="620395"/>
                  <a:pt x="642702" y="619760"/>
                  <a:pt x="665562" y="642620"/>
                </a:cubicBezTo>
                <a:cubicBezTo>
                  <a:pt x="688422" y="665480"/>
                  <a:pt x="700487" y="687070"/>
                  <a:pt x="716362" y="714375"/>
                </a:cubicBezTo>
                <a:cubicBezTo>
                  <a:pt x="732237" y="741680"/>
                  <a:pt x="730332" y="753110"/>
                  <a:pt x="744937" y="779145"/>
                </a:cubicBezTo>
                <a:cubicBezTo>
                  <a:pt x="759542" y="805180"/>
                  <a:pt x="767162" y="824230"/>
                  <a:pt x="788752" y="844550"/>
                </a:cubicBezTo>
                <a:cubicBezTo>
                  <a:pt x="810342" y="864870"/>
                  <a:pt x="831932" y="860425"/>
                  <a:pt x="853522" y="880745"/>
                </a:cubicBezTo>
                <a:cubicBezTo>
                  <a:pt x="875112" y="901065"/>
                  <a:pt x="887812" y="919480"/>
                  <a:pt x="896702" y="945515"/>
                </a:cubicBezTo>
                <a:cubicBezTo>
                  <a:pt x="905592" y="971550"/>
                  <a:pt x="890987" y="984250"/>
                  <a:pt x="896702" y="1010285"/>
                </a:cubicBezTo>
                <a:cubicBezTo>
                  <a:pt x="902417" y="1036320"/>
                  <a:pt x="912577" y="1049020"/>
                  <a:pt x="925277" y="1075055"/>
                </a:cubicBezTo>
                <a:cubicBezTo>
                  <a:pt x="937977" y="1101090"/>
                  <a:pt x="948137" y="1114425"/>
                  <a:pt x="961472" y="1140460"/>
                </a:cubicBezTo>
                <a:cubicBezTo>
                  <a:pt x="974807" y="1166495"/>
                  <a:pt x="985602" y="1193800"/>
                  <a:pt x="990682" y="1205230"/>
                </a:cubicBezTo>
              </a:path>
            </a:pathLst>
          </a:custGeom>
          <a:noFill/>
          <a:ln w="63500">
            <a:solidFill>
              <a:srgbClr val="1D41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 rot="-2160000">
            <a:off x="7477158" y="4286335"/>
            <a:ext cx="506462" cy="1383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永定河</a:t>
            </a:r>
            <a:endParaRPr lang="zh-CN" altLang="en-US" sz="28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 rot="-1920000">
            <a:off x="10026934" y="3756058"/>
            <a:ext cx="506462" cy="1383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潮白河</a:t>
            </a:r>
            <a:endParaRPr lang="zh-CN" altLang="en-US" sz="28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 rot="-2160000">
            <a:off x="9382026" y="4354604"/>
            <a:ext cx="504875" cy="1383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1D41D5"/>
                </a:solidFill>
                <a:latin typeface="楷体" panose="02010609060101010101" charset="-122"/>
                <a:ea typeface="楷体" panose="02010609060101010101" charset="-122"/>
              </a:rPr>
              <a:t>温榆河</a:t>
            </a:r>
            <a:endParaRPr lang="zh-CN" altLang="en-US" sz="2800" b="1">
              <a:solidFill>
                <a:srgbClr val="1D41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五角星 12"/>
          <p:cNvSpPr/>
          <p:nvPr/>
        </p:nvSpPr>
        <p:spPr>
          <a:xfrm>
            <a:off x="8689975" y="4524375"/>
            <a:ext cx="360000" cy="360000"/>
          </a:xfrm>
          <a:prstGeom prst="star5">
            <a:avLst/>
          </a:prstGeom>
          <a:solidFill>
            <a:srgbClr val="FF0101"/>
          </a:solidFill>
          <a:ln>
            <a:solidFill>
              <a:srgbClr val="FF0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  <p:sndAc>
          <p:stSnd>
            <p:snd r:embed="rId2" name="push.wav"/>
          </p:stSnd>
        </p:sndAc>
      </p:transition>
    </mc:Choice>
    <mc:Fallback>
      <p:transition spd="slow">
        <p:wipe dir="r"/>
        <p:sndAc>
          <p:stSnd>
            <p:snd r:embed="rId2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7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4" grpId="0" animBg="1"/>
      <p:bldP spid="4" grpId="1" animBg="1"/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气候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温度带：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位于暖温带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干湿地区：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位于半湿润区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气候类型：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温带季风气候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0" algn="l">
              <a:spcBef>
                <a:spcPts val="0"/>
              </a:spcBef>
              <a:buClrTx/>
              <a:buSzTx/>
              <a:buFont typeface="Arial" panose="020B0604020202020204" pitchFamily="34" charset="0"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气候特点：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pPr lvl="1" algn="l">
              <a:spcBef>
                <a:spcPct val="20000"/>
              </a:spcBef>
              <a:buClrTx/>
              <a:buSzPct val="75000"/>
              <a:buFont typeface="Arial" panose="020B0604020202020204" pitchFamily="34" charset="0"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夏季高温多雨；冬季寒冷干燥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 dir="r"/>
        <p:sndAc>
          <p:stSnd>
            <p:snd r:embed="rId1" name="push.wav"/>
          </p:stSnd>
        </p:sndAc>
      </p:transition>
    </mc:Choice>
    <mc:Fallback>
      <p:transition spd="slow">
        <p:wipe dir="r"/>
        <p:sndAc>
          <p:stSnd>
            <p:snd r:embed="rId1" name="pu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组合 46"/>
          <p:cNvGrpSpPr/>
          <p:nvPr/>
        </p:nvGrpSpPr>
        <p:grpSpPr bwMode="auto">
          <a:xfrm>
            <a:off x="883" y="-159"/>
            <a:ext cx="12192566" cy="6858318"/>
            <a:chOff x="0" y="0"/>
            <a:chExt cx="12192000" cy="6858000"/>
          </a:xfrm>
        </p:grpSpPr>
        <p:pic>
          <p:nvPicPr>
            <p:cNvPr id="194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0" name="组合 30"/>
          <p:cNvGrpSpPr/>
          <p:nvPr/>
        </p:nvGrpSpPr>
        <p:grpSpPr bwMode="auto">
          <a:xfrm>
            <a:off x="5621847" y="-142405"/>
            <a:ext cx="6593193" cy="6858318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194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464" name="矩形 11"/>
          <p:cNvSpPr>
            <a:spLocks noChangeArrowheads="1"/>
          </p:cNvSpPr>
          <p:nvPr/>
        </p:nvSpPr>
        <p:spPr bwMode="auto">
          <a:xfrm>
            <a:off x="8619821" y="1504861"/>
            <a:ext cx="379429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latin typeface="方正清楷 简" panose="02000500000000000000" charset="-122"/>
                <a:ea typeface="方正清楷 简" panose="02000500000000000000" charset="-122"/>
              </a:rPr>
              <a:t>政治文化中心</a:t>
            </a:r>
            <a:endParaRPr lang="zh-CN" altLang="en-US" sz="3600" dirty="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8261029" y="1504861"/>
            <a:ext cx="30163" cy="35641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9145307" y="1504861"/>
            <a:ext cx="30164" cy="35926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7" name="文本框 14"/>
          <p:cNvSpPr txBox="1">
            <a:spLocks noChangeArrowheads="1"/>
          </p:cNvSpPr>
          <p:nvPr/>
        </p:nvSpPr>
        <p:spPr bwMode="auto">
          <a:xfrm>
            <a:off x="8446774" y="306243"/>
            <a:ext cx="72869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7200">
                <a:latin typeface="方正清楷 简" panose="02000500000000000000" charset="-122"/>
                <a:ea typeface="方正清楷 简" panose="02000500000000000000" charset="-122"/>
              </a:rPr>
              <a:t>贰</a:t>
            </a:r>
            <a:endParaRPr lang="zh-CN" altLang="en-US" sz="72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  <p:sndAc>
          <p:stSnd>
            <p:snd r:embed="rId4" name="type.wav"/>
          </p:stSnd>
        </p:sndAc>
      </p:transition>
    </mc:Choice>
    <mc:Fallback>
      <p:transition spd="slow">
        <p:newsflash/>
        <p:sndAc>
          <p:stSnd>
            <p:snd r:embed="rId4" name="typ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人民大会堂：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微软雅黑" panose="020B0503020204020204" pitchFamily="34" charset="-122"/>
              </a:rPr>
              <a:t>全国人民代表大会常务委员会所在地，</a:t>
            </a: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中国的最高权力机构。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中南海：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中共中央和国务院所在地，中国的最高行政机关。</a:t>
            </a:r>
            <a:endParaRPr lang="zh-CN" altLang="en-US"/>
          </a:p>
        </p:txBody>
      </p:sp>
      <p:pic>
        <p:nvPicPr>
          <p:cNvPr id="28676" name="图片 3" descr="&amp;pfm122&amp;"/>
          <p:cNvPicPr>
            <a:picLocks noChangeAspect="1" noChangeArrowheads="1"/>
          </p:cNvPicPr>
          <p:nvPr/>
        </p:nvPicPr>
        <p:blipFill>
          <a:blip r:embed="rId1" cstate="email">
            <a:extLst>
              <a:ext uri="{BEBA8EAE-BF5A-486C-A8C5-ECC9F3942E4B}">
                <a14:imgProps xmlns:a14="http://schemas.microsoft.com/office/drawing/2010/main">
                  <a14:imgLayer r:embed="rId2"/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695925" y="3239540"/>
            <a:ext cx="4882361" cy="2745376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6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政治中心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  <p:sndAc>
          <p:stSnd>
            <p:snd r:embed="rId3" name="type.wav"/>
          </p:stSnd>
        </p:sndAc>
      </p:transition>
    </mc:Choice>
    <mc:Fallback>
      <p:transition spd="slow">
        <p:newsflash/>
        <p:sndAc>
          <p:stSnd>
            <p:snd r:embed="rId3" name="typ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教育中心：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北京有北大、清华等上百所高等院校；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有中科院、社科院等各类科学研究机构；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文化中心：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有全国藏书最多的国家图书馆；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有中央电视台和中央人民广播电台；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还有许多著名博物馆、展览馆、体育场馆……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pic>
        <p:nvPicPr>
          <p:cNvPr id="12296" name="图片 12295" descr="国家体育场（“鸟巢”）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240161" y="2072084"/>
            <a:ext cx="5170044" cy="2558032"/>
          </a:xfrm>
          <a:prstGeom prst="diamond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文化中心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  <p:sndAc>
          <p:stSnd>
            <p:snd r:embed="rId2" name="type.wav"/>
          </p:stSnd>
        </p:sndAc>
      </p:transition>
    </mc:Choice>
    <mc:Fallback>
      <p:transition spd="slow">
        <p:newsflash/>
        <p:sndAc>
          <p:stSnd>
            <p:snd r:embed="rId2" name="typ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国际机构：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北京有许多外国大使馆、国际组织代表机构、海外企业代表机构。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  <a:sym typeface="+mn-ea"/>
            </a:endParaRPr>
          </a:p>
          <a:p>
            <a:pPr algn="l">
              <a:buClrTx/>
              <a:buSzTx/>
            </a:pPr>
            <a:r>
              <a:rPr lang="zh-CN" altLang="en-US" b="1">
                <a:ln>
                  <a:noFill/>
                </a:ln>
                <a:solidFill>
                  <a:srgbClr val="FF0000"/>
                </a:solidFill>
                <a:effectLst/>
                <a:uLnTx/>
                <a:latin typeface="思源黑体 CN Light"/>
                <a:sym typeface="+mn-ea"/>
              </a:rPr>
              <a:t>国际交流：</a:t>
            </a:r>
            <a:endParaRPr lang="zh-CN" altLang="en-US" b="1">
              <a:ln>
                <a:noFill/>
              </a:ln>
              <a:solidFill>
                <a:srgbClr val="FF0000"/>
              </a:solidFill>
              <a:effectLst/>
              <a:uLnTx/>
              <a:latin typeface="思源黑体 CN Light"/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ln>
                  <a:noFill/>
                </a:ln>
                <a:solidFill>
                  <a:schemeClr val="tx1"/>
                </a:solidFill>
                <a:effectLst/>
                <a:uLnTx/>
                <a:latin typeface="思源黑体 CN Light"/>
                <a:sym typeface="+mn-ea"/>
              </a:rPr>
              <a:t>随着越来越多的世界著名跨国公司落户北京；各种国际会议在此频繁召开，北京与世界各地的联系正日益密切。 </a:t>
            </a:r>
            <a:endParaRPr lang="zh-CN" altLang="en-US">
              <a:ln>
                <a:noFill/>
              </a:ln>
              <a:solidFill>
                <a:schemeClr val="tx1"/>
              </a:solidFill>
              <a:effectLst/>
              <a:uLnTx/>
              <a:latin typeface="思源黑体 CN Light"/>
            </a:endParaRPr>
          </a:p>
          <a:p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国际交往中心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newsflash/>
        <p:sndAc>
          <p:stSnd>
            <p:snd r:embed="rId1" name="type.wav"/>
          </p:stSnd>
        </p:sndAc>
      </p:transition>
    </mc:Choice>
    <mc:Fallback>
      <p:transition spd="slow">
        <p:newsflash/>
        <p:sndAc>
          <p:stSnd>
            <p:snd r:embed="rId1" name="type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3" name="组合 46"/>
          <p:cNvGrpSpPr/>
          <p:nvPr/>
        </p:nvGrpSpPr>
        <p:grpSpPr bwMode="auto">
          <a:xfrm>
            <a:off x="883" y="-159"/>
            <a:ext cx="12192566" cy="6858318"/>
            <a:chOff x="0" y="0"/>
            <a:chExt cx="12192000" cy="6858000"/>
          </a:xfrm>
        </p:grpSpPr>
        <p:pic>
          <p:nvPicPr>
            <p:cNvPr id="33794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5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796" name="组合 30"/>
          <p:cNvGrpSpPr/>
          <p:nvPr/>
        </p:nvGrpSpPr>
        <p:grpSpPr bwMode="auto">
          <a:xfrm>
            <a:off x="5414509" y="-159"/>
            <a:ext cx="6593195" cy="6858318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33798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9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800" name="矩形 11"/>
          <p:cNvSpPr>
            <a:spLocks noChangeArrowheads="1"/>
          </p:cNvSpPr>
          <p:nvPr/>
        </p:nvSpPr>
        <p:spPr bwMode="auto">
          <a:xfrm>
            <a:off x="8291192" y="1666793"/>
            <a:ext cx="533425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>
                <a:latin typeface="方正清楷 简" panose="02000500000000000000" charset="-122"/>
                <a:ea typeface="方正清楷 简" panose="02000500000000000000" charset="-122"/>
              </a:rPr>
              <a:t>历史悠久的古城</a:t>
            </a:r>
            <a:endParaRPr lang="zh-CN" altLang="en-US" sz="3600" b="1">
              <a:latin typeface="方正清楷 简" panose="02000500000000000000" charset="-122"/>
              <a:ea typeface="方正清楷 简" panose="02000500000000000000" charset="-122"/>
            </a:endParaRPr>
          </a:p>
          <a:p>
            <a:pPr algn="ctr"/>
            <a:endParaRPr lang="zh-CN" altLang="en-US" sz="36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7827621" y="1825551"/>
            <a:ext cx="65092" cy="35418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9081805" y="1825551"/>
            <a:ext cx="73029" cy="35275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03" name="文本框 14"/>
          <p:cNvSpPr txBox="1">
            <a:spLocks noChangeArrowheads="1"/>
          </p:cNvSpPr>
          <p:nvPr/>
        </p:nvSpPr>
        <p:spPr bwMode="auto">
          <a:xfrm>
            <a:off x="8291192" y="650746"/>
            <a:ext cx="514373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6000">
                <a:latin typeface="方正清楷 简" panose="02000500000000000000" charset="-122"/>
                <a:ea typeface="方正清楷 简" panose="02000500000000000000" charset="-122"/>
              </a:rPr>
              <a:t>叁</a:t>
            </a:r>
            <a:endParaRPr lang="zh-CN" altLang="en-US" sz="60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图片 5" descr="北京的旧城"/>
          <p:cNvPicPr>
            <a:picLocks noChangeAspect="1"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4361948" y="141135"/>
            <a:ext cx="7744185" cy="660271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1" name="矩形 145410"/>
          <p:cNvSpPr>
            <a:spLocks noChangeArrowheads="1"/>
          </p:cNvSpPr>
          <p:nvPr/>
        </p:nvSpPr>
        <p:spPr bwMode="auto">
          <a:xfrm>
            <a:off x="8067345" y="2338338"/>
            <a:ext cx="536600" cy="55247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2" name="矩形 145411"/>
          <p:cNvSpPr>
            <a:spLocks noChangeArrowheads="1"/>
          </p:cNvSpPr>
          <p:nvPr/>
        </p:nvSpPr>
        <p:spPr bwMode="auto">
          <a:xfrm>
            <a:off x="6998908" y="1669969"/>
            <a:ext cx="2119411" cy="153359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rgbClr val="000099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3" name="矩形 145412"/>
          <p:cNvSpPr>
            <a:spLocks noChangeArrowheads="1"/>
          </p:cNvSpPr>
          <p:nvPr/>
        </p:nvSpPr>
        <p:spPr bwMode="auto">
          <a:xfrm>
            <a:off x="5627245" y="639633"/>
            <a:ext cx="5238993" cy="312434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4" name="矩形 145413"/>
          <p:cNvSpPr>
            <a:spLocks noChangeArrowheads="1"/>
          </p:cNvSpPr>
          <p:nvPr/>
        </p:nvSpPr>
        <p:spPr bwMode="auto">
          <a:xfrm>
            <a:off x="4984277" y="3762391"/>
            <a:ext cx="6537629" cy="204955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5415" name="直接连接符 145414"/>
          <p:cNvSpPr>
            <a:spLocks noChangeShapeType="1"/>
          </p:cNvSpPr>
          <p:nvPr/>
        </p:nvSpPr>
        <p:spPr bwMode="auto">
          <a:xfrm>
            <a:off x="8232453" y="639633"/>
            <a:ext cx="39689" cy="5172316"/>
          </a:xfrm>
          <a:prstGeom prst="line">
            <a:avLst/>
          </a:prstGeom>
          <a:noFill/>
          <a:ln w="698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6" name="直接连接符 145415"/>
          <p:cNvSpPr>
            <a:spLocks noChangeShapeType="1"/>
          </p:cNvSpPr>
          <p:nvPr/>
        </p:nvSpPr>
        <p:spPr bwMode="auto">
          <a:xfrm flipV="1">
            <a:off x="8603946" y="1771573"/>
            <a:ext cx="1211318" cy="819187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7" name="文本框 145416"/>
          <p:cNvSpPr txBox="1">
            <a:spLocks noChangeArrowheads="1"/>
          </p:cNvSpPr>
          <p:nvPr/>
        </p:nvSpPr>
        <p:spPr bwMode="auto">
          <a:xfrm>
            <a:off x="9118319" y="1096854"/>
            <a:ext cx="1439928" cy="58356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紫禁城</a:t>
            </a:r>
            <a:endParaRPr lang="zh-CN" altLang="en-US" sz="32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18" name="直接连接符 145417"/>
          <p:cNvSpPr>
            <a:spLocks noChangeShapeType="1"/>
          </p:cNvSpPr>
          <p:nvPr/>
        </p:nvSpPr>
        <p:spPr bwMode="auto">
          <a:xfrm flipV="1">
            <a:off x="8894470" y="2282772"/>
            <a:ext cx="1176393" cy="53025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19" name="文本框 145418"/>
          <p:cNvSpPr txBox="1">
            <a:spLocks noChangeArrowheads="1"/>
          </p:cNvSpPr>
          <p:nvPr/>
        </p:nvSpPr>
        <p:spPr bwMode="auto">
          <a:xfrm>
            <a:off x="10021648" y="1892229"/>
            <a:ext cx="1439930" cy="58356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皇城</a:t>
            </a:r>
            <a:endParaRPr lang="zh-CN" altLang="en-US" sz="32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0" name="文本框 145419"/>
          <p:cNvSpPr txBox="1">
            <a:spLocks noChangeArrowheads="1"/>
          </p:cNvSpPr>
          <p:nvPr/>
        </p:nvSpPr>
        <p:spPr bwMode="auto">
          <a:xfrm>
            <a:off x="10081975" y="2813022"/>
            <a:ext cx="1439930" cy="58356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内城</a:t>
            </a:r>
            <a:endParaRPr lang="zh-CN" altLang="en-US" sz="32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1" name="直接连接符 145420"/>
          <p:cNvSpPr>
            <a:spLocks noChangeShapeType="1"/>
          </p:cNvSpPr>
          <p:nvPr/>
        </p:nvSpPr>
        <p:spPr bwMode="auto">
          <a:xfrm flipV="1">
            <a:off x="9399320" y="2890814"/>
            <a:ext cx="682657" cy="49691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2" name="直接连接符 145421"/>
          <p:cNvSpPr>
            <a:spLocks noChangeShapeType="1"/>
          </p:cNvSpPr>
          <p:nvPr/>
        </p:nvSpPr>
        <p:spPr bwMode="auto">
          <a:xfrm flipV="1">
            <a:off x="10081975" y="4627619"/>
            <a:ext cx="476272" cy="646142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423" name="文本框 145422"/>
          <p:cNvSpPr txBox="1">
            <a:spLocks noChangeArrowheads="1"/>
          </p:cNvSpPr>
          <p:nvPr/>
        </p:nvSpPr>
        <p:spPr bwMode="auto">
          <a:xfrm>
            <a:off x="1738367" y="2282776"/>
            <a:ext cx="3359305" cy="70675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“凸”字形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4" name="文本框 145423"/>
          <p:cNvSpPr txBox="1">
            <a:spLocks noChangeArrowheads="1"/>
          </p:cNvSpPr>
          <p:nvPr/>
        </p:nvSpPr>
        <p:spPr bwMode="auto">
          <a:xfrm>
            <a:off x="2068293" y="3256916"/>
            <a:ext cx="2698875" cy="70675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棋盘状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5" name="文本框 145424"/>
          <p:cNvSpPr txBox="1">
            <a:spLocks noChangeArrowheads="1"/>
          </p:cNvSpPr>
          <p:nvPr/>
        </p:nvSpPr>
        <p:spPr bwMode="auto">
          <a:xfrm>
            <a:off x="10558248" y="4260889"/>
            <a:ext cx="1439930" cy="58356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外城</a:t>
            </a:r>
            <a:endParaRPr lang="zh-CN" altLang="en-US" sz="32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145427" name="文本框 145426"/>
          <p:cNvSpPr txBox="1">
            <a:spLocks noChangeArrowheads="1"/>
          </p:cNvSpPr>
          <p:nvPr/>
        </p:nvSpPr>
        <p:spPr bwMode="auto">
          <a:xfrm>
            <a:off x="902625" y="4260889"/>
            <a:ext cx="3057668" cy="706755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微软雅黑" panose="020B0503020204020204" pitchFamily="34" charset="-122"/>
              </a:rPr>
              <a:t>对称分布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902282" y="639899"/>
            <a:ext cx="10970280" cy="940893"/>
          </a:xfrm>
          <a:prstGeom prst="rect">
            <a:avLst/>
          </a:prstGeom>
        </p:spPr>
        <p:txBody>
          <a:bodyPr vert="horz" lIns="120011" tIns="62406" rIns="120011" bIns="62406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sz="4800"/>
              <a:t>旧城格局</a:t>
            </a:r>
            <a:endParaRPr lang="zh-CN" altLang="en-US" sz="48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22531" descr="6"/>
          <p:cNvPicPr>
            <a:picLocks noChangeAspect="1" noChangeArrowheads="1"/>
          </p:cNvPicPr>
          <p:nvPr>
            <p:ph sz="half" idx="1"/>
          </p:nvPr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718891" y="1528893"/>
            <a:ext cx="5177030" cy="331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矩形 22530"/>
          <p:cNvSpPr>
            <a:spLocks noChangeArrowheads="1"/>
          </p:cNvSpPr>
          <p:nvPr/>
        </p:nvSpPr>
        <p:spPr bwMode="auto">
          <a:xfrm>
            <a:off x="497820" y="5129140"/>
            <a:ext cx="5398031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北京故宫</a:t>
            </a:r>
            <a:r>
              <a:rPr lang="zh-CN" altLang="en-US" sz="24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又名紫禁城。是明、清两朝的皇宫，是世界现存规模最大、保存最完整宫殿建筑群。现为故宫博物院，是我国文物收藏最丰富的博物馆。</a:t>
            </a:r>
            <a:endParaRPr lang="zh-CN" altLang="en-US" sz="24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8916" name="图片 22532" descr="1214921792111"/>
          <p:cNvPicPr>
            <a:picLocks noChangeAspect="1" noChangeArrowheads="1"/>
          </p:cNvPicPr>
          <p:nvPr>
            <p:ph sz="half" idx="2"/>
          </p:nvPr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308288" y="1462000"/>
            <a:ext cx="5177030" cy="344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矩形 22533"/>
          <p:cNvSpPr>
            <a:spLocks noChangeArrowheads="1"/>
          </p:cNvSpPr>
          <p:nvPr/>
        </p:nvSpPr>
        <p:spPr bwMode="auto">
          <a:xfrm>
            <a:off x="6486460" y="5121519"/>
            <a:ext cx="5210688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颐和园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</a:rPr>
              <a:t>是我国现存规模最大、保存最完整的皇家园林。它集中了中国古典建筑的精华，容纳了不同地区的园林风格，堪称园林建筑博物馆。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历史悠久的古城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4" name="矩形 22533"/>
          <p:cNvSpPr>
            <a:spLocks noChangeArrowheads="1"/>
          </p:cNvSpPr>
          <p:nvPr/>
        </p:nvSpPr>
        <p:spPr bwMode="auto">
          <a:xfrm>
            <a:off x="6486460" y="5306304"/>
            <a:ext cx="5210688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南锣鼓巷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  <a:sym typeface="+mn-ea"/>
              </a:rPr>
              <a:t>是我国唯一完整地保存着元大都里坊的传统民居区，是最富有老北京风情的街巷。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9941" name="图片 23558" descr="0b7b02087bf40ad1a173921e562c11dfa8eccebc"/>
          <p:cNvPicPr>
            <a:picLocks noChangeAspect="1" noChangeArrowheads="1"/>
          </p:cNvPicPr>
          <p:nvPr>
            <p:ph sz="half" idx="1"/>
          </p:nvPr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608813" y="1538207"/>
            <a:ext cx="5177030" cy="3465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23554"/>
          <p:cNvSpPr>
            <a:spLocks noChangeArrowheads="1"/>
          </p:cNvSpPr>
          <p:nvPr/>
        </p:nvSpPr>
        <p:spPr bwMode="auto">
          <a:xfrm>
            <a:off x="559738" y="5213603"/>
            <a:ext cx="512336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p>
            <a:pPr eaLnBrk="0" hangingPunct="0"/>
            <a:r>
              <a:rPr lang="zh-CN" altLang="en-US" sz="2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前门大街</a:t>
            </a:r>
            <a:r>
              <a:rPr lang="zh-CN" altLang="en-US" sz="2400" b="1">
                <a:latin typeface="楷体" panose="02010609060101010101" charset="-122"/>
                <a:ea typeface="楷体" panose="02010609060101010101" charset="-122"/>
              </a:rPr>
              <a:t>是老北京最繁华的商业街，有许多中华老字号。近年来，经过大规模的修缮整治，前门大街恢复了民国初年的风貌。</a:t>
            </a:r>
            <a:endParaRPr lang="zh-CN" altLang="en-US" sz="2400" b="1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9942" name="图片 23559" descr="u=2282384782,2270810426&amp;fm=56">
            <a:hlinkClick r:id="rId2"/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647835" y="1538207"/>
            <a:ext cx="4620715" cy="3465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历史悠久的古城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dissolve/>
      </p:transition>
    </mc:Choice>
    <mc:Fallback>
      <p:transition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 bwMode="auto">
          <a:xfrm>
            <a:off x="-21343" y="-911426"/>
            <a:ext cx="11892515" cy="7118680"/>
            <a:chOff x="0" y="-1735"/>
            <a:chExt cx="14060" cy="11211"/>
          </a:xfrm>
        </p:grpSpPr>
        <p:pic>
          <p:nvPicPr>
            <p:cNvPr id="43010" name="Picture 3" descr="2010110720150033[1]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0" y="-1533"/>
              <a:ext cx="14060" cy="10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1" name="Picture 4" descr="201311718477757[1]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552" y="-1131"/>
              <a:ext cx="5568" cy="4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2" name="Text Box 5"/>
            <p:cNvSpPr txBox="1">
              <a:spLocks noChangeArrowheads="1"/>
            </p:cNvSpPr>
            <p:nvPr/>
          </p:nvSpPr>
          <p:spPr bwMode="auto">
            <a:xfrm>
              <a:off x="6121" y="1972"/>
              <a:ext cx="2152" cy="7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defTabSz="4572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latinLnBrk="1"/>
              <a:r>
                <a:rPr lang="zh-CN" altLang="en-US" sz="60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老</a:t>
              </a:r>
              <a:endParaRPr lang="zh-CN" altLang="en-US" sz="60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60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北</a:t>
              </a:r>
              <a:endParaRPr lang="zh-CN" altLang="en-US" sz="60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60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京</a:t>
              </a:r>
              <a:endParaRPr lang="zh-CN" altLang="en-US" sz="60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60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民</a:t>
              </a:r>
              <a:endParaRPr lang="zh-CN" altLang="en-US" sz="60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  <a:p>
              <a:pPr latinLnBrk="1"/>
              <a:r>
                <a:rPr lang="zh-CN" altLang="en-US" sz="6000" b="1">
                  <a:solidFill>
                    <a:srgbClr val="990033"/>
                  </a:solidFill>
                  <a:latin typeface="黑体" panose="02010609060101010101" charset="-122"/>
                  <a:ea typeface="黑体" panose="02010609060101010101" charset="-122"/>
                </a:rPr>
                <a:t>俗</a:t>
              </a:r>
              <a:endParaRPr lang="zh-CN" altLang="en-US" sz="6000" b="1">
                <a:solidFill>
                  <a:srgbClr val="990033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pic>
          <p:nvPicPr>
            <p:cNvPr id="43013" name="Picture 6" descr="2013117184711577[1]"/>
            <p:cNvPicPr>
              <a:picLocks noChangeAspect="1" noChangeArrowheads="1"/>
            </p:cNvPicPr>
            <p:nvPr/>
          </p:nvPicPr>
          <p:blipFill>
            <a:blip r:embed="rId3" cstate="email"/>
            <a:srcRect/>
            <a:stretch>
              <a:fillRect/>
            </a:stretch>
          </p:blipFill>
          <p:spPr bwMode="auto">
            <a:xfrm rot="-480000">
              <a:off x="7979" y="-1735"/>
              <a:ext cx="5609" cy="5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4" name="Picture 7" descr="2008102862028[1]"/>
            <p:cNvPicPr>
              <a:picLocks noChangeAspect="1" noChangeArrowheads="1"/>
            </p:cNvPicPr>
            <p:nvPr/>
          </p:nvPicPr>
          <p:blipFill>
            <a:blip r:embed="rId4" cstate="email"/>
            <a:srcRect/>
            <a:stretch>
              <a:fillRect/>
            </a:stretch>
          </p:blipFill>
          <p:spPr bwMode="auto">
            <a:xfrm rot="540000">
              <a:off x="254" y="4612"/>
              <a:ext cx="5102" cy="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3015" name="Picture 5" descr="368-0192[1]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 rot="-1500000">
            <a:off x="6478185" y="2470106"/>
            <a:ext cx="5654938" cy="3589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6000">
        <p:dissolve/>
      </p:transition>
    </mc:Choice>
    <mc:Fallback>
      <p:transition advTm="600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组合 46"/>
          <p:cNvGrpSpPr/>
          <p:nvPr/>
        </p:nvGrpSpPr>
        <p:grpSpPr bwMode="auto">
          <a:xfrm>
            <a:off x="883" y="-159"/>
            <a:ext cx="12192566" cy="6858318"/>
            <a:chOff x="0" y="0"/>
            <a:chExt cx="12192000" cy="6858000"/>
          </a:xfrm>
        </p:grpSpPr>
        <p:pic>
          <p:nvPicPr>
            <p:cNvPr id="450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060" name="组合 30"/>
          <p:cNvGrpSpPr/>
          <p:nvPr/>
        </p:nvGrpSpPr>
        <p:grpSpPr bwMode="auto">
          <a:xfrm>
            <a:off x="5414509" y="-56677"/>
            <a:ext cx="6593195" cy="6858318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450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4" name="矩形 11"/>
          <p:cNvSpPr>
            <a:spLocks noChangeArrowheads="1"/>
          </p:cNvSpPr>
          <p:nvPr/>
        </p:nvSpPr>
        <p:spPr bwMode="auto">
          <a:xfrm>
            <a:off x="8238803" y="1796974"/>
            <a:ext cx="792199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>
                <a:latin typeface="方正清楷 简" panose="02000500000000000000" charset="-122"/>
                <a:ea typeface="方正清楷 简" panose="02000500000000000000" charset="-122"/>
              </a:rPr>
              <a:t>名胜古迹</a:t>
            </a:r>
            <a:endParaRPr lang="zh-CN" altLang="en-US" sz="3600" b="1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907000" y="1662031"/>
            <a:ext cx="39691" cy="39705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9140545" y="1662031"/>
            <a:ext cx="47627" cy="38228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7" name="文本框 14"/>
          <p:cNvSpPr txBox="1">
            <a:spLocks noChangeArrowheads="1"/>
          </p:cNvSpPr>
          <p:nvPr/>
        </p:nvSpPr>
        <p:spPr bwMode="auto">
          <a:xfrm>
            <a:off x="8376922" y="739650"/>
            <a:ext cx="514373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6000">
                <a:latin typeface="方正清楷 简" panose="02000500000000000000" charset="-122"/>
                <a:ea typeface="方正清楷 简" panose="02000500000000000000" charset="-122"/>
              </a:rPr>
              <a:t>肆</a:t>
            </a:r>
            <a:endParaRPr lang="zh-CN" altLang="en-US" sz="60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4" name="chimes.wav"/>
          </p:stSnd>
        </p:sndAc>
      </p:transition>
    </mc:Choice>
    <mc:Fallback>
      <p:transition spd="med">
        <p:wheel spokes="4"/>
        <p:sndAc>
          <p:stSnd>
            <p:snd r:embed="rId4" name="chimes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69651" y="157329"/>
            <a:ext cx="3462818" cy="2382631"/>
          </a:xfrm>
          <a:prstGeom prst="rect">
            <a:avLst/>
          </a:prstGeom>
          <a:blipFill>
            <a:blip r:embed="rId1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78223" y="4328201"/>
            <a:ext cx="3462818" cy="2382631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78223" y="157329"/>
            <a:ext cx="3462818" cy="393718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07883" y="2828654"/>
            <a:ext cx="3311639" cy="1749386"/>
            <a:chOff x="1297" y="5037"/>
            <a:chExt cx="4431" cy="2845"/>
          </a:xfrm>
        </p:grpSpPr>
        <p:sp>
          <p:nvSpPr>
            <p:cNvPr id="12" name="矩形 11"/>
            <p:cNvSpPr/>
            <p:nvPr/>
          </p:nvSpPr>
          <p:spPr>
            <a:xfrm>
              <a:off x="1297" y="5160"/>
              <a:ext cx="4431" cy="24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kumimoji="0" lang="zh-CN" altLang="en-US" sz="1200" b="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故宫始建于公元1406年（永乐四年），1420年（永乐十八年）基本竣工，历时14年，是明成祖朱棣始建，在元大都宫殿的基础上兴建。占地面积78万平方米，用30万民工，共建了14年，有房屋9999间半。</a:t>
              </a:r>
              <a:endParaRPr kumimoji="0" lang="zh-CN" altLang="en-US" sz="1200" b="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692" y="5037"/>
              <a:ext cx="3908" cy="2845"/>
              <a:chOff x="1267427" y="3537527"/>
              <a:chExt cx="2118166" cy="1782501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1267427" y="3537527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1267427" y="5320028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4782655" y="2705067"/>
            <a:ext cx="3549815" cy="4005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8489" y="2219841"/>
            <a:ext cx="382053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殿宇之海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8689" y="1667177"/>
            <a:ext cx="232828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故宫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6" name="chimes.wav"/>
          </p:stSnd>
        </p:sndAc>
      </p:transition>
    </mc:Choice>
    <mc:Fallback>
      <p:transition spd="med">
        <p:wheel spokes="4"/>
        <p:sndAc>
          <p:stSnd>
            <p:snd r:embed="rId6" name="chimes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54409" y="1632408"/>
            <a:ext cx="5962602" cy="258445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禁城南北长961米，东西宽753米，四面围有高10米的城墙，城外有宽52米的护城河,真可谓有金城汤池之固。紫禁城有四座城门，南面为午门，北面为神武门，东面为东华门，西面为西华门。城墙的四角，各有一座风姿绰约的角楼，民间有九梁十八柱七十二条脊之说，形容其结构的复杂。紫禁城内的建筑分为外朝和内廷两部分。外朝的中心为太和殿、中和殿、保和殿，统称三大殿，是国家举行大典礼的地方。三大殿左右两翼辅以文华殿、武英殿两组建筑。内廷的中心是乾清宫、交泰殿、坤宁宫，统称后三宫，是皇帝和皇后居住的正宫。其后为御花园。后三宫两侧排列着东、西六宫，是后妃们居住休息的地方。东六宫东侧是天穹宝殿等佛堂建筑，西六宫西侧是中正殿等佛堂建筑。外朝、内廷之外还有外东路、外西路两部分建筑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5184" y="1020990"/>
            <a:ext cx="1746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紫禁城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554409" y="4325708"/>
            <a:ext cx="5756841" cy="2413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722066" y="1643839"/>
            <a:ext cx="5756841" cy="2413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1" name="chimes.wav"/>
          </p:stSnd>
        </p:sndAc>
      </p:transition>
    </mc:Choice>
    <mc:Fallback>
      <p:transition spd="med">
        <p:wheel spokes="4"/>
        <p:sndAc>
          <p:stSnd>
            <p:snd r:embed="rId1" name="chimes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1203052" y="477"/>
            <a:ext cx="11062160" cy="6858318"/>
          </a:xfrm>
          <a:custGeom>
            <a:avLst/>
            <a:gdLst>
              <a:gd name="connsiteX0" fmla="*/ 6278293 w 11061646"/>
              <a:gd name="connsiteY0" fmla="*/ 0 h 6858000"/>
              <a:gd name="connsiteX1" fmla="*/ 11061646 w 11061646"/>
              <a:gd name="connsiteY1" fmla="*/ 0 h 6858000"/>
              <a:gd name="connsiteX2" fmla="*/ 11061646 w 11061646"/>
              <a:gd name="connsiteY2" fmla="*/ 3889952 h 6858000"/>
              <a:gd name="connsiteX3" fmla="*/ 8344487 w 11061646"/>
              <a:gd name="connsiteY3" fmla="*/ 6858000 h 6858000"/>
              <a:gd name="connsiteX4" fmla="*/ 0 w 11061646"/>
              <a:gd name="connsiteY4" fmla="*/ 6858000 h 6858000"/>
              <a:gd name="connsiteX5" fmla="*/ 6278293 w 1106164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61646" h="6858000">
                <a:moveTo>
                  <a:pt x="6278293" y="0"/>
                </a:moveTo>
                <a:lnTo>
                  <a:pt x="11061646" y="0"/>
                </a:lnTo>
                <a:lnTo>
                  <a:pt x="11061646" y="3889952"/>
                </a:lnTo>
                <a:lnTo>
                  <a:pt x="8344487" y="6858000"/>
                </a:lnTo>
                <a:lnTo>
                  <a:pt x="0" y="6858000"/>
                </a:lnTo>
                <a:lnTo>
                  <a:pt x="6278293" y="0"/>
                </a:lnTo>
                <a:close/>
              </a:path>
            </a:pathLst>
          </a:cu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40310" y="1804933"/>
            <a:ext cx="3702838" cy="1703588"/>
            <a:chOff x="913" y="3097"/>
            <a:chExt cx="4107" cy="4854"/>
          </a:xfrm>
        </p:grpSpPr>
        <p:sp>
          <p:nvSpPr>
            <p:cNvPr id="8" name="矩形 7"/>
            <p:cNvSpPr/>
            <p:nvPr/>
          </p:nvSpPr>
          <p:spPr>
            <a:xfrm>
              <a:off x="1112" y="3220"/>
              <a:ext cx="3908" cy="43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颐和园前身为清漪园，始建于清朝乾隆十五年（1750）。颐和园集传统造园艺术之大成，借景周围的山水环境，既有皇家园林恢弘富丽的气势，又充满了自然之趣，高度体现了中国园林“虽由人作，宛自天开”的造园准则。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25000"/>
                </a:lnSpc>
              </a:pPr>
              <a:endParaRPr lang="zh-CN" altLang="en-US" sz="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913" y="3097"/>
              <a:ext cx="4107" cy="4854"/>
              <a:chOff x="1159390" y="3537527"/>
              <a:chExt cx="2226203" cy="3040807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267427" y="3537527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159390" y="6578334"/>
                <a:ext cx="211816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  <a:alpha val="51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文本框 4"/>
          <p:cNvSpPr txBox="1"/>
          <p:nvPr/>
        </p:nvSpPr>
        <p:spPr>
          <a:xfrm>
            <a:off x="706396" y="1331983"/>
            <a:ext cx="337858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颐和园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2" name="chimes.wav"/>
          </p:stSnd>
        </p:sndAc>
      </p:transition>
    </mc:Choice>
    <mc:Fallback>
      <p:transition spd="med">
        <p:wheel spokes="4"/>
        <p:sndAc>
          <p:stSnd>
            <p:snd r:embed="rId2" name="chimes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7174757" y="1239710"/>
            <a:ext cx="2278307" cy="227830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409855" y="243390"/>
            <a:ext cx="3669289" cy="3669289"/>
          </a:xfrm>
          <a:prstGeom prst="ellipse">
            <a:avLst/>
          </a:prstGeom>
          <a:blipFill dpi="0" rotWithShape="1">
            <a:blip r:embed="rId1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170908" y="3461253"/>
            <a:ext cx="279324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什刹海的胡同</a:t>
            </a:r>
            <a:endParaRPr lang="en-US" altLang="zh-CN" sz="6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70908" y="4363188"/>
            <a:ext cx="423135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后海是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</a:t>
            </a: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世纪元大都规划设计的基本的依据之一，什刹海周边从元代起就是大都城的繁华商业区，它当时是漕运的终点，被称为“北京古海港”，那时沿岸处处是酒楼歌台、商肆作坊。 后海的街巷结构最早形成于元代，许多建筑年代久远，具有北京传统建筑的典型特征。如金丝套地区的大小金丝胡同，南、北官方胡同和鸦儿胡同、白米斜街、烟袋斜街等。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170908" y="4222369"/>
            <a:ext cx="4231355" cy="1984811"/>
            <a:chOff x="1267427" y="3537527"/>
            <a:chExt cx="2118166" cy="178250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67427" y="3537527"/>
              <a:ext cx="211816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67427" y="5320028"/>
              <a:ext cx="2118166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任意多边形: 形状 17"/>
          <p:cNvSpPr/>
          <p:nvPr/>
        </p:nvSpPr>
        <p:spPr>
          <a:xfrm>
            <a:off x="883" y="329465"/>
            <a:ext cx="4838039" cy="6284133"/>
          </a:xfrm>
          <a:custGeom>
            <a:avLst/>
            <a:gdLst>
              <a:gd name="connsiteX0" fmla="*/ 1695893 w 4837814"/>
              <a:gd name="connsiteY0" fmla="*/ 0 h 6283842"/>
              <a:gd name="connsiteX1" fmla="*/ 4837814 w 4837814"/>
              <a:gd name="connsiteY1" fmla="*/ 3141921 h 6283842"/>
              <a:gd name="connsiteX2" fmla="*/ 1695893 w 4837814"/>
              <a:gd name="connsiteY2" fmla="*/ 6283842 h 6283842"/>
              <a:gd name="connsiteX3" fmla="*/ 198267 w 4837814"/>
              <a:gd name="connsiteY3" fmla="*/ 5904629 h 6283842"/>
              <a:gd name="connsiteX4" fmla="*/ 0 w 4837814"/>
              <a:gd name="connsiteY4" fmla="*/ 5784179 h 6283842"/>
              <a:gd name="connsiteX5" fmla="*/ 0 w 4837814"/>
              <a:gd name="connsiteY5" fmla="*/ 499663 h 6283842"/>
              <a:gd name="connsiteX6" fmla="*/ 198267 w 4837814"/>
              <a:gd name="connsiteY6" fmla="*/ 379213 h 6283842"/>
              <a:gd name="connsiteX7" fmla="*/ 1695893 w 4837814"/>
              <a:gd name="connsiteY7" fmla="*/ 0 h 628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7814" h="6283842">
                <a:moveTo>
                  <a:pt x="1695893" y="0"/>
                </a:moveTo>
                <a:cubicBezTo>
                  <a:pt x="3431128" y="0"/>
                  <a:pt x="4837814" y="1406686"/>
                  <a:pt x="4837814" y="3141921"/>
                </a:cubicBezTo>
                <a:cubicBezTo>
                  <a:pt x="4837814" y="4877156"/>
                  <a:pt x="3431128" y="6283842"/>
                  <a:pt x="1695893" y="6283842"/>
                </a:cubicBezTo>
                <a:cubicBezTo>
                  <a:pt x="1153632" y="6283842"/>
                  <a:pt x="643456" y="6146471"/>
                  <a:pt x="198267" y="5904629"/>
                </a:cubicBezTo>
                <a:lnTo>
                  <a:pt x="0" y="5784179"/>
                </a:lnTo>
                <a:lnTo>
                  <a:pt x="0" y="499663"/>
                </a:lnTo>
                <a:lnTo>
                  <a:pt x="198267" y="379213"/>
                </a:lnTo>
                <a:cubicBezTo>
                  <a:pt x="643456" y="137372"/>
                  <a:pt x="1153632" y="0"/>
                  <a:pt x="1695893" y="0"/>
                </a:cubicBezTo>
                <a:close/>
              </a:path>
            </a:pathLst>
          </a:custGeom>
          <a:blipFill dpi="0" rotWithShape="1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307754" y="5056748"/>
            <a:ext cx="1379647" cy="1379647"/>
          </a:xfrm>
          <a:prstGeom prst="ellipse">
            <a:avLst/>
          </a:prstGeom>
          <a:solidFill>
            <a:schemeClr val="bg1">
              <a:lumMod val="85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3" name="chimes.wav"/>
          </p:stSnd>
        </p:sndAc>
      </p:transition>
    </mc:Choice>
    <mc:Fallback>
      <p:transition spd="med">
        <p:wheel spokes="4"/>
        <p:sndAc>
          <p:stSnd>
            <p:snd r:embed="rId3" name="chimes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3" y="-159"/>
            <a:ext cx="3048141" cy="6858318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097166" y="-159"/>
            <a:ext cx="3048141" cy="6858318"/>
          </a:xfrm>
          <a:prstGeom prst="rect">
            <a:avLst/>
          </a:prstGeom>
          <a:blipFill dpi="0" rotWithShape="1">
            <a:blip r:embed="rId2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145307" y="-159"/>
            <a:ext cx="3048141" cy="6858318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5"/>
          <p:cNvSpPr txBox="1"/>
          <p:nvPr/>
        </p:nvSpPr>
        <p:spPr>
          <a:xfrm>
            <a:off x="3410432" y="3200389"/>
            <a:ext cx="2391233" cy="27698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海是老北京久负盛名的消夏、游玩场所。史书记载，暑夏时节，藕局、茶社、食品、商摊和曲艺等各式摊棚沿岸而设，吸引着仕宦官家、文人雅士、平民百姓纷至沓来，场面盛极一时。小桥流水，江南人家，一碗清羹，一匙雅味。还有那些藏匿在胡同中的小吃，随处散发的爆肚、卤煮味道，流窜着诱人的豆汁酸</a:t>
            </a:r>
            <a:r>
              <a:rPr lang="en-US" altLang="zh-CN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……</a:t>
            </a: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TextBox 25"/>
          <p:cNvSpPr txBox="1"/>
          <p:nvPr/>
        </p:nvSpPr>
        <p:spPr>
          <a:xfrm>
            <a:off x="3410429" y="2143207"/>
            <a:ext cx="2391233" cy="8616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清代起就成为游乐消夏之所</a:t>
            </a:r>
            <a:endParaRPr lang="zh-CN" altLang="en-US" sz="6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3410429" y="1578487"/>
            <a:ext cx="2391233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三海碧波荡漾，岸边垂柳毵毵，远山秀色如黛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wheel spokes="4"/>
        <p:sndAc>
          <p:stSnd>
            <p:snd r:embed="rId4" name="chimes.wav"/>
          </p:stSnd>
        </p:sndAc>
      </p:transition>
    </mc:Choice>
    <mc:Fallback>
      <p:transition spd="med">
        <p:wheel spokes="4"/>
        <p:sndAc>
          <p:stSnd>
            <p:snd r:embed="rId4" name="chimes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组合 46"/>
          <p:cNvGrpSpPr/>
          <p:nvPr/>
        </p:nvGrpSpPr>
        <p:grpSpPr bwMode="auto">
          <a:xfrm>
            <a:off x="883" y="-159"/>
            <a:ext cx="12192566" cy="6858318"/>
            <a:chOff x="0" y="0"/>
            <a:chExt cx="12192000" cy="6858000"/>
          </a:xfrm>
        </p:grpSpPr>
        <p:pic>
          <p:nvPicPr>
            <p:cNvPr id="45058" name="图片 15"/>
            <p:cNvPicPr>
              <a:picLocks noChangeAspect="1" noChangeArrowheads="1"/>
            </p:cNvPicPr>
            <p:nvPr/>
          </p:nvPicPr>
          <p:blipFill>
            <a:blip r:embed="rId1" cstate="email"/>
            <a:srcRect/>
            <a:stretch>
              <a:fillRect/>
            </a:stretch>
          </p:blipFill>
          <p:spPr bwMode="auto">
            <a:xfrm>
              <a:off x="0" y="0"/>
              <a:ext cx="9937072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59" name="图片 26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481736" y="0"/>
              <a:ext cx="2710264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5060" name="组合 30"/>
          <p:cNvGrpSpPr/>
          <p:nvPr/>
        </p:nvGrpSpPr>
        <p:grpSpPr bwMode="auto">
          <a:xfrm>
            <a:off x="5414509" y="-56677"/>
            <a:ext cx="6593195" cy="6858318"/>
            <a:chOff x="6563872" y="67310"/>
            <a:chExt cx="4594575" cy="5168900"/>
          </a:xfrm>
        </p:grpSpPr>
        <p:sp>
          <p:nvSpPr>
            <p:cNvPr id="28" name="wps稻壳儿佳誉设计原创链接：http://chn.docer.com/works?userid=219874625"/>
            <p:cNvSpPr/>
            <p:nvPr/>
          </p:nvSpPr>
          <p:spPr>
            <a:xfrm>
              <a:off x="7776406" y="67310"/>
              <a:ext cx="2160656" cy="5168900"/>
            </a:xfrm>
            <a:prstGeom prst="rect">
              <a:avLst/>
            </a:prstGeom>
            <a:solidFill>
              <a:srgbClr val="F3F8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0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zh-CN" altLang="en-US" sz="1800">
                <a:solidFill>
                  <a:srgbClr val="0C303D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45062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9945487" y="67862"/>
              <a:ext cx="1212960" cy="516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wps稻壳儿佳誉设计原创链接：http://chn.docer.com/works?userid=21987462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63872" y="92710"/>
              <a:ext cx="121296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064" name="矩形 11"/>
          <p:cNvSpPr>
            <a:spLocks noChangeArrowheads="1"/>
          </p:cNvSpPr>
          <p:nvPr/>
        </p:nvSpPr>
        <p:spPr bwMode="auto">
          <a:xfrm>
            <a:off x="8238803" y="1796974"/>
            <a:ext cx="792199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600" b="1">
                <a:latin typeface="方正清楷 简" panose="02000500000000000000" charset="-122"/>
                <a:ea typeface="方正清楷 简" panose="02000500000000000000" charset="-122"/>
              </a:rPr>
              <a:t>高等学府</a:t>
            </a:r>
            <a:endParaRPr lang="zh-CN" altLang="en-US" sz="3600" b="1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907000" y="1662031"/>
            <a:ext cx="39691" cy="39705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9140545" y="1662031"/>
            <a:ext cx="47627" cy="38228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67" name="文本框 14"/>
          <p:cNvSpPr txBox="1">
            <a:spLocks noChangeArrowheads="1"/>
          </p:cNvSpPr>
          <p:nvPr/>
        </p:nvSpPr>
        <p:spPr bwMode="auto">
          <a:xfrm>
            <a:off x="8376922" y="739650"/>
            <a:ext cx="514373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en-US" sz="6000">
                <a:latin typeface="方正清楷 简" panose="02000500000000000000" charset="-122"/>
                <a:ea typeface="方正清楷 简" panose="02000500000000000000" charset="-122"/>
              </a:rPr>
              <a:t>伍</a:t>
            </a:r>
            <a:endParaRPr lang="zh-CN" altLang="en-US" sz="6000">
              <a:latin typeface="方正清楷 简" panose="02000500000000000000" charset="-122"/>
              <a:ea typeface="方正清楷 简" panose="02000500000000000000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split orient="vert"/>
    <p:sndAc>
      <p:stSnd>
        <p:snd r:embed="rId4" name="camera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561802" y="3272413"/>
            <a:ext cx="3335014" cy="2215515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木清华，钟灵毓秀，清华大学秉持“自强不息、厚德载物”的校训和“行胜于言”的校风，坚持“中西融汇、古今贯通、文理渗透”的办学风格和“又红又专、全面发展”的培养特色，弘扬“爱国奉献、追求卓越”传统和“人文日新”精神。恰如清华园工字厅内对联所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槛外山光，历春夏秋冬、万千变幻，都非凡境；窗中云影，任东西南北、去来澹荡，洵是仙居”。</a:t>
            </a:r>
            <a:endParaRPr lang="en-US" altLang="zh-CN" sz="1055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21060000">
            <a:off x="6120305" y="3690106"/>
            <a:ext cx="3353813" cy="2522027"/>
          </a:xfrm>
          <a:prstGeom prst="rect">
            <a:avLst/>
          </a:prstGeom>
          <a:blipFill rotWithShape="1">
            <a:blip r:embed="rId1" cstate="screen"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8304024" y="1131054"/>
            <a:ext cx="3229966" cy="2437327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7653" y="1631438"/>
            <a:ext cx="3479251" cy="4043389"/>
            <a:chOff x="1267427" y="2891529"/>
            <a:chExt cx="2118166" cy="197556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67427" y="2891529"/>
              <a:ext cx="2118166" cy="0"/>
            </a:xfrm>
            <a:prstGeom prst="line">
              <a:avLst/>
            </a:prstGeom>
            <a:ln>
              <a:solidFill>
                <a:srgbClr val="1D5065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267427" y="4867090"/>
              <a:ext cx="2118166" cy="0"/>
            </a:xfrm>
            <a:prstGeom prst="line">
              <a:avLst/>
            </a:prstGeom>
            <a:ln>
              <a:solidFill>
                <a:srgbClr val="1D5065">
                  <a:alpha val="51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/>
          <p:cNvSpPr/>
          <p:nvPr/>
        </p:nvSpPr>
        <p:spPr>
          <a:xfrm rot="21179499">
            <a:off x="4399360" y="553964"/>
            <a:ext cx="3908229" cy="2949144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561803" y="1009544"/>
            <a:ext cx="1995332" cy="5537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清华大学  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561803" y="1775069"/>
            <a:ext cx="3335015" cy="13849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清华大学的前身清华学堂始建于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1911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年，因水木清华而得名，是清政府设立的留美预备学校，其建校的资金源于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1908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年美国退还的部分庚子赔款。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年更名为清华学校。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年更名为国立清华大学。</a:t>
            </a:r>
            <a:endParaRPr lang="zh-CN" altLang="en-US" sz="1055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split orient="vert"/>
        <p:sndAc>
          <p:stSnd>
            <p:snd r:embed="rId4" name="camera.wav"/>
          </p:stSnd>
        </p:sndAc>
      </p:transition>
    </mc:Choice>
    <mc:Fallback>
      <p:transition>
        <p:split orient="vert"/>
        <p:sndAc>
          <p:stSnd>
            <p:snd r:embed="rId4" name="camera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540675" y="5410307"/>
            <a:ext cx="7132196" cy="83058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大是中国近代以来唯一以国家最高学府身份创立的学校，最初也是国家最高教育行政机关，行使教育部职能，统管全国教育。北大催生了中国最早的现代学制，开创了中国最早的文科、理科、社科、农科、医科等大学学科，是近代以来中国高等教育的奠基者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2210" y="4084703"/>
            <a:ext cx="3453872" cy="2215821"/>
          </a:xfrm>
          <a:prstGeom prst="rect">
            <a:avLst/>
          </a:prstGeom>
          <a:blipFill rotWithShape="1">
            <a:blip r:embed="rId1" cstate="screen"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base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7221151" y="929673"/>
            <a:ext cx="3229966" cy="2437327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21179499">
            <a:off x="2796131" y="673445"/>
            <a:ext cx="3908229" cy="2949144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540675" y="3941797"/>
            <a:ext cx="1995332" cy="5537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北京大学  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540675" y="4768581"/>
            <a:ext cx="7132197" cy="5537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just">
              <a:lnSpc>
                <a:spcPct val="15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北京大学，诞生于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1898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年，初名京师大学堂，是中国近代第一所国立大学，也是最早以“大学”之名创办的学校，其成立标志着中国近代高等教育的开端。</a:t>
            </a:r>
            <a:endParaRPr lang="zh-CN" altLang="en-US" sz="1055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40675" y="4619149"/>
            <a:ext cx="7132197" cy="1767569"/>
            <a:chOff x="1267427" y="3938443"/>
            <a:chExt cx="2118166" cy="1743849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267427" y="3938443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267427" y="5682292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split orient="vert"/>
        <p:sndAc>
          <p:stSnd>
            <p:snd r:embed="rId4" name="camera.wav"/>
          </p:stSnd>
        </p:sndAc>
      </p:transition>
    </mc:Choice>
    <mc:Fallback>
      <p:transition>
        <p:split orient="vert"/>
        <p:sndAc>
          <p:stSnd>
            <p:snd r:embed="rId4" name="camera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2"/>
          <p:cNvSpPr txBox="1"/>
          <p:nvPr/>
        </p:nvSpPr>
        <p:spPr>
          <a:xfrm flipH="1">
            <a:off x="540672" y="2115109"/>
            <a:ext cx="7152376" cy="1107440"/>
          </a:xfrm>
          <a:prstGeom prst="rect">
            <a:avLst/>
          </a:prstGeom>
          <a:noFill/>
          <a:ln w="9525">
            <a:noFill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月学校官网信息显示，中国人民大学占地面积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余万平方米，设有中关村校区、通州校区（东校区，在建）、苏州校区、深圳研究院、深圳校区（在建）； 教学科研仪器设备值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亿元；馆藏纸质图书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万册、电子图书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万种；下设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个学部、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个教学单位、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个本科专业；有专任教师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1846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人、全日制在校生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24778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人。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 rot="21060000">
            <a:off x="8362106" y="3541104"/>
            <a:ext cx="3353813" cy="2522027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rot="360000">
            <a:off x="8304024" y="1131054"/>
            <a:ext cx="3229966" cy="2437327"/>
          </a:xfrm>
          <a:prstGeom prst="rect">
            <a:avLst/>
          </a:prstGeom>
          <a:blipFill dpi="0" rotWithShape="1">
            <a:blip r:embed="rId2" cstate="screen"/>
            <a:srcRect/>
            <a:stretch>
              <a:fillRect l="-6000" r="-6000"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21179499">
            <a:off x="3312147" y="3764785"/>
            <a:ext cx="3908229" cy="2949144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  <a:ln w="95250">
            <a:solidFill>
              <a:schemeClr val="bg1"/>
            </a:solidFill>
          </a:ln>
          <a:effectLst>
            <a:outerShdw blurRad="1905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endParaRPr lang="zh-CN" altLang="en-US" strike="noStrike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561803" y="384028"/>
            <a:ext cx="1995332" cy="5537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中国人民大学  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22"/>
          <p:cNvSpPr txBox="1"/>
          <p:nvPr/>
        </p:nvSpPr>
        <p:spPr>
          <a:xfrm flipH="1">
            <a:off x="561802" y="1121985"/>
            <a:ext cx="7131245" cy="8305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中国人民大学前身是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1937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年成立的陕北公学，以及后来的华北联合大学和华北大学。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日，中央人民政府政务院通过了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关于成立中国人民大学的决定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日，以华北大学为基础合并组建的中国人民大学正式开学，成为新中国创办的第一所新型正规大学。</a:t>
            </a:r>
            <a:endParaRPr lang="zh-CN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40672" y="1001022"/>
            <a:ext cx="7132197" cy="2319067"/>
            <a:chOff x="1267427" y="3995715"/>
            <a:chExt cx="2118166" cy="2287946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267427" y="3995715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267427" y="6283661"/>
              <a:ext cx="21181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  <a:alpha val="5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split orient="vert"/>
        <p:sndAc>
          <p:stSnd>
            <p:snd r:embed="rId4" name="camera.wav"/>
          </p:stSnd>
        </p:sndAc>
      </p:transition>
    </mc:Choice>
    <mc:Fallback>
      <p:transition>
        <p:split orient="vert"/>
        <p:sndAc>
          <p:stSnd>
            <p:snd r:embed="rId4" name="camera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215360" y="206187"/>
            <a:ext cx="2196216" cy="2018199"/>
          </a:xfrm>
          <a:prstGeom prst="roundRect">
            <a:avLst/>
          </a:prstGeom>
          <a:blipFill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2610928" y="206187"/>
            <a:ext cx="2196216" cy="2018199"/>
          </a:xfrm>
          <a:prstGeom prst="roundRect">
            <a:avLst/>
          </a:pr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5006496" y="206187"/>
            <a:ext cx="2196216" cy="2018199"/>
          </a:xfrm>
          <a:prstGeom prst="roundRect">
            <a:avLst/>
          </a:prstGeom>
          <a:blipFill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7402063" y="206187"/>
            <a:ext cx="2196216" cy="2018199"/>
          </a:xfrm>
          <a:prstGeom prst="roundRect">
            <a:avLst/>
          </a:prstGeom>
          <a:blipFill>
            <a:blip r:embed="rId4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9797631" y="206187"/>
            <a:ext cx="2196216" cy="2018199"/>
          </a:xfrm>
          <a:prstGeom prst="roundRect">
            <a:avLst/>
          </a:prstGeom>
          <a:blipFill>
            <a:blip r:embed="rId5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215360" y="2420901"/>
            <a:ext cx="2196216" cy="2018199"/>
          </a:xfrm>
          <a:prstGeom prst="roundRect">
            <a:avLst/>
          </a:prstGeom>
          <a:blipFill>
            <a:blip r:embed="rId6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215360" y="4639619"/>
            <a:ext cx="2196216" cy="2018199"/>
          </a:xfrm>
          <a:prstGeom prst="roundRect">
            <a:avLst/>
          </a:prstGeom>
          <a:blipFill>
            <a:blip r:embed="rId7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/>
          <p:cNvSpPr/>
          <p:nvPr/>
        </p:nvSpPr>
        <p:spPr>
          <a:xfrm>
            <a:off x="2610928" y="4639619"/>
            <a:ext cx="2196216" cy="2018199"/>
          </a:xfrm>
          <a:prstGeom prst="roundRect">
            <a:avLst/>
          </a:prstGeom>
          <a:blipFill>
            <a:blip r:embed="rId8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/>
          <p:cNvSpPr/>
          <p:nvPr/>
        </p:nvSpPr>
        <p:spPr>
          <a:xfrm>
            <a:off x="5006496" y="4639619"/>
            <a:ext cx="2196216" cy="2018199"/>
          </a:xfrm>
          <a:prstGeom prst="roundRect">
            <a:avLst/>
          </a:prstGeom>
          <a:blipFill>
            <a:blip r:embed="rId9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5006496" y="2420901"/>
            <a:ext cx="2196216" cy="2018199"/>
          </a:xfrm>
          <a:prstGeom prst="roundRect">
            <a:avLst/>
          </a:prstGeom>
          <a:blipFill>
            <a:blip r:embed="rId10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2610928" y="2420901"/>
            <a:ext cx="2196216" cy="2018199"/>
          </a:xfrm>
          <a:prstGeom prst="roundRect">
            <a:avLst/>
          </a:prstGeom>
          <a:blipFill>
            <a:blip r:embed="rId1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7856748" y="4201704"/>
            <a:ext cx="3806941" cy="830580"/>
            <a:chOff x="4212330" y="1126104"/>
            <a:chExt cx="3806567" cy="830498"/>
          </a:xfrm>
        </p:grpSpPr>
        <p:sp>
          <p:nvSpPr>
            <p:cNvPr id="30" name="文本框 29"/>
            <p:cNvSpPr txBox="1"/>
            <p:nvPr/>
          </p:nvSpPr>
          <p:spPr>
            <a:xfrm>
              <a:off x="4577197" y="1126104"/>
              <a:ext cx="3237582" cy="83049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</a:t>
              </a: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·</a:t>
              </a: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北京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quotation-marks_897"/>
            <p:cNvSpPr>
              <a:spLocks noChangeAspect="1"/>
            </p:cNvSpPr>
            <p:nvPr/>
          </p:nvSpPr>
          <p:spPr bwMode="auto">
            <a:xfrm flipV="1">
              <a:off x="4212330" y="12403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  <p:sp>
          <p:nvSpPr>
            <p:cNvPr id="32" name="quotation-marks_897"/>
            <p:cNvSpPr>
              <a:spLocks noChangeAspect="1"/>
            </p:cNvSpPr>
            <p:nvPr/>
          </p:nvSpPr>
          <p:spPr bwMode="auto">
            <a:xfrm rot="10800000" flipV="1">
              <a:off x="7755630" y="1659460"/>
              <a:ext cx="263267" cy="225553"/>
            </a:xfrm>
            <a:custGeom>
              <a:avLst/>
              <a:gdLst>
                <a:gd name="connsiteX0" fmla="*/ 479725 w 558900"/>
                <a:gd name="connsiteY0" fmla="*/ 0 h 478835"/>
                <a:gd name="connsiteX1" fmla="*/ 479725 w 558900"/>
                <a:gd name="connsiteY1" fmla="*/ 133816 h 478835"/>
                <a:gd name="connsiteX2" fmla="*/ 419940 w 558900"/>
                <a:gd name="connsiteY2" fmla="*/ 217653 h 478835"/>
                <a:gd name="connsiteX3" fmla="*/ 419940 w 558900"/>
                <a:gd name="connsiteY3" fmla="*/ 259571 h 478835"/>
                <a:gd name="connsiteX4" fmla="*/ 558900 w 558900"/>
                <a:gd name="connsiteY4" fmla="*/ 259571 h 478835"/>
                <a:gd name="connsiteX5" fmla="*/ 558900 w 558900"/>
                <a:gd name="connsiteY5" fmla="*/ 478835 h 478835"/>
                <a:gd name="connsiteX6" fmla="*/ 298754 w 558900"/>
                <a:gd name="connsiteY6" fmla="*/ 478835 h 478835"/>
                <a:gd name="connsiteX7" fmla="*/ 298754 w 558900"/>
                <a:gd name="connsiteY7" fmla="*/ 259571 h 478835"/>
                <a:gd name="connsiteX8" fmla="*/ 479725 w 558900"/>
                <a:gd name="connsiteY8" fmla="*/ 0 h 478835"/>
                <a:gd name="connsiteX9" fmla="*/ 179355 w 558900"/>
                <a:gd name="connsiteY9" fmla="*/ 0 h 478835"/>
                <a:gd name="connsiteX10" fmla="*/ 179355 w 558900"/>
                <a:gd name="connsiteY10" fmla="*/ 133816 h 478835"/>
                <a:gd name="connsiteX11" fmla="*/ 119570 w 558900"/>
                <a:gd name="connsiteY11" fmla="*/ 217653 h 478835"/>
                <a:gd name="connsiteX12" fmla="*/ 119570 w 558900"/>
                <a:gd name="connsiteY12" fmla="*/ 259571 h 478835"/>
                <a:gd name="connsiteX13" fmla="*/ 260146 w 558900"/>
                <a:gd name="connsiteY13" fmla="*/ 259571 h 478835"/>
                <a:gd name="connsiteX14" fmla="*/ 260146 w 558900"/>
                <a:gd name="connsiteY14" fmla="*/ 478835 h 478835"/>
                <a:gd name="connsiteX15" fmla="*/ 0 w 558900"/>
                <a:gd name="connsiteY15" fmla="*/ 478835 h 478835"/>
                <a:gd name="connsiteX16" fmla="*/ 0 w 558900"/>
                <a:gd name="connsiteY16" fmla="*/ 259571 h 478835"/>
                <a:gd name="connsiteX17" fmla="*/ 179355 w 558900"/>
                <a:gd name="connsiteY17" fmla="*/ 0 h 4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900" h="478835">
                  <a:moveTo>
                    <a:pt x="479725" y="0"/>
                  </a:moveTo>
                  <a:lnTo>
                    <a:pt x="479725" y="133816"/>
                  </a:lnTo>
                  <a:cubicBezTo>
                    <a:pt x="419940" y="133816"/>
                    <a:pt x="419940" y="145102"/>
                    <a:pt x="419940" y="217653"/>
                  </a:cubicBezTo>
                  <a:lnTo>
                    <a:pt x="419940" y="259571"/>
                  </a:lnTo>
                  <a:lnTo>
                    <a:pt x="558900" y="259571"/>
                  </a:lnTo>
                  <a:lnTo>
                    <a:pt x="558900" y="478835"/>
                  </a:lnTo>
                  <a:lnTo>
                    <a:pt x="298754" y="478835"/>
                  </a:lnTo>
                  <a:lnTo>
                    <a:pt x="298754" y="259571"/>
                  </a:lnTo>
                  <a:cubicBezTo>
                    <a:pt x="298754" y="93510"/>
                    <a:pt x="339149" y="0"/>
                    <a:pt x="479725" y="0"/>
                  </a:cubicBezTo>
                  <a:close/>
                  <a:moveTo>
                    <a:pt x="179355" y="0"/>
                  </a:moveTo>
                  <a:lnTo>
                    <a:pt x="179355" y="133816"/>
                  </a:lnTo>
                  <a:cubicBezTo>
                    <a:pt x="119570" y="133816"/>
                    <a:pt x="119570" y="145102"/>
                    <a:pt x="119570" y="217653"/>
                  </a:cubicBezTo>
                  <a:lnTo>
                    <a:pt x="119570" y="259571"/>
                  </a:lnTo>
                  <a:lnTo>
                    <a:pt x="260146" y="259571"/>
                  </a:lnTo>
                  <a:lnTo>
                    <a:pt x="260146" y="478835"/>
                  </a:lnTo>
                  <a:lnTo>
                    <a:pt x="0" y="478835"/>
                  </a:lnTo>
                  <a:lnTo>
                    <a:pt x="0" y="259571"/>
                  </a:lnTo>
                  <a:cubicBezTo>
                    <a:pt x="0" y="93510"/>
                    <a:pt x="40395" y="0"/>
                    <a:pt x="179355" y="0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PLACING_PICTURE_USER_VIEWPORT" val="{&quot;height&quot;:10800,&quot;width&quot;:12714.894488188977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2540</Words>
  <Application>WPS 演示</Application>
  <PresentationFormat>宽屏</PresentationFormat>
  <Paragraphs>229</Paragraphs>
  <Slides>27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  <vt:variant>
        <vt:lpstr>自定义放映</vt:lpstr>
      </vt:variant>
      <vt:variant>
        <vt:i4>1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Wingdings</vt:lpstr>
      <vt:lpstr>Arial Black</vt:lpstr>
      <vt:lpstr>楷体</vt:lpstr>
      <vt:lpstr>华文楷体</vt:lpstr>
      <vt:lpstr>Calibri</vt:lpstr>
      <vt:lpstr>方正清楷 简</vt:lpstr>
      <vt:lpstr>思源黑体 CN Light</vt:lpstr>
      <vt:lpstr>黑体</vt:lpstr>
      <vt:lpstr>Arial Unicode MS</vt:lpstr>
      <vt:lpstr>等线</vt:lpstr>
      <vt:lpstr>微软雅黑 Light</vt:lpstr>
      <vt:lpstr>Calibri Light</vt:lpstr>
      <vt:lpstr>华文楷体</vt:lpstr>
      <vt:lpstr>Office 主题​​</vt:lpstr>
      <vt:lpstr>PowerPoint 演示文稿</vt:lpstr>
      <vt:lpstr>PowerPoint 演示文稿</vt:lpstr>
      <vt:lpstr>PowerPoint 演示文稿</vt:lpstr>
      <vt:lpstr>地理位置</vt:lpstr>
      <vt:lpstr>地形地势</vt:lpstr>
      <vt:lpstr>河流</vt:lpstr>
      <vt:lpstr>气候</vt:lpstr>
      <vt:lpstr>PowerPoint 演示文稿</vt:lpstr>
      <vt:lpstr>政治中心</vt:lpstr>
      <vt:lpstr>文化中心</vt:lpstr>
      <vt:lpstr>国际交往中心</vt:lpstr>
      <vt:lpstr>PowerPoint 演示文稿</vt:lpstr>
      <vt:lpstr>PowerPoint 演示文稿</vt:lpstr>
      <vt:lpstr>历史悠久的古城</vt:lpstr>
      <vt:lpstr>历史悠久的古城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简短放映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1</cp:lastModifiedBy>
  <cp:revision>175</cp:revision>
  <dcterms:created xsi:type="dcterms:W3CDTF">2019-06-19T02:08:00Z</dcterms:created>
  <dcterms:modified xsi:type="dcterms:W3CDTF">2025-11-03T04:48:05Z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599B5DC2C6CD4C278D8927E6E5D18551</vt:lpwstr>
  </property>
</Properties>
</file>