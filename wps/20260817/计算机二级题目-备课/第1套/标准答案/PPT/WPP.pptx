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414" r:id="rId2"/>
    <p:sldId id="458" r:id="rId3"/>
    <p:sldId id="459" r:id="rId4"/>
    <p:sldId id="416" r:id="rId5"/>
    <p:sldId id="443" r:id="rId6"/>
    <p:sldId id="423" r:id="rId7"/>
    <p:sldId id="444" r:id="rId8"/>
    <p:sldId id="425" r:id="rId9"/>
    <p:sldId id="445" r:id="rId10"/>
    <p:sldId id="42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0A5"/>
    <a:srgbClr val="FFFFFF"/>
    <a:srgbClr val="C83D1B"/>
    <a:srgbClr val="E7E7E7"/>
    <a:srgbClr val="EEC2A9"/>
    <a:srgbClr val="B7472A"/>
    <a:srgbClr val="D9D9D9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86" d="100"/>
          <a:sy n="86" d="100"/>
        </p:scale>
        <p:origin x="614" y="62"/>
      </p:cViewPr>
      <p:guideLst>
        <p:guide orient="horz" pos="224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D960DE-7DC3-4AFE-BFC3-83F6D9CCDE86}" type="doc">
      <dgm:prSet loTypeId="urn:microsoft.com/office/officeart/2005/8/layout/hList6" qsTypeId="urn:microsoft.com/office/officeart/2005/8/quickstyle/simple1#1" csTypeId="urn:microsoft.com/office/officeart/2005/8/colors/colorful4#1"/>
      <dgm:spPr/>
      <dgm:t>
        <a:bodyPr/>
        <a:lstStyle/>
        <a:p>
          <a:endParaRPr altLang="en-US"/>
        </a:p>
      </dgm:t>
    </dgm:pt>
    <dgm:pt modelId="{D19541FF-5CD4-4355-ACC9-42CD93132B75}">
      <dgm:prSet/>
      <dgm:spPr/>
      <dgm:t>
        <a:bodyPr/>
        <a:lstStyle/>
        <a:p>
          <a:r>
            <a:rPr lang="zh-CN" b="0" i="0" u="none" baseline="0">
              <a:rtl val="0"/>
            </a:rPr>
            <a:t>从古至今，中华民族都以勤俭节约为美德。但也有消费者在聚餐品尝美食的时候，仿佛菜品越高档、越丰盛，就显得越有面子、越有排场。</a:t>
          </a:r>
          <a:endParaRPr altLang="en-US"/>
        </a:p>
      </dgm:t>
    </dgm:pt>
    <dgm:pt modelId="{50C48AF0-B205-47FC-AF8B-B094EFD9C8E2}" type="parTrans" cxnId="{B2B16E4E-EB35-45AF-A1CC-1788D475A26F}">
      <dgm:prSet/>
      <dgm:spPr/>
    </dgm:pt>
    <dgm:pt modelId="{FBCA21C5-A5B2-483C-9915-63BC8C4CECA8}" type="sibTrans" cxnId="{B2B16E4E-EB35-45AF-A1CC-1788D475A26F}">
      <dgm:prSet/>
      <dgm:spPr/>
    </dgm:pt>
    <dgm:pt modelId="{29F4A3EE-8A4F-46C8-9C7D-7B6F63E04707}">
      <dgm:prSet/>
      <dgm:spPr/>
      <dgm:t>
        <a:bodyPr/>
        <a:lstStyle/>
        <a:p>
          <a:r>
            <a:rPr lang="zh-CN" b="0" i="0" u="none" baseline="0">
              <a:rtl val="0"/>
            </a:rPr>
            <a:t>在这种不良风气的影响下，餐桌浪费严重，大量的食物从厨房出来，消费者没吃上两口，就直接进入了泔水桶。</a:t>
          </a:r>
          <a:endParaRPr altLang="en-US"/>
        </a:p>
      </dgm:t>
    </dgm:pt>
    <dgm:pt modelId="{21D99DDA-3A0A-4D91-B42C-9FEF7436002E}" type="parTrans" cxnId="{E3483C47-324F-487E-9987-2D34C69370FD}">
      <dgm:prSet/>
      <dgm:spPr/>
    </dgm:pt>
    <dgm:pt modelId="{C6790C20-2071-47BF-A3BD-C6F0691C97DD}" type="sibTrans" cxnId="{E3483C47-324F-487E-9987-2D34C69370FD}">
      <dgm:prSet/>
      <dgm:spPr/>
    </dgm:pt>
    <dgm:pt modelId="{CB6451DE-EDAD-4FD6-9082-584899F44799}">
      <dgm:prSet/>
      <dgm:spPr/>
      <dgm:t>
        <a:bodyPr/>
        <a:lstStyle/>
        <a:p>
          <a:r>
            <a:rPr lang="zh-CN" b="0" i="0" u="none" baseline="0">
              <a:rtl val="0"/>
            </a:rPr>
            <a:t>每一个人都应养成节约的好习惯，无论何种形式就餐，都应只取所需，避免“眼大肚小”。</a:t>
          </a:r>
          <a:endParaRPr altLang="en-US"/>
        </a:p>
      </dgm:t>
    </dgm:pt>
    <dgm:pt modelId="{BF042E97-255A-4359-A097-9B799FC8909D}" type="parTrans" cxnId="{FB03339C-4758-4342-84B1-A71E775C188D}">
      <dgm:prSet/>
      <dgm:spPr/>
    </dgm:pt>
    <dgm:pt modelId="{F1773B83-9086-4B7B-A999-E20DBEBA228C}" type="sibTrans" cxnId="{FB03339C-4758-4342-84B1-A71E775C188D}">
      <dgm:prSet/>
      <dgm:spPr/>
    </dgm:pt>
    <dgm:pt modelId="{8F62EDC6-0044-4E55-80CA-C94B82E1C2DB}" type="pres">
      <dgm:prSet presAssocID="{05D960DE-7DC3-4AFE-BFC3-83F6D9CCDE86}" presName="Name0" presStyleCnt="0">
        <dgm:presLayoutVars>
          <dgm:dir val="rev"/>
          <dgm:resizeHandles val="exact"/>
        </dgm:presLayoutVars>
      </dgm:prSet>
      <dgm:spPr/>
    </dgm:pt>
    <dgm:pt modelId="{0BF32C34-3830-4E87-BCEE-6E7A80350C91}" type="pres">
      <dgm:prSet presAssocID="{D19541FF-5CD4-4355-ACC9-42CD93132B75}" presName="node" presStyleLbl="node1" presStyleIdx="0" presStyleCnt="3">
        <dgm:presLayoutVars>
          <dgm:bulletEnabled val="1"/>
        </dgm:presLayoutVars>
      </dgm:prSet>
      <dgm:spPr/>
    </dgm:pt>
    <dgm:pt modelId="{F32B562D-A336-44E2-B9D6-C24D04884E7A}" type="pres">
      <dgm:prSet presAssocID="{FBCA21C5-A5B2-483C-9915-63BC8C4CECA8}" presName="sibTrans" presStyleCnt="0"/>
      <dgm:spPr/>
    </dgm:pt>
    <dgm:pt modelId="{E95712D9-23F2-49D8-B3F2-28A308BC5CA9}" type="pres">
      <dgm:prSet presAssocID="{29F4A3EE-8A4F-46C8-9C7D-7B6F63E04707}" presName="node" presStyleLbl="node1" presStyleIdx="1" presStyleCnt="3">
        <dgm:presLayoutVars>
          <dgm:bulletEnabled val="1"/>
        </dgm:presLayoutVars>
      </dgm:prSet>
      <dgm:spPr/>
    </dgm:pt>
    <dgm:pt modelId="{C0A18C16-2602-4CC2-8CB3-176A87954226}" type="pres">
      <dgm:prSet presAssocID="{C6790C20-2071-47BF-A3BD-C6F0691C97DD}" presName="sibTrans" presStyleCnt="0"/>
      <dgm:spPr/>
    </dgm:pt>
    <dgm:pt modelId="{47296395-41C7-4BDC-BB86-2083FD761416}" type="pres">
      <dgm:prSet presAssocID="{CB6451DE-EDAD-4FD6-9082-584899F44799}" presName="node" presStyleLbl="node1" presStyleIdx="2" presStyleCnt="3">
        <dgm:presLayoutVars>
          <dgm:bulletEnabled val="1"/>
        </dgm:presLayoutVars>
      </dgm:prSet>
      <dgm:spPr/>
    </dgm:pt>
  </dgm:ptLst>
  <dgm:cxnLst>
    <dgm:cxn modelId="{E3483C47-324F-487E-9987-2D34C69370FD}" srcId="{05D960DE-7DC3-4AFE-BFC3-83F6D9CCDE86}" destId="{29F4A3EE-8A4F-46C8-9C7D-7B6F63E04707}" srcOrd="1" destOrd="0" parTransId="{21D99DDA-3A0A-4D91-B42C-9FEF7436002E}" sibTransId="{C6790C20-2071-47BF-A3BD-C6F0691C97DD}"/>
    <dgm:cxn modelId="{B2B16E4E-EB35-45AF-A1CC-1788D475A26F}" srcId="{05D960DE-7DC3-4AFE-BFC3-83F6D9CCDE86}" destId="{D19541FF-5CD4-4355-ACC9-42CD93132B75}" srcOrd="0" destOrd="0" parTransId="{50C48AF0-B205-47FC-AF8B-B094EFD9C8E2}" sibTransId="{FBCA21C5-A5B2-483C-9915-63BC8C4CECA8}"/>
    <dgm:cxn modelId="{1ABA7D6F-FA4A-43AF-8804-03BB23D6EF90}" type="presOf" srcId="{CB6451DE-EDAD-4FD6-9082-584899F44799}" destId="{47296395-41C7-4BDC-BB86-2083FD761416}" srcOrd="0" destOrd="0" presId="urn:microsoft.com/office/officeart/2005/8/layout/hList6"/>
    <dgm:cxn modelId="{7F0C3E8B-04D2-4E7D-8497-9C6AA5381D7F}" type="presOf" srcId="{29F4A3EE-8A4F-46C8-9C7D-7B6F63E04707}" destId="{E95712D9-23F2-49D8-B3F2-28A308BC5CA9}" srcOrd="0" destOrd="0" presId="urn:microsoft.com/office/officeart/2005/8/layout/hList6"/>
    <dgm:cxn modelId="{FB03339C-4758-4342-84B1-A71E775C188D}" srcId="{05D960DE-7DC3-4AFE-BFC3-83F6D9CCDE86}" destId="{CB6451DE-EDAD-4FD6-9082-584899F44799}" srcOrd="2" destOrd="0" parTransId="{BF042E97-255A-4359-A097-9B799FC8909D}" sibTransId="{F1773B83-9086-4B7B-A999-E20DBEBA228C}"/>
    <dgm:cxn modelId="{34455FDE-D121-4D1A-BCCB-5F57D055974F}" type="presOf" srcId="{05D960DE-7DC3-4AFE-BFC3-83F6D9CCDE86}" destId="{8F62EDC6-0044-4E55-80CA-C94B82E1C2DB}" srcOrd="0" destOrd="0" presId="urn:microsoft.com/office/officeart/2005/8/layout/hList6"/>
    <dgm:cxn modelId="{81025EFF-DA0D-49FA-B1E2-0BDFFE04719A}" type="presOf" srcId="{D19541FF-5CD4-4355-ACC9-42CD93132B75}" destId="{0BF32C34-3830-4E87-BCEE-6E7A80350C91}" srcOrd="0" destOrd="0" presId="urn:microsoft.com/office/officeart/2005/8/layout/hList6"/>
    <dgm:cxn modelId="{C33A224C-C859-47D8-BB5A-9B8E548EAC9A}" type="presParOf" srcId="{8F62EDC6-0044-4E55-80CA-C94B82E1C2DB}" destId="{0BF32C34-3830-4E87-BCEE-6E7A80350C91}" srcOrd="0" destOrd="0" presId="urn:microsoft.com/office/officeart/2005/8/layout/hList6"/>
    <dgm:cxn modelId="{CCE5139B-BE97-4095-A6E2-BD05244757CF}" type="presParOf" srcId="{8F62EDC6-0044-4E55-80CA-C94B82E1C2DB}" destId="{F32B562D-A336-44E2-B9D6-C24D04884E7A}" srcOrd="1" destOrd="0" presId="urn:microsoft.com/office/officeart/2005/8/layout/hList6"/>
    <dgm:cxn modelId="{792D3F0C-FBF5-4FE5-9438-518671F38302}" type="presParOf" srcId="{8F62EDC6-0044-4E55-80CA-C94B82E1C2DB}" destId="{E95712D9-23F2-49D8-B3F2-28A308BC5CA9}" srcOrd="2" destOrd="0" presId="urn:microsoft.com/office/officeart/2005/8/layout/hList6"/>
    <dgm:cxn modelId="{2F979B67-8F2B-4EFE-96DF-6ECE9C6B4F0C}" type="presParOf" srcId="{8F62EDC6-0044-4E55-80CA-C94B82E1C2DB}" destId="{C0A18C16-2602-4CC2-8CB3-176A87954226}" srcOrd="3" destOrd="0" presId="urn:microsoft.com/office/officeart/2005/8/layout/hList6"/>
    <dgm:cxn modelId="{CAC2D334-9227-4645-9B1C-6FB942EC04C5}" type="presParOf" srcId="{8F62EDC6-0044-4E55-80CA-C94B82E1C2DB}" destId="{47296395-41C7-4BDC-BB86-2083FD761416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F32C34-3830-4E87-BCEE-6E7A80350C91}">
      <dsp:nvSpPr>
        <dsp:cNvPr id="0" name=""/>
        <dsp:cNvSpPr/>
      </dsp:nvSpPr>
      <dsp:spPr>
        <a:xfrm rot="5400000">
          <a:off x="6130678" y="11777"/>
          <a:ext cx="2880000" cy="2856445"/>
        </a:xfrm>
        <a:prstGeom prst="flowChartManualOperati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9141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b="0" i="0" u="none" kern="1200" baseline="0">
              <a:rtl val="0"/>
            </a:rPr>
            <a:t>从古至今，中华民族都以勤俭节约为美德。但也有消费者在聚餐品尝美食的时候，仿佛菜品越高档、越丰盛，就显得越有面子、越有排场。</a:t>
          </a:r>
          <a:endParaRPr altLang="en-US" sz="1700" kern="1200"/>
        </a:p>
      </dsp:txBody>
      <dsp:txXfrm rot="-5400000">
        <a:off x="6142456" y="575999"/>
        <a:ext cx="2856445" cy="1728000"/>
      </dsp:txXfrm>
    </dsp:sp>
    <dsp:sp modelId="{E95712D9-23F2-49D8-B3F2-28A308BC5CA9}">
      <dsp:nvSpPr>
        <dsp:cNvPr id="0" name=""/>
        <dsp:cNvSpPr/>
      </dsp:nvSpPr>
      <dsp:spPr>
        <a:xfrm rot="5400000">
          <a:off x="3060000" y="11777"/>
          <a:ext cx="2880000" cy="2856445"/>
        </a:xfrm>
        <a:prstGeom prst="flowChartManualOperation">
          <a:avLst/>
        </a:prstGeom>
        <a:solidFill>
          <a:schemeClr val="accent4">
            <a:hueOff val="-734536"/>
            <a:satOff val="-8917"/>
            <a:lumOff val="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9141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b="0" i="0" u="none" kern="1200" baseline="0">
              <a:rtl val="0"/>
            </a:rPr>
            <a:t>在这种不良风气的影响下，餐桌浪费严重，大量的食物从厨房出来，消费者没吃上两口，就直接进入了泔水桶。</a:t>
          </a:r>
          <a:endParaRPr altLang="en-US" sz="1700" kern="1200"/>
        </a:p>
      </dsp:txBody>
      <dsp:txXfrm rot="-5400000">
        <a:off x="3071778" y="575999"/>
        <a:ext cx="2856445" cy="1728000"/>
      </dsp:txXfrm>
    </dsp:sp>
    <dsp:sp modelId="{47296395-41C7-4BDC-BB86-2083FD761416}">
      <dsp:nvSpPr>
        <dsp:cNvPr id="0" name=""/>
        <dsp:cNvSpPr/>
      </dsp:nvSpPr>
      <dsp:spPr>
        <a:xfrm rot="5400000">
          <a:off x="-10678" y="11777"/>
          <a:ext cx="2880000" cy="2856445"/>
        </a:xfrm>
        <a:prstGeom prst="flowChartManualOperation">
          <a:avLst/>
        </a:prstGeom>
        <a:solidFill>
          <a:schemeClr val="accent4">
            <a:hueOff val="-1469072"/>
            <a:satOff val="-17835"/>
            <a:lumOff val="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9141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b="0" i="0" u="none" kern="1200" baseline="0">
              <a:rtl val="0"/>
            </a:rPr>
            <a:t>每一个人都应养成节约的好习惯，无论何种形式就餐，都应只取所需，避免“眼大肚小”。</a:t>
          </a:r>
          <a:endParaRPr altLang="en-US" sz="1700" kern="1200"/>
        </a:p>
      </dsp:txBody>
      <dsp:txXfrm rot="-5400000">
        <a:off x="1100" y="575999"/>
        <a:ext cx="2856445" cy="172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2021/11/20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tags" Target="../tags/tag13.xml"/><Relationship Id="rId7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" Target="../slides/slide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2021/11/20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635" y="3103880"/>
            <a:ext cx="12192000" cy="2080260"/>
            <a:chOff x="-1" y="4888"/>
            <a:chExt cx="19200" cy="3276"/>
          </a:xfrm>
        </p:grpSpPr>
        <p:sp>
          <p:nvSpPr>
            <p:cNvPr id="16" name="矩形1"/>
            <p:cNvSpPr/>
            <p:nvPr userDrawn="1"/>
          </p:nvSpPr>
          <p:spPr bwMode="auto">
            <a:xfrm>
              <a:off x="-1" y="4888"/>
              <a:ext cx="19201" cy="3276"/>
            </a:xfrm>
            <a:prstGeom prst="rect">
              <a:avLst/>
            </a:prstGeom>
            <a:solidFill>
              <a:srgbClr val="EEC2A9"/>
            </a:solidFill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en-US" altLang="zh-CN" sz="1400" dirty="0"/>
            </a:p>
          </p:txBody>
        </p:sp>
        <p:pic>
          <p:nvPicPr>
            <p:cNvPr id="3" name="图片 2" descr="resource">
              <a:hlinkClick r:id="rId6" action="ppaction://hlinksldjump"/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5821" y="6060"/>
              <a:ext cx="934" cy="934"/>
            </a:xfrm>
            <a:prstGeom prst="rect">
              <a:avLst/>
            </a:prstGeom>
          </p:spPr>
        </p:pic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9255" y="3791268"/>
            <a:ext cx="928751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r"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>
              <a:defRPr>
                <a:solidFill>
                  <a:srgbClr val="F8C0A5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12" Type="http://schemas.openxmlformats.org/officeDocument/2006/relationships/slide" Target="../slides/slid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11" Type="http://schemas.openxmlformats.org/officeDocument/2006/relationships/image" Target="../media/image1.png"/><Relationship Id="rId5" Type="http://schemas.openxmlformats.org/officeDocument/2006/relationships/theme" Target="../theme/theme1.xml"/><Relationship Id="rId10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2021/11/20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 descr="光盘行动logo">
            <a:hlinkClick r:id="rId12" action="ppaction://hlinksldjump"/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50880" y="0"/>
            <a:ext cx="1341120" cy="1286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6" Type="http://schemas.openxmlformats.org/officeDocument/2006/relationships/image" Target="../media/image6.png"/><Relationship Id="rId5" Type="http://schemas.openxmlformats.org/officeDocument/2006/relationships/slide" Target="slide5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珍惜粮食  厉行节约 </a:t>
            </a:r>
            <a:r>
              <a:rPr lang="en-US" altLang="zh-CN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—— 校公益宣传部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zh-CN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光盘行动，拒绝浪费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 录</a:t>
            </a:r>
          </a:p>
        </p:txBody>
      </p:sp>
      <p:sp>
        <p:nvSpPr>
          <p:cNvPr id="16" name="矩形 1"/>
          <p:cNvSpPr/>
          <p:nvPr/>
        </p:nvSpPr>
        <p:spPr bwMode="auto">
          <a:xfrm>
            <a:off x="-635" y="1906270"/>
            <a:ext cx="12192635" cy="3868420"/>
          </a:xfrm>
          <a:prstGeom prst="rect">
            <a:avLst/>
          </a:prstGeom>
          <a:solidFill>
            <a:srgbClr val="EEC2A9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altLang="zh-CN" sz="1400" dirty="0"/>
          </a:p>
        </p:txBody>
      </p:sp>
      <p:pic>
        <p:nvPicPr>
          <p:cNvPr id="28" name="图片 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15" y="2491740"/>
            <a:ext cx="2811780" cy="2697480"/>
          </a:xfrm>
          <a:prstGeom prst="rect">
            <a:avLst/>
          </a:prstGeom>
        </p:spPr>
      </p:pic>
      <p:pic>
        <p:nvPicPr>
          <p:cNvPr id="34" name="图片 2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2491740"/>
            <a:ext cx="2811780" cy="2697480"/>
          </a:xfrm>
          <a:prstGeom prst="rect">
            <a:avLst/>
          </a:prstGeom>
        </p:spPr>
      </p:pic>
      <p:pic>
        <p:nvPicPr>
          <p:cNvPr id="35" name="图片 3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2985" y="2491740"/>
            <a:ext cx="2811780" cy="2697480"/>
          </a:xfrm>
          <a:prstGeom prst="rect">
            <a:avLst/>
          </a:prstGeom>
        </p:spPr>
      </p:pic>
      <p:pic>
        <p:nvPicPr>
          <p:cNvPr id="36" name="图片 4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29370" y="2491740"/>
            <a:ext cx="2811780" cy="26974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居安思危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居安思危</a:t>
            </a:r>
          </a:p>
        </p:txBody>
      </p:sp>
      <p:sp>
        <p:nvSpPr>
          <p:cNvPr id="7" name="文本框 1"/>
          <p:cNvSpPr txBox="1"/>
          <p:nvPr/>
        </p:nvSpPr>
        <p:spPr>
          <a:xfrm>
            <a:off x="2428875" y="1313815"/>
            <a:ext cx="5400000" cy="3543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 fontAlgn="auto">
              <a:lnSpc>
                <a:spcPct val="150000"/>
              </a:lnSpc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一粥一饭当思来之不易。厉行节约，是中华民族的传统美德。七年前，习总书记就做出重要指示，要求厉行节约，反对浪费。互联网上也曾倡导人们珍惜粮食，加入“光盘行动”。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然而多年过去了，餐饮浪费现象依然触目惊心、令人痛心，“历览前贤国与家，成由勤俭败由奢”。居安思危，勤俭节约一直以来就是中华民族奉行的传统美德。</a:t>
            </a:r>
          </a:p>
        </p:txBody>
      </p:sp>
      <p:pic>
        <p:nvPicPr>
          <p:cNvPr id="4" name="图片 3" descr="锄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650" y="755650"/>
            <a:ext cx="6102350" cy="61023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粮食背后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粮食背后</a:t>
            </a:r>
          </a:p>
        </p:txBody>
      </p:sp>
      <p:sp>
        <p:nvSpPr>
          <p:cNvPr id="4" name="矩形 1"/>
          <p:cNvSpPr/>
          <p:nvPr/>
        </p:nvSpPr>
        <p:spPr>
          <a:xfrm>
            <a:off x="744220" y="4340860"/>
            <a:ext cx="2210435" cy="1137285"/>
          </a:xfrm>
          <a:prstGeom prst="homePlate">
            <a:avLst/>
          </a:prstGeom>
          <a:solidFill>
            <a:srgbClr val="F8C0A5"/>
          </a:solidFill>
          <a:ln>
            <a:solidFill>
              <a:srgbClr val="F8C0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近期各国收紧粮食出口的消息</a:t>
            </a:r>
          </a:p>
        </p:txBody>
      </p:sp>
      <p:pic>
        <p:nvPicPr>
          <p:cNvPr id="6" name="图片 1" descr="碗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2423795"/>
            <a:ext cx="2482215" cy="14401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560445" y="1575435"/>
            <a:ext cx="1844675" cy="40582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世界第三大稻米出口国，越南紧随其后，宣布自3月24日起，暂停大米及大米产品出口；全球最大的小麦出口国之一，哈萨克斯坦也宣布禁止出口小麦、土豆等11种农产品</a:t>
            </a:r>
            <a:endParaRPr lang="zh-CN" altLang="en-US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502400" y="1576070"/>
            <a:ext cx="1567815" cy="40576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据不完全统计，当前全球范围内已经有8个国家宣布了粮食出口限制措施，其中包括俄罗斯、埃及、越南、印度、哈萨克斯坦、塞尔维亚、泰国、柬埔寨。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67495" y="1575435"/>
            <a:ext cx="1844675" cy="40582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联合国粮食及农业组织近日发出警告称，新冠肺炎疫情可能会导致全球出现新一轮粮食危机。该组织预计，如果不及时采取有效的干预措施，粮食供应链在今年的4月到5月将会出现被扰乱的情况。</a:t>
            </a:r>
            <a:endParaRPr lang="zh-CN" altLang="en-US"/>
          </a:p>
          <a:p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6096000" y="1706880"/>
            <a:ext cx="0" cy="360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8826500" y="1706880"/>
            <a:ext cx="0" cy="360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珍惜粮食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珍惜粮食</a:t>
            </a:r>
          </a:p>
        </p:txBody>
      </p:sp>
      <p:graphicFrame>
        <p:nvGraphicFramePr>
          <p:cNvPr id="3" name="图示 2"/>
          <p:cNvGraphicFramePr/>
          <p:nvPr/>
        </p:nvGraphicFramePr>
        <p:xfrm>
          <a:off x="2117725" y="1903730"/>
          <a:ext cx="9000000" cy="28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反对浪费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 descr="食物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" y="1457960"/>
            <a:ext cx="5400000" cy="540000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反对浪费</a:t>
            </a:r>
          </a:p>
        </p:txBody>
      </p:sp>
      <p:sp>
        <p:nvSpPr>
          <p:cNvPr id="4" name="矩形 1"/>
          <p:cNvSpPr/>
          <p:nvPr/>
        </p:nvSpPr>
        <p:spPr>
          <a:xfrm>
            <a:off x="5012055" y="2867323"/>
            <a:ext cx="5521960" cy="2581275"/>
          </a:xfrm>
          <a:prstGeom prst="rect">
            <a:avLst/>
          </a:prstGeom>
          <a:solidFill>
            <a:srgbClr val="F8C0A5">
              <a:alpha val="60000"/>
            </a:srgbClr>
          </a:solidFill>
          <a:ln>
            <a:solidFill>
              <a:srgbClr val="C83D1B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36525" tIns="136525" rIns="136525" bIns="136525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养成良好的消费意识，拒绝浪费，从我做起。从饮食科学的角度来说，传统的“吃饱吃好”不等于健康的饮食，真正的健康饮食应该有所节制，顾客在饭桌上吃不完的饭菜，应打包带走。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413</Words>
  <Application>Microsoft Office PowerPoint</Application>
  <PresentationFormat>宽屏</PresentationFormat>
  <Paragraphs>21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黑体</vt:lpstr>
      <vt:lpstr>楷体</vt:lpstr>
      <vt:lpstr>Arial</vt:lpstr>
      <vt:lpstr>Calibri</vt:lpstr>
      <vt:lpstr>Wingdings</vt:lpstr>
      <vt:lpstr>Office 主题​​</vt:lpstr>
      <vt:lpstr>光盘行动，拒绝浪费</vt:lpstr>
      <vt:lpstr>目 录</vt:lpstr>
      <vt:lpstr>居安思危</vt:lpstr>
      <vt:lpstr>居安思危</vt:lpstr>
      <vt:lpstr>粮食背后</vt:lpstr>
      <vt:lpstr>粮食背后</vt:lpstr>
      <vt:lpstr>珍惜粮食</vt:lpstr>
      <vt:lpstr>珍惜粮食</vt:lpstr>
      <vt:lpstr>反对浪费</vt:lpstr>
      <vt:lpstr>反对浪费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光盘行动，拒绝浪费</dc:title>
  <dc:creator>User</dc:creator>
  <cp:lastModifiedBy>Windows 用户</cp:lastModifiedBy>
  <cp:revision>95</cp:revision>
  <dcterms:created xsi:type="dcterms:W3CDTF">2020-11-24T15:02:00Z</dcterms:created>
  <dcterms:modified xsi:type="dcterms:W3CDTF">2021-11-20T01:55:49Z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C8CF130F9B6043AABE30479906DBE023</vt:lpwstr>
  </property>
</Properties>
</file>