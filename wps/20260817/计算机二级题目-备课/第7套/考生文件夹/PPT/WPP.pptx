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09" r:id="rId3"/>
    <p:sldId id="410" r:id="rId4"/>
    <p:sldId id="411" r:id="rId5"/>
    <p:sldId id="432" r:id="rId6"/>
    <p:sldId id="413" r:id="rId8"/>
    <p:sldId id="412" r:id="rId9"/>
    <p:sldId id="453" r:id="rId10"/>
    <p:sldId id="414" r:id="rId11"/>
    <p:sldId id="415" r:id="rId12"/>
    <p:sldId id="416" r:id="rId13"/>
    <p:sldId id="417" r:id="rId14"/>
    <p:sldId id="418" r:id="rId15"/>
    <p:sldId id="423" r:id="rId16"/>
    <p:sldId id="427" r:id="rId17"/>
    <p:sldId id="425" r:id="rId18"/>
    <p:sldId id="429" r:id="rId19"/>
    <p:sldId id="426" r:id="rId20"/>
    <p:sldId id="420" r:id="rId21"/>
    <p:sldId id="431" r:id="rId22"/>
    <p:sldId id="42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sp="http://schemas.microsoft.com/office/drawing/2008/diagram" xmlns:dgm="http://schemas.openxmlformats.org/drawingml/2006/diagram" xmlns:a="http://schemas.openxmlformats.org/drawingml/2006/main">
  <dgm:ptLst>
    <dgm:pt modelId="{E316C34A-B3A3-4B4C-A41A-97236A8366BD}" type="doc">
      <dgm:prSet/>
      <dgm:spPr/>
      <dgm:t>
        <a:bodyPr/>
        <a:p>
          <a:endParaRPr altLang="en-US"/>
        </a:p>
      </dgm:t>
    </dgm:pt>
    <dgm:pt modelId="{AC37DFB1-3CB8-48E8-96FF-4EE74FA265D7}">
      <dgm:prSet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2800" b="1" i="0" u="none" baseline="0">
              <a:rtl val="0"/>
            </a:rPr>
            <a:t>课前活动</a:t>
          </a:r>
          <a:r>
            <a:rPr lang="zh-CN" altLang="en-US" sz="2800" b="1" i="0" u="none" baseline="0">
              <a:rtl val="0"/>
            </a:rPr>
            <a:t/>
          </a:r>
          <a:endParaRPr lang="zh-CN" altLang="en-US" sz="2800" b="1" i="0" u="none" baseline="0">
            <a:rtl val="0"/>
          </a:endParaRPr>
        </a:p>
      </dgm:t>
    </dgm:pt>
    <dgm:pt modelId="{BE4F9F1E-4989-4037-B7FA-D93CD454F7D7}" type="parTrans" cxnId="{1977B15B-A19D-496B-87DC-830AEB0E4476}">
      <dgm:prSet/>
      <dgm:spPr/>
    </dgm:pt>
    <dgm:pt modelId="{2E65B5B6-60A2-46E8-9A03-C8BC51738047}" type="sibTrans" cxnId="{1977B15B-A19D-496B-87DC-830AEB0E4476}">
      <dgm:prSet/>
      <dgm:spPr/>
    </dgm:pt>
    <dgm:pt modelId="{788C18E6-195C-4437-BD1C-5AD1B3955CB0}" type="pres">
      <dgm:prSet presAssocID="{E316C34A-B3A3-4B4C-A41A-97236A8366BD}" presName="linear" presStyleCnt="0">
        <dgm:presLayoutVars>
          <dgm:animLvl val="lvl"/>
          <dgm:resizeHandles val="exact"/>
        </dgm:presLayoutVars>
      </dgm:prSet>
      <dgm:spPr/>
    </dgm:pt>
    <dgm:pt modelId="{3CEED71C-315B-45D1-B117-F5EC195CEF2B}" type="pres">
      <dgm:prSet presAssocID="{AC37DFB1-3CB8-48E8-96FF-4EE74FA265D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977B15B-A19D-496B-87DC-830AEB0E4476}" srcId="{E316C34A-B3A3-4B4C-A41A-97236A8366BD}" destId="{AC37DFB1-3CB8-48E8-96FF-4EE74FA265D7}" srcOrd="0" destOrd="0" parTransId="{BE4F9F1E-4989-4037-B7FA-D93CD454F7D7}" sibTransId="{2E65B5B6-60A2-46E8-9A03-C8BC51738047}"/>
    <dgm:cxn modelId="{A4E19579-1C3A-44F4-B587-A7ADB71BC276}" type="presOf" srcId="{E316C34A-B3A3-4B4C-A41A-97236A8366BD}" destId="{788C18E6-195C-4437-BD1C-5AD1B3955CB0}" srcOrd="0" destOrd="0" presId="urn:microsoft.com/office/officeart/2005/8/layout/vList2"/>
    <dgm:cxn modelId="{456DCEED-7E89-4CB7-BF54-EEC4D11DFB56}" type="presParOf" srcId="{788C18E6-195C-4437-BD1C-5AD1B3955CB0}" destId="{3CEED71C-315B-45D1-B117-F5EC195CEF2B}" srcOrd="0" destOrd="0" presId="urn:microsoft.com/office/officeart/2005/8/layout/vList2"/>
    <dgm:cxn modelId="{085DDB7F-85C8-45E0-9CDF-D0D16E7B5F1F}" type="presOf" srcId="{AC37DFB1-3CB8-48E8-96FF-4EE74FA265D7}" destId="{3CEED71C-315B-45D1-B117-F5EC195CEF2B}" srcOrd="0" destOrd="0" presId="urn:microsoft.com/office/officeart/2005/8/layout/vList2"/>
  </dgm:cxnLst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218690" cy="564515"/>
        <a:chOff x="0" y="0"/>
        <a:chExt cx="2218690" cy="564515"/>
      </a:xfrm>
    </dsp:grpSpPr>
    <dsp:sp modelId="{3CEED71C-315B-45D1-B117-F5EC195CEF2B}">
      <dsp:nvSpPr>
        <dsp:cNvPr id="3" name="圆角矩形 2"/>
        <dsp:cNvSpPr/>
      </dsp:nvSpPr>
      <dsp:spPr bwMode="white">
        <a:xfrm>
          <a:off x="0" y="3810"/>
          <a:ext cx="2218690" cy="5568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b="1" i="0" u="none" baseline="0">
              <a:rtl val="0"/>
            </a:rPr>
            <a:t>课前活动</a:t>
          </a:r>
          <a:endParaRPr lang="zh-CN" altLang="en-US" sz="2800" b="1" i="0" u="none" baseline="0">
            <a:rtl val="0"/>
          </a:endParaRPr>
        </a:p>
      </dsp:txBody>
      <dsp:txXfrm>
        <a:off x="0" y="3810"/>
        <a:ext cx="2218690" cy="556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第1课 商品的交换和消费</a:t>
            </a:r>
            <a:endParaRPr lang="zh-CN" altLang="en-US"/>
          </a:p>
          <a:p>
            <a:r>
              <a:rPr lang="zh-CN" altLang="en-US"/>
              <a:t>第2课 企业的生产与经营</a:t>
            </a:r>
            <a:endParaRPr lang="zh-CN" altLang="en-US"/>
          </a:p>
          <a:p>
            <a:r>
              <a:rPr lang="zh-CN" altLang="en-US"/>
              <a:t>第3课 个人的收入与理财</a:t>
            </a:r>
            <a:endParaRPr lang="zh-CN" altLang="en-US"/>
          </a:p>
          <a:p>
            <a:r>
              <a:rPr lang="zh-CN" altLang="en-US"/>
              <a:t>活动与探究 科学消费 理财有道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专业二年级学生</a:t>
            </a:r>
            <a:endParaRPr lang="zh-CN" altLang="en-US" dirty="0">
              <a:ln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思维活跃</a:t>
            </a:r>
            <a:r>
              <a:rPr lang="zh-CN" altLang="en-US" dirty="0" smtClean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、热爱专业</a:t>
            </a:r>
            <a:endParaRPr lang="zh-CN" altLang="en-US" dirty="0" smtClean="0">
              <a:ln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了解投资理财方式</a:t>
            </a:r>
            <a:endParaRPr lang="en-US" altLang="zh-CN" dirty="0">
              <a:ln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reflection blurRad="6350" stA="50000" endA="300" endPos="50000" dist="2999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综合</a:t>
            </a:r>
            <a:r>
              <a:rPr lang="zh-CN" altLang="zh-CN" dirty="0" smtClean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比较、</a:t>
            </a:r>
            <a:r>
              <a:rPr lang="zh-CN" altLang="zh-CN" dirty="0">
                <a:ln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知识应用不足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理财有道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教材分析</a:t>
            </a:r>
            <a:endParaRPr lang="zh-CN" altLang="en-US"/>
          </a:p>
          <a:p>
            <a:r>
              <a:rPr lang="zh-CN" altLang="en-US"/>
              <a:t>学情分析</a:t>
            </a:r>
            <a:endParaRPr lang="zh-CN" altLang="en-US"/>
          </a:p>
          <a:p>
            <a:r>
              <a:rPr lang="zh-CN" altLang="en-US"/>
              <a:t>教学目标</a:t>
            </a:r>
            <a:endParaRPr lang="zh-CN" altLang="en-US"/>
          </a:p>
          <a:p>
            <a:r>
              <a:rPr lang="zh-CN" altLang="en-US"/>
              <a:t>教学策略</a:t>
            </a:r>
            <a:endParaRPr lang="zh-CN" altLang="en-US"/>
          </a:p>
          <a:p>
            <a:r>
              <a:rPr lang="zh-CN" altLang="en-US"/>
              <a:t>教学过程</a:t>
            </a:r>
            <a:endParaRPr lang="zh-CN" altLang="en-US"/>
          </a:p>
          <a:p>
            <a:r>
              <a:rPr lang="zh-CN" altLang="en-US"/>
              <a:t>教学创新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教材分析</a:t>
            </a:r>
            <a:endParaRPr lang="zh-CN" altLang="en-US"/>
          </a:p>
        </p:txBody>
      </p:sp>
      <p:sp>
        <p:nvSpPr>
          <p:cNvPr id="10" name="内容占位符 9"/>
          <p:cNvSpPr/>
          <p:nvPr>
            <p:ph idx="1"/>
          </p:nvPr>
        </p:nvSpPr>
        <p:spPr/>
        <p:txBody>
          <a:bodyPr/>
          <a:p>
            <a:r>
              <a:rPr lang="zh-CN" altLang="en-US"/>
              <a:t>教材分析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教材分析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537835" y="4926965"/>
            <a:ext cx="3960000" cy="151200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3203575" y="495300"/>
            <a:ext cx="3960000" cy="1512000"/>
          </a:xfrm>
          <a:prstGeom prst="rect">
            <a:avLst/>
          </a:prstGeom>
        </p:spPr>
      </p:pic>
      <p:sp>
        <p:nvSpPr>
          <p:cNvPr id="13" name="内容占位符 12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学情分析</a:t>
            </a:r>
            <a:endParaRPr lang="zh-CN" altLang="en-US" b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学情分析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学情分析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教学目标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认知目标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</a:endParaRPr>
          </a:p>
          <a:p>
            <a:pPr lvl="1"/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巩固存款储蓄、债券、股票、商业保险的异同，理解理财原则。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lvl="0" algn="l">
              <a:buClrTx/>
              <a:buSzTx/>
            </a:pP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情感态度观念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lvl="1"/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增强理财意识， 形成正确的理财观念。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lvl="0"/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运用目标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lvl="1"/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学会结合职业生涯规划不同阶段的收入,选择理财方式，设计理财方案，让财富增值。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</a:rPr>
              <a:t>教学重点</a:t>
            </a:r>
            <a:endParaRPr lang="zh-CN" altLang="en-US" sz="200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sym typeface="+mn-ea"/>
              </a:rPr>
              <a:t>针对职业生涯不同阶段的收入，设计理财方案。</a:t>
            </a:r>
            <a:endParaRPr lang="zh-CN" altLang="en-US" sz="2000" b="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</a:rPr>
              <a:t>教学难点</a:t>
            </a:r>
            <a:endParaRPr lang="zh-CN" altLang="en-US" sz="200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</a:rPr>
              <a:t>通过模拟理财实践，总结归纳理财原则。</a:t>
            </a:r>
            <a:endParaRPr lang="zh-CN" altLang="en-US" sz="200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教学策略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教学策略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390" y="2519870"/>
            <a:ext cx="3305034" cy="3302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教学策略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学法：自主、合作、探究学习</a:t>
            </a:r>
            <a:endParaRPr lang="zh-CN" altLang="en-US"/>
          </a:p>
          <a:p>
            <a:r>
              <a:rPr lang="zh-CN" altLang="en-US"/>
              <a:t>教法：情境模拟法、信息化教学手段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dgm="http://schemas.openxmlformats.org/drawingml/2006/diagram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50945"/>
            <a:ext cx="10969200" cy="705600"/>
          </a:xfrm>
        </p:spPr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399349">
            <a:off x="3024313" y="1351633"/>
            <a:ext cx="1418974" cy="688905"/>
            <a:chOff x="5076056" y="755869"/>
            <a:chExt cx="1418974" cy="688905"/>
          </a:xfrm>
        </p:grpSpPr>
        <p:sp>
          <p:nvSpPr>
            <p:cNvPr id="25" name="流程图: 联系 24"/>
            <p:cNvSpPr/>
            <p:nvPr/>
          </p:nvSpPr>
          <p:spPr>
            <a:xfrm rot="80047">
              <a:off x="5076056" y="987574"/>
              <a:ext cx="457200" cy="4572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b="1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 rot="19951459">
              <a:off x="5387034" y="755869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收听讲座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图示 4"/>
          <p:cNvGraphicFramePr/>
          <p:nvPr/>
        </p:nvGraphicFramePr>
        <p:xfrm>
          <a:off x="608330" y="1490345"/>
          <a:ext cx="2218690" cy="564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28" name="组合 27"/>
          <p:cNvGrpSpPr/>
          <p:nvPr/>
        </p:nvGrpSpPr>
        <p:grpSpPr>
          <a:xfrm rot="399349">
            <a:off x="4782253" y="1362991"/>
            <a:ext cx="1450205" cy="713179"/>
            <a:chOff x="5116097" y="726922"/>
            <a:chExt cx="1450205" cy="713179"/>
          </a:xfrm>
        </p:grpSpPr>
        <p:sp>
          <p:nvSpPr>
            <p:cNvPr id="29" name="流程图: 联系 28"/>
            <p:cNvSpPr/>
            <p:nvPr/>
          </p:nvSpPr>
          <p:spPr>
            <a:xfrm>
              <a:off x="5116097" y="982901"/>
              <a:ext cx="457200" cy="457200"/>
            </a:xfrm>
            <a:prstGeom prst="flowChartConnector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 rot="20056087">
              <a:off x="5394345" y="726922"/>
              <a:ext cx="11719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论坛投票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创建情境</a:t>
            </a:r>
            <a:endParaRPr lang="zh-CN" altLang="en-US"/>
          </a:p>
          <a:p>
            <a:r>
              <a:rPr lang="zh-CN" altLang="en-US"/>
              <a:t>巩固知识</a:t>
            </a:r>
            <a:endParaRPr lang="zh-CN" altLang="en-US"/>
          </a:p>
          <a:p>
            <a:r>
              <a:rPr lang="zh-CN" altLang="en-US"/>
              <a:t>体验探究</a:t>
            </a:r>
            <a:endParaRPr lang="zh-CN" altLang="en-US"/>
          </a:p>
          <a:p>
            <a:r>
              <a:rPr lang="zh-CN" altLang="en-US"/>
              <a:t>交流评价</a:t>
            </a:r>
            <a:endParaRPr lang="zh-CN" altLang="en-US"/>
          </a:p>
          <a:p>
            <a:r>
              <a:rPr lang="zh-CN" altLang="en-US"/>
              <a:t>总结提升</a:t>
            </a:r>
            <a:endParaRPr lang="zh-CN" altLang="en-US"/>
          </a:p>
          <a:p>
            <a:r>
              <a:rPr lang="zh-CN" altLang="en-US"/>
              <a:t>拓展运用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教学创新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1. 恰当应用信息技术和资源，促进学生自主学习</a:t>
            </a:r>
            <a:endParaRPr lang="zh-CN" altLang="en-US"/>
          </a:p>
          <a:p>
            <a:r>
              <a:rPr lang="zh-CN" altLang="en-US"/>
              <a:t>2. 巧妙设计模拟理财活动，践行德育教学理念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利用信息化教学手段，学生自主、探究学习</a:t>
            </a:r>
            <a:endParaRPr lang="zh-CN" altLang="en-US"/>
          </a:p>
          <a:p>
            <a:r>
              <a:rPr lang="zh-CN" altLang="en-US"/>
              <a:t>通过模拟理财实践活动，实现做中教、做中学</a:t>
            </a:r>
            <a:endParaRPr lang="zh-CN" altLang="en-US"/>
          </a:p>
          <a:p>
            <a:r>
              <a:rPr lang="zh-CN" altLang="en-US"/>
              <a:t>践行以生为本，育德于行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WPS 演示</Application>
  <PresentationFormat>宽屏</PresentationFormat>
  <Paragraphs>94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理财有道</vt:lpstr>
      <vt:lpstr>目录</vt:lpstr>
      <vt:lpstr>教材分析</vt:lpstr>
      <vt:lpstr>教材分析</vt:lpstr>
      <vt:lpstr>PowerPoint 演示文稿</vt:lpstr>
      <vt:lpstr>学情分析</vt:lpstr>
      <vt:lpstr>学情分析</vt:lpstr>
      <vt:lpstr>教学目标</vt:lpstr>
      <vt:lpstr>教学目标</vt:lpstr>
      <vt:lpstr>教学目标</vt:lpstr>
      <vt:lpstr>教学策略</vt:lpstr>
      <vt:lpstr>教学策略</vt:lpstr>
      <vt:lpstr>教学过程</vt:lpstr>
      <vt:lpstr>教学过程</vt:lpstr>
      <vt:lpstr>教学过程</vt:lpstr>
      <vt:lpstr>教学过程</vt:lpstr>
      <vt:lpstr>教学创新</vt:lpstr>
      <vt:lpstr>教学创新</vt:lpstr>
      <vt:lpstr>教学创新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NEEA</cp:lastModifiedBy>
  <cp:revision>195</cp:revision>
  <dcterms:created xsi:type="dcterms:W3CDTF">2019-06-19T02:08:00Z</dcterms:created>
  <dcterms:modified xsi:type="dcterms:W3CDTF">2022-07-19T01:26:07Z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A74418DC13F24594A9664F47794C2E98</vt:lpwstr>
  </property>
</Properties>
</file>