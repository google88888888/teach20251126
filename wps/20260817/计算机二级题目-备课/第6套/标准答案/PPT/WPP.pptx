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21" r:id="rId12"/>
    <p:sldId id="418" r:id="rId13"/>
    <p:sldId id="422" r:id="rId14"/>
    <p:sldId id="419" r:id="rId15"/>
    <p:sldId id="42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090"/>
    <a:srgbClr val="E04B2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1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000F8-565F-47C8-934D-04C4161F3991}" type="doc">
      <dgm:prSet loTypeId="urn:microsoft.com/office/officeart/2005/8/layout/hList6" loCatId="list" qsTypeId="urn:microsoft.com/office/officeart/2005/8/quickstyle/simple1" qsCatId="simple" csTypeId="urn:microsoft.com/office/officeart/2005/8/colors/colorful4" csCatId="accent1" phldr="0"/>
      <dgm:spPr/>
      <dgm:t>
        <a:bodyPr/>
        <a:p>
          <a:endParaRPr lang="zh-CN" altLang="en-US"/>
        </a:p>
      </dgm:t>
    </dgm:pt>
    <dgm:pt modelId="{B35DC22E-F108-4B3B-9710-DB9DE75343E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中纹谐音自中文，但在一定程度上不同于中文。</a:t>
          </a:r>
          <a:r>
            <a:rPr lang="zh-CN" altLang="en-US"/>
            <a:t/>
          </a:r>
          <a:endParaRPr lang="zh-CN" altLang="en-US"/>
        </a:p>
      </dgm:t>
    </dgm:pt>
    <dgm:pt modelId="{EBB93E41-453D-43F8-A2E3-A239D5DD76EF}" cxnId="{6C147A47-CBC2-4A4C-BF10-E1AD2D6EB970}" type="parTrans">
      <dgm:prSet/>
      <dgm:spPr/>
      <dgm:t>
        <a:bodyPr/>
        <a:p>
          <a:endParaRPr lang="zh-CN" altLang="en-US"/>
        </a:p>
      </dgm:t>
    </dgm:pt>
    <dgm:pt modelId="{AE268020-85A8-42C2-B5CC-9F1AA3B5FF0D}" cxnId="{6C147A47-CBC2-4A4C-BF10-E1AD2D6EB970}" type="sibTrans">
      <dgm:prSet/>
      <dgm:spPr/>
      <dgm:t>
        <a:bodyPr/>
        <a:p>
          <a:endParaRPr lang="zh-CN" altLang="en-US"/>
        </a:p>
      </dgm:t>
    </dgm:pt>
    <dgm:pt modelId="{C9063984-DC7B-48F5-805E-1652A370099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「中」是中华。「纹」者「文」也，「文」既可以表示纹理，更有文字、文章、文采等意义。古字典《篇海》中记载：凡錦綺黼肅之文皆曰紋。</a:t>
          </a:r>
          <a:r>
            <a:rPr lang="zh-CN" altLang="en-US"/>
            <a:t/>
          </a:r>
          <a:endParaRPr lang="zh-CN" altLang="en-US"/>
        </a:p>
      </dgm:t>
    </dgm:pt>
    <dgm:pt modelId="{4501F976-EC66-4C6E-903A-F6384F18406A}" cxnId="{6C9CC77A-645D-444A-A863-690A70FD8F21}" type="parTrans">
      <dgm:prSet/>
      <dgm:spPr/>
    </dgm:pt>
    <dgm:pt modelId="{9514A086-0B4D-42AE-8D4B-C3C9D481CBC6}" cxnId="{6C9CC77A-645D-444A-A863-690A70FD8F21}" type="sibTrans">
      <dgm:prSet/>
      <dgm:spPr/>
    </dgm:pt>
    <dgm:pt modelId="{23131DDC-A01B-4344-BF1A-BB816EB5AC77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中纹不但能在精神层面表达寓意，而且还是艺术瑰宝。</a:t>
          </a:r>
          <a:r>
            <a:rPr lang="zh-CN" altLang="en-US"/>
            <a:t/>
          </a:r>
          <a:endParaRPr lang="zh-CN" altLang="en-US"/>
        </a:p>
      </dgm:t>
    </dgm:pt>
    <dgm:pt modelId="{12FEF91F-8EE0-4AC9-A4D2-80055CFE585C}" cxnId="{320BB77C-770D-4BF1-941D-687257C787AC}" type="parTrans">
      <dgm:prSet/>
      <dgm:spPr/>
      <dgm:t>
        <a:bodyPr/>
        <a:p>
          <a:endParaRPr lang="zh-CN" altLang="en-US"/>
        </a:p>
      </dgm:t>
    </dgm:pt>
    <dgm:pt modelId="{185FD9E9-AAAD-4507-8496-8C5AE802B8F3}" cxnId="{320BB77C-770D-4BF1-941D-687257C787AC}" type="sibTrans">
      <dgm:prSet/>
      <dgm:spPr/>
      <dgm:t>
        <a:bodyPr/>
        <a:p>
          <a:endParaRPr lang="zh-CN" altLang="en-US"/>
        </a:p>
      </dgm:t>
    </dgm:pt>
    <dgm:pt modelId="{1D21217A-3F78-4D7C-8C84-5A534C7BC9D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它们有的大幅分散，有的对称和谐、有的色彩浓郁，有的低调深沉、有的直白，有的神秘。像是默默地讲述着发生过的故事，让人着迷。</a:t>
          </a:r>
          <a:r>
            <a:rPr lang="zh-CN" altLang="en-US"/>
            <a:t/>
          </a:r>
          <a:endParaRPr lang="zh-CN" altLang="en-US"/>
        </a:p>
      </dgm:t>
    </dgm:pt>
    <dgm:pt modelId="{D7CBCC45-7872-4EBE-B013-08EBD3E1412B}" cxnId="{C0374866-D723-4955-82D8-F50FBF7E903A}" type="parTrans">
      <dgm:prSet/>
      <dgm:spPr/>
    </dgm:pt>
    <dgm:pt modelId="{40A626FB-2E07-48FC-8323-CFC8A0FFF843}" cxnId="{C0374866-D723-4955-82D8-F50FBF7E903A}" type="sibTrans">
      <dgm:prSet/>
      <dgm:spPr/>
    </dgm:pt>
    <dgm:pt modelId="{AAD6C221-DD80-42A7-ADB3-2F6C0D7FA11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神秘的东方文明已千年至今，源远流长。</a:t>
          </a:r>
          <a:r>
            <a:rPr lang="zh-CN" altLang="en-US"/>
            <a:t/>
          </a:r>
          <a:endParaRPr lang="zh-CN" altLang="en-US"/>
        </a:p>
      </dgm:t>
    </dgm:pt>
    <dgm:pt modelId="{358DB283-DA3B-40D5-83BA-EEE6A1F7F1AB}" cxnId="{69409191-75F0-42D6-969C-F85912FBAE6E}" type="parTrans">
      <dgm:prSet/>
      <dgm:spPr/>
      <dgm:t>
        <a:bodyPr/>
        <a:p>
          <a:endParaRPr lang="zh-CN" altLang="en-US"/>
        </a:p>
      </dgm:t>
    </dgm:pt>
    <dgm:pt modelId="{D69A2F7E-A0DD-4385-AB14-80EBD0482338}" cxnId="{69409191-75F0-42D6-969C-F85912FBAE6E}" type="sibTrans">
      <dgm:prSet/>
      <dgm:spPr/>
      <dgm:t>
        <a:bodyPr/>
        <a:p>
          <a:endParaRPr lang="zh-CN" altLang="en-US"/>
        </a:p>
      </dgm:t>
    </dgm:pt>
    <dgm:pt modelId="{D5DA644A-6630-4C82-BBDA-381435C415B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我们希望将那些逐渐让人遗忘却蕴含魅力的图案、符号、纹路甚至色彩重新呈现在WPS演示中，将一段积淀已久的魅力艺术带回你身边。</a:t>
          </a:r>
          <a:r>
            <a:rPr lang="zh-CN" altLang="en-US"/>
            <a:t/>
          </a:r>
          <a:endParaRPr lang="zh-CN" altLang="en-US"/>
        </a:p>
      </dgm:t>
    </dgm:pt>
    <dgm:pt modelId="{52DFB800-3444-457B-9AB9-48072CFA31D9}" cxnId="{67E85F7A-EE29-49FB-8D58-6F34299B220C}" type="parTrans">
      <dgm:prSet/>
      <dgm:spPr/>
    </dgm:pt>
    <dgm:pt modelId="{D344C33E-DE31-4BA4-8C3D-30641478AFD3}" cxnId="{67E85F7A-EE29-49FB-8D58-6F34299B220C}" type="sibTrans">
      <dgm:prSet/>
      <dgm:spPr/>
    </dgm:pt>
    <dgm:pt modelId="{A944CCA1-9FB5-4093-86A8-89045A44E778}" type="pres">
      <dgm:prSet presAssocID="{ACC000F8-565F-47C8-934D-04C4161F3991}" presName="Name0" presStyleCnt="0">
        <dgm:presLayoutVars>
          <dgm:dir/>
          <dgm:resizeHandles val="exact"/>
        </dgm:presLayoutVars>
      </dgm:prSet>
      <dgm:spPr/>
    </dgm:pt>
    <dgm:pt modelId="{8A0A2265-FBC1-4B12-98E0-7D91387047CB}" type="pres">
      <dgm:prSet presAssocID="{B35DC22E-F108-4B3B-9710-DB9DE75343ED}" presName="node" presStyleLbl="node1" presStyleIdx="0" presStyleCnt="3">
        <dgm:presLayoutVars>
          <dgm:bulletEnabled val="1"/>
        </dgm:presLayoutVars>
      </dgm:prSet>
      <dgm:spPr/>
    </dgm:pt>
    <dgm:pt modelId="{0EBC7ECC-B294-4427-ABE7-478E5559C6EE}" type="pres">
      <dgm:prSet presAssocID="{AE268020-85A8-42C2-B5CC-9F1AA3B5FF0D}" presName="sibTrans" presStyleCnt="0"/>
      <dgm:spPr/>
    </dgm:pt>
    <dgm:pt modelId="{5CD5B18C-5B5C-41F1-969F-468111D317DF}" type="pres">
      <dgm:prSet presAssocID="{23131DDC-A01B-4344-BF1A-BB816EB5AC77}" presName="node" presStyleLbl="node1" presStyleIdx="1" presStyleCnt="3">
        <dgm:presLayoutVars>
          <dgm:bulletEnabled val="1"/>
        </dgm:presLayoutVars>
      </dgm:prSet>
      <dgm:spPr/>
    </dgm:pt>
    <dgm:pt modelId="{2D730973-E442-4361-B2A7-2FE0B894A1F4}" type="pres">
      <dgm:prSet presAssocID="{185FD9E9-AAAD-4507-8496-8C5AE802B8F3}" presName="sibTrans" presStyleCnt="0"/>
      <dgm:spPr/>
    </dgm:pt>
    <dgm:pt modelId="{52D58EB8-4BA0-4252-B53D-2EF30D5347E3}" type="pres">
      <dgm:prSet presAssocID="{AAD6C221-DD80-42A7-ADB3-2F6C0D7FA118}" presName="node" presStyleLbl="node1" presStyleIdx="2" presStyleCnt="3">
        <dgm:presLayoutVars>
          <dgm:bulletEnabled val="1"/>
        </dgm:presLayoutVars>
      </dgm:prSet>
      <dgm:spPr/>
    </dgm:pt>
  </dgm:ptLst>
  <dgm:cxnLst>
    <dgm:cxn modelId="{6C147A47-CBC2-4A4C-BF10-E1AD2D6EB970}" srcId="{ACC000F8-565F-47C8-934D-04C4161F3991}" destId="{B35DC22E-F108-4B3B-9710-DB9DE75343ED}" srcOrd="0" destOrd="0" parTransId="{EBB93E41-453D-43F8-A2E3-A239D5DD76EF}" sibTransId="{AE268020-85A8-42C2-B5CC-9F1AA3B5FF0D}"/>
    <dgm:cxn modelId="{6C9CC77A-645D-444A-A863-690A70FD8F21}" srcId="{B35DC22E-F108-4B3B-9710-DB9DE75343ED}" destId="{C9063984-DC7B-48F5-805E-1652A370099D}" srcOrd="0" destOrd="0" parTransId="{4501F976-EC66-4C6E-903A-F6384F18406A}" sibTransId="{9514A086-0B4D-42AE-8D4B-C3C9D481CBC6}"/>
    <dgm:cxn modelId="{320BB77C-770D-4BF1-941D-687257C787AC}" srcId="{ACC000F8-565F-47C8-934D-04C4161F3991}" destId="{23131DDC-A01B-4344-BF1A-BB816EB5AC77}" srcOrd="1" destOrd="0" parTransId="{12FEF91F-8EE0-4AC9-A4D2-80055CFE585C}" sibTransId="{185FD9E9-AAAD-4507-8496-8C5AE802B8F3}"/>
    <dgm:cxn modelId="{C0374866-D723-4955-82D8-F50FBF7E903A}" srcId="{23131DDC-A01B-4344-BF1A-BB816EB5AC77}" destId="{1D21217A-3F78-4D7C-8C84-5A534C7BC9DA}" srcOrd="0" destOrd="1" parTransId="{D7CBCC45-7872-4EBE-B013-08EBD3E1412B}" sibTransId="{40A626FB-2E07-48FC-8323-CFC8A0FFF843}"/>
    <dgm:cxn modelId="{69409191-75F0-42D6-969C-F85912FBAE6E}" srcId="{ACC000F8-565F-47C8-934D-04C4161F3991}" destId="{AAD6C221-DD80-42A7-ADB3-2F6C0D7FA118}" srcOrd="2" destOrd="0" parTransId="{358DB283-DA3B-40D5-83BA-EEE6A1F7F1AB}" sibTransId="{D69A2F7E-A0DD-4385-AB14-80EBD0482338}"/>
    <dgm:cxn modelId="{67E85F7A-EE29-49FB-8D58-6F34299B220C}" srcId="{AAD6C221-DD80-42A7-ADB3-2F6C0D7FA118}" destId="{D5DA644A-6630-4C82-BBDA-381435C415BF}" srcOrd="0" destOrd="2" parTransId="{52DFB800-3444-457B-9AB9-48072CFA31D9}" sibTransId="{D344C33E-DE31-4BA4-8C3D-30641478AFD3}"/>
    <dgm:cxn modelId="{186816F9-8A8F-4DC7-8852-1F1C1C5B6514}" type="presOf" srcId="{ACC000F8-565F-47C8-934D-04C4161F3991}" destId="{A944CCA1-9FB5-4093-86A8-89045A44E778}" srcOrd="0" destOrd="0" presId="urn:microsoft.com/office/officeart/2005/8/layout/hList6"/>
    <dgm:cxn modelId="{23F8C2F9-C9D8-4A9F-869A-4FD6546A5454}" type="presParOf" srcId="{A944CCA1-9FB5-4093-86A8-89045A44E778}" destId="{8A0A2265-FBC1-4B12-98E0-7D91387047CB}" srcOrd="0" destOrd="0" presId="urn:microsoft.com/office/officeart/2005/8/layout/hList6"/>
    <dgm:cxn modelId="{D280A261-1A82-4572-86A7-12A963D425B2}" type="presOf" srcId="{B35DC22E-F108-4B3B-9710-DB9DE75343ED}" destId="{8A0A2265-FBC1-4B12-98E0-7D91387047CB}" srcOrd="0" destOrd="0" presId="urn:microsoft.com/office/officeart/2005/8/layout/hList6"/>
    <dgm:cxn modelId="{6F4C5644-68E5-49D8-AD22-07E162D840FB}" type="presOf" srcId="{C9063984-DC7B-48F5-805E-1652A370099D}" destId="{8A0A2265-FBC1-4B12-98E0-7D91387047CB}" srcOrd="0" destOrd="1" presId="urn:microsoft.com/office/officeart/2005/8/layout/hList6"/>
    <dgm:cxn modelId="{433B9C39-1E86-4858-B7E1-4B0E1D1D133A}" type="presParOf" srcId="{A944CCA1-9FB5-4093-86A8-89045A44E778}" destId="{0EBC7ECC-B294-4427-ABE7-478E5559C6EE}" srcOrd="1" destOrd="0" presId="urn:microsoft.com/office/officeart/2005/8/layout/hList6"/>
    <dgm:cxn modelId="{DF7A53B0-4655-4272-84F9-87FF685842E6}" type="presParOf" srcId="{A944CCA1-9FB5-4093-86A8-89045A44E778}" destId="{5CD5B18C-5B5C-41F1-969F-468111D317DF}" srcOrd="2" destOrd="0" presId="urn:microsoft.com/office/officeart/2005/8/layout/hList6"/>
    <dgm:cxn modelId="{1CC7D1F1-4956-47D8-9F02-CE91AE82C64D}" type="presOf" srcId="{23131DDC-A01B-4344-BF1A-BB816EB5AC77}" destId="{5CD5B18C-5B5C-41F1-969F-468111D317DF}" srcOrd="0" destOrd="0" presId="urn:microsoft.com/office/officeart/2005/8/layout/hList6"/>
    <dgm:cxn modelId="{2696E3FB-76FE-47BC-AF99-6C6165B0CA44}" type="presOf" srcId="{1D21217A-3F78-4D7C-8C84-5A534C7BC9DA}" destId="{5CD5B18C-5B5C-41F1-969F-468111D317DF}" srcOrd="0" destOrd="1" presId="urn:microsoft.com/office/officeart/2005/8/layout/hList6"/>
    <dgm:cxn modelId="{3F360813-EAC5-4E12-B932-952B9A953314}" type="presParOf" srcId="{A944CCA1-9FB5-4093-86A8-89045A44E778}" destId="{2D730973-E442-4361-B2A7-2FE0B894A1F4}" srcOrd="3" destOrd="0" presId="urn:microsoft.com/office/officeart/2005/8/layout/hList6"/>
    <dgm:cxn modelId="{72A95893-A0F2-4045-8548-C321BFA77C41}" type="presParOf" srcId="{A944CCA1-9FB5-4093-86A8-89045A44E778}" destId="{52D58EB8-4BA0-4252-B53D-2EF30D5347E3}" srcOrd="4" destOrd="0" presId="urn:microsoft.com/office/officeart/2005/8/layout/hList6"/>
    <dgm:cxn modelId="{BBA5008A-8AC2-4D89-94E1-966443878851}" type="presOf" srcId="{AAD6C221-DD80-42A7-ADB3-2F6C0D7FA118}" destId="{52D58EB8-4BA0-4252-B53D-2EF30D5347E3}" srcOrd="0" destOrd="0" presId="urn:microsoft.com/office/officeart/2005/8/layout/hList6"/>
    <dgm:cxn modelId="{C9E91F64-83AE-49AD-A723-8381E28F5C4D}" type="presOf" srcId="{D5DA644A-6630-4C82-BBDA-381435C415BF}" destId="{52D58EB8-4BA0-4252-B53D-2EF30D5347E3}" srcOrd="0" destOrd="1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800000" cy="3600000"/>
        <a:chOff x="0" y="0"/>
        <a:chExt cx="10800000" cy="3600000"/>
      </a:xfrm>
    </dsp:grpSpPr>
    <dsp:sp modelId="{8A0A2265-FBC1-4B12-98E0-7D91387047CB}">
      <dsp:nvSpPr>
        <dsp:cNvPr id="3" name="流程图: 手动操作 2"/>
        <dsp:cNvSpPr/>
      </dsp:nvSpPr>
      <dsp:spPr bwMode="white">
        <a:xfrm rot="-5400000">
          <a:off x="-85714" y="85714"/>
          <a:ext cx="3600000" cy="3428571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中纹谐音自中文，但在一定程度上不同于中文。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ym typeface="+mn-ea"/>
            </a:rPr>
            <a:t>「中」是中华。「纹」者「文」也，「文」既可以表示纹理，更有文字、文章、文采等意义。古字典《篇海》中记载：凡錦綺黼肅之文皆曰紋。</a:t>
          </a:r>
          <a:endParaRPr lang="zh-CN" altLang="en-US"/>
        </a:p>
      </dsp:txBody>
      <dsp:txXfrm rot="-5400000">
        <a:off x="-85714" y="85714"/>
        <a:ext cx="3600000" cy="3428571"/>
      </dsp:txXfrm>
    </dsp:sp>
    <dsp:sp modelId="{5CD5B18C-5B5C-41F1-969F-468111D317DF}">
      <dsp:nvSpPr>
        <dsp:cNvPr id="4" name="流程图: 手动操作 3"/>
        <dsp:cNvSpPr/>
      </dsp:nvSpPr>
      <dsp:spPr bwMode="white">
        <a:xfrm rot="-5400000">
          <a:off x="3600000" y="85714"/>
          <a:ext cx="3600000" cy="3428571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4">
            <a:hueOff val="-720000"/>
            <a:satOff val="-8823"/>
            <a:lumOff val="137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中纹不但能在精神层面表达寓意，而且还是艺术瑰宝。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ym typeface="+mn-ea"/>
            </a:rPr>
            <a:t>它们有的大幅分散，有的对称和谐、有的色彩浓郁，有的低调深沉、有的直白，有的神秘。像是默默地讲述着发生过的故事，让人着迷。</a:t>
          </a:r>
          <a:endParaRPr lang="zh-CN" altLang="en-US"/>
        </a:p>
      </dsp:txBody>
      <dsp:txXfrm rot="-5400000">
        <a:off x="3600000" y="85714"/>
        <a:ext cx="3600000" cy="3428571"/>
      </dsp:txXfrm>
    </dsp:sp>
    <dsp:sp modelId="{52D58EB8-4BA0-4252-B53D-2EF30D5347E3}">
      <dsp:nvSpPr>
        <dsp:cNvPr id="5" name="流程图: 手动操作 4"/>
        <dsp:cNvSpPr/>
      </dsp:nvSpPr>
      <dsp:spPr bwMode="white">
        <a:xfrm rot="-5400000">
          <a:off x="7285714" y="85714"/>
          <a:ext cx="3600000" cy="3428571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4">
            <a:hueOff val="-1440000"/>
            <a:satOff val="-17646"/>
            <a:lumOff val="274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神秘的东方文明已千年至今，源远流长。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ym typeface="+mn-ea"/>
            </a:rPr>
            <a:t>我们希望将那些逐渐让人遗忘却蕴含魅力的图案、符号、纹路甚至色彩重新呈现在WPS演示中，将一段积淀已久的魅力艺术带回你身边。</a:t>
          </a:r>
          <a:endParaRPr lang="zh-CN" altLang="en-US"/>
        </a:p>
      </dsp:txBody>
      <dsp:txXfrm rot="-5400000">
        <a:off x="7285714" y="85714"/>
        <a:ext cx="3600000" cy="3428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>
          <a:gsLst>
            <a:gs pos="0">
              <a:schemeClr val="tx1"/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6" descr="封面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340" y="1273810"/>
            <a:ext cx="10058400" cy="5584190"/>
          </a:xfrm>
          <a:prstGeom prst="rect">
            <a:avLst/>
          </a:prstGeom>
        </p:spPr>
      </p:pic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80" y="1595755"/>
            <a:ext cx="9799320" cy="10172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ctr">
              <a:lnSpc>
                <a:spcPct val="100000"/>
              </a:lnSpc>
              <a:defRPr sz="60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1198880" y="2773045"/>
            <a:ext cx="9799320" cy="46164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p">
        <p:tmplLst>
          <p:tmpl lvl="1">
            <p:tnLst>
              <p:par>
                <p:cTn presetID="55" presetClass="entr" presetSubtype="0" fill="hold" grpId="0" nodeType="afterEffect">
                  <p:stCondLst>
                    <p:cond delay="0"/>
                  </p:stCondLst>
                  <p:iterate type="lt">
                    <p:tmPct val="20000"/>
                  </p:iterate>
                  <p:childTnLst>
                    <p:set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1"/>
      <p:bldP spid="8" grpId="1" build="p">
        <p:tmplLst>
          <p:tmpl lvl="1">
            <p:tnLst>
              <p:par>
                <p:cTn presetID="55" presetClass="entr" presetSubtype="0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图片6" descr="F8B737D0-0C7A-40E0-B351-0F7B18D2EDD6.png">
            <a:hlinkClick r:id="rId2" action="ppaction://hlinksldjump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085590"/>
            <a:ext cx="3696335" cy="2772410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379605" y="728980"/>
            <a:ext cx="1080000" cy="5400000"/>
          </a:xfrm>
          <a:prstGeom prst="rect">
            <a:avLst/>
          </a:prstGeom>
        </p:spPr>
        <p:txBody>
          <a:bodyPr vert="eaVert" wrap="square" lIns="90170" tIns="46990" rIns="90170" bIns="46990" rtlCol="0" anchor="ctr" anchorCtr="0">
            <a:normAutofit/>
          </a:bodyPr>
          <a:lstStyle>
            <a:lvl1pPr algn="l"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7962285" y="728980"/>
            <a:ext cx="1080000" cy="5400000"/>
          </a:xfrm>
          <a:prstGeom prst="rect">
            <a:avLst/>
          </a:prstGeom>
        </p:spPr>
        <p:txBody>
          <a:bodyPr vert="eaVert" wrap="square" lIns="90000" tIns="46800" rIns="90000" bIns="46800" rtlCol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>
        <p:tmplLst>
          <p:tmpl lvl="1">
            <p:tnLst>
              <p:par>
                <p:cTn presetID="22" presetClass="entr" presetSubtype="1" fill="hold" grpId="0" nodeType="afterEffect">
                  <p:stCondLst>
                    <p:cond delay="0"/>
                  </p:stCondLst>
                  <p:childTnLst>
                    <p:set>
                      <p:cBhvr>
                        <p:cTn dur="1000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/>
      <p:bldP spid="8" grpId="1" build="p">
        <p:tmplLst>
          <p:tmpl lvl="1">
            <p:tnLst>
              <p:par>
                <p:cTn presetID="22" presetClass="entr" presetSubtype="4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3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3"/>
          <p:cNvSpPr>
            <a:spLocks noGrp="1"/>
          </p:cNvSpPr>
          <p:nvPr>
            <p:ph type="body" idx="14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44.xml"/><Relationship Id="rId14" Type="http://schemas.openxmlformats.org/officeDocument/2006/relationships/image" Target="../media/image3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背景图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91345" y="0"/>
            <a:ext cx="2700655" cy="1804670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5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defRPr sz="18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●"/>
        <a:defRPr sz="16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Wingdings" panose="05000000000000000000" charset="0"/>
        <a:buChar char=""/>
        <a:defRPr sz="14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48.xml"/><Relationship Id="rId7" Type="http://schemas.openxmlformats.org/officeDocument/2006/relationships/image" Target="../media/image6.png"/><Relationship Id="rId6" Type="http://schemas.openxmlformats.org/officeDocument/2006/relationships/slide" Target="slide9.xml"/><Relationship Id="rId5" Type="http://schemas.openxmlformats.org/officeDocument/2006/relationships/image" Target="../media/image5.png"/><Relationship Id="rId4" Type="http://schemas.openxmlformats.org/officeDocument/2006/relationships/slide" Target="slide5.xml"/><Relationship Id="rId3" Type="http://schemas.openxmlformats.org/officeDocument/2006/relationships/image" Target="../media/image4.png"/><Relationship Id="rId2" Type="http://schemas.openxmlformats.org/officeDocument/2006/relationships/slide" Target="slide3.xml"/><Relationship Id="rId1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0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5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53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54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6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8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9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zh-CN"/>
              <a:t>发现「中纹」之美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中华艺术始于「中文」，也始于</a:t>
            </a:r>
            <a:r>
              <a:rPr lang="zh-CN" altLang="en-US">
                <a:sym typeface="+mn-ea"/>
              </a:rPr>
              <a:t>「</a:t>
            </a:r>
            <a:r>
              <a:rPr lang="zh-CN" altLang="en-US"/>
              <a:t>中纹</a:t>
            </a:r>
            <a:r>
              <a:rPr lang="zh-CN" altLang="en-US">
                <a:sym typeface="+mn-ea"/>
              </a:rPr>
              <a:t>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advTm="5000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1" name="图片 1" descr="图像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H="1">
            <a:off x="0" y="-14605"/>
            <a:ext cx="12192635" cy="2795905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282" name="文本框 2"/>
          <p:cNvSpPr txBox="1"/>
          <p:nvPr/>
        </p:nvSpPr>
        <p:spPr>
          <a:xfrm>
            <a:off x="10719118" y="469583"/>
            <a:ext cx="923290" cy="1244600"/>
          </a:xfrm>
          <a:prstGeom prst="rect">
            <a:avLst/>
          </a:prstGeom>
          <a:ln w="3175">
            <a:miter lim="400000"/>
          </a:ln>
        </p:spPr>
        <p:txBody>
          <a:bodyPr vert="eaVert" wrap="none" lIns="0" tIns="0" rIns="0" bIns="0" anchor="ctr" anchorCtr="0">
            <a:spAutoFit/>
          </a:bodyPr>
          <a:lstStyle>
            <a:lvl1pPr defTabSz="863600">
              <a:defRPr sz="2400" b="0">
                <a:solidFill>
                  <a:srgbClr val="FFFFFF"/>
                </a:solidFill>
                <a:latin typeface="汉仪昌黎宋刻本(精修版)" panose="00020600040101010101" charset="-122"/>
                <a:ea typeface="汉仪昌黎宋刻本(精修版)" panose="00020600040101010101" charset="-122"/>
                <a:cs typeface="汉仪昌黎宋刻本(精修版)" panose="00020600040101010101" charset="-122"/>
                <a:sym typeface="汉仪昌黎宋刻本(精修版)" panose="00020600040101010101" charset="-122"/>
              </a:defRPr>
            </a:lvl1pPr>
          </a:lstStyle>
          <a:p>
            <a:pPr algn="l"/>
            <a:r>
              <a:rPr sz="4400" b="1" spc="5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目录</a:t>
            </a:r>
            <a:endParaRPr sz="4400" b="1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  <a:p>
            <a:pPr algn="l"/>
            <a:r>
              <a:rPr sz="160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CONTENTS</a:t>
            </a:r>
            <a:endParaRPr lang="en-US" altLang="zh-CN" sz="1600" b="1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3">
            <a:hlinkClick r:id="rId2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3446145"/>
            <a:ext cx="4819650" cy="552450"/>
          </a:xfrm>
          <a:prstGeom prst="rect">
            <a:avLst/>
          </a:prstGeom>
        </p:spPr>
      </p:pic>
      <p:pic>
        <p:nvPicPr>
          <p:cNvPr id="15" name="图片 4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4444365"/>
            <a:ext cx="5124450" cy="552450"/>
          </a:xfrm>
          <a:prstGeom prst="rect">
            <a:avLst/>
          </a:prstGeom>
        </p:spPr>
      </p:pic>
      <p:pic>
        <p:nvPicPr>
          <p:cNvPr id="16" name="图片 5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3775" y="5442585"/>
            <a:ext cx="5124450" cy="5524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advTm="5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发现「中纹」之美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中华艺术始于「中文」，也始于「中纹」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5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把深邃的中纹艺术，变成你身边的艺术</a:t>
            </a:r>
            <a:endParaRPr lang="zh-CN" altLang="en-US"/>
          </a:p>
        </p:txBody>
      </p:sp>
      <p:graphicFrame>
        <p:nvGraphicFramePr>
          <p:cNvPr id="4" name="图示 3"/>
          <p:cNvGraphicFramePr/>
          <p:nvPr/>
        </p:nvGraphicFramePr>
        <p:xfrm>
          <a:off x="875665" y="1875155"/>
          <a:ext cx="10800000" cy="36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 advTm="5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中纹艺术之「</a:t>
            </a:r>
            <a:r>
              <a:rPr lang="zh-CN"/>
              <a:t>图形</a:t>
            </a:r>
            <a:r>
              <a:t>」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图案图腾组成的</a:t>
            </a:r>
            <a:r>
              <a:t>的「边线」</a:t>
            </a:r>
            <a:r>
              <a:rPr lang="zh-CN" altLang="en-US"/>
              <a:t>「符号」「底纹」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5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6" name="边线纹路图片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四方连续图形"/>
          <p:cNvSpPr/>
          <p:nvPr/>
        </p:nvSpPr>
        <p:spPr>
          <a:xfrm>
            <a:off x="8561705" y="3242945"/>
            <a:ext cx="2260600" cy="2260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418"/>
                </a:moveTo>
                <a:lnTo>
                  <a:pt x="21600" y="11337"/>
                </a:lnTo>
                <a:lnTo>
                  <a:pt x="13502" y="11337"/>
                </a:lnTo>
                <a:lnTo>
                  <a:pt x="13502" y="14578"/>
                </a:lnTo>
                <a:lnTo>
                  <a:pt x="15663" y="14578"/>
                </a:lnTo>
                <a:lnTo>
                  <a:pt x="15663" y="15659"/>
                </a:lnTo>
                <a:lnTo>
                  <a:pt x="13502" y="15659"/>
                </a:lnTo>
                <a:lnTo>
                  <a:pt x="13502" y="17818"/>
                </a:lnTo>
                <a:lnTo>
                  <a:pt x="12422" y="17818"/>
                </a:lnTo>
                <a:lnTo>
                  <a:pt x="12422" y="3779"/>
                </a:lnTo>
                <a:lnTo>
                  <a:pt x="13502" y="3779"/>
                </a:lnTo>
                <a:lnTo>
                  <a:pt x="13502" y="5938"/>
                </a:lnTo>
                <a:lnTo>
                  <a:pt x="15663" y="5938"/>
                </a:lnTo>
                <a:lnTo>
                  <a:pt x="15663" y="7018"/>
                </a:lnTo>
                <a:lnTo>
                  <a:pt x="13502" y="7018"/>
                </a:lnTo>
                <a:lnTo>
                  <a:pt x="13502" y="10259"/>
                </a:lnTo>
                <a:lnTo>
                  <a:pt x="21600" y="10259"/>
                </a:lnTo>
                <a:lnTo>
                  <a:pt x="21600" y="9179"/>
                </a:lnTo>
                <a:lnTo>
                  <a:pt x="14579" y="9179"/>
                </a:lnTo>
                <a:lnTo>
                  <a:pt x="14579" y="8099"/>
                </a:lnTo>
                <a:lnTo>
                  <a:pt x="16740" y="8099"/>
                </a:lnTo>
                <a:lnTo>
                  <a:pt x="16740" y="5938"/>
                </a:lnTo>
                <a:lnTo>
                  <a:pt x="17820" y="5938"/>
                </a:lnTo>
                <a:lnTo>
                  <a:pt x="17820" y="8099"/>
                </a:lnTo>
                <a:lnTo>
                  <a:pt x="21059" y="8099"/>
                </a:lnTo>
                <a:lnTo>
                  <a:pt x="21059" y="0"/>
                </a:lnTo>
                <a:lnTo>
                  <a:pt x="19978" y="0"/>
                </a:lnTo>
                <a:lnTo>
                  <a:pt x="19978" y="7022"/>
                </a:lnTo>
                <a:lnTo>
                  <a:pt x="18899" y="7022"/>
                </a:lnTo>
                <a:lnTo>
                  <a:pt x="18899" y="4862"/>
                </a:lnTo>
                <a:lnTo>
                  <a:pt x="16740" y="4862"/>
                </a:lnTo>
                <a:lnTo>
                  <a:pt x="16740" y="3782"/>
                </a:lnTo>
                <a:lnTo>
                  <a:pt x="18899" y="3782"/>
                </a:lnTo>
                <a:lnTo>
                  <a:pt x="18899" y="541"/>
                </a:lnTo>
                <a:lnTo>
                  <a:pt x="2702" y="541"/>
                </a:lnTo>
                <a:lnTo>
                  <a:pt x="2702" y="3782"/>
                </a:lnTo>
                <a:lnTo>
                  <a:pt x="4862" y="3782"/>
                </a:lnTo>
                <a:lnTo>
                  <a:pt x="4862" y="4862"/>
                </a:lnTo>
                <a:lnTo>
                  <a:pt x="2702" y="4862"/>
                </a:lnTo>
                <a:lnTo>
                  <a:pt x="2702" y="7022"/>
                </a:lnTo>
                <a:lnTo>
                  <a:pt x="1621" y="7022"/>
                </a:lnTo>
                <a:lnTo>
                  <a:pt x="1621" y="0"/>
                </a:lnTo>
                <a:lnTo>
                  <a:pt x="541" y="0"/>
                </a:lnTo>
                <a:lnTo>
                  <a:pt x="541" y="8099"/>
                </a:lnTo>
                <a:lnTo>
                  <a:pt x="3782" y="8099"/>
                </a:lnTo>
                <a:lnTo>
                  <a:pt x="3782" y="5938"/>
                </a:lnTo>
                <a:lnTo>
                  <a:pt x="4862" y="5938"/>
                </a:lnTo>
                <a:lnTo>
                  <a:pt x="4862" y="8099"/>
                </a:lnTo>
                <a:lnTo>
                  <a:pt x="7022" y="8099"/>
                </a:lnTo>
                <a:lnTo>
                  <a:pt x="7022" y="9179"/>
                </a:lnTo>
                <a:lnTo>
                  <a:pt x="0" y="9179"/>
                </a:lnTo>
                <a:lnTo>
                  <a:pt x="0" y="10259"/>
                </a:lnTo>
                <a:lnTo>
                  <a:pt x="8099" y="10259"/>
                </a:lnTo>
                <a:lnTo>
                  <a:pt x="8099" y="7022"/>
                </a:lnTo>
                <a:lnTo>
                  <a:pt x="5938" y="7022"/>
                </a:lnTo>
                <a:lnTo>
                  <a:pt x="5938" y="5941"/>
                </a:lnTo>
                <a:lnTo>
                  <a:pt x="8099" y="5941"/>
                </a:lnTo>
                <a:lnTo>
                  <a:pt x="8099" y="3782"/>
                </a:lnTo>
                <a:lnTo>
                  <a:pt x="9179" y="3782"/>
                </a:lnTo>
                <a:lnTo>
                  <a:pt x="9179" y="17821"/>
                </a:lnTo>
                <a:lnTo>
                  <a:pt x="8099" y="17821"/>
                </a:lnTo>
                <a:lnTo>
                  <a:pt x="8099" y="15662"/>
                </a:lnTo>
                <a:lnTo>
                  <a:pt x="5938" y="15662"/>
                </a:lnTo>
                <a:lnTo>
                  <a:pt x="5938" y="14582"/>
                </a:lnTo>
                <a:lnTo>
                  <a:pt x="8099" y="14582"/>
                </a:lnTo>
                <a:lnTo>
                  <a:pt x="8099" y="11341"/>
                </a:lnTo>
                <a:lnTo>
                  <a:pt x="0" y="11341"/>
                </a:lnTo>
                <a:lnTo>
                  <a:pt x="0" y="12421"/>
                </a:lnTo>
                <a:lnTo>
                  <a:pt x="7022" y="12421"/>
                </a:lnTo>
                <a:lnTo>
                  <a:pt x="7022" y="13501"/>
                </a:lnTo>
                <a:lnTo>
                  <a:pt x="4862" y="13501"/>
                </a:lnTo>
                <a:lnTo>
                  <a:pt x="4862" y="15662"/>
                </a:lnTo>
                <a:lnTo>
                  <a:pt x="3782" y="15662"/>
                </a:lnTo>
                <a:lnTo>
                  <a:pt x="3782" y="13501"/>
                </a:lnTo>
                <a:lnTo>
                  <a:pt x="541" y="13501"/>
                </a:lnTo>
                <a:lnTo>
                  <a:pt x="541" y="21600"/>
                </a:lnTo>
                <a:lnTo>
                  <a:pt x="1621" y="21600"/>
                </a:lnTo>
                <a:lnTo>
                  <a:pt x="1621" y="14578"/>
                </a:lnTo>
                <a:lnTo>
                  <a:pt x="2702" y="14578"/>
                </a:lnTo>
                <a:lnTo>
                  <a:pt x="2702" y="16738"/>
                </a:lnTo>
                <a:lnTo>
                  <a:pt x="4862" y="16738"/>
                </a:lnTo>
                <a:lnTo>
                  <a:pt x="4862" y="17818"/>
                </a:lnTo>
                <a:lnTo>
                  <a:pt x="2702" y="17818"/>
                </a:lnTo>
                <a:lnTo>
                  <a:pt x="2702" y="21059"/>
                </a:lnTo>
                <a:lnTo>
                  <a:pt x="18902" y="21059"/>
                </a:lnTo>
                <a:lnTo>
                  <a:pt x="18902" y="17821"/>
                </a:lnTo>
                <a:lnTo>
                  <a:pt x="16743" y="17821"/>
                </a:lnTo>
                <a:lnTo>
                  <a:pt x="16743" y="16741"/>
                </a:lnTo>
                <a:lnTo>
                  <a:pt x="18902" y="16741"/>
                </a:lnTo>
                <a:lnTo>
                  <a:pt x="18902" y="14582"/>
                </a:lnTo>
                <a:lnTo>
                  <a:pt x="19982" y="14582"/>
                </a:lnTo>
                <a:lnTo>
                  <a:pt x="19982" y="21600"/>
                </a:lnTo>
                <a:lnTo>
                  <a:pt x="21062" y="21600"/>
                </a:lnTo>
                <a:lnTo>
                  <a:pt x="21062" y="13501"/>
                </a:lnTo>
                <a:lnTo>
                  <a:pt x="17822" y="13501"/>
                </a:lnTo>
                <a:lnTo>
                  <a:pt x="17822" y="15662"/>
                </a:lnTo>
                <a:lnTo>
                  <a:pt x="16743" y="15662"/>
                </a:lnTo>
                <a:lnTo>
                  <a:pt x="16743" y="13501"/>
                </a:lnTo>
                <a:lnTo>
                  <a:pt x="14582" y="13501"/>
                </a:lnTo>
                <a:lnTo>
                  <a:pt x="14582" y="12421"/>
                </a:lnTo>
                <a:lnTo>
                  <a:pt x="21600" y="12421"/>
                </a:lnTo>
                <a:lnTo>
                  <a:pt x="21600" y="12418"/>
                </a:lnTo>
                <a:close/>
                <a:moveTo>
                  <a:pt x="17822" y="18898"/>
                </a:moveTo>
                <a:lnTo>
                  <a:pt x="17822" y="19979"/>
                </a:lnTo>
                <a:lnTo>
                  <a:pt x="3778" y="19979"/>
                </a:lnTo>
                <a:lnTo>
                  <a:pt x="3778" y="18898"/>
                </a:lnTo>
                <a:lnTo>
                  <a:pt x="5938" y="18898"/>
                </a:lnTo>
                <a:lnTo>
                  <a:pt x="5938" y="16738"/>
                </a:lnTo>
                <a:lnTo>
                  <a:pt x="7018" y="16738"/>
                </a:lnTo>
                <a:lnTo>
                  <a:pt x="7018" y="18898"/>
                </a:lnTo>
                <a:lnTo>
                  <a:pt x="10259" y="18898"/>
                </a:lnTo>
                <a:lnTo>
                  <a:pt x="10259" y="2698"/>
                </a:lnTo>
                <a:lnTo>
                  <a:pt x="7022" y="2698"/>
                </a:lnTo>
                <a:lnTo>
                  <a:pt x="7022" y="4859"/>
                </a:lnTo>
                <a:lnTo>
                  <a:pt x="5941" y="4859"/>
                </a:lnTo>
                <a:lnTo>
                  <a:pt x="5941" y="2698"/>
                </a:lnTo>
                <a:lnTo>
                  <a:pt x="3782" y="2698"/>
                </a:lnTo>
                <a:lnTo>
                  <a:pt x="3782" y="1618"/>
                </a:lnTo>
                <a:lnTo>
                  <a:pt x="17822" y="1618"/>
                </a:lnTo>
                <a:lnTo>
                  <a:pt x="17822" y="2698"/>
                </a:lnTo>
                <a:lnTo>
                  <a:pt x="15663" y="2698"/>
                </a:lnTo>
                <a:lnTo>
                  <a:pt x="15663" y="4859"/>
                </a:lnTo>
                <a:lnTo>
                  <a:pt x="14582" y="4859"/>
                </a:lnTo>
                <a:lnTo>
                  <a:pt x="14582" y="2698"/>
                </a:lnTo>
                <a:lnTo>
                  <a:pt x="11343" y="2698"/>
                </a:lnTo>
                <a:lnTo>
                  <a:pt x="11343" y="18898"/>
                </a:lnTo>
                <a:lnTo>
                  <a:pt x="14582" y="18898"/>
                </a:lnTo>
                <a:lnTo>
                  <a:pt x="14582" y="16738"/>
                </a:lnTo>
                <a:lnTo>
                  <a:pt x="15663" y="16738"/>
                </a:lnTo>
                <a:lnTo>
                  <a:pt x="15663" y="18898"/>
                </a:lnTo>
                <a:lnTo>
                  <a:pt x="17822" y="18898"/>
                </a:lnTo>
                <a:close/>
              </a:path>
            </a:pathLst>
          </a:custGeom>
          <a:solidFill>
            <a:srgbClr val="DFC788"/>
          </a:solidFill>
          <a:ln w="12700">
            <a:miter lim="400000"/>
          </a:ln>
        </p:spPr>
        <p:txBody>
          <a:bodyPr lIns="45719" rIns="45719" anchor="ctr"/>
          <a:p>
            <a:pPr algn="l" defTabSz="448945">
              <a:lnSpc>
                <a:spcPct val="93000"/>
              </a:lnSpc>
              <a:defRPr sz="1800" b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sz="3000"/>
          </a:p>
        </p:txBody>
      </p:sp>
      <p:sp>
        <p:nvSpPr>
          <p:cNvPr id="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二方</a:t>
            </a:r>
            <a:r>
              <a:rPr lang="en-US" altLang="zh-CN"/>
              <a:t>/</a:t>
            </a:r>
            <a:r>
              <a:rPr lang="zh-CN" altLang="en-US"/>
              <a:t>四方连续</a:t>
            </a:r>
            <a:r>
              <a:t>图形</a:t>
            </a:r>
            <a:r>
              <a:rPr lang="zh-CN"/>
              <a:t>为主的</a:t>
            </a:r>
            <a:r>
              <a:rPr lang="zh-CN" altLang="en-US"/>
              <a:t>「边线纹路」</a:t>
            </a:r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5586730" y="206057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从棉马褂中获取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四方连续图形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图案结构可用作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边线纹路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3"/>
          <p:cNvGrpSpPr/>
          <p:nvPr/>
        </p:nvGrpSpPr>
        <p:grpSpPr>
          <a:xfrm>
            <a:off x="825500" y="1790700"/>
            <a:ext cx="4157980" cy="4301490"/>
            <a:chOff x="1300" y="2820"/>
            <a:chExt cx="6548" cy="6774"/>
          </a:xfrm>
        </p:grpSpPr>
        <p:pic>
          <p:nvPicPr>
            <p:cNvPr id="4" name="图片 5" descr="fu_{0,95,532,607}~iphon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" y="2820"/>
              <a:ext cx="5938" cy="677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2" name="图片 6" descr="fu_{0,95,532,607}~iphone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014" y="3982"/>
              <a:ext cx="2835" cy="2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6"/>
                    <a:pt x="2882" y="3016"/>
                  </a:cubicBezTo>
                  <a:cubicBezTo>
                    <a:pt x="-961" y="7038"/>
                    <a:pt x="-961" y="13557"/>
                    <a:pt x="2882" y="17578"/>
                  </a:cubicBezTo>
                  <a:cubicBezTo>
                    <a:pt x="6724" y="21600"/>
                    <a:pt x="12954" y="21600"/>
                    <a:pt x="16796" y="17578"/>
                  </a:cubicBezTo>
                  <a:cubicBezTo>
                    <a:pt x="20639" y="13557"/>
                    <a:pt x="20639" y="7038"/>
                    <a:pt x="16796" y="3016"/>
                  </a:cubicBezTo>
                  <a:cubicBezTo>
                    <a:pt x="14875" y="1006"/>
                    <a:pt x="12357" y="0"/>
                    <a:pt x="9839" y="0"/>
                  </a:cubicBezTo>
                  <a:close/>
                </a:path>
              </a:pathLst>
            </a:cu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</p:spTree>
    <p:custDataLst>
      <p:tags r:id="rId4"/>
    </p:custDataLst>
  </p:cSld>
  <p:clrMapOvr>
    <a:masterClrMapping/>
  </p:clrMapOvr>
  <p:transition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单个成团</a:t>
            </a:r>
            <a:r>
              <a:t>图标图形</a:t>
            </a:r>
            <a:r>
              <a:rPr lang="zh-CN"/>
              <a:t>为主的</a:t>
            </a:r>
            <a:r>
              <a:rPr lang="en-US"/>
              <a:t>「</a:t>
            </a:r>
            <a:r>
              <a:rPr lang="zh-CN" altLang="en-US"/>
              <a:t>项目</a:t>
            </a:r>
            <a:r>
              <a:rPr lang="en-US"/>
              <a:t>符号」</a:t>
            </a:r>
            <a:endParaRPr lang="en-US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298315" y="174434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十二章纹图案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图案结构可用作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项目符号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5" name="组合 3"/>
          <p:cNvGrpSpPr/>
          <p:nvPr/>
        </p:nvGrpSpPr>
        <p:grpSpPr>
          <a:xfrm>
            <a:off x="4373880" y="4257040"/>
            <a:ext cx="3222781" cy="1929765"/>
            <a:chOff x="12621" y="6581"/>
            <a:chExt cx="4849" cy="2904"/>
          </a:xfrm>
        </p:grpSpPr>
        <p:sp>
          <p:nvSpPr>
            <p:cNvPr id="264" name="礼服的色彩配搭"/>
            <p:cNvSpPr txBox="1"/>
            <p:nvPr/>
          </p:nvSpPr>
          <p:spPr>
            <a:xfrm>
              <a:off x="13323" y="6658"/>
              <a:ext cx="3955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礼服的色彩配搭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6" name="礼服的版型与打版工艺"/>
            <p:cNvSpPr txBox="1"/>
            <p:nvPr/>
          </p:nvSpPr>
          <p:spPr>
            <a:xfrm>
              <a:off x="13323" y="7416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礼服的版型与打版工艺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8" name="礼服材质与布料运用"/>
            <p:cNvSpPr txBox="1"/>
            <p:nvPr/>
          </p:nvSpPr>
          <p:spPr>
            <a:xfrm>
              <a:off x="13323" y="8174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礼服材质与布料运用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9" name="刺绣工艺与图案"/>
            <p:cNvSpPr txBox="1"/>
            <p:nvPr/>
          </p:nvSpPr>
          <p:spPr>
            <a:xfrm>
              <a:off x="13323" y="8932"/>
              <a:ext cx="4147" cy="477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0800" tIns="50800" rIns="50800" bIns="50800" anchor="ctr">
              <a:spAutoFit/>
            </a:bodyPr>
            <a:lstStyle>
              <a:lvl1pPr algn="l">
                <a:lnSpc>
                  <a:spcPct val="90000"/>
                </a:lnSpc>
                <a:defRPr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刺绣工艺与图案</a:t>
              </a:r>
              <a:endPara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270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8855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1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8097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2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7339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73" name="fu1_{110,126,278,279}~iphone@2x.png" descr="fu1_{110,126,278,279}~iphone@2x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21" y="6581"/>
              <a:ext cx="628" cy="63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9" name="组合 4"/>
          <p:cNvGrpSpPr/>
          <p:nvPr/>
        </p:nvGrpSpPr>
        <p:grpSpPr>
          <a:xfrm>
            <a:off x="532130" y="1645920"/>
            <a:ext cx="2764790" cy="4851400"/>
            <a:chOff x="838" y="2592"/>
            <a:chExt cx="4354" cy="7640"/>
          </a:xfrm>
        </p:grpSpPr>
        <p:pic>
          <p:nvPicPr>
            <p:cNvPr id="4" name="图片 4" descr="LiFuLevel3_000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38" y="2592"/>
              <a:ext cx="3999" cy="764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1" name="图片 5" descr="fu_{0,0,704,768}~iphone@2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924" y="3198"/>
              <a:ext cx="2268" cy="2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5"/>
                    <a:pt x="2881" y="3016"/>
                  </a:cubicBezTo>
                  <a:cubicBezTo>
                    <a:pt x="-961" y="7037"/>
                    <a:pt x="-961" y="13557"/>
                    <a:pt x="2881" y="17579"/>
                  </a:cubicBezTo>
                  <a:cubicBezTo>
                    <a:pt x="6724" y="21600"/>
                    <a:pt x="12954" y="21600"/>
                    <a:pt x="16797" y="17579"/>
                  </a:cubicBezTo>
                  <a:cubicBezTo>
                    <a:pt x="20639" y="13557"/>
                    <a:pt x="20639" y="7037"/>
                    <a:pt x="16797" y="3016"/>
                  </a:cubicBezTo>
                  <a:cubicBezTo>
                    <a:pt x="14875" y="1005"/>
                    <a:pt x="12357" y="0"/>
                    <a:pt x="9839" y="0"/>
                  </a:cubicBezTo>
                  <a:close/>
                </a:path>
              </a:pathLst>
            </a:cu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  <p:pic>
        <p:nvPicPr>
          <p:cNvPr id="17" name="十二章纹图案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145" y="1864995"/>
            <a:ext cx="3327400" cy="889000"/>
          </a:xfrm>
          <a:prstGeom prst="rect">
            <a:avLst/>
          </a:prstGeom>
        </p:spPr>
      </p:pic>
      <p:pic>
        <p:nvPicPr>
          <p:cNvPr id="18" name="十二章纹图案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145" y="3009265"/>
            <a:ext cx="3327400" cy="889000"/>
          </a:xfrm>
          <a:prstGeom prst="rect">
            <a:avLst/>
          </a:prstGeom>
        </p:spPr>
      </p:pic>
      <p:pic>
        <p:nvPicPr>
          <p:cNvPr id="19" name="十二章纹图案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145" y="4153535"/>
            <a:ext cx="3327400" cy="889000"/>
          </a:xfrm>
          <a:prstGeom prst="rect">
            <a:avLst/>
          </a:prstGeom>
        </p:spPr>
      </p:pic>
      <p:pic>
        <p:nvPicPr>
          <p:cNvPr id="30" name="十二章纹图案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145" y="5297805"/>
            <a:ext cx="3327400" cy="8890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渐变色背景形状"/>
          <p:cNvSpPr/>
          <p:nvPr/>
        </p:nvSpPr>
        <p:spPr>
          <a:xfrm>
            <a:off x="177483" y="100013"/>
            <a:ext cx="11837035" cy="6657975"/>
          </a:xfrm>
          <a:prstGeom prst="rect">
            <a:avLst/>
          </a:prstGeom>
          <a:gradFill>
            <a:gsLst>
              <a:gs pos="0">
                <a:srgbClr val="6B8E88">
                  <a:alpha val="34000"/>
                </a:srgbClr>
              </a:gs>
              <a:gs pos="100000">
                <a:srgbClr val="6B8E8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四合如意云龙纹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7135" y="3959225"/>
            <a:ext cx="4665980" cy="203009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复杂图腾图形为主的「底纹」</a:t>
            </a:r>
            <a:endParaRPr lang="zh-CN" altLang="en-US"/>
          </a:p>
        </p:txBody>
      </p:sp>
      <p:sp>
        <p:nvSpPr>
          <p:cNvPr id="6" name="文本框 2"/>
          <p:cNvSpPr txBox="1"/>
          <p:nvPr/>
        </p:nvSpPr>
        <p:spPr>
          <a:xfrm>
            <a:off x="4298315" y="1744345"/>
            <a:ext cx="32981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行服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四合如意云龙纹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根据图形和古服特性可用作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底纹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组合 3"/>
          <p:cNvGrpSpPr/>
          <p:nvPr/>
        </p:nvGrpSpPr>
        <p:grpSpPr>
          <a:xfrm>
            <a:off x="762635" y="1687830"/>
            <a:ext cx="3039745" cy="4697730"/>
            <a:chOff x="1201" y="2658"/>
            <a:chExt cx="4787" cy="7398"/>
          </a:xfrm>
        </p:grpSpPr>
        <p:pic>
          <p:nvPicPr>
            <p:cNvPr id="4" name="图片 3" descr="yifu_{0,0,468,768}~iphone@2x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1" y="2658"/>
              <a:ext cx="4508" cy="739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5" name="图片 4" descr="yifu_{0,0,468,768}~iphone@2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586" y="5610"/>
              <a:ext cx="3402" cy="3402"/>
            </a:xfrm>
            <a:prstGeom prst="ellipse">
              <a:avLst/>
            </a:prstGeom>
            <a:ln w="12700">
              <a:miter lim="4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</p:grpSp>
    </p:spTree>
    <p:custDataLst>
      <p:tags r:id="rId4"/>
    </p:custDataLst>
  </p:cSld>
  <p:clrMapOvr>
    <a:masterClrMapping/>
  </p:clrMapOvr>
  <p:transition advTm="500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中纹艺术之「</a:t>
            </a:r>
            <a:r>
              <a:rPr lang="zh-CN"/>
              <a:t>色彩</a:t>
            </a:r>
            <a:r>
              <a:t>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主色彩与次色彩组成的「配色」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5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3" name="图片 1" descr="chun_{12,59,748,707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从红色冬朝袍中获取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朱红色 + 金色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" name="组合 3"/>
          <p:cNvGrpSpPr/>
          <p:nvPr/>
        </p:nvGrpSpPr>
        <p:grpSpPr>
          <a:xfrm rot="0">
            <a:off x="9126220" y="2882900"/>
            <a:ext cx="1910080" cy="1910080"/>
            <a:chOff x="25210" y="4901"/>
            <a:chExt cx="5884" cy="588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6" name="圆形"/>
            <p:cNvSpPr/>
            <p:nvPr/>
          </p:nvSpPr>
          <p:spPr>
            <a:xfrm>
              <a:off x="25210" y="4901"/>
              <a:ext cx="5885" cy="5885"/>
            </a:xfrm>
            <a:prstGeom prst="ellipse">
              <a:avLst/>
            </a:prstGeom>
            <a:solidFill>
              <a:srgbClr val="E04B27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447" name="圆形"/>
            <p:cNvSpPr/>
            <p:nvPr/>
          </p:nvSpPr>
          <p:spPr>
            <a:xfrm>
              <a:off x="26802" y="6493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5000">
    <p:push dir="u"/>
  </p:transition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4B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3" name="图片 1" descr="chun_{12,59,748,707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>
                <a:solidFill>
                  <a:srgbClr val="DAAA4A"/>
                </a:solidFill>
                <a:sym typeface="+mn-ea"/>
              </a:rPr>
              <a:t>从红色冬朝袍中获取</a:t>
            </a:r>
            <a:endParaRPr lang="zh-CN" altLang="en-US">
              <a:solidFill>
                <a:srgbClr val="DAAA4A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DAAA4A"/>
                </a:solidFill>
                <a:sym typeface="+mn-ea"/>
              </a:rPr>
              <a:t>朱红色 + 金色</a:t>
            </a:r>
            <a:endParaRPr lang="zh-CN" altLang="en-US" sz="2800" b="1">
              <a:solidFill>
                <a:srgbClr val="DAAA4A"/>
              </a:solidFill>
              <a:sym typeface="+mn-ea"/>
            </a:endParaRPr>
          </a:p>
        </p:txBody>
      </p:sp>
      <p:grpSp>
        <p:nvGrpSpPr>
          <p:cNvPr id="2" name="组合 3"/>
          <p:cNvGrpSpPr/>
          <p:nvPr/>
        </p:nvGrpSpPr>
        <p:grpSpPr>
          <a:xfrm rot="0">
            <a:off x="9126220" y="2882900"/>
            <a:ext cx="1910080" cy="1910080"/>
            <a:chOff x="25210" y="4901"/>
            <a:chExt cx="5884" cy="588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6" name="圆形"/>
            <p:cNvSpPr/>
            <p:nvPr/>
          </p:nvSpPr>
          <p:spPr>
            <a:xfrm>
              <a:off x="25210" y="4901"/>
              <a:ext cx="5885" cy="5885"/>
            </a:xfrm>
            <a:prstGeom prst="ellipse">
              <a:avLst/>
            </a:prstGeom>
            <a:solidFill>
              <a:srgbClr val="E04B27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447" name="圆形"/>
            <p:cNvSpPr/>
            <p:nvPr/>
          </p:nvSpPr>
          <p:spPr>
            <a:xfrm>
              <a:off x="26802" y="6493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 advTm="5000">
        <p159:morph option="byObject"/>
      </p:transition>
    </mc:Choice>
    <mc:Fallback>
      <p:transition advTm="5000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1" descr="siyue_{39,75,687,684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从蓝色冬朝袍中获取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rPr>
              <a:t>琉璃蓝色 + 金色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2" name="组合 3"/>
          <p:cNvGrpSpPr/>
          <p:nvPr/>
        </p:nvGrpSpPr>
        <p:grpSpPr>
          <a:xfrm rot="0">
            <a:off x="9126220" y="2882900"/>
            <a:ext cx="1910080" cy="1910080"/>
            <a:chOff x="13122" y="4548"/>
            <a:chExt cx="5884" cy="5884"/>
          </a:xfrm>
        </p:grpSpPr>
        <p:sp>
          <p:nvSpPr>
            <p:cNvPr id="13" name="圆形"/>
            <p:cNvSpPr/>
            <p:nvPr/>
          </p:nvSpPr>
          <p:spPr>
            <a:xfrm>
              <a:off x="13122" y="4548"/>
              <a:ext cx="5885" cy="5885"/>
            </a:xfrm>
            <a:prstGeom prst="ellipse">
              <a:avLst/>
            </a:prstGeom>
            <a:solidFill>
              <a:srgbClr val="2E3090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14" name="圆形"/>
            <p:cNvSpPr/>
            <p:nvPr/>
          </p:nvSpPr>
          <p:spPr>
            <a:xfrm>
              <a:off x="14714" y="6140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5000">
    <p:push dir="u"/>
  </p:transition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9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1" descr="siyue_{39,75,687,684}~iphone@2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053465"/>
            <a:ext cx="5755640" cy="5440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2"/>
          <p:cNvSpPr txBox="1"/>
          <p:nvPr/>
        </p:nvSpPr>
        <p:spPr>
          <a:xfrm>
            <a:off x="5720080" y="3197225"/>
            <a:ext cx="329819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>
                <a:solidFill>
                  <a:srgbClr val="DAAA4A"/>
                </a:solidFill>
                <a:sym typeface="+mn-ea"/>
              </a:rPr>
              <a:t>从蓝色冬朝袍中获取</a:t>
            </a:r>
            <a:endParaRPr lang="zh-CN" altLang="en-US">
              <a:solidFill>
                <a:srgbClr val="DAAA4A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DAAA4A"/>
                </a:solidFill>
                <a:sym typeface="+mn-ea"/>
              </a:rPr>
              <a:t>琉璃蓝色 + 金色</a:t>
            </a:r>
            <a:endParaRPr lang="zh-CN" altLang="en-US" sz="2800" b="1">
              <a:solidFill>
                <a:srgbClr val="DAAA4A"/>
              </a:solidFill>
              <a:sym typeface="+mn-ea"/>
            </a:endParaRPr>
          </a:p>
        </p:txBody>
      </p:sp>
      <p:grpSp>
        <p:nvGrpSpPr>
          <p:cNvPr id="12" name="组合 3"/>
          <p:cNvGrpSpPr/>
          <p:nvPr/>
        </p:nvGrpSpPr>
        <p:grpSpPr>
          <a:xfrm rot="0">
            <a:off x="9126220" y="2882900"/>
            <a:ext cx="1910080" cy="1910080"/>
            <a:chOff x="13122" y="4548"/>
            <a:chExt cx="5884" cy="5884"/>
          </a:xfrm>
        </p:grpSpPr>
        <p:sp>
          <p:nvSpPr>
            <p:cNvPr id="13" name="圆形"/>
            <p:cNvSpPr/>
            <p:nvPr/>
          </p:nvSpPr>
          <p:spPr>
            <a:xfrm>
              <a:off x="13122" y="4548"/>
              <a:ext cx="5885" cy="5885"/>
            </a:xfrm>
            <a:prstGeom prst="ellipse">
              <a:avLst/>
            </a:prstGeom>
            <a:solidFill>
              <a:srgbClr val="2E3090"/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solidFill>
                    <a:srgbClr val="334CA1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  <p:sp>
          <p:nvSpPr>
            <p:cNvPr id="14" name="圆形"/>
            <p:cNvSpPr/>
            <p:nvPr/>
          </p:nvSpPr>
          <p:spPr>
            <a:xfrm>
              <a:off x="14714" y="6140"/>
              <a:ext cx="2700" cy="2700"/>
            </a:xfrm>
            <a:prstGeom prst="ellipse">
              <a:avLst/>
            </a:prstGeom>
            <a:solidFill>
              <a:srgbClr val="D9B84F">
                <a:alpha val="87276"/>
              </a:srgbClr>
            </a:solidFill>
            <a:ln w="38100">
              <a:solidFill>
                <a:schemeClr val="bg1"/>
              </a:solidFill>
              <a:miter lim="400000"/>
            </a:ln>
          </p:spPr>
          <p:txBody>
            <a:bodyPr lIns="50800" tIns="50800" rIns="50800" bIns="50800" anchor="ctr"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>
                <a:sym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 advTm="5000">
        <p159:morph option="byObject"/>
      </p:transition>
    </mc:Choice>
    <mc:Fallback>
      <p:transition advTm="5000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zh-CN"/>
              <a:t>谢谢观赏</a:t>
            </a:r>
            <a:endParaRPr lang="zh-CN" altLang="zh-CN"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发现「中纹」之美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5000">
    <p:dissolv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宽屏</PresentationFormat>
  <Paragraphs>66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Wingdings</vt:lpstr>
      <vt:lpstr>汉仪昌黎宋刻本(精修版)</vt:lpstr>
      <vt:lpstr>Arial</vt:lpstr>
      <vt:lpstr>Helvetica</vt:lpstr>
      <vt:lpstr>Helvetica Neue Medium</vt:lpstr>
      <vt:lpstr>Arial Unicode MS</vt:lpstr>
      <vt:lpstr>Calibri</vt:lpstr>
      <vt:lpstr>Office 主题​​</vt:lpstr>
      <vt:lpstr>发现「中纹」之美</vt:lpstr>
      <vt:lpstr>PowerPoint 演示文稿</vt:lpstr>
      <vt:lpstr>发现「中纹」之美</vt:lpstr>
      <vt:lpstr>把深邃的中纹艺术，变成你身边的艺术</vt:lpstr>
      <vt:lpstr>中纹艺术之「图形」</vt:lpstr>
      <vt:lpstr>二方/四方连续图形为主的「边线纹路」</vt:lpstr>
      <vt:lpstr>单个成团图标图形为主的「项目符号」</vt:lpstr>
      <vt:lpstr>复杂图腾图形为主的「底纹」</vt:lpstr>
      <vt:lpstr>中纹艺术之「色彩」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安</cp:lastModifiedBy>
  <cp:revision>267</cp:revision>
  <dcterms:created xsi:type="dcterms:W3CDTF">2019-06-19T02:08:00Z</dcterms:created>
  <dcterms:modified xsi:type="dcterms:W3CDTF">2021-11-07T03:43:21Z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