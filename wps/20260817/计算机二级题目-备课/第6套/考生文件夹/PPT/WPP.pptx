
<file path=[Content_Types].xml><?xml version="1.0" encoding="utf-8"?>
<Types xmlns="http://schemas.openxmlformats.org/package/2006/content-types"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0" r:id="rId4"/>
    <p:sldId id="411" r:id="rId5"/>
    <p:sldId id="412" r:id="rId6"/>
    <p:sldId id="413" r:id="rId7"/>
    <p:sldId id="414" r:id="rId8"/>
    <p:sldId id="415" r:id="rId9"/>
    <p:sldId id="416" r:id="rId10"/>
    <p:sldId id="417" r:id="rId11"/>
    <p:sldId id="421" r:id="rId12"/>
    <p:sldId id="418" r:id="rId13"/>
    <p:sldId id="422" r:id="rId14"/>
    <p:sldId id="419" r:id="rId15"/>
    <p:sldId id="42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3090"/>
    <a:srgbClr val="E04B27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219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6" descr="封面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340" y="1273810"/>
            <a:ext cx="10058400" cy="5584190"/>
          </a:xfrm>
          <a:prstGeom prst="rect">
            <a:avLst/>
          </a:prstGeom>
        </p:spPr>
      </p:pic>
      <p:sp>
        <p:nvSpPr>
          <p:cNvPr id="4" name="标题占位符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98880" y="1595755"/>
            <a:ext cx="9799320" cy="10172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1198880" y="2773045"/>
            <a:ext cx="9799320" cy="46164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图片6" descr="F8B737D0-0C7A-40E0-B351-0F7B18D2EDD6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85590"/>
            <a:ext cx="3696335" cy="2772410"/>
          </a:xfrm>
          <a:prstGeom prst="rect">
            <a:avLst/>
          </a:prstGeom>
          <a:ln w="3175">
            <a:miter lim="400000"/>
            <a:headEnd/>
            <a:tailEnd/>
          </a:ln>
        </p:spPr>
      </p:pic>
      <p:sp>
        <p:nvSpPr>
          <p:cNvPr id="7" name="标题占位符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638820" y="2106930"/>
            <a:ext cx="5400000" cy="10800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>
            <a:lvl1pPr algn="l"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2648605" y="3438525"/>
            <a:ext cx="5400000" cy="540000"/>
          </a:xfrm>
          <a:prstGeom prst="rect">
            <a:avLst/>
          </a:prstGeom>
        </p:spPr>
        <p:txBody>
          <a:bodyPr vert="horz" wrap="square" lIns="90000" tIns="46800" rIns="90000" bIns="46800" rtlCol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2"/>
          <p:cNvSpPr>
            <a:spLocks noGrp="1"/>
          </p:cNvSpPr>
          <p:nvPr>
            <p:ph type="body" idx="13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3"/>
          <p:cNvSpPr>
            <a:spLocks noGrp="1"/>
          </p:cNvSpPr>
          <p:nvPr>
            <p:ph type="body" idx="14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prstGeom prst="rect">
            <a:avLst/>
          </a:prstGeom>
        </p:spPr>
        <p:txBody>
          <a:bodyPr vert="eaVert" lIns="90170" tIns="46990" rIns="90170" bIns="46990" rtlCol="0"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prstGeom prst="rect">
            <a:avLst/>
          </a:prstGeom>
        </p:spPr>
        <p:txBody>
          <a:bodyPr vert="eaVert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占位符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</p:spPr>
        <p:txBody>
          <a:bodyPr vert="horz" lIns="90170" tIns="46990" rIns="90170" bIns="46990" rtlCol="0" anchor="b" anchorCtr="0">
            <a:no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2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198800" y="3560400"/>
            <a:ext cx="9799200" cy="4716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●"/>
        <a:defRPr sz="1800" u="none" strike="noStrike" kern="1200" cap="none" spc="20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20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●"/>
        <a:defRPr sz="1600" u="none" strike="noStrike" kern="1200" cap="none" spc="20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Wingdings" panose="05000000000000000000" charset="0"/>
        <a:buChar char=""/>
        <a:defRPr sz="1400" u="none" strike="noStrike" kern="1200" cap="none" spc="20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400" u="none" strike="noStrike" kern="1200" cap="none" spc="20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tags" Target="../tags/tag48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tif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4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5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53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54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6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7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8.xml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zh-CN"/>
              <a:t>发现「中纹」之美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中华艺术始于「中文」，也始于</a:t>
            </a:r>
            <a:r>
              <a:rPr lang="zh-CN" altLang="en-US">
                <a:sym typeface="+mn-ea"/>
              </a:rPr>
              <a:t>「</a:t>
            </a:r>
            <a:r>
              <a:rPr lang="zh-CN" altLang="en-US"/>
              <a:t>中纹</a:t>
            </a:r>
            <a:r>
              <a:rPr lang="zh-CN" altLang="en-US">
                <a:sym typeface="+mn-ea"/>
              </a:rPr>
              <a:t>」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281" name="图片 1" descr="图像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flipH="1">
            <a:off x="0" y="-14605"/>
            <a:ext cx="12192635" cy="2795905"/>
          </a:xfrm>
          <a:prstGeom prst="rect">
            <a:avLst/>
          </a:prstGeom>
          <a:ln w="3175">
            <a:miter lim="400000"/>
            <a:headEnd/>
            <a:tailEnd/>
          </a:ln>
        </p:spPr>
      </p:pic>
      <p:sp>
        <p:nvSpPr>
          <p:cNvPr id="282" name="文本框 2"/>
          <p:cNvSpPr txBox="1"/>
          <p:nvPr/>
        </p:nvSpPr>
        <p:spPr>
          <a:xfrm>
            <a:off x="10719118" y="469583"/>
            <a:ext cx="923290" cy="1244600"/>
          </a:xfrm>
          <a:prstGeom prst="rect">
            <a:avLst/>
          </a:prstGeom>
          <a:ln w="3175">
            <a:miter lim="400000"/>
          </a:ln>
        </p:spPr>
        <p:txBody>
          <a:bodyPr vert="eaVert" wrap="none" lIns="0" tIns="0" rIns="0" bIns="0" anchor="ctr" anchorCtr="0">
            <a:spAutoFit/>
          </a:bodyPr>
          <a:lstStyle>
            <a:lvl1pPr defTabSz="863600">
              <a:defRPr sz="2400" b="0">
                <a:solidFill>
                  <a:srgbClr val="FFFFFF"/>
                </a:solidFill>
                <a:latin typeface="汉仪昌黎宋刻本(精修版)" panose="00020600040101010101" charset="-122"/>
                <a:ea typeface="汉仪昌黎宋刻本(精修版)" panose="00020600040101010101" charset="-122"/>
                <a:cs typeface="汉仪昌黎宋刻本(精修版)" panose="00020600040101010101" charset="-122"/>
                <a:sym typeface="汉仪昌黎宋刻本(精修版)" panose="00020600040101010101" charset="-122"/>
              </a:defRPr>
            </a:lvl1pPr>
          </a:lstStyle>
          <a:p>
            <a:pPr algn="l"/>
            <a:r>
              <a:rPr sz="4400" b="1" spc="50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目录</a:t>
            </a:r>
            <a:endParaRPr sz="4400" b="1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  <a:p>
            <a:pPr algn="l"/>
            <a:r>
              <a:rPr sz="160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CONTENTS</a:t>
            </a:r>
            <a:endParaRPr lang="en-US" altLang="zh-CN" sz="1600" b="1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775" y="3446145"/>
            <a:ext cx="4819650" cy="552450"/>
          </a:xfrm>
          <a:prstGeom prst="rect">
            <a:avLst/>
          </a:prstGeom>
        </p:spPr>
      </p:pic>
      <p:pic>
        <p:nvPicPr>
          <p:cNvPr id="1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75" y="4444365"/>
            <a:ext cx="5124450" cy="552450"/>
          </a:xfrm>
          <a:prstGeom prst="rect">
            <a:avLst/>
          </a:prstGeom>
        </p:spPr>
      </p:pic>
      <p:pic>
        <p:nvPicPr>
          <p:cNvPr id="1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775" y="5442585"/>
            <a:ext cx="5124450" cy="5524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发现「中纹」之美</a:t>
            </a:r>
            <a:endParaRPr lang="zh-CN" altLang="en-US"/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中华艺术始于「中文」，也始于「中纹」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把深邃的中纹艺术，变成你身边的艺术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中纹谐音自中文，但在一定程度上不同于中文。</a:t>
            </a:r>
            <a:endParaRPr lang="zh-CN" altLang="en-US"/>
          </a:p>
          <a:p>
            <a:pPr lvl="1"/>
            <a:r>
              <a:rPr lang="zh-CN" altLang="en-US"/>
              <a:t>「中」是中华。「纹」者「文」也，「文」既可以表示纹理，更有文字、文章、文采等意义。古字典《篇海》中记载：凡錦綺黼肅之文皆曰紋。</a:t>
            </a:r>
            <a:endParaRPr lang="zh-CN" altLang="en-US"/>
          </a:p>
          <a:p>
            <a:r>
              <a:t>中纹不但能在精神层面表达寓意，而且还是艺术瑰宝。</a:t>
            </a:r>
          </a:p>
          <a:p>
            <a:pPr lvl="1"/>
            <a:r>
              <a:t>它们有的大幅分散，有的对称和谐、有的色彩浓郁，有的低调深沉、有的直白，有的神秘。像是默默地讲述着发生过的故事，让人着迷。</a:t>
            </a:r>
          </a:p>
          <a:p>
            <a:pPr lvl="0"/>
            <a:r>
              <a:t>神秘的东方文明已千年至今，源远流长。</a:t>
            </a:r>
          </a:p>
          <a:p>
            <a:pPr lvl="1"/>
            <a:r>
              <a:t>我们希望将那些逐渐让人遗忘却蕴含魅力的图案、符号、纹路甚至色彩重新呈现在WPS演示中，将一段积淀已久的魅力艺术带回你身边。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中纹艺术之「</a:t>
            </a:r>
            <a:r>
              <a:rPr lang="zh-CN"/>
              <a:t>图形</a:t>
            </a:r>
            <a:r>
              <a:t>」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图案图腾组成的</a:t>
            </a:r>
            <a:r>
              <a:t>的「边线」</a:t>
            </a:r>
            <a:r>
              <a:rPr lang="zh-CN" altLang="en-US"/>
              <a:t>「符号」「底纹」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6" name="边线纹路图片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75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四方连续图形"/>
          <p:cNvSpPr/>
          <p:nvPr/>
        </p:nvSpPr>
        <p:spPr>
          <a:xfrm>
            <a:off x="8561705" y="3242945"/>
            <a:ext cx="2260600" cy="2260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2418"/>
                </a:moveTo>
                <a:lnTo>
                  <a:pt x="21600" y="11337"/>
                </a:lnTo>
                <a:lnTo>
                  <a:pt x="13502" y="11337"/>
                </a:lnTo>
                <a:lnTo>
                  <a:pt x="13502" y="14578"/>
                </a:lnTo>
                <a:lnTo>
                  <a:pt x="15663" y="14578"/>
                </a:lnTo>
                <a:lnTo>
                  <a:pt x="15663" y="15659"/>
                </a:lnTo>
                <a:lnTo>
                  <a:pt x="13502" y="15659"/>
                </a:lnTo>
                <a:lnTo>
                  <a:pt x="13502" y="17818"/>
                </a:lnTo>
                <a:lnTo>
                  <a:pt x="12422" y="17818"/>
                </a:lnTo>
                <a:lnTo>
                  <a:pt x="12422" y="3779"/>
                </a:lnTo>
                <a:lnTo>
                  <a:pt x="13502" y="3779"/>
                </a:lnTo>
                <a:lnTo>
                  <a:pt x="13502" y="5938"/>
                </a:lnTo>
                <a:lnTo>
                  <a:pt x="15663" y="5938"/>
                </a:lnTo>
                <a:lnTo>
                  <a:pt x="15663" y="7018"/>
                </a:lnTo>
                <a:lnTo>
                  <a:pt x="13502" y="7018"/>
                </a:lnTo>
                <a:lnTo>
                  <a:pt x="13502" y="10259"/>
                </a:lnTo>
                <a:lnTo>
                  <a:pt x="21600" y="10259"/>
                </a:lnTo>
                <a:lnTo>
                  <a:pt x="21600" y="9179"/>
                </a:lnTo>
                <a:lnTo>
                  <a:pt x="14579" y="9179"/>
                </a:lnTo>
                <a:lnTo>
                  <a:pt x="14579" y="8099"/>
                </a:lnTo>
                <a:lnTo>
                  <a:pt x="16740" y="8099"/>
                </a:lnTo>
                <a:lnTo>
                  <a:pt x="16740" y="5938"/>
                </a:lnTo>
                <a:lnTo>
                  <a:pt x="17820" y="5938"/>
                </a:lnTo>
                <a:lnTo>
                  <a:pt x="17820" y="8099"/>
                </a:lnTo>
                <a:lnTo>
                  <a:pt x="21059" y="8099"/>
                </a:lnTo>
                <a:lnTo>
                  <a:pt x="21059" y="0"/>
                </a:lnTo>
                <a:lnTo>
                  <a:pt x="19978" y="0"/>
                </a:lnTo>
                <a:lnTo>
                  <a:pt x="19978" y="7022"/>
                </a:lnTo>
                <a:lnTo>
                  <a:pt x="18899" y="7022"/>
                </a:lnTo>
                <a:lnTo>
                  <a:pt x="18899" y="4862"/>
                </a:lnTo>
                <a:lnTo>
                  <a:pt x="16740" y="4862"/>
                </a:lnTo>
                <a:lnTo>
                  <a:pt x="16740" y="3782"/>
                </a:lnTo>
                <a:lnTo>
                  <a:pt x="18899" y="3782"/>
                </a:lnTo>
                <a:lnTo>
                  <a:pt x="18899" y="541"/>
                </a:lnTo>
                <a:lnTo>
                  <a:pt x="2702" y="541"/>
                </a:lnTo>
                <a:lnTo>
                  <a:pt x="2702" y="3782"/>
                </a:lnTo>
                <a:lnTo>
                  <a:pt x="4862" y="3782"/>
                </a:lnTo>
                <a:lnTo>
                  <a:pt x="4862" y="4862"/>
                </a:lnTo>
                <a:lnTo>
                  <a:pt x="2702" y="4862"/>
                </a:lnTo>
                <a:lnTo>
                  <a:pt x="2702" y="7022"/>
                </a:lnTo>
                <a:lnTo>
                  <a:pt x="1621" y="7022"/>
                </a:lnTo>
                <a:lnTo>
                  <a:pt x="1621" y="0"/>
                </a:lnTo>
                <a:lnTo>
                  <a:pt x="541" y="0"/>
                </a:lnTo>
                <a:lnTo>
                  <a:pt x="541" y="8099"/>
                </a:lnTo>
                <a:lnTo>
                  <a:pt x="3782" y="8099"/>
                </a:lnTo>
                <a:lnTo>
                  <a:pt x="3782" y="5938"/>
                </a:lnTo>
                <a:lnTo>
                  <a:pt x="4862" y="5938"/>
                </a:lnTo>
                <a:lnTo>
                  <a:pt x="4862" y="8099"/>
                </a:lnTo>
                <a:lnTo>
                  <a:pt x="7022" y="8099"/>
                </a:lnTo>
                <a:lnTo>
                  <a:pt x="7022" y="9179"/>
                </a:lnTo>
                <a:lnTo>
                  <a:pt x="0" y="9179"/>
                </a:lnTo>
                <a:lnTo>
                  <a:pt x="0" y="10259"/>
                </a:lnTo>
                <a:lnTo>
                  <a:pt x="8099" y="10259"/>
                </a:lnTo>
                <a:lnTo>
                  <a:pt x="8099" y="7022"/>
                </a:lnTo>
                <a:lnTo>
                  <a:pt x="5938" y="7022"/>
                </a:lnTo>
                <a:lnTo>
                  <a:pt x="5938" y="5941"/>
                </a:lnTo>
                <a:lnTo>
                  <a:pt x="8099" y="5941"/>
                </a:lnTo>
                <a:lnTo>
                  <a:pt x="8099" y="3782"/>
                </a:lnTo>
                <a:lnTo>
                  <a:pt x="9179" y="3782"/>
                </a:lnTo>
                <a:lnTo>
                  <a:pt x="9179" y="17821"/>
                </a:lnTo>
                <a:lnTo>
                  <a:pt x="8099" y="17821"/>
                </a:lnTo>
                <a:lnTo>
                  <a:pt x="8099" y="15662"/>
                </a:lnTo>
                <a:lnTo>
                  <a:pt x="5938" y="15662"/>
                </a:lnTo>
                <a:lnTo>
                  <a:pt x="5938" y="14582"/>
                </a:lnTo>
                <a:lnTo>
                  <a:pt x="8099" y="14582"/>
                </a:lnTo>
                <a:lnTo>
                  <a:pt x="8099" y="11341"/>
                </a:lnTo>
                <a:lnTo>
                  <a:pt x="0" y="11341"/>
                </a:lnTo>
                <a:lnTo>
                  <a:pt x="0" y="12421"/>
                </a:lnTo>
                <a:lnTo>
                  <a:pt x="7022" y="12421"/>
                </a:lnTo>
                <a:lnTo>
                  <a:pt x="7022" y="13501"/>
                </a:lnTo>
                <a:lnTo>
                  <a:pt x="4862" y="13501"/>
                </a:lnTo>
                <a:lnTo>
                  <a:pt x="4862" y="15662"/>
                </a:lnTo>
                <a:lnTo>
                  <a:pt x="3782" y="15662"/>
                </a:lnTo>
                <a:lnTo>
                  <a:pt x="3782" y="13501"/>
                </a:lnTo>
                <a:lnTo>
                  <a:pt x="541" y="13501"/>
                </a:lnTo>
                <a:lnTo>
                  <a:pt x="541" y="21600"/>
                </a:lnTo>
                <a:lnTo>
                  <a:pt x="1621" y="21600"/>
                </a:lnTo>
                <a:lnTo>
                  <a:pt x="1621" y="14578"/>
                </a:lnTo>
                <a:lnTo>
                  <a:pt x="2702" y="14578"/>
                </a:lnTo>
                <a:lnTo>
                  <a:pt x="2702" y="16738"/>
                </a:lnTo>
                <a:lnTo>
                  <a:pt x="4862" y="16738"/>
                </a:lnTo>
                <a:lnTo>
                  <a:pt x="4862" y="17818"/>
                </a:lnTo>
                <a:lnTo>
                  <a:pt x="2702" y="17818"/>
                </a:lnTo>
                <a:lnTo>
                  <a:pt x="2702" y="21059"/>
                </a:lnTo>
                <a:lnTo>
                  <a:pt x="18902" y="21059"/>
                </a:lnTo>
                <a:lnTo>
                  <a:pt x="18902" y="17821"/>
                </a:lnTo>
                <a:lnTo>
                  <a:pt x="16743" y="17821"/>
                </a:lnTo>
                <a:lnTo>
                  <a:pt x="16743" y="16741"/>
                </a:lnTo>
                <a:lnTo>
                  <a:pt x="18902" y="16741"/>
                </a:lnTo>
                <a:lnTo>
                  <a:pt x="18902" y="14582"/>
                </a:lnTo>
                <a:lnTo>
                  <a:pt x="19982" y="14582"/>
                </a:lnTo>
                <a:lnTo>
                  <a:pt x="19982" y="21600"/>
                </a:lnTo>
                <a:lnTo>
                  <a:pt x="21062" y="21600"/>
                </a:lnTo>
                <a:lnTo>
                  <a:pt x="21062" y="13501"/>
                </a:lnTo>
                <a:lnTo>
                  <a:pt x="17822" y="13501"/>
                </a:lnTo>
                <a:lnTo>
                  <a:pt x="17822" y="15662"/>
                </a:lnTo>
                <a:lnTo>
                  <a:pt x="16743" y="15662"/>
                </a:lnTo>
                <a:lnTo>
                  <a:pt x="16743" y="13501"/>
                </a:lnTo>
                <a:lnTo>
                  <a:pt x="14582" y="13501"/>
                </a:lnTo>
                <a:lnTo>
                  <a:pt x="14582" y="12421"/>
                </a:lnTo>
                <a:lnTo>
                  <a:pt x="21600" y="12421"/>
                </a:lnTo>
                <a:lnTo>
                  <a:pt x="21600" y="12418"/>
                </a:lnTo>
                <a:close/>
                <a:moveTo>
                  <a:pt x="17822" y="18898"/>
                </a:moveTo>
                <a:lnTo>
                  <a:pt x="17822" y="19979"/>
                </a:lnTo>
                <a:lnTo>
                  <a:pt x="3778" y="19979"/>
                </a:lnTo>
                <a:lnTo>
                  <a:pt x="3778" y="18898"/>
                </a:lnTo>
                <a:lnTo>
                  <a:pt x="5938" y="18898"/>
                </a:lnTo>
                <a:lnTo>
                  <a:pt x="5938" y="16738"/>
                </a:lnTo>
                <a:lnTo>
                  <a:pt x="7018" y="16738"/>
                </a:lnTo>
                <a:lnTo>
                  <a:pt x="7018" y="18898"/>
                </a:lnTo>
                <a:lnTo>
                  <a:pt x="10259" y="18898"/>
                </a:lnTo>
                <a:lnTo>
                  <a:pt x="10259" y="2698"/>
                </a:lnTo>
                <a:lnTo>
                  <a:pt x="7022" y="2698"/>
                </a:lnTo>
                <a:lnTo>
                  <a:pt x="7022" y="4859"/>
                </a:lnTo>
                <a:lnTo>
                  <a:pt x="5941" y="4859"/>
                </a:lnTo>
                <a:lnTo>
                  <a:pt x="5941" y="2698"/>
                </a:lnTo>
                <a:lnTo>
                  <a:pt x="3782" y="2698"/>
                </a:lnTo>
                <a:lnTo>
                  <a:pt x="3782" y="1618"/>
                </a:lnTo>
                <a:lnTo>
                  <a:pt x="17822" y="1618"/>
                </a:lnTo>
                <a:lnTo>
                  <a:pt x="17822" y="2698"/>
                </a:lnTo>
                <a:lnTo>
                  <a:pt x="15663" y="2698"/>
                </a:lnTo>
                <a:lnTo>
                  <a:pt x="15663" y="4859"/>
                </a:lnTo>
                <a:lnTo>
                  <a:pt x="14582" y="4859"/>
                </a:lnTo>
                <a:lnTo>
                  <a:pt x="14582" y="2698"/>
                </a:lnTo>
                <a:lnTo>
                  <a:pt x="11343" y="2698"/>
                </a:lnTo>
                <a:lnTo>
                  <a:pt x="11343" y="18898"/>
                </a:lnTo>
                <a:lnTo>
                  <a:pt x="14582" y="18898"/>
                </a:lnTo>
                <a:lnTo>
                  <a:pt x="14582" y="16738"/>
                </a:lnTo>
                <a:lnTo>
                  <a:pt x="15663" y="16738"/>
                </a:lnTo>
                <a:lnTo>
                  <a:pt x="15663" y="18898"/>
                </a:lnTo>
                <a:lnTo>
                  <a:pt x="17822" y="18898"/>
                </a:lnTo>
                <a:close/>
              </a:path>
            </a:pathLst>
          </a:custGeom>
          <a:solidFill>
            <a:srgbClr val="DFC788"/>
          </a:solidFill>
          <a:ln w="12700">
            <a:miter lim="400000"/>
          </a:ln>
        </p:spPr>
        <p:txBody>
          <a:bodyPr lIns="45719" rIns="45719" anchor="ctr"/>
          <a:p>
            <a:pPr algn="l" defTabSz="448945">
              <a:lnSpc>
                <a:spcPct val="93000"/>
              </a:lnSpc>
              <a:defRPr sz="1800" b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sz="300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二方</a:t>
            </a:r>
            <a:r>
              <a:rPr lang="en-US" altLang="zh-CN"/>
              <a:t>/</a:t>
            </a:r>
            <a:r>
              <a:rPr lang="zh-CN" altLang="en-US"/>
              <a:t>四方连续</a:t>
            </a:r>
            <a:r>
              <a:t>图形</a:t>
            </a:r>
            <a:r>
              <a:rPr lang="zh-CN"/>
              <a:t>为主的</a:t>
            </a:r>
            <a:r>
              <a:rPr lang="zh-CN" altLang="en-US"/>
              <a:t>「边线纹路」</a:t>
            </a:r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5586730" y="2060575"/>
            <a:ext cx="329819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从棉马褂中获取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四方连续图形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根据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图案结构可用作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边线纹路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7" name="组合 3"/>
          <p:cNvGrpSpPr/>
          <p:nvPr/>
        </p:nvGrpSpPr>
        <p:grpSpPr>
          <a:xfrm>
            <a:off x="825500" y="1790700"/>
            <a:ext cx="4157980" cy="4301490"/>
            <a:chOff x="1300" y="2820"/>
            <a:chExt cx="6548" cy="6774"/>
          </a:xfrm>
        </p:grpSpPr>
        <p:pic>
          <p:nvPicPr>
            <p:cNvPr id="4" name="图片 5" descr="fu_{0,95,532,607}~iphon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0" y="2820"/>
              <a:ext cx="5938" cy="677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12" name="图片 6" descr="fu_{0,95,532,607}~iphone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5014" y="3982"/>
              <a:ext cx="2835" cy="2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595" extrusionOk="0">
                  <a:moveTo>
                    <a:pt x="9839" y="0"/>
                  </a:moveTo>
                  <a:cubicBezTo>
                    <a:pt x="7321" y="0"/>
                    <a:pt x="4803" y="1006"/>
                    <a:pt x="2882" y="3016"/>
                  </a:cubicBezTo>
                  <a:cubicBezTo>
                    <a:pt x="-961" y="7038"/>
                    <a:pt x="-961" y="13557"/>
                    <a:pt x="2882" y="17578"/>
                  </a:cubicBezTo>
                  <a:cubicBezTo>
                    <a:pt x="6724" y="21600"/>
                    <a:pt x="12954" y="21600"/>
                    <a:pt x="16796" y="17578"/>
                  </a:cubicBezTo>
                  <a:cubicBezTo>
                    <a:pt x="20639" y="13557"/>
                    <a:pt x="20639" y="7038"/>
                    <a:pt x="16796" y="3016"/>
                  </a:cubicBezTo>
                  <a:cubicBezTo>
                    <a:pt x="14875" y="1006"/>
                    <a:pt x="12357" y="0"/>
                    <a:pt x="9839" y="0"/>
                  </a:cubicBezTo>
                  <a:close/>
                </a:path>
              </a:pathLst>
            </a:custGeom>
            <a:ln w="12700">
              <a:miter lim="400000"/>
              <a:headEnd/>
              <a:tailEnd/>
            </a:ln>
            <a:effectLst>
              <a:innerShdw blurRad="114300">
                <a:prstClr val="black"/>
              </a:innerShdw>
            </a:effectLst>
          </p:spPr>
        </p:pic>
      </p:grp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单个成团</a:t>
            </a:r>
            <a:r>
              <a:t>图标图形</a:t>
            </a:r>
            <a:r>
              <a:rPr lang="zh-CN"/>
              <a:t>为主的</a:t>
            </a:r>
            <a:r>
              <a:rPr lang="en-US"/>
              <a:t>「</a:t>
            </a:r>
            <a:r>
              <a:rPr lang="zh-CN" altLang="en-US"/>
              <a:t>项目</a:t>
            </a:r>
            <a:r>
              <a:rPr lang="en-US"/>
              <a:t>符号」</a:t>
            </a:r>
            <a:endParaRPr lang="en-US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4298315" y="1744345"/>
            <a:ext cx="329819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从朝袍中获取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十二章纹图案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根据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图案结构可用作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项目符号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5" name="组合 3"/>
          <p:cNvGrpSpPr/>
          <p:nvPr/>
        </p:nvGrpSpPr>
        <p:grpSpPr>
          <a:xfrm>
            <a:off x="4373880" y="4257040"/>
            <a:ext cx="3222781" cy="1929765"/>
            <a:chOff x="12621" y="6581"/>
            <a:chExt cx="4849" cy="2904"/>
          </a:xfrm>
        </p:grpSpPr>
        <p:sp>
          <p:nvSpPr>
            <p:cNvPr id="264" name="礼服的色彩配搭"/>
            <p:cNvSpPr txBox="1"/>
            <p:nvPr/>
          </p:nvSpPr>
          <p:spPr>
            <a:xfrm>
              <a:off x="13323" y="6658"/>
              <a:ext cx="3955" cy="477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50800" tIns="50800" rIns="50800" bIns="50800" anchor="ctr">
              <a:spAutoFit/>
            </a:bodyPr>
            <a:lstStyle>
              <a:lvl1pPr algn="l">
                <a:lnSpc>
                  <a:spcPct val="90000"/>
                </a:lnSpc>
                <a:defRPr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l">
                <a:lnSpc>
                  <a:spcPct val="100000"/>
                </a:lnSpc>
                <a:buClrTx/>
                <a:buSzTx/>
                <a:buFontTx/>
              </a:pPr>
              <a:r>
                <a:rPr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礼服的色彩配搭</a:t>
              </a:r>
              <a:endPara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66" name="礼服的版型与打版工艺"/>
            <p:cNvSpPr txBox="1"/>
            <p:nvPr/>
          </p:nvSpPr>
          <p:spPr>
            <a:xfrm>
              <a:off x="13323" y="7416"/>
              <a:ext cx="4147" cy="477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50800" tIns="50800" rIns="50800" bIns="50800" anchor="ctr">
              <a:spAutoFit/>
            </a:bodyPr>
            <a:lstStyle>
              <a:lvl1pPr algn="l">
                <a:lnSpc>
                  <a:spcPct val="90000"/>
                </a:lnSpc>
                <a:defRPr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l">
                <a:lnSpc>
                  <a:spcPct val="100000"/>
                </a:lnSpc>
                <a:buClrTx/>
                <a:buSzTx/>
                <a:buFontTx/>
              </a:pPr>
              <a:r>
                <a:rPr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礼服的版型与打版工艺</a:t>
              </a:r>
              <a:endPara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68" name="礼服材质与布料运用"/>
            <p:cNvSpPr txBox="1"/>
            <p:nvPr/>
          </p:nvSpPr>
          <p:spPr>
            <a:xfrm>
              <a:off x="13323" y="8174"/>
              <a:ext cx="4147" cy="477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50800" tIns="50800" rIns="50800" bIns="50800" anchor="ctr">
              <a:spAutoFit/>
            </a:bodyPr>
            <a:lstStyle>
              <a:lvl1pPr algn="l">
                <a:lnSpc>
                  <a:spcPct val="90000"/>
                </a:lnSpc>
                <a:defRPr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l">
                <a:lnSpc>
                  <a:spcPct val="100000"/>
                </a:lnSpc>
                <a:buClrTx/>
                <a:buSzTx/>
                <a:buFontTx/>
              </a:pPr>
              <a:r>
                <a:rPr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礼服材质与布料运用</a:t>
              </a:r>
              <a:endPara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69" name="刺绣工艺与图案"/>
            <p:cNvSpPr txBox="1"/>
            <p:nvPr/>
          </p:nvSpPr>
          <p:spPr>
            <a:xfrm>
              <a:off x="13323" y="8932"/>
              <a:ext cx="4147" cy="477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50800" tIns="50800" rIns="50800" bIns="50800" anchor="ctr">
              <a:spAutoFit/>
            </a:bodyPr>
            <a:lstStyle>
              <a:lvl1pPr algn="l">
                <a:lnSpc>
                  <a:spcPct val="90000"/>
                </a:lnSpc>
                <a:defRPr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l">
                <a:lnSpc>
                  <a:spcPct val="100000"/>
                </a:lnSpc>
                <a:buClrTx/>
                <a:buSzTx/>
                <a:buFontTx/>
              </a:pPr>
              <a:r>
                <a:rPr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刺绣工艺与图案</a:t>
              </a:r>
              <a:endPara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pic>
          <p:nvPicPr>
            <p:cNvPr id="270" name="fu1_{110,126,278,279}~iphone@2x.png" descr="fu1_{110,126,278,279}~iphone@2x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621" y="8855"/>
              <a:ext cx="628" cy="63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271" name="fu1_{110,126,278,279}~iphone@2x.png" descr="fu1_{110,126,278,279}~iphone@2x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621" y="8097"/>
              <a:ext cx="628" cy="63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272" name="fu1_{110,126,278,279}~iphone@2x.png" descr="fu1_{110,126,278,279}~iphone@2x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621" y="7339"/>
              <a:ext cx="628" cy="63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273" name="fu1_{110,126,278,279}~iphone@2x.png" descr="fu1_{110,126,278,279}~iphone@2x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621" y="6581"/>
              <a:ext cx="628" cy="63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grpSp>
        <p:nvGrpSpPr>
          <p:cNvPr id="9" name="组合 4"/>
          <p:cNvGrpSpPr/>
          <p:nvPr/>
        </p:nvGrpSpPr>
        <p:grpSpPr>
          <a:xfrm>
            <a:off x="532130" y="1645920"/>
            <a:ext cx="2764790" cy="4851400"/>
            <a:chOff x="838" y="2592"/>
            <a:chExt cx="4354" cy="7640"/>
          </a:xfrm>
        </p:grpSpPr>
        <p:pic>
          <p:nvPicPr>
            <p:cNvPr id="4" name="图片 4" descr="LiFuLevel3_000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38" y="2592"/>
              <a:ext cx="3999" cy="764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11" name="图片 5" descr="fu_{0,0,704,768}~iphone@2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2924" y="3198"/>
              <a:ext cx="2268" cy="2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595" extrusionOk="0">
                  <a:moveTo>
                    <a:pt x="9839" y="0"/>
                  </a:moveTo>
                  <a:cubicBezTo>
                    <a:pt x="7321" y="0"/>
                    <a:pt x="4803" y="1005"/>
                    <a:pt x="2881" y="3016"/>
                  </a:cubicBezTo>
                  <a:cubicBezTo>
                    <a:pt x="-961" y="7037"/>
                    <a:pt x="-961" y="13557"/>
                    <a:pt x="2881" y="17579"/>
                  </a:cubicBezTo>
                  <a:cubicBezTo>
                    <a:pt x="6724" y="21600"/>
                    <a:pt x="12954" y="21600"/>
                    <a:pt x="16797" y="17579"/>
                  </a:cubicBezTo>
                  <a:cubicBezTo>
                    <a:pt x="20639" y="13557"/>
                    <a:pt x="20639" y="7037"/>
                    <a:pt x="16797" y="3016"/>
                  </a:cubicBezTo>
                  <a:cubicBezTo>
                    <a:pt x="14875" y="1005"/>
                    <a:pt x="12357" y="0"/>
                    <a:pt x="9839" y="0"/>
                  </a:cubicBezTo>
                  <a:close/>
                </a:path>
              </a:pathLst>
            </a:custGeom>
            <a:ln w="12700">
              <a:miter lim="400000"/>
              <a:headEnd/>
              <a:tailEnd/>
            </a:ln>
            <a:effectLst>
              <a:innerShdw blurRad="114300">
                <a:prstClr val="black"/>
              </a:innerShdw>
            </a:effectLst>
          </p:spPr>
        </p:pic>
      </p:grpSp>
      <p:pic>
        <p:nvPicPr>
          <p:cNvPr id="17" name="十二章纹图案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145" y="1864995"/>
            <a:ext cx="3327400" cy="889000"/>
          </a:xfrm>
          <a:prstGeom prst="rect">
            <a:avLst/>
          </a:prstGeom>
        </p:spPr>
      </p:pic>
      <p:pic>
        <p:nvPicPr>
          <p:cNvPr id="18" name="十二章纹图案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145" y="3009265"/>
            <a:ext cx="3327400" cy="889000"/>
          </a:xfrm>
          <a:prstGeom prst="rect">
            <a:avLst/>
          </a:prstGeom>
        </p:spPr>
      </p:pic>
      <p:pic>
        <p:nvPicPr>
          <p:cNvPr id="19" name="十二章纹图案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145" y="4153535"/>
            <a:ext cx="3327400" cy="889000"/>
          </a:xfrm>
          <a:prstGeom prst="rect">
            <a:avLst/>
          </a:prstGeom>
        </p:spPr>
      </p:pic>
      <p:pic>
        <p:nvPicPr>
          <p:cNvPr id="30" name="十二章纹图案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1145" y="5297805"/>
            <a:ext cx="3327400" cy="88900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渐变色背景形状"/>
          <p:cNvSpPr/>
          <p:nvPr/>
        </p:nvSpPr>
        <p:spPr>
          <a:xfrm>
            <a:off x="177483" y="100013"/>
            <a:ext cx="11837035" cy="6657975"/>
          </a:xfrm>
          <a:prstGeom prst="rect">
            <a:avLst/>
          </a:prstGeom>
          <a:gradFill>
            <a:gsLst>
              <a:gs pos="0">
                <a:srgbClr val="6B8E88">
                  <a:alpha val="34000"/>
                </a:srgbClr>
              </a:gs>
              <a:gs pos="100000">
                <a:srgbClr val="6B8E8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8" name="四合如意云龙纹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7135" y="3959225"/>
            <a:ext cx="4665980" cy="2030095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复杂图腾图形为主的「底纹」</a:t>
            </a:r>
            <a:endParaRPr lang="zh-CN" altLang="en-US"/>
          </a:p>
        </p:txBody>
      </p:sp>
      <p:sp>
        <p:nvSpPr>
          <p:cNvPr id="6" name="文本框 2"/>
          <p:cNvSpPr txBox="1"/>
          <p:nvPr/>
        </p:nvSpPr>
        <p:spPr>
          <a:xfrm>
            <a:off x="4298315" y="1744345"/>
            <a:ext cx="329819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从</a:t>
            </a:r>
            <a:r>
              <a:rPr dirty="0" err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行服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中获取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四合如意云龙纹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根据图形和古服特性可用作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底纹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1" name="组合 3"/>
          <p:cNvGrpSpPr/>
          <p:nvPr/>
        </p:nvGrpSpPr>
        <p:grpSpPr>
          <a:xfrm>
            <a:off x="762635" y="1687830"/>
            <a:ext cx="3039745" cy="4697730"/>
            <a:chOff x="1201" y="2658"/>
            <a:chExt cx="4787" cy="7398"/>
          </a:xfrm>
        </p:grpSpPr>
        <p:pic>
          <p:nvPicPr>
            <p:cNvPr id="4" name="图片 3" descr="yifu_{0,0,468,768}~iphone@2x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1" y="2658"/>
              <a:ext cx="4508" cy="7399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5" name="图片 4" descr="yifu_{0,0,468,768}~iphone@2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2586" y="5610"/>
              <a:ext cx="3402" cy="3402"/>
            </a:xfrm>
            <a:prstGeom prst="ellipse">
              <a:avLst/>
            </a:prstGeom>
            <a:ln w="12700">
              <a:miter lim="400000"/>
              <a:headEnd/>
              <a:tailEnd/>
            </a:ln>
            <a:effectLst>
              <a:innerShdw blurRad="114300">
                <a:prstClr val="black"/>
              </a:innerShdw>
            </a:effectLst>
          </p:spPr>
        </p:pic>
      </p:grpSp>
    </p:spTree>
    <p:custDataLst>
      <p:tags r:id="rId4"/>
    </p:custDataLst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中纹艺术之「</a:t>
            </a:r>
            <a:r>
              <a:rPr lang="zh-CN"/>
              <a:t>色彩</a:t>
            </a:r>
            <a:r>
              <a:t>」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主色彩与次色彩组成的「配色」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53" name="图片 1" descr="chun_{12,59,748,707}~iphone@2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" y="1053465"/>
            <a:ext cx="5755640" cy="544068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文本框 2"/>
          <p:cNvSpPr txBox="1"/>
          <p:nvPr/>
        </p:nvSpPr>
        <p:spPr>
          <a:xfrm>
            <a:off x="5720080" y="3197225"/>
            <a:ext cx="3298190" cy="1153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从红色冬朝袍中获取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朱红色 + 金色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2" name="组合 3"/>
          <p:cNvGrpSpPr/>
          <p:nvPr/>
        </p:nvGrpSpPr>
        <p:grpSpPr>
          <a:xfrm rot="0">
            <a:off x="9126220" y="2882900"/>
            <a:ext cx="1910080" cy="1910080"/>
            <a:chOff x="25210" y="4901"/>
            <a:chExt cx="5884" cy="5884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46" name="圆形"/>
            <p:cNvSpPr/>
            <p:nvPr/>
          </p:nvSpPr>
          <p:spPr>
            <a:xfrm>
              <a:off x="25210" y="4901"/>
              <a:ext cx="5885" cy="5885"/>
            </a:xfrm>
            <a:prstGeom prst="ellipse">
              <a:avLst/>
            </a:prstGeom>
            <a:solidFill>
              <a:srgbClr val="E04B27"/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solidFill>
                    <a:srgbClr val="334CA1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  <p:sp>
          <p:nvSpPr>
            <p:cNvPr id="447" name="圆形"/>
            <p:cNvSpPr/>
            <p:nvPr/>
          </p:nvSpPr>
          <p:spPr>
            <a:xfrm>
              <a:off x="26802" y="6493"/>
              <a:ext cx="2700" cy="2700"/>
            </a:xfrm>
            <a:prstGeom prst="ellipse">
              <a:avLst/>
            </a:prstGeom>
            <a:solidFill>
              <a:srgbClr val="D9B84F">
                <a:alpha val="87276"/>
              </a:srgbClr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4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53" name="图片 1" descr="chun_{12,59,748,707}~iphone@2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" y="1053465"/>
            <a:ext cx="5755640" cy="544068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文本框 2"/>
          <p:cNvSpPr txBox="1"/>
          <p:nvPr/>
        </p:nvSpPr>
        <p:spPr>
          <a:xfrm>
            <a:off x="5720080" y="3197225"/>
            <a:ext cx="3298190" cy="1153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>
                <a:solidFill>
                  <a:srgbClr val="DAAA4A"/>
                </a:solidFill>
                <a:sym typeface="+mn-ea"/>
              </a:rPr>
              <a:t>从红色冬朝袍中获取</a:t>
            </a:r>
            <a:endParaRPr lang="zh-CN" altLang="en-US">
              <a:solidFill>
                <a:srgbClr val="DAAA4A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>
                <a:solidFill>
                  <a:srgbClr val="DAAA4A"/>
                </a:solidFill>
                <a:sym typeface="+mn-ea"/>
              </a:rPr>
              <a:t>朱红色 + 金色</a:t>
            </a:r>
            <a:endParaRPr lang="zh-CN" altLang="en-US" sz="2800" b="1">
              <a:solidFill>
                <a:srgbClr val="DAAA4A"/>
              </a:solidFill>
              <a:sym typeface="+mn-ea"/>
            </a:endParaRPr>
          </a:p>
        </p:txBody>
      </p:sp>
      <p:grpSp>
        <p:nvGrpSpPr>
          <p:cNvPr id="2" name="组合 3"/>
          <p:cNvGrpSpPr/>
          <p:nvPr/>
        </p:nvGrpSpPr>
        <p:grpSpPr>
          <a:xfrm rot="0">
            <a:off x="9126220" y="2882900"/>
            <a:ext cx="1910080" cy="1910080"/>
            <a:chOff x="25210" y="4901"/>
            <a:chExt cx="5884" cy="5884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46" name="圆形"/>
            <p:cNvSpPr/>
            <p:nvPr/>
          </p:nvSpPr>
          <p:spPr>
            <a:xfrm>
              <a:off x="25210" y="4901"/>
              <a:ext cx="5885" cy="5885"/>
            </a:xfrm>
            <a:prstGeom prst="ellipse">
              <a:avLst/>
            </a:prstGeom>
            <a:solidFill>
              <a:srgbClr val="E04B27"/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solidFill>
                    <a:srgbClr val="334CA1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  <p:sp>
          <p:nvSpPr>
            <p:cNvPr id="447" name="圆形"/>
            <p:cNvSpPr/>
            <p:nvPr/>
          </p:nvSpPr>
          <p:spPr>
            <a:xfrm>
              <a:off x="26802" y="6493"/>
              <a:ext cx="2700" cy="2700"/>
            </a:xfrm>
            <a:prstGeom prst="ellipse">
              <a:avLst/>
            </a:prstGeom>
            <a:solidFill>
              <a:srgbClr val="D9B84F">
                <a:alpha val="87276"/>
              </a:srgbClr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1" descr="siyue_{39,75,687,684}~iphone@2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" y="1053465"/>
            <a:ext cx="5755640" cy="544068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文本框 2"/>
          <p:cNvSpPr txBox="1"/>
          <p:nvPr/>
        </p:nvSpPr>
        <p:spPr>
          <a:xfrm>
            <a:off x="5720080" y="3197225"/>
            <a:ext cx="3298190" cy="1153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从蓝色冬朝袍中获取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琉璃蓝色 + 金色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2" name="组合 3"/>
          <p:cNvGrpSpPr/>
          <p:nvPr/>
        </p:nvGrpSpPr>
        <p:grpSpPr>
          <a:xfrm rot="0">
            <a:off x="9126220" y="2882900"/>
            <a:ext cx="1910080" cy="1910080"/>
            <a:chOff x="13122" y="4548"/>
            <a:chExt cx="5884" cy="5884"/>
          </a:xfrm>
        </p:grpSpPr>
        <p:sp>
          <p:nvSpPr>
            <p:cNvPr id="13" name="圆形"/>
            <p:cNvSpPr/>
            <p:nvPr/>
          </p:nvSpPr>
          <p:spPr>
            <a:xfrm>
              <a:off x="13122" y="4548"/>
              <a:ext cx="5885" cy="5885"/>
            </a:xfrm>
            <a:prstGeom prst="ellipse">
              <a:avLst/>
            </a:prstGeom>
            <a:solidFill>
              <a:srgbClr val="2E3090"/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solidFill>
                    <a:srgbClr val="334CA1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  <p:sp>
          <p:nvSpPr>
            <p:cNvPr id="14" name="圆形"/>
            <p:cNvSpPr/>
            <p:nvPr/>
          </p:nvSpPr>
          <p:spPr>
            <a:xfrm>
              <a:off x="14714" y="6140"/>
              <a:ext cx="2700" cy="2700"/>
            </a:xfrm>
            <a:prstGeom prst="ellipse">
              <a:avLst/>
            </a:prstGeom>
            <a:solidFill>
              <a:srgbClr val="D9B84F">
                <a:alpha val="87276"/>
              </a:srgbClr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1" descr="siyue_{39,75,687,684}~iphone@2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" y="1053465"/>
            <a:ext cx="5755640" cy="544068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文本框 2"/>
          <p:cNvSpPr txBox="1"/>
          <p:nvPr/>
        </p:nvSpPr>
        <p:spPr>
          <a:xfrm>
            <a:off x="5720080" y="3197225"/>
            <a:ext cx="3298190" cy="1153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>
                <a:solidFill>
                  <a:srgbClr val="DAAA4A"/>
                </a:solidFill>
                <a:sym typeface="+mn-ea"/>
              </a:rPr>
              <a:t>从蓝色冬朝袍中获取</a:t>
            </a:r>
            <a:endParaRPr lang="zh-CN" altLang="en-US">
              <a:solidFill>
                <a:srgbClr val="DAAA4A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>
                <a:solidFill>
                  <a:srgbClr val="DAAA4A"/>
                </a:solidFill>
                <a:sym typeface="+mn-ea"/>
              </a:rPr>
              <a:t>琉璃蓝色 + 金色</a:t>
            </a:r>
            <a:endParaRPr lang="zh-CN" altLang="en-US" sz="2800" b="1">
              <a:solidFill>
                <a:srgbClr val="DAAA4A"/>
              </a:solidFill>
              <a:sym typeface="+mn-ea"/>
            </a:endParaRPr>
          </a:p>
        </p:txBody>
      </p:sp>
      <p:grpSp>
        <p:nvGrpSpPr>
          <p:cNvPr id="12" name="组合 3"/>
          <p:cNvGrpSpPr/>
          <p:nvPr/>
        </p:nvGrpSpPr>
        <p:grpSpPr>
          <a:xfrm rot="0">
            <a:off x="9126220" y="2882900"/>
            <a:ext cx="1910080" cy="1910080"/>
            <a:chOff x="13122" y="4548"/>
            <a:chExt cx="5884" cy="5884"/>
          </a:xfrm>
        </p:grpSpPr>
        <p:sp>
          <p:nvSpPr>
            <p:cNvPr id="13" name="圆形"/>
            <p:cNvSpPr/>
            <p:nvPr/>
          </p:nvSpPr>
          <p:spPr>
            <a:xfrm>
              <a:off x="13122" y="4548"/>
              <a:ext cx="5885" cy="5885"/>
            </a:xfrm>
            <a:prstGeom prst="ellipse">
              <a:avLst/>
            </a:prstGeom>
            <a:solidFill>
              <a:srgbClr val="2E3090"/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solidFill>
                    <a:srgbClr val="334CA1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  <p:sp>
          <p:nvSpPr>
            <p:cNvPr id="14" name="圆形"/>
            <p:cNvSpPr/>
            <p:nvPr/>
          </p:nvSpPr>
          <p:spPr>
            <a:xfrm>
              <a:off x="14714" y="6140"/>
              <a:ext cx="2700" cy="2700"/>
            </a:xfrm>
            <a:prstGeom prst="ellipse">
              <a:avLst/>
            </a:prstGeom>
            <a:solidFill>
              <a:srgbClr val="D9B84F">
                <a:alpha val="87276"/>
              </a:srgbClr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zh-CN"/>
              <a:t>谢谢观赏</a:t>
            </a:r>
            <a:endParaRPr lang="zh-CN" altLang="zh-CN"/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/>
          </a:bodyPr>
          <a:p>
            <a:r>
              <a:rPr lang="zh-CN" altLang="en-US"/>
              <a:t>发现「中纹」之美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WPS 演示</Application>
  <PresentationFormat>宽屏</PresentationFormat>
  <Paragraphs>73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Wingdings</vt:lpstr>
      <vt:lpstr>汉仪昌黎宋刻本(精修版)</vt:lpstr>
      <vt:lpstr>Arial</vt:lpstr>
      <vt:lpstr>Helvetica</vt:lpstr>
      <vt:lpstr>Helvetica Neue Medium</vt:lpstr>
      <vt:lpstr>Arial Unicode MS</vt:lpstr>
      <vt:lpstr>Calibri</vt:lpstr>
      <vt:lpstr>Office 主题​​</vt:lpstr>
      <vt:lpstr>发现「中纹」之美</vt:lpstr>
      <vt:lpstr>PowerPoint 演示文稿</vt:lpstr>
      <vt:lpstr>发现「中纹」之美</vt:lpstr>
      <vt:lpstr>把深邃的中纹艺术，变成你身边的艺术</vt:lpstr>
      <vt:lpstr>中纹艺术之「图形」</vt:lpstr>
      <vt:lpstr>二方/四方连续图形为主的「边线纹路」</vt:lpstr>
      <vt:lpstr>单个成团图标图形为主的「项目符号」</vt:lpstr>
      <vt:lpstr>复杂图腾图形为主的「底纹」</vt:lpstr>
      <vt:lpstr>中纹艺术之「色彩」</vt:lpstr>
      <vt:lpstr>PowerPoint 演示文稿</vt:lpstr>
      <vt:lpstr>PowerPoint 演示文稿</vt:lpstr>
      <vt:lpstr>PowerPoint 演示文稿</vt:lpstr>
      <vt:lpstr>PowerPoint 演示文稿</vt:lpstr>
      <vt:lpstr>谢谢观赏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万涛</cp:lastModifiedBy>
  <cp:revision>266</cp:revision>
  <dcterms:created xsi:type="dcterms:W3CDTF">2019-06-19T02:08:00Z</dcterms:created>
  <dcterms:modified xsi:type="dcterms:W3CDTF">2021-04-25T04:07:36Z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