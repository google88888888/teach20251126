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3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7" r:id="rId1"/>
    <p:sldMasterId id="2147483716" r:id="rId2"/>
  </p:sldMasterIdLst>
  <p:notesMasterIdLst>
    <p:notesMasterId r:id="rId15"/>
  </p:notesMasterIdLst>
  <p:handoutMasterIdLst>
    <p:handoutMasterId r:id="rId16"/>
  </p:handoutMasterIdLst>
  <p:sldIdLst>
    <p:sldId id="2851" r:id="rId3"/>
    <p:sldId id="2878" r:id="rId4"/>
    <p:sldId id="2879" r:id="rId5"/>
    <p:sldId id="2921" r:id="rId6"/>
    <p:sldId id="2970" r:id="rId7"/>
    <p:sldId id="2971" r:id="rId8"/>
    <p:sldId id="2903" r:id="rId9"/>
    <p:sldId id="2972" r:id="rId10"/>
    <p:sldId id="2973" r:id="rId11"/>
    <p:sldId id="2924" r:id="rId12"/>
    <p:sldId id="2943" r:id="rId13"/>
    <p:sldId id="2959" r:id="rId14"/>
  </p:sldIdLst>
  <p:sldSz cx="9144000" cy="5143500" type="screen16x9"/>
  <p:notesSz cx="6858000" cy="9144000"/>
  <p:custDataLst>
    <p:tags r:id="rId1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4912" indent="-12981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2081" indent="-2618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69251" indent="-39395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6421" indent="-52602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1625492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1950590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2275688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2600786" algn="l" defTabSz="650196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9E4"/>
    <a:srgbClr val="37ACE2"/>
    <a:srgbClr val="E13584"/>
    <a:srgbClr val="F7E700"/>
    <a:srgbClr val="F7E78D"/>
    <a:srgbClr val="F5C722"/>
    <a:srgbClr val="03ACFD"/>
    <a:srgbClr val="CC191E"/>
    <a:srgbClr val="34C8DC"/>
    <a:srgbClr val="4FB8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21" autoAdjust="0"/>
    <p:restoredTop sz="95317" autoAdjust="0"/>
  </p:normalViewPr>
  <p:slideViewPr>
    <p:cSldViewPr>
      <p:cViewPr varScale="1">
        <p:scale>
          <a:sx n="79" d="100"/>
          <a:sy n="79" d="100"/>
        </p:scale>
        <p:origin x="96" y="804"/>
      </p:cViewPr>
      <p:guideLst>
        <p:guide orient="horz" pos="1620"/>
        <p:guide pos="2880"/>
      </p:guideLst>
    </p:cSldViewPr>
  </p:slideViewPr>
  <p:outlineViewPr>
    <p:cViewPr>
      <p:scale>
        <a:sx n="100" d="100"/>
        <a:sy n="100" d="100"/>
      </p:scale>
      <p:origin x="0" y="-205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2" d="100"/>
        <a:sy n="132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79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6600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  <a:pPr>
                <a:defRPr/>
              </a:pPr>
              <a:t>2021-05-29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5404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1pPr>
    <a:lvl2pPr marL="323969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2pPr>
    <a:lvl3pPr marL="649068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3pPr>
    <a:lvl4pPr marL="974166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4pPr>
    <a:lvl5pPr marL="1299264" algn="l" rtl="0" eaLnBrk="0" fontAlgn="base" hangingPunct="0">
      <a:spcBef>
        <a:spcPct val="30000"/>
      </a:spcBef>
      <a:spcAft>
        <a:spcPct val="0"/>
      </a:spcAft>
      <a:defRPr sz="924" kern="1200">
        <a:solidFill>
          <a:schemeClr val="tx1"/>
        </a:solidFill>
        <a:latin typeface="+mn-lt"/>
        <a:ea typeface="+mn-ea"/>
        <a:cs typeface="+mn-cs"/>
      </a:defRPr>
    </a:lvl5pPr>
    <a:lvl6pPr marL="1625131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6pPr>
    <a:lvl7pPr marL="1950157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7pPr>
    <a:lvl8pPr marL="2275184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8pPr>
    <a:lvl9pPr marL="2600209" algn="l" defTabSz="650052" rtl="0" eaLnBrk="1" latinLnBrk="0" hangingPunct="1">
      <a:defRPr sz="92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126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937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970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324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159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206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719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206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483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86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0F956-FC7D-4434-9D9E-CC985997F4E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1180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449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28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1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792" y="274338"/>
            <a:ext cx="7886418" cy="99347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CB2931F4-194C-4DD9-9505-42FC048612EF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2FAB2A2D-5054-49A2-BEE4-C9F6B6DAB1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758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472"/>
            <a:ext cx="8229600" cy="8580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79634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472"/>
            <a:ext cx="8229600" cy="8580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5920162" y="4654781"/>
            <a:ext cx="551208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447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5472"/>
            <a:ext cx="8229600" cy="85800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28242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431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51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735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37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560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1878807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978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931F4-194C-4DD9-9505-42FC048612EF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B2A2D-5054-49A2-BEE4-C9F6B6DAB1E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42ED24-5C49-4826-A671-6E42AA709F11}"/>
              </a:ext>
            </a:extLst>
          </p:cNvPr>
          <p:cNvSpPr txBox="1"/>
          <p:nvPr userDrawn="1"/>
        </p:nvSpPr>
        <p:spPr>
          <a:xfrm>
            <a:off x="4572000" y="12347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b="1" dirty="0">
                <a:solidFill>
                  <a:schemeClr val="bg1">
                    <a:lumMod val="75000"/>
                  </a:schemeClr>
                </a:solidFill>
              </a:rPr>
              <a:t>《Python编程基础与应用》配套课件</a:t>
            </a:r>
          </a:p>
        </p:txBody>
      </p:sp>
    </p:spTree>
    <p:extLst>
      <p:ext uri="{BB962C8B-B14F-4D97-AF65-F5344CB8AC3E}">
        <p14:creationId xmlns:p14="http://schemas.microsoft.com/office/powerpoint/2010/main" val="2386433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221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364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8467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489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3845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863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792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2BF82D2-7A68-459D-A996-9BDDA2518FA4}" type="datetimeFigureOut">
              <a:rPr lang="zh-CN" altLang="en-US" smtClean="0"/>
              <a:t>2021-05-29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810" y="4767560"/>
            <a:ext cx="3086382" cy="27320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8374" y="4767560"/>
            <a:ext cx="2056836" cy="273206"/>
          </a:xfrm>
          <a:prstGeom prst="rect">
            <a:avLst/>
          </a:prstGeom>
        </p:spPr>
        <p:txBody>
          <a:bodyPr/>
          <a:lstStyle/>
          <a:p>
            <a:fld id="{3E01EE5D-26FB-46D5-A381-ECFB35BF1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83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78" y="0"/>
            <a:ext cx="9133023" cy="5150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505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7" r:id="rId3"/>
    <p:sldLayoutId id="2147483713" r:id="rId4"/>
    <p:sldLayoutId id="2147483714" r:id="rId5"/>
    <p:sldLayoutId id="2147483715" r:id="rId6"/>
    <p:sldLayoutId id="2147483710" r:id="rId7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650230" rtl="0" eaLnBrk="1" latinLnBrk="0" hangingPunct="1">
        <a:lnSpc>
          <a:spcPct val="90000"/>
        </a:lnSpc>
        <a:spcBef>
          <a:spcPct val="0"/>
        </a:spcBef>
        <a:buNone/>
        <a:defRPr sz="31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557" indent="-162557" algn="l" defTabSz="65023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1991" kern="1200">
          <a:solidFill>
            <a:schemeClr val="tx1"/>
          </a:solidFill>
          <a:latin typeface="+mn-lt"/>
          <a:ea typeface="+mn-ea"/>
          <a:cs typeface="+mn-cs"/>
        </a:defRPr>
      </a:lvl1pPr>
      <a:lvl2pPr marL="48767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707" kern="1200">
          <a:solidFill>
            <a:schemeClr val="tx1"/>
          </a:solidFill>
          <a:latin typeface="+mn-lt"/>
          <a:ea typeface="+mn-ea"/>
          <a:cs typeface="+mn-cs"/>
        </a:defRPr>
      </a:lvl2pPr>
      <a:lvl3pPr marL="81278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422" kern="1200">
          <a:solidFill>
            <a:schemeClr val="tx1"/>
          </a:solidFill>
          <a:latin typeface="+mn-lt"/>
          <a:ea typeface="+mn-ea"/>
          <a:cs typeface="+mn-cs"/>
        </a:defRPr>
      </a:lvl3pPr>
      <a:lvl4pPr marL="113790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1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178813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6pPr>
      <a:lvl7pPr marL="211324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2438362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8pPr>
      <a:lvl9pPr marL="2763477" indent="-162557" algn="l" defTabSz="65023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1pPr>
      <a:lvl2pPr marL="325115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5023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3pPr>
      <a:lvl4pPr marL="975345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130046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1625575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6pPr>
      <a:lvl7pPr marL="1950690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2275804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8pPr>
      <a:lvl9pPr marL="2600919" algn="l" defTabSz="650230" rtl="0" eaLnBrk="1" latinLnBrk="0" hangingPunct="1">
        <a:defRPr sz="12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71C14E-A499-4597-91BF-BAAA4B27AD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78" y="0"/>
            <a:ext cx="9133023" cy="5150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68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44"/>
            <a:ext cx="9144000" cy="518309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1861" y="2983119"/>
            <a:ext cx="3138318" cy="2353738"/>
          </a:xfrm>
          <a:prstGeom prst="rect">
            <a:avLst/>
          </a:prstGeom>
        </p:spPr>
      </p:pic>
      <p:sp>
        <p:nvSpPr>
          <p:cNvPr id="10" name="TextBox 4"/>
          <p:cNvSpPr txBox="1"/>
          <p:nvPr/>
        </p:nvSpPr>
        <p:spPr>
          <a:xfrm>
            <a:off x="2702333" y="1610875"/>
            <a:ext cx="3744615" cy="880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120" spc="427" dirty="0">
                <a:solidFill>
                  <a:schemeClr val="bg1"/>
                </a:solidFill>
                <a:latin typeface="方正尚酷简体" panose="02000000000000000000" pitchFamily="2" charset="-122"/>
                <a:ea typeface="方正尚酷简体" panose="02000000000000000000" pitchFamily="2" charset="-122"/>
              </a:rPr>
              <a:t>元组的应用</a:t>
            </a:r>
            <a:endParaRPr lang="en-US" altLang="zh-CN" sz="5120" spc="427" dirty="0">
              <a:solidFill>
                <a:schemeClr val="bg1"/>
              </a:solidFill>
              <a:latin typeface="方正尚酷简体" panose="02000000000000000000" pitchFamily="2" charset="-122"/>
              <a:ea typeface="方正尚酷简体" panose="02000000000000000000" pitchFamily="2" charset="-122"/>
            </a:endParaRPr>
          </a:p>
        </p:txBody>
      </p:sp>
      <p:sp>
        <p:nvSpPr>
          <p:cNvPr id="11" name="TextBox 23"/>
          <p:cNvSpPr txBox="1"/>
          <p:nvPr/>
        </p:nvSpPr>
        <p:spPr>
          <a:xfrm>
            <a:off x="2943740" y="3079722"/>
            <a:ext cx="3228900" cy="586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138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主讲： 蓝永健</a:t>
            </a:r>
            <a:endParaRPr lang="en-US" altLang="zh-CN" sz="1138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138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出版社：机械工业出版社</a:t>
            </a:r>
          </a:p>
        </p:txBody>
      </p:sp>
      <p:sp>
        <p:nvSpPr>
          <p:cNvPr id="12" name="矩形 11"/>
          <p:cNvSpPr/>
          <p:nvPr/>
        </p:nvSpPr>
        <p:spPr>
          <a:xfrm>
            <a:off x="2471305" y="2575639"/>
            <a:ext cx="4201389" cy="367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《Python</a:t>
            </a:r>
            <a:r>
              <a:rPr lang="zh-CN" altLang="en-US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编程基础与应用</a:t>
            </a:r>
            <a:r>
              <a:rPr lang="en-US" altLang="zh-CN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配套课件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814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" y="-8293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+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25741" y="2911998"/>
            <a:ext cx="1088568" cy="3550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sz="1707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18" name="矩形 17"/>
          <p:cNvSpPr/>
          <p:nvPr/>
        </p:nvSpPr>
        <p:spPr>
          <a:xfrm>
            <a:off x="1849079" y="1162871"/>
            <a:ext cx="841897" cy="16681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512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512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512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  <a:endParaRPr lang="zh-CN" altLang="en-US" sz="512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131840" y="843558"/>
            <a:ext cx="4608512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元组的定义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列表与元组的相互转换</a:t>
            </a:r>
          </a:p>
        </p:txBody>
      </p:sp>
    </p:spTree>
    <p:extLst>
      <p:ext uri="{BB962C8B-B14F-4D97-AF65-F5344CB8AC3E}">
        <p14:creationId xmlns:p14="http://schemas.microsoft.com/office/powerpoint/2010/main" val="1180326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44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2279989" y="830757"/>
            <a:ext cx="4647239" cy="2757714"/>
            <a:chOff x="3206231" y="1168053"/>
            <a:chExt cx="6535180" cy="3878036"/>
          </a:xfrm>
        </p:grpSpPr>
        <p:sp>
          <p:nvSpPr>
            <p:cNvPr id="9" name="直角三角形 8"/>
            <p:cNvSpPr/>
            <p:nvPr/>
          </p:nvSpPr>
          <p:spPr>
            <a:xfrm rot="2700000" flipV="1">
              <a:off x="6274882" y="4648210"/>
              <a:ext cx="397879" cy="397879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1" name="文本框 38"/>
            <p:cNvSpPr txBox="1">
              <a:spLocks noChangeArrowheads="1"/>
            </p:cNvSpPr>
            <p:nvPr/>
          </p:nvSpPr>
          <p:spPr bwMode="auto">
            <a:xfrm>
              <a:off x="3206231" y="2333559"/>
              <a:ext cx="6535180" cy="868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413" b="1" dirty="0">
                  <a:solidFill>
                    <a:schemeClr val="bg1"/>
                  </a:solidFill>
                  <a:latin typeface="+mj-ea"/>
                  <a:ea typeface="+mj-ea"/>
                </a:rPr>
                <a:t>元组的定义</a:t>
              </a: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 flipH="1">
              <a:off x="5888034" y="3575711"/>
              <a:ext cx="11715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38"/>
            <p:cNvSpPr txBox="1">
              <a:spLocks noChangeArrowheads="1"/>
            </p:cNvSpPr>
            <p:nvPr/>
          </p:nvSpPr>
          <p:spPr bwMode="auto">
            <a:xfrm>
              <a:off x="3206231" y="1168053"/>
              <a:ext cx="6535180" cy="1145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4693" b="1" dirty="0">
                  <a:solidFill>
                    <a:schemeClr val="bg1"/>
                  </a:solidFill>
                  <a:latin typeface="+mj-ea"/>
                  <a:ea typeface="+mj-ea"/>
                </a:rPr>
                <a:t>01</a:t>
              </a:r>
              <a:endParaRPr lang="zh-CN" altLang="en-US" sz="4693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9312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3007378" cy="400110"/>
            <a:chOff x="400051" y="303327"/>
            <a:chExt cx="422990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372022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元组的定义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C2015389-5275-4111-B869-D6BB8D5F2069}"/>
              </a:ext>
            </a:extLst>
          </p:cNvPr>
          <p:cNvSpPr txBox="1"/>
          <p:nvPr/>
        </p:nvSpPr>
        <p:spPr>
          <a:xfrm>
            <a:off x="534396" y="1131590"/>
            <a:ext cx="8142060" cy="17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与列表类似，元组（</a:t>
            </a:r>
            <a:r>
              <a:rPr lang="en-US" altLang="zh-CN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tuple</a:t>
            </a:r>
            <a:r>
              <a:rPr lang="zh-CN" altLang="en-US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也是由任意类型元素组成的序列。与列表不同的是，元组是不可变的，这意味着一旦元组被定义，将无法再进行增加、删除或修改元素等操作。因此，元组就像是一个常量列表。你可以简单的理解为内容不可变的列表。除了在内部元素不可修改的区别外，元组和列表的用法差不多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8670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3007378" cy="400110"/>
            <a:chOff x="400051" y="303327"/>
            <a:chExt cx="422990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372022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元组的定义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C2015389-5275-4111-B869-D6BB8D5F2069}"/>
              </a:ext>
            </a:extLst>
          </p:cNvPr>
          <p:cNvSpPr txBox="1"/>
          <p:nvPr/>
        </p:nvSpPr>
        <p:spPr>
          <a:xfrm>
            <a:off x="534396" y="1131590"/>
            <a:ext cx="8142060" cy="212090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b="1" dirty="0"/>
              <a:t>1</a:t>
            </a:r>
            <a:r>
              <a:rPr lang="zh-CN" altLang="zh-CN" b="1" dirty="0"/>
              <a:t>．元组与列表相同的操作：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使用方括号加下标访问元素；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切片（形成新元组对象）；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count()</a:t>
            </a:r>
            <a:r>
              <a:rPr lang="zh-CN" altLang="zh-CN" dirty="0"/>
              <a:t>、</a:t>
            </a:r>
            <a:r>
              <a:rPr lang="en-US" altLang="zh-CN" dirty="0"/>
              <a:t>index()</a:t>
            </a:r>
            <a:r>
              <a:rPr lang="zh-CN" altLang="zh-CN" dirty="0"/>
              <a:t>、</a:t>
            </a:r>
            <a:r>
              <a:rPr lang="en-US" altLang="zh-CN" dirty="0" err="1"/>
              <a:t>len</a:t>
            </a:r>
            <a:r>
              <a:rPr lang="en-US" altLang="zh-CN" dirty="0"/>
              <a:t>()</a:t>
            </a:r>
            <a:r>
              <a:rPr lang="zh-CN" altLang="zh-CN" dirty="0"/>
              <a:t>、</a:t>
            </a:r>
            <a:r>
              <a:rPr lang="en-US" altLang="zh-CN" dirty="0"/>
              <a:t>max()</a:t>
            </a:r>
            <a:r>
              <a:rPr lang="zh-CN" altLang="zh-CN" dirty="0"/>
              <a:t>、</a:t>
            </a:r>
            <a:r>
              <a:rPr lang="en-US" altLang="zh-CN" dirty="0"/>
              <a:t>min()</a:t>
            </a:r>
            <a:r>
              <a:rPr lang="zh-CN" altLang="zh-CN" dirty="0"/>
              <a:t>、</a:t>
            </a:r>
            <a:r>
              <a:rPr lang="en-US" altLang="zh-CN" dirty="0"/>
              <a:t>tuple()</a:t>
            </a:r>
            <a:r>
              <a:rPr lang="zh-CN" altLang="zh-CN" dirty="0"/>
              <a:t>等。</a:t>
            </a:r>
            <a:endParaRPr lang="en-US" altLang="zh-CN" dirty="0"/>
          </a:p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696980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3007378" cy="400110"/>
            <a:chOff x="400051" y="303327"/>
            <a:chExt cx="4229906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3720223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元组的定义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C2015389-5275-4111-B869-D6BB8D5F2069}"/>
              </a:ext>
            </a:extLst>
          </p:cNvPr>
          <p:cNvSpPr txBox="1"/>
          <p:nvPr/>
        </p:nvSpPr>
        <p:spPr>
          <a:xfrm>
            <a:off x="534396" y="1131590"/>
            <a:ext cx="8142060" cy="25364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b="1" dirty="0"/>
              <a:t>2</a:t>
            </a:r>
            <a:r>
              <a:rPr lang="zh-CN" altLang="zh-CN" b="1" dirty="0"/>
              <a:t>．元组中不允许的操作，确切地说是元组没有的功能：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修改、新增元素；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删除某个元素（但可以删除整个元组）；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所有会对元组内部元素发生修改动作的方法。例如，元组没有</a:t>
            </a:r>
            <a:r>
              <a:rPr lang="en-US" altLang="zh-CN" dirty="0"/>
              <a:t>remove</a:t>
            </a:r>
            <a:r>
              <a:rPr lang="zh-CN" altLang="zh-CN" dirty="0"/>
              <a:t>，</a:t>
            </a:r>
            <a:r>
              <a:rPr lang="en-US" altLang="zh-CN" dirty="0"/>
              <a:t>append</a:t>
            </a:r>
            <a:r>
              <a:rPr lang="zh-CN" altLang="zh-CN" dirty="0"/>
              <a:t>，</a:t>
            </a:r>
            <a:r>
              <a:rPr lang="en-US" altLang="zh-CN" dirty="0"/>
              <a:t>pop</a:t>
            </a:r>
            <a:r>
              <a:rPr lang="zh-CN" altLang="zh-CN" dirty="0"/>
              <a:t>等方法。</a:t>
            </a:r>
          </a:p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282831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943704" cy="400110"/>
            <a:chOff x="400051" y="303327"/>
            <a:chExt cx="8359877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7850194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5-22</a:t>
              </a:r>
              <a:r>
                <a:rPr lang="zh-CN" altLang="en-US" dirty="0"/>
                <a:t>元组的定义和读取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729909"/>
            <a:ext cx="8257074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可以直接使用</a:t>
            </a:r>
            <a:r>
              <a:rPr lang="en-US" altLang="zh-CN" dirty="0"/>
              <a:t>tuple</a:t>
            </a:r>
            <a:r>
              <a:rPr lang="zh-CN" altLang="en-US" dirty="0"/>
              <a:t>（）或者一个空括号“（）”来创建元组。当元组的元素只有一个时，要在元素的后面跟个逗号。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24FE0A7-AE4D-4BF9-8B4A-E36E48EC9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3" y="1724025"/>
            <a:ext cx="536257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970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943704" cy="400110"/>
            <a:chOff x="400051" y="303327"/>
            <a:chExt cx="8359877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7850194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5-22</a:t>
              </a:r>
              <a:r>
                <a:rPr lang="zh-CN" altLang="en-US" dirty="0"/>
                <a:t>元组的定义和读取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它的结果如下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A0EF6F-927E-48C5-AF20-D631D9C1C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19" y="1635646"/>
            <a:ext cx="7935926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607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943704" cy="400110"/>
            <a:chOff x="400051" y="303327"/>
            <a:chExt cx="8359877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7850194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5-22</a:t>
              </a:r>
              <a:r>
                <a:rPr lang="zh-CN" altLang="en-US" dirty="0"/>
                <a:t>元组的定义和读取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46854" y="1059582"/>
            <a:ext cx="825707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它的结果如下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7FBB83B-9AEC-46FF-ABC4-E74F4A823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45" y="986986"/>
            <a:ext cx="8237778" cy="302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55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44"/>
            <a:ext cx="9144000" cy="5131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2279989" y="830757"/>
            <a:ext cx="4647239" cy="2757714"/>
            <a:chOff x="3206231" y="1168053"/>
            <a:chExt cx="6535180" cy="3878036"/>
          </a:xfrm>
        </p:grpSpPr>
        <p:sp>
          <p:nvSpPr>
            <p:cNvPr id="9" name="直角三角形 8"/>
            <p:cNvSpPr/>
            <p:nvPr/>
          </p:nvSpPr>
          <p:spPr>
            <a:xfrm rot="2700000" flipV="1">
              <a:off x="6274882" y="4648210"/>
              <a:ext cx="397879" cy="397879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11" name="文本框 38"/>
            <p:cNvSpPr txBox="1">
              <a:spLocks noChangeArrowheads="1"/>
            </p:cNvSpPr>
            <p:nvPr/>
          </p:nvSpPr>
          <p:spPr bwMode="auto">
            <a:xfrm>
              <a:off x="3206231" y="2333559"/>
              <a:ext cx="6535180" cy="868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3413" b="1" dirty="0">
                  <a:solidFill>
                    <a:schemeClr val="bg1"/>
                  </a:solidFill>
                  <a:latin typeface="+mj-ea"/>
                  <a:ea typeface="+mj-ea"/>
                </a:rPr>
                <a:t>列表与元组的相互转换</a:t>
              </a:r>
            </a:p>
          </p:txBody>
        </p:sp>
        <p:cxnSp>
          <p:nvCxnSpPr>
            <p:cNvPr id="13" name="直接连接符 12"/>
            <p:cNvCxnSpPr/>
            <p:nvPr/>
          </p:nvCxnSpPr>
          <p:spPr bwMode="auto">
            <a:xfrm flipH="1">
              <a:off x="5888034" y="3575711"/>
              <a:ext cx="1171575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38"/>
            <p:cNvSpPr txBox="1">
              <a:spLocks noChangeArrowheads="1"/>
            </p:cNvSpPr>
            <p:nvPr/>
          </p:nvSpPr>
          <p:spPr bwMode="auto">
            <a:xfrm>
              <a:off x="3206231" y="1168053"/>
              <a:ext cx="6535180" cy="1145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4693" b="1" dirty="0">
                  <a:solidFill>
                    <a:schemeClr val="bg1"/>
                  </a:solidFill>
                  <a:latin typeface="+mj-ea"/>
                  <a:ea typeface="+mj-ea"/>
                </a:rPr>
                <a:t>02</a:t>
              </a:r>
              <a:endParaRPr lang="zh-CN" altLang="en-US" sz="4693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509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23" name="组合 7"/>
          <p:cNvGrpSpPr>
            <a:grpSpLocks/>
          </p:cNvGrpSpPr>
          <p:nvPr/>
        </p:nvGrpSpPr>
        <p:grpSpPr bwMode="auto">
          <a:xfrm>
            <a:off x="284480" y="216289"/>
            <a:ext cx="5943704" cy="400110"/>
            <a:chOff x="400051" y="303327"/>
            <a:chExt cx="8359877" cy="563157"/>
          </a:xfrm>
        </p:grpSpPr>
        <p:sp>
          <p:nvSpPr>
            <p:cNvPr id="24" name="任意多边形 23"/>
            <p:cNvSpPr/>
            <p:nvPr/>
          </p:nvSpPr>
          <p:spPr>
            <a:xfrm>
              <a:off x="400051" y="353428"/>
              <a:ext cx="379483" cy="379751"/>
            </a:xfrm>
            <a:custGeom>
              <a:avLst/>
              <a:gdLst>
                <a:gd name="connsiteX0" fmla="*/ 157734 w 406400"/>
                <a:gd name="connsiteY0" fmla="*/ 125523 h 406400"/>
                <a:gd name="connsiteX1" fmla="*/ 157734 w 406400"/>
                <a:gd name="connsiteY1" fmla="*/ 285067 h 406400"/>
                <a:gd name="connsiteX2" fmla="*/ 295272 w 406400"/>
                <a:gd name="connsiteY2" fmla="*/ 205295 h 406400"/>
                <a:gd name="connsiteX3" fmla="*/ 203200 w 406400"/>
                <a:gd name="connsiteY3" fmla="*/ 0 h 406400"/>
                <a:gd name="connsiteX4" fmla="*/ 406400 w 406400"/>
                <a:gd name="connsiteY4" fmla="*/ 203200 h 406400"/>
                <a:gd name="connsiteX5" fmla="*/ 203200 w 406400"/>
                <a:gd name="connsiteY5" fmla="*/ 406400 h 406400"/>
                <a:gd name="connsiteX6" fmla="*/ 0 w 406400"/>
                <a:gd name="connsiteY6" fmla="*/ 203200 h 406400"/>
                <a:gd name="connsiteX7" fmla="*/ 203200 w 406400"/>
                <a:gd name="connsiteY7" fmla="*/ 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6400" h="406400">
                  <a:moveTo>
                    <a:pt x="157734" y="125523"/>
                  </a:moveTo>
                  <a:lnTo>
                    <a:pt x="157734" y="285067"/>
                  </a:lnTo>
                  <a:lnTo>
                    <a:pt x="295272" y="205295"/>
                  </a:lnTo>
                  <a:close/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7AC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6" name="文本框 5"/>
            <p:cNvSpPr txBox="1"/>
            <p:nvPr/>
          </p:nvSpPr>
          <p:spPr bwMode="auto">
            <a:xfrm>
              <a:off x="909734" y="303327"/>
              <a:ext cx="7850194" cy="5631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auto">
                <a:spcBef>
                  <a:spcPts val="0"/>
                </a:spcBef>
                <a:spcAft>
                  <a:spcPts val="0"/>
                </a:spcAft>
                <a:defRPr sz="20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dirty="0"/>
                <a:t>范例</a:t>
              </a:r>
              <a:r>
                <a:rPr lang="en-US" altLang="zh-CN" dirty="0"/>
                <a:t>5-23</a:t>
              </a:r>
              <a:r>
                <a:rPr lang="zh-CN" altLang="en-US" dirty="0"/>
                <a:t>列表与元组的相互转换</a:t>
              </a: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CCD15D2-5FA2-46D7-993E-B74EB5AB997F}"/>
              </a:ext>
            </a:extLst>
          </p:cNvPr>
          <p:cNvSpPr txBox="1"/>
          <p:nvPr/>
        </p:nvSpPr>
        <p:spPr>
          <a:xfrm>
            <a:off x="651070" y="888926"/>
            <a:ext cx="8173618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使用</a:t>
            </a:r>
            <a:r>
              <a:rPr lang="en-US" altLang="zh-CN" dirty="0"/>
              <a:t>list</a:t>
            </a:r>
            <a:r>
              <a:rPr lang="zh-CN" altLang="en-US" dirty="0"/>
              <a:t>函数可以把元组转换成列表，使用</a:t>
            </a:r>
            <a:r>
              <a:rPr lang="en-US" altLang="zh-CN" dirty="0"/>
              <a:t>tuple</a:t>
            </a:r>
            <a:r>
              <a:rPr lang="zh-CN" altLang="en-US" dirty="0"/>
              <a:t>函数可以把列表转换成元组。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3434826-CE18-43CE-BE47-EC5C83093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54" y="1707653"/>
            <a:ext cx="6301410" cy="319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98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44"/>
            <a:ext cx="9144000" cy="518309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1861" y="2983119"/>
            <a:ext cx="3138318" cy="2353738"/>
          </a:xfrm>
          <a:prstGeom prst="rect">
            <a:avLst/>
          </a:prstGeom>
        </p:spPr>
      </p:pic>
      <p:sp>
        <p:nvSpPr>
          <p:cNvPr id="10" name="TextBox 4"/>
          <p:cNvSpPr txBox="1"/>
          <p:nvPr/>
        </p:nvSpPr>
        <p:spPr>
          <a:xfrm>
            <a:off x="3058326" y="1610875"/>
            <a:ext cx="3032625" cy="880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120" spc="427" dirty="0">
                <a:solidFill>
                  <a:schemeClr val="bg1"/>
                </a:solidFill>
                <a:latin typeface="方正尚酷简体" panose="02000000000000000000" pitchFamily="2" charset="-122"/>
                <a:ea typeface="方正尚酷简体" panose="02000000000000000000" pitchFamily="2" charset="-122"/>
              </a:rPr>
              <a:t>感谢聆听</a:t>
            </a:r>
          </a:p>
        </p:txBody>
      </p:sp>
      <p:sp>
        <p:nvSpPr>
          <p:cNvPr id="11" name="TextBox 23"/>
          <p:cNvSpPr txBox="1"/>
          <p:nvPr/>
        </p:nvSpPr>
        <p:spPr>
          <a:xfrm>
            <a:off x="2943740" y="3079722"/>
            <a:ext cx="3228900" cy="586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138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主讲： 蓝永健</a:t>
            </a:r>
            <a:endParaRPr lang="en-US" altLang="zh-CN" sz="1138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138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出版社：机械工业出版社</a:t>
            </a:r>
          </a:p>
        </p:txBody>
      </p:sp>
      <p:sp>
        <p:nvSpPr>
          <p:cNvPr id="12" name="矩形 11"/>
          <p:cNvSpPr/>
          <p:nvPr/>
        </p:nvSpPr>
        <p:spPr>
          <a:xfrm>
            <a:off x="2471305" y="2575639"/>
            <a:ext cx="4201389" cy="367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《Python</a:t>
            </a:r>
            <a:r>
              <a:rPr lang="zh-CN" altLang="en-US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编程基础与应用</a:t>
            </a:r>
            <a:r>
              <a:rPr lang="en-US" altLang="zh-CN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dirty="0">
                <a:solidFill>
                  <a:srgbClr val="37ACE2"/>
                </a:solidFill>
                <a:latin typeface="微软雅黑" pitchFamily="34" charset="-122"/>
                <a:ea typeface="微软雅黑" pitchFamily="34" charset="-122"/>
              </a:rPr>
              <a:t>配套课件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8279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SCORM_PASSING_SCORE" val="100.000000"/>
  <p:tag name="ISPRING_FIRST_PUBLISH" val="1"/>
  <p:tag name="ISPRING_SCORM_RATE_QUIZZES" val="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OUTPUT_FOLDER" val="E:\PPT\十二月份\12-10"/>
  <p:tag name="ISPRING_PRESENTATION_TITLE" val="简约教师学期工作汇报总结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3.1"/>
</p:tagLst>
</file>

<file path=ppt/theme/theme1.xml><?xml version="1.0" encoding="utf-8"?>
<a:theme xmlns:a="http://schemas.openxmlformats.org/drawingml/2006/main" name="第一PPT，www.1ppt.com">
  <a:themeElements>
    <a:clrScheme name="自定义 6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33F50"/>
      </a:accent1>
      <a:accent2>
        <a:srgbClr val="CA8F45"/>
      </a:accent2>
      <a:accent3>
        <a:srgbClr val="333F50"/>
      </a:accent3>
      <a:accent4>
        <a:srgbClr val="CA8F45"/>
      </a:accent4>
      <a:accent5>
        <a:srgbClr val="333F50"/>
      </a:accent5>
      <a:accent6>
        <a:srgbClr val="CA8F45"/>
      </a:accent6>
      <a:hlink>
        <a:srgbClr val="333F50"/>
      </a:hlink>
      <a:folHlink>
        <a:srgbClr val="CA8F45"/>
      </a:folHlink>
    </a:clrScheme>
    <a:fontScheme name="Temp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第一PPT，www.1ppt.com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360</Words>
  <Application>Microsoft Office PowerPoint</Application>
  <PresentationFormat>全屏显示(16:9)</PresentationFormat>
  <Paragraphs>50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等线 Light</vt:lpstr>
      <vt:lpstr>方正尚酷简体</vt:lpstr>
      <vt:lpstr>微软雅黑</vt:lpstr>
      <vt:lpstr>Arial</vt:lpstr>
      <vt:lpstr>Calibri</vt:lpstr>
      <vt:lpstr>Calibri Light</vt:lpstr>
      <vt:lpstr>第一PPT，www.1ppt.com</vt:lpstr>
      <vt:lpstr>1_第一PPT，www.1ppt.com</vt:lpstr>
      <vt:lpstr>PowerPoint 演示文稿</vt:lpstr>
      <vt:lpstr>+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蓝色清爽寒假生活</dc:title>
  <dc:creator/>
  <cp:keywords>www.1ppt.com</cp:keywords>
  <dc:description>www.1ppt.com</dc:description>
  <cp:lastModifiedBy/>
  <cp:revision>1</cp:revision>
  <dcterms:created xsi:type="dcterms:W3CDTF">2017-04-05T10:58:25Z</dcterms:created>
  <dcterms:modified xsi:type="dcterms:W3CDTF">2021-05-29T06:00:29Z</dcterms:modified>
</cp:coreProperties>
</file>