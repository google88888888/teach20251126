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  <p:sldMasterId id="2147483716" r:id="rId2"/>
  </p:sldMasterIdLst>
  <p:notesMasterIdLst>
    <p:notesMasterId r:id="rId31"/>
  </p:notesMasterIdLst>
  <p:handoutMasterIdLst>
    <p:handoutMasterId r:id="rId32"/>
  </p:handoutMasterIdLst>
  <p:sldIdLst>
    <p:sldId id="2851" r:id="rId3"/>
    <p:sldId id="2878" r:id="rId4"/>
    <p:sldId id="2879" r:id="rId5"/>
    <p:sldId id="2921" r:id="rId6"/>
    <p:sldId id="2903" r:id="rId7"/>
    <p:sldId id="2941" r:id="rId8"/>
    <p:sldId id="2960" r:id="rId9"/>
    <p:sldId id="2924" r:id="rId10"/>
    <p:sldId id="2943" r:id="rId11"/>
    <p:sldId id="2944" r:id="rId12"/>
    <p:sldId id="2961" r:id="rId13"/>
    <p:sldId id="2945" r:id="rId14"/>
    <p:sldId id="2962" r:id="rId15"/>
    <p:sldId id="2963" r:id="rId16"/>
    <p:sldId id="2964" r:id="rId17"/>
    <p:sldId id="2965" r:id="rId18"/>
    <p:sldId id="2966" r:id="rId19"/>
    <p:sldId id="2967" r:id="rId20"/>
    <p:sldId id="2930" r:id="rId21"/>
    <p:sldId id="2946" r:id="rId22"/>
    <p:sldId id="2968" r:id="rId23"/>
    <p:sldId id="2947" r:id="rId24"/>
    <p:sldId id="2948" r:id="rId25"/>
    <p:sldId id="2935" r:id="rId26"/>
    <p:sldId id="2955" r:id="rId27"/>
    <p:sldId id="2956" r:id="rId28"/>
    <p:sldId id="2969" r:id="rId29"/>
    <p:sldId id="2959" r:id="rId30"/>
  </p:sldIdLst>
  <p:sldSz cx="9144000" cy="5143500" type="screen16x9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4912" indent="-12981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2081" indent="-261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69251" indent="-39395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6421" indent="-5260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1625492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1950590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2275688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2600786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9E4"/>
    <a:srgbClr val="37ACE2"/>
    <a:srgbClr val="E13584"/>
    <a:srgbClr val="F7E700"/>
    <a:srgbClr val="F7E78D"/>
    <a:srgbClr val="F5C722"/>
    <a:srgbClr val="03ACFD"/>
    <a:srgbClr val="CC191E"/>
    <a:srgbClr val="34C8DC"/>
    <a:srgbClr val="4FB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 autoAdjust="0"/>
    <p:restoredTop sz="95283" autoAdjust="0"/>
  </p:normalViewPr>
  <p:slideViewPr>
    <p:cSldViewPr>
      <p:cViewPr varScale="1">
        <p:scale>
          <a:sx n="152" d="100"/>
          <a:sy n="152" d="100"/>
        </p:scale>
        <p:origin x="376" y="176"/>
      </p:cViewPr>
      <p:guideLst>
        <p:guide orient="horz" pos="1620"/>
        <p:guide pos="2880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1pPr>
    <a:lvl2pPr marL="323969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2pPr>
    <a:lvl3pPr marL="649068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3pPr>
    <a:lvl4pPr marL="974166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4pPr>
    <a:lvl5pPr marL="1299264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5pPr>
    <a:lvl6pPr marL="1625131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6pPr>
    <a:lvl7pPr marL="1950157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7pPr>
    <a:lvl8pPr marL="2275184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8pPr>
    <a:lvl9pPr marL="2600209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2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37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970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24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1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08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037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118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421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314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945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675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73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731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590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557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761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67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12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211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5687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309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3989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646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167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09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44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792" y="274338"/>
            <a:ext cx="7886418" cy="99347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CB2931F4-194C-4DD9-9505-42FC048612E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5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963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5920162" y="4654781"/>
            <a:ext cx="55120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447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824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31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6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7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31F4-194C-4DD9-9505-42FC048612EF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42ED24-5C49-4826-A671-6E42AA709F11}"/>
              </a:ext>
            </a:extLst>
          </p:cNvPr>
          <p:cNvSpPr txBox="1"/>
          <p:nvPr userDrawn="1"/>
        </p:nvSpPr>
        <p:spPr>
          <a:xfrm>
            <a:off x="4572000" y="1234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《Python编程基础与应用》配套课件</a:t>
            </a:r>
          </a:p>
        </p:txBody>
      </p:sp>
    </p:spTree>
    <p:extLst>
      <p:ext uri="{BB962C8B-B14F-4D97-AF65-F5344CB8AC3E}">
        <p14:creationId xmlns:p14="http://schemas.microsoft.com/office/powerpoint/2010/main" val="238643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221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6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46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9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6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7" r:id="rId3"/>
    <p:sldLayoutId id="2147483713" r:id="rId4"/>
    <p:sldLayoutId id="2147483714" r:id="rId5"/>
    <p:sldLayoutId id="2147483715" r:id="rId6"/>
    <p:sldLayoutId id="2147483710" r:id="rId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1C14E-A499-4597-91BF-BAAA4B27A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68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2702333" y="1610875"/>
            <a:ext cx="374461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字典的应用</a:t>
            </a:r>
            <a:endParaRPr lang="en-US" altLang="zh-CN" sz="5120" spc="427" dirty="0">
              <a:solidFill>
                <a:schemeClr val="bg1"/>
              </a:solidFill>
              <a:latin typeface="方正尚酷简体" panose="02000000000000000000" pitchFamily="2" charset="-122"/>
              <a:ea typeface="方正尚酷简体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81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" y="-8293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+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25741" y="2911998"/>
            <a:ext cx="1088568" cy="3550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70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18" name="矩形 17"/>
          <p:cNvSpPr/>
          <p:nvPr/>
        </p:nvSpPr>
        <p:spPr>
          <a:xfrm>
            <a:off x="1849079" y="1162871"/>
            <a:ext cx="841897" cy="1668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512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5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31840" y="843558"/>
            <a:ext cx="4608512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字典的定义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字典的操作方法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字典与列表的相互转换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字典元素的遍历</a:t>
            </a:r>
          </a:p>
        </p:txBody>
      </p:sp>
    </p:spTree>
    <p:extLst>
      <p:ext uri="{BB962C8B-B14F-4D97-AF65-F5344CB8AC3E}">
        <p14:creationId xmlns:p14="http://schemas.microsoft.com/office/powerpoint/2010/main" val="118032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字典的定义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31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字典的定义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8142060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字典（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dictionary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）与列表类似，但其中元素的顺序无关紧要，因为它们不是通过像 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的索引访问的。取而代之，每个元素拥有与之对应的互不相同的键（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），需要通过键来访问元素。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字典的每个键值 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key=&gt;value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对用冒号“：”分割，每个对之间用逗号“，”分割，整个字典包括在花括号“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}”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50330D-CBB7-407F-AF20-CF4D4BFFAD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507854"/>
            <a:ext cx="49149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字典的特征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）字典是任意数据类型的无序集合：列表、布尔型、整型、浮点型、元组、字符串等。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）字典是可变的，可以增加、删除或修改其中的键值对。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）字典中的“键”不允许重复，但是“值”允许重复。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）通过键而不是通过索引来读取元素。</a:t>
            </a:r>
          </a:p>
        </p:txBody>
      </p:sp>
    </p:spTree>
    <p:extLst>
      <p:ext uri="{BB962C8B-B14F-4D97-AF65-F5344CB8AC3E}">
        <p14:creationId xmlns:p14="http://schemas.microsoft.com/office/powerpoint/2010/main" val="304297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5-10 </a:t>
              </a:r>
              <a:r>
                <a:rPr lang="zh-CN" altLang="en-US" dirty="0"/>
                <a:t>字典的创建和访问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直接使用赋值运算符“</a:t>
            </a:r>
            <a:r>
              <a:rPr lang="en-US" altLang="zh-CN" dirty="0"/>
              <a:t>=”</a:t>
            </a:r>
            <a:r>
              <a:rPr lang="zh-CN" altLang="en-US" dirty="0"/>
              <a:t>将一个字典赋值给一个变量。它也可以通过一对花括号</a:t>
            </a:r>
            <a:r>
              <a:rPr lang="en-US" altLang="zh-CN" dirty="0"/>
              <a:t>{ }</a:t>
            </a:r>
            <a:r>
              <a:rPr lang="zh-CN" altLang="en-US" dirty="0"/>
              <a:t>或者</a:t>
            </a:r>
            <a:r>
              <a:rPr lang="en-US" altLang="zh-CN" dirty="0" err="1"/>
              <a:t>dict</a:t>
            </a:r>
            <a:r>
              <a:rPr lang="en-US" altLang="zh-CN" dirty="0"/>
              <a:t>()</a:t>
            </a:r>
            <a:r>
              <a:rPr lang="zh-CN" altLang="en-US" dirty="0"/>
              <a:t>创建字典。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C390B9-CEA6-4365-BE94-A40343351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53" y="2211710"/>
            <a:ext cx="53530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8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5-10 </a:t>
              </a:r>
              <a:r>
                <a:rPr lang="zh-CN" altLang="en-US" dirty="0"/>
                <a:t>字典的创建和访问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运行结果如下：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DE2C79-FBC5-44C2-8415-B4D82E36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22" y="2817681"/>
            <a:ext cx="8469577" cy="78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7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字典的操作方法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0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499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列表的多种定义方法和下标访问方法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255699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字典类型的一些通用的操作方法，如右表：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FA9E2B-CAA7-4125-87ED-1B3601EE4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636" y="670055"/>
            <a:ext cx="5038510" cy="420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9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707886"/>
            <a:chOff x="400051" y="303327"/>
            <a:chExt cx="7347078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5-11</a:t>
              </a:r>
              <a:r>
                <a:rPr lang="zh-CN" altLang="en-US" dirty="0"/>
                <a:t>字典</a:t>
              </a:r>
              <a:r>
                <a:rPr lang="en-US" altLang="zh-CN" dirty="0" err="1"/>
                <a:t>setdefault</a:t>
              </a:r>
              <a:r>
                <a:rPr lang="en-US" altLang="zh-CN" dirty="0"/>
                <a:t>()</a:t>
              </a:r>
              <a:r>
                <a:rPr lang="zh-CN" altLang="en-US" dirty="0"/>
                <a:t>访求和直接赋值实现元素的“增加”操作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当为指定“键”的字典进行赋值时，有两种含义：如果“键”存在，则表示 修改对应的值；如果“键”不存在，则表示新添加一个元素操作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603D416-50F3-4ACE-8282-4931A551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2190981"/>
            <a:ext cx="7309522" cy="25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0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707886"/>
            <a:chOff x="400051" y="303327"/>
            <a:chExt cx="7347078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5-11</a:t>
              </a:r>
              <a:r>
                <a:rPr lang="zh-CN" altLang="en-US" dirty="0"/>
                <a:t>字典</a:t>
              </a:r>
              <a:r>
                <a:rPr lang="en-US" altLang="zh-CN" dirty="0" err="1"/>
                <a:t>setdefault</a:t>
              </a:r>
              <a:r>
                <a:rPr lang="en-US" altLang="zh-CN" dirty="0"/>
                <a:t>()</a:t>
              </a:r>
              <a:r>
                <a:rPr lang="zh-CN" altLang="en-US" dirty="0"/>
                <a:t>访求和直接赋值实现元素的“增加”操作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3AF213-52F9-4D2E-8FBA-1AC143FB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779662"/>
            <a:ext cx="8238654" cy="13681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7D9CF2-6AA9-4475-87EC-B581C6B7A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94" y="3250530"/>
            <a:ext cx="5726977" cy="167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1015663"/>
            <a:chOff x="400051" y="303327"/>
            <a:chExt cx="7448358" cy="1429551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142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5-12 </a:t>
              </a:r>
              <a:r>
                <a:rPr lang="zh-CN" altLang="en-US" dirty="0"/>
                <a:t>字典的</a:t>
              </a:r>
              <a:r>
                <a:rPr lang="en-US" altLang="zh-CN" dirty="0"/>
                <a:t>copy()</a:t>
              </a:r>
              <a:r>
                <a:rPr lang="zh-CN" altLang="en-US" dirty="0"/>
                <a:t>方法实现元素的“增加”操作</a:t>
              </a:r>
            </a:p>
            <a:p>
              <a:r>
                <a:rPr lang="zh-CN" altLang="en-US" dirty="0"/>
                <a:t>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copy()</a:t>
            </a:r>
            <a:r>
              <a:rPr lang="zh-CN" altLang="en-US" dirty="0"/>
              <a:t>的方法也可以实现“增加”字典的功能，或者说是浅表复制的功能，但是需要注意使用“</a:t>
            </a:r>
            <a:r>
              <a:rPr lang="en-US" altLang="zh-CN" dirty="0"/>
              <a:t>=”</a:t>
            </a:r>
            <a:r>
              <a:rPr lang="zh-CN" altLang="en-US" dirty="0"/>
              <a:t>和</a:t>
            </a:r>
            <a:r>
              <a:rPr lang="en-US" altLang="zh-CN" dirty="0"/>
              <a:t>copy()</a:t>
            </a:r>
            <a:r>
              <a:rPr lang="zh-CN" altLang="en-US" dirty="0"/>
              <a:t>方法有小小的区别。使用</a:t>
            </a:r>
            <a:r>
              <a:rPr lang="en-US" altLang="zh-CN" dirty="0"/>
              <a:t>copy()</a:t>
            </a:r>
            <a:r>
              <a:rPr lang="zh-CN" altLang="en-US" dirty="0"/>
              <a:t>之后，新的字典内存地址也发生了变化。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548428-2429-4CFD-90A3-520F3A1A8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2328639"/>
            <a:ext cx="532447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30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1015663"/>
            <a:chOff x="400051" y="303327"/>
            <a:chExt cx="7448358" cy="1429551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142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5-12 </a:t>
              </a:r>
              <a:r>
                <a:rPr lang="zh-CN" altLang="en-US" dirty="0"/>
                <a:t>字典的</a:t>
              </a:r>
              <a:r>
                <a:rPr lang="en-US" altLang="zh-CN" dirty="0"/>
                <a:t>copy()</a:t>
              </a:r>
              <a:r>
                <a:rPr lang="zh-CN" altLang="en-US" dirty="0"/>
                <a:t>方法实现元素的“增加”操作</a:t>
              </a:r>
            </a:p>
            <a:p>
              <a:r>
                <a:rPr lang="zh-CN" altLang="en-US" dirty="0"/>
                <a:t>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经过代码结果分析，以上两种方法都可以实现代码的复制功能，但是</a:t>
            </a:r>
            <a:r>
              <a:rPr lang="en-US" altLang="zh-CN" dirty="0"/>
              <a:t>copy()</a:t>
            </a:r>
            <a:r>
              <a:rPr lang="zh-CN" altLang="en-US" dirty="0"/>
              <a:t>可以实现浅表复制，它的内存地址也发生了变化。</a:t>
            </a:r>
            <a:endParaRPr lang="en-US" altLang="zh-CN" dirty="0"/>
          </a:p>
          <a:p>
            <a:r>
              <a:rPr lang="zh-CN" altLang="en-US" dirty="0"/>
              <a:t>它的结果如下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7E821C-E952-4C0E-85D2-395536C70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94" y="2794014"/>
            <a:ext cx="7779226" cy="192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7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1015663"/>
            <a:chOff x="400051" y="303327"/>
            <a:chExt cx="7448358" cy="1429551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142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5-12 </a:t>
              </a:r>
              <a:r>
                <a:rPr lang="zh-CN" altLang="en-US" dirty="0"/>
                <a:t>字典的</a:t>
              </a:r>
              <a:r>
                <a:rPr lang="en-US" altLang="zh-CN" dirty="0"/>
                <a:t>copy()</a:t>
              </a:r>
              <a:r>
                <a:rPr lang="zh-CN" altLang="en-US" dirty="0"/>
                <a:t>方法实现元素的“增加”操作</a:t>
              </a:r>
            </a:p>
            <a:p>
              <a:r>
                <a:rPr lang="zh-CN" altLang="en-US" dirty="0"/>
                <a:t>	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F441760-4DD0-4E61-8F1D-DEB6250B1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11" y="1455372"/>
            <a:ext cx="8245894" cy="296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60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1015663"/>
            <a:chOff x="400051" y="303327"/>
            <a:chExt cx="7448358" cy="1429551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142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5-13 </a:t>
              </a:r>
              <a:r>
                <a:rPr lang="zh-CN" altLang="en-US" dirty="0"/>
                <a:t>字典的</a:t>
              </a:r>
              <a:r>
                <a:rPr lang="en-US" altLang="zh-CN" dirty="0"/>
                <a:t>update ()</a:t>
              </a:r>
              <a:r>
                <a:rPr lang="zh-CN" altLang="en-US" dirty="0"/>
                <a:t>方法实现元素的“修改”或者“增加”操作</a:t>
              </a:r>
            </a:p>
            <a:p>
              <a:r>
                <a:rPr lang="zh-CN" altLang="en-US" dirty="0"/>
                <a:t>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update()</a:t>
            </a:r>
            <a:r>
              <a:rPr lang="zh-CN" altLang="en-US" dirty="0"/>
              <a:t>方法可以将一个字典的“键值对”一次性全部添加到当前字典。如果两个字典中存在相同的“键”，则会更新它的“值”。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4EBB81-DD56-4673-868E-BAC519842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4" y="2254602"/>
            <a:ext cx="6603440" cy="233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51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400110"/>
            <a:chOff x="400051" y="303327"/>
            <a:chExt cx="744835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5-14 </a:t>
              </a:r>
              <a:r>
                <a:rPr lang="zh-CN" altLang="en-US" dirty="0"/>
                <a:t>字典的“删除”操作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888004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 err="1"/>
              <a:t>popitem</a:t>
            </a:r>
            <a:r>
              <a:rPr lang="en-US" altLang="zh-CN" dirty="0"/>
              <a:t>()</a:t>
            </a:r>
            <a:r>
              <a:rPr lang="zh-CN" altLang="en-US" dirty="0"/>
              <a:t>方法可以实现删除指定的元素，同时删除的元素还可以返回为元组。使用</a:t>
            </a:r>
            <a:r>
              <a:rPr lang="en-US" altLang="zh-CN" dirty="0"/>
              <a:t>pop()</a:t>
            </a:r>
            <a:r>
              <a:rPr lang="zh-CN" altLang="en-US" dirty="0"/>
              <a:t>可以指定删除哪一个键的元素，同时返回元素的值。使用</a:t>
            </a:r>
            <a:r>
              <a:rPr lang="en-US" altLang="zh-CN" dirty="0"/>
              <a:t>del</a:t>
            </a:r>
            <a:r>
              <a:rPr lang="zh-CN" altLang="en-US" dirty="0"/>
              <a:t>全局删除方法，它能删某单一的元素也能清空字典。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60770A-6C17-4C3E-8C81-84660943F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2283718"/>
            <a:ext cx="53340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85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400110"/>
            <a:chOff x="400051" y="303327"/>
            <a:chExt cx="744835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5-14 </a:t>
              </a:r>
              <a:r>
                <a:rPr lang="zh-CN" altLang="en-US" dirty="0"/>
                <a:t>字典的“删除”操作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888004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经分析，可知</a:t>
            </a:r>
            <a:r>
              <a:rPr lang="en-US" altLang="zh-CN" dirty="0" err="1"/>
              <a:t>popitem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-US" altLang="zh-CN" dirty="0"/>
              <a:t>pop()</a:t>
            </a:r>
            <a:r>
              <a:rPr lang="zh-CN" altLang="en-US" dirty="0"/>
              <a:t>在实现删除的同时，还可以返回删除的元素。</a:t>
            </a:r>
            <a:endParaRPr lang="en-US" altLang="zh-CN" dirty="0"/>
          </a:p>
          <a:p>
            <a:r>
              <a:rPr lang="zh-CN" altLang="en-US" dirty="0"/>
              <a:t>它的结果如下：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E74B18-FE3A-4C5C-B9A7-22B1C119F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2048356"/>
            <a:ext cx="8164681" cy="160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79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95632" cy="707886"/>
            <a:chOff x="400051" y="303327"/>
            <a:chExt cx="7448358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938675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5-15 </a:t>
              </a:r>
              <a:r>
                <a:rPr lang="zh-CN" altLang="en-US" dirty="0"/>
                <a:t>字典的</a:t>
              </a:r>
              <a:r>
                <a:rPr lang="en-US" altLang="zh-CN" dirty="0"/>
                <a:t>get()</a:t>
              </a:r>
              <a:r>
                <a:rPr lang="zh-CN" altLang="en-US" dirty="0"/>
                <a:t>、</a:t>
              </a:r>
              <a:r>
                <a:rPr lang="en-US" altLang="zh-CN" dirty="0"/>
                <a:t>keys() </a:t>
              </a:r>
              <a:r>
                <a:rPr lang="zh-CN" altLang="en-US" dirty="0"/>
                <a:t>、</a:t>
              </a:r>
              <a:r>
                <a:rPr lang="en-US" altLang="zh-CN" dirty="0"/>
                <a:t>values() </a:t>
              </a:r>
              <a:r>
                <a:rPr lang="zh-CN" altLang="en-US" dirty="0"/>
                <a:t>和</a:t>
              </a:r>
              <a:r>
                <a:rPr lang="en-US" altLang="zh-CN" dirty="0"/>
                <a:t>items()</a:t>
              </a:r>
              <a:r>
                <a:rPr lang="zh-CN" altLang="en-US" dirty="0"/>
                <a:t>的“查询”操作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888004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keys()</a:t>
            </a:r>
            <a:r>
              <a:rPr lang="zh-CN" altLang="en-US" dirty="0"/>
              <a:t>可以查询所有的“键”，使用</a:t>
            </a:r>
            <a:r>
              <a:rPr lang="en-US" altLang="zh-CN" dirty="0"/>
              <a:t>values()</a:t>
            </a:r>
            <a:r>
              <a:rPr lang="zh-CN" altLang="en-US" dirty="0"/>
              <a:t>可以查询所有的“值”，</a:t>
            </a:r>
            <a:r>
              <a:rPr lang="en-US" altLang="zh-CN" dirty="0"/>
              <a:t>items()</a:t>
            </a:r>
            <a:r>
              <a:rPr lang="zh-CN" altLang="en-US" dirty="0"/>
              <a:t>则返回全部的“键值对”，它们的共同特征是返回列表格式。使用</a:t>
            </a:r>
            <a:r>
              <a:rPr lang="en-US" altLang="zh-CN" dirty="0"/>
              <a:t>get()</a:t>
            </a:r>
            <a:r>
              <a:rPr lang="zh-CN" altLang="en-US" dirty="0"/>
              <a:t>可以查询某一个“键”对应的“值”。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2280A1-5FAC-4453-AEE0-EB9EEF97F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85" y="2355726"/>
            <a:ext cx="53721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75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字典与列表的相互转换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03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19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5-16 </a:t>
              </a:r>
              <a:r>
                <a:rPr lang="zh-CN" altLang="en-US" dirty="0"/>
                <a:t>使用</a:t>
              </a:r>
              <a:r>
                <a:rPr lang="en-US" altLang="zh-CN" dirty="0"/>
                <a:t>list()</a:t>
              </a:r>
              <a:r>
                <a:rPr lang="zh-CN" altLang="en-US" dirty="0"/>
                <a:t>把字典转换成列表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字典转换成列表，可以直接使用</a:t>
            </a:r>
            <a:r>
              <a:rPr lang="en-US" altLang="zh-CN" dirty="0"/>
              <a:t>list()</a:t>
            </a:r>
            <a:r>
              <a:rPr lang="zh-CN" altLang="en-US" dirty="0"/>
              <a:t>完成。它有以下几种实现方法：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D5146D-34B2-49EA-9382-7F51FFA3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1653897"/>
            <a:ext cx="8413227" cy="253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51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5-16 </a:t>
              </a:r>
              <a:r>
                <a:rPr lang="zh-CN" altLang="en-US" dirty="0"/>
                <a:t>使用</a:t>
              </a:r>
              <a:r>
                <a:rPr lang="en-US" altLang="zh-CN" dirty="0"/>
                <a:t>list()</a:t>
              </a:r>
              <a:r>
                <a:rPr lang="zh-CN" altLang="en-US" dirty="0"/>
                <a:t>把字典转换成列表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3EC4F3-2131-48F8-981D-E9B05A16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1743186"/>
            <a:ext cx="8036402" cy="126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50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707886"/>
            <a:chOff x="400051" y="303327"/>
            <a:chExt cx="11398276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5-17</a:t>
              </a:r>
              <a:r>
                <a:rPr lang="zh-CN" altLang="en-US" dirty="0"/>
                <a:t>使用</a:t>
              </a:r>
              <a:r>
                <a:rPr lang="en-US" altLang="zh-CN" dirty="0"/>
                <a:t>zip()</a:t>
              </a:r>
              <a:r>
                <a:rPr lang="zh-CN" altLang="en-US" dirty="0"/>
                <a:t>把列表转换成字典</a:t>
              </a:r>
            </a:p>
            <a:p>
              <a:r>
                <a:rPr lang="zh-CN" altLang="en-US" dirty="0"/>
                <a:t>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zip()</a:t>
            </a:r>
            <a:r>
              <a:rPr lang="zh-CN" altLang="en-US" dirty="0"/>
              <a:t>函数，把列表转换成字典。</a:t>
            </a:r>
            <a:r>
              <a:rPr lang="en-US" altLang="zh-CN" dirty="0"/>
              <a:t>zip() </a:t>
            </a:r>
            <a:r>
              <a:rPr lang="zh-CN" altLang="en-US" dirty="0"/>
              <a:t>函数用于将可迭代的对象作为参数，将对象中对应的元素打包成一个个元组，然后返回由这些元组组成的列表。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198DB8-3EC0-4C34-B8FF-9D56A115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80" y="1640342"/>
            <a:ext cx="8446929" cy="244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31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5-18 </a:t>
              </a:r>
              <a:r>
                <a:rPr lang="zh-CN" altLang="en-US" dirty="0"/>
                <a:t>使用嵌套列表转换为字典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使用嵌套列表转换为字典。这个方法它有一个特殊的要求，列表内只能有两个元素，将列表内的元素自行组合成键值对。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584FB2-DD90-4D0C-982D-0C97F5F7E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80" y="1775239"/>
            <a:ext cx="5708883" cy="29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40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1907705" y="830757"/>
            <a:ext cx="5976664" cy="2757714"/>
            <a:chOff x="2682707" y="1168053"/>
            <a:chExt cx="8404684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2682707" y="2333559"/>
              <a:ext cx="8404684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字典元素的遍历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04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809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5-19 </a:t>
              </a:r>
              <a:r>
                <a:rPr lang="zh-CN" altLang="en-US" dirty="0"/>
                <a:t>遍历所有的“键值对”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遍历所有的“键值对”。它主要是结合</a:t>
            </a:r>
            <a:r>
              <a:rPr lang="en-US" altLang="zh-CN" dirty="0"/>
              <a:t>items()</a:t>
            </a:r>
            <a:r>
              <a:rPr lang="zh-CN" altLang="en-US" dirty="0"/>
              <a:t>和</a:t>
            </a:r>
            <a:r>
              <a:rPr lang="en-US" altLang="zh-CN" dirty="0"/>
              <a:t>for</a:t>
            </a:r>
            <a:r>
              <a:rPr lang="zh-CN" altLang="en-US" dirty="0"/>
              <a:t>循环完成遍历任务。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FA5F54-994F-428E-BC3D-FDC025BDA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21" y="1469088"/>
            <a:ext cx="8397351" cy="23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8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5-20 </a:t>
              </a:r>
              <a:r>
                <a:rPr lang="zh-CN" altLang="en-US" dirty="0"/>
                <a:t>遍历所有的“键”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遍历字典中的所有键。它主要是结合</a:t>
            </a:r>
            <a:r>
              <a:rPr lang="en-US" altLang="zh-CN" dirty="0"/>
              <a:t>keys()</a:t>
            </a:r>
            <a:r>
              <a:rPr lang="zh-CN" altLang="en-US" dirty="0"/>
              <a:t>和</a:t>
            </a:r>
            <a:r>
              <a:rPr lang="en-US" altLang="zh-CN" dirty="0"/>
              <a:t>for</a:t>
            </a:r>
            <a:r>
              <a:rPr lang="zh-CN" altLang="en-US" dirty="0"/>
              <a:t>循环完成遍历任务。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00BB73-FB8E-4B03-BD3F-1A2D3873C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80" y="1469088"/>
            <a:ext cx="8265458" cy="247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21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5-20 </a:t>
              </a:r>
              <a:r>
                <a:rPr lang="zh-CN" altLang="en-US" dirty="0"/>
                <a:t>遍历所有的“值”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遍历字典中的所有值。它主要是结合</a:t>
            </a:r>
            <a:r>
              <a:rPr lang="en-US" altLang="zh-CN" dirty="0"/>
              <a:t>values()</a:t>
            </a:r>
            <a:r>
              <a:rPr lang="zh-CN" altLang="en-US" dirty="0"/>
              <a:t>和</a:t>
            </a:r>
            <a:r>
              <a:rPr lang="en-US" altLang="zh-CN" dirty="0"/>
              <a:t>for</a:t>
            </a:r>
            <a:r>
              <a:rPr lang="zh-CN" altLang="en-US" dirty="0"/>
              <a:t>循环完成遍历任务，它与遍历所有的“键”操作是类似的。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0D9BD2-B2FF-44AE-BD67-1DA83DF54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85" y="1640342"/>
            <a:ext cx="8406905" cy="237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72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3058326" y="1610875"/>
            <a:ext cx="303262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感谢聆听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279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PASSING_SCORE" val="100.000000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PPT\十二月份\12-10"/>
  <p:tag name="ISPRING_PRESENTATION_TITLE" val="简约教师学期工作汇报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heme/theme1.xml><?xml version="1.0" encoding="utf-8"?>
<a:theme xmlns:a="http://schemas.openxmlformats.org/drawingml/2006/main" name="第一PPT，www.1ppt.com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3F50"/>
      </a:accent1>
      <a:accent2>
        <a:srgbClr val="CA8F45"/>
      </a:accent2>
      <a:accent3>
        <a:srgbClr val="333F50"/>
      </a:accent3>
      <a:accent4>
        <a:srgbClr val="CA8F45"/>
      </a:accent4>
      <a:accent5>
        <a:srgbClr val="333F50"/>
      </a:accent5>
      <a:accent6>
        <a:srgbClr val="CA8F45"/>
      </a:accent6>
      <a:hlink>
        <a:srgbClr val="333F50"/>
      </a:hlink>
      <a:folHlink>
        <a:srgbClr val="CA8F45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1046</Words>
  <Application>Microsoft Macintosh PowerPoint</Application>
  <PresentationFormat>全屏显示(16:9)</PresentationFormat>
  <Paragraphs>98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等线 Light</vt:lpstr>
      <vt:lpstr>方正尚酷简体</vt:lpstr>
      <vt:lpstr>微软雅黑</vt:lpstr>
      <vt:lpstr>Arial</vt:lpstr>
      <vt:lpstr>Calibri</vt:lpstr>
      <vt:lpstr>Calibri Light</vt:lpstr>
      <vt:lpstr>第一PPT，www.1ppt.com</vt:lpstr>
      <vt:lpstr>1_第一PPT，www.1ppt.com</vt:lpstr>
      <vt:lpstr>PowerPoint 演示文稿</vt:lpstr>
      <vt:lpstr>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蓝色清爽寒假生活</dc:title>
  <dc:creator/>
  <cp:keywords>www.1ppt.com</cp:keywords>
  <dc:description>www.1ppt.com</dc:description>
  <cp:lastModifiedBy/>
  <cp:revision>1</cp:revision>
  <dcterms:created xsi:type="dcterms:W3CDTF">2017-04-05T10:58:25Z</dcterms:created>
  <dcterms:modified xsi:type="dcterms:W3CDTF">2025-11-05T12:32:24Z</dcterms:modified>
</cp:coreProperties>
</file>