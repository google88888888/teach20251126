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3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1"/>
    <p:sldMasterId id="2147483716" r:id="rId2"/>
  </p:sldMasterIdLst>
  <p:notesMasterIdLst>
    <p:notesMasterId r:id="rId22"/>
  </p:notesMasterIdLst>
  <p:handoutMasterIdLst>
    <p:handoutMasterId r:id="rId23"/>
  </p:handoutMasterIdLst>
  <p:sldIdLst>
    <p:sldId id="2851" r:id="rId3"/>
    <p:sldId id="2878" r:id="rId4"/>
    <p:sldId id="2879" r:id="rId5"/>
    <p:sldId id="2921" r:id="rId6"/>
    <p:sldId id="2903" r:id="rId7"/>
    <p:sldId id="2970" r:id="rId8"/>
    <p:sldId id="2971" r:id="rId9"/>
    <p:sldId id="2924" r:id="rId10"/>
    <p:sldId id="2943" r:id="rId11"/>
    <p:sldId id="2944" r:id="rId12"/>
    <p:sldId id="2972" r:id="rId13"/>
    <p:sldId id="2961" r:id="rId14"/>
    <p:sldId id="2930" r:id="rId15"/>
    <p:sldId id="2946" r:id="rId16"/>
    <p:sldId id="2968" r:id="rId17"/>
    <p:sldId id="2947" r:id="rId18"/>
    <p:sldId id="2973" r:id="rId19"/>
    <p:sldId id="2948" r:id="rId20"/>
    <p:sldId id="2959" r:id="rId21"/>
  </p:sldIdLst>
  <p:sldSz cx="9144000" cy="5143500" type="screen16x9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4912" indent="-12981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2081" indent="-2618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69251" indent="-39395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6421" indent="-52602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1625492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1950590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2275688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2600786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9E4"/>
    <a:srgbClr val="37ACE2"/>
    <a:srgbClr val="E13584"/>
    <a:srgbClr val="F7E700"/>
    <a:srgbClr val="F7E78D"/>
    <a:srgbClr val="F5C722"/>
    <a:srgbClr val="03ACFD"/>
    <a:srgbClr val="CC191E"/>
    <a:srgbClr val="34C8DC"/>
    <a:srgbClr val="4FB8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1" autoAdjust="0"/>
    <p:restoredTop sz="95317" autoAdjust="0"/>
  </p:normalViewPr>
  <p:slideViewPr>
    <p:cSldViewPr>
      <p:cViewPr varScale="1">
        <p:scale>
          <a:sx n="79" d="100"/>
          <a:sy n="79" d="100"/>
        </p:scale>
        <p:origin x="96" y="804"/>
      </p:cViewPr>
      <p:guideLst>
        <p:guide orient="horz" pos="1620"/>
        <p:guide pos="2880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60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2021-05-29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1pPr>
    <a:lvl2pPr marL="323969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2pPr>
    <a:lvl3pPr marL="649068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3pPr>
    <a:lvl4pPr marL="974166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4pPr>
    <a:lvl5pPr marL="1299264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5pPr>
    <a:lvl6pPr marL="1625131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6pPr>
    <a:lvl7pPr marL="1950157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7pPr>
    <a:lvl8pPr marL="2275184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8pPr>
    <a:lvl9pPr marL="2600209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12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37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970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24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719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501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366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6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118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421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382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314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467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712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2114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568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829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230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44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28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1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792" y="274338"/>
            <a:ext cx="7886418" cy="99347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CB2931F4-194C-4DD9-9505-42FC048612EF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2FAB2A2D-5054-49A2-BEE4-C9F6B6DAB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5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7963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5920162" y="4654781"/>
            <a:ext cx="55120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447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2824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31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3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37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560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878807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978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31F4-194C-4DD9-9505-42FC048612EF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B2A2D-5054-49A2-BEE4-C9F6B6DAB1E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42ED24-5C49-4826-A671-6E42AA709F11}"/>
              </a:ext>
            </a:extLst>
          </p:cNvPr>
          <p:cNvSpPr txBox="1"/>
          <p:nvPr userDrawn="1"/>
        </p:nvSpPr>
        <p:spPr>
          <a:xfrm>
            <a:off x="4572000" y="12347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</a:rPr>
              <a:t>《Python编程基础与应用》配套课件</a:t>
            </a:r>
          </a:p>
        </p:txBody>
      </p:sp>
    </p:spTree>
    <p:extLst>
      <p:ext uri="{BB962C8B-B14F-4D97-AF65-F5344CB8AC3E}">
        <p14:creationId xmlns:p14="http://schemas.microsoft.com/office/powerpoint/2010/main" val="2386433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221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364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46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89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86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83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" y="0"/>
            <a:ext cx="9133023" cy="515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05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7" r:id="rId3"/>
    <p:sldLayoutId id="2147483713" r:id="rId4"/>
    <p:sldLayoutId id="2147483714" r:id="rId5"/>
    <p:sldLayoutId id="2147483715" r:id="rId6"/>
    <p:sldLayoutId id="2147483710" r:id="rId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650230" rtl="0" eaLnBrk="1" latinLnBrk="0" hangingPunct="1">
        <a:lnSpc>
          <a:spcPct val="90000"/>
        </a:lnSpc>
        <a:spcBef>
          <a:spcPct val="0"/>
        </a:spcBef>
        <a:buNone/>
        <a:defRPr sz="31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557" indent="-162557" algn="l" defTabSz="65023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1" kern="1200">
          <a:solidFill>
            <a:schemeClr val="tx1"/>
          </a:solidFill>
          <a:latin typeface="+mn-lt"/>
          <a:ea typeface="+mn-ea"/>
          <a:cs typeface="+mn-cs"/>
        </a:defRPr>
      </a:lvl1pPr>
      <a:lvl2pPr marL="48767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1278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13790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1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78813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211324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43836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76347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1pPr>
      <a:lvl2pPr marL="32511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5023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3pPr>
      <a:lvl4pPr marL="97534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30046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62557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195069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275804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600919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71C14E-A499-4597-91BF-BAAA4B27A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" y="0"/>
            <a:ext cx="9133023" cy="515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68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44"/>
            <a:ext cx="9144000" cy="5183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1861" y="2983119"/>
            <a:ext cx="3138318" cy="2353738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2702333" y="1610875"/>
            <a:ext cx="3744615" cy="880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20" spc="427" dirty="0">
                <a:solidFill>
                  <a:schemeClr val="bg1"/>
                </a:solidFill>
                <a:latin typeface="方正尚酷简体" panose="02000000000000000000" pitchFamily="2" charset="-122"/>
                <a:ea typeface="方正尚酷简体" panose="02000000000000000000" pitchFamily="2" charset="-122"/>
              </a:rPr>
              <a:t>集合的应用</a:t>
            </a:r>
            <a:endParaRPr lang="en-US" altLang="zh-CN" sz="5120" spc="427" dirty="0">
              <a:solidFill>
                <a:schemeClr val="bg1"/>
              </a:solidFill>
              <a:latin typeface="方正尚酷简体" panose="02000000000000000000" pitchFamily="2" charset="-122"/>
              <a:ea typeface="方正尚酷简体" panose="02000000000000000000" pitchFamily="2" charset="-122"/>
            </a:endParaRPr>
          </a:p>
        </p:txBody>
      </p:sp>
      <p:sp>
        <p:nvSpPr>
          <p:cNvPr id="11" name="TextBox 23"/>
          <p:cNvSpPr txBox="1"/>
          <p:nvPr/>
        </p:nvSpPr>
        <p:spPr>
          <a:xfrm>
            <a:off x="2943740" y="3079722"/>
            <a:ext cx="3228900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主讲： 蓝永健</a:t>
            </a:r>
            <a:endParaRPr lang="en-US" altLang="zh-CN" sz="1138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出版社：机械工业出版社</a:t>
            </a:r>
          </a:p>
        </p:txBody>
      </p:sp>
      <p:sp>
        <p:nvSpPr>
          <p:cNvPr id="12" name="矩形 11"/>
          <p:cNvSpPr/>
          <p:nvPr/>
        </p:nvSpPr>
        <p:spPr>
          <a:xfrm>
            <a:off x="2471305" y="2575639"/>
            <a:ext cx="4201389" cy="367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《Python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编程基础与应用</a:t>
            </a:r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配套课件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814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" y="-8293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+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25741" y="2911998"/>
            <a:ext cx="1088568" cy="3550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70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18" name="矩形 17"/>
          <p:cNvSpPr/>
          <p:nvPr/>
        </p:nvSpPr>
        <p:spPr>
          <a:xfrm>
            <a:off x="1849079" y="1162871"/>
            <a:ext cx="841897" cy="16681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1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512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51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51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31840" y="843558"/>
            <a:ext cx="4608512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集合的定义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集合的运算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集合的操作方法</a:t>
            </a:r>
          </a:p>
        </p:txBody>
      </p:sp>
    </p:spTree>
    <p:extLst>
      <p:ext uri="{BB962C8B-B14F-4D97-AF65-F5344CB8AC3E}">
        <p14:creationId xmlns:p14="http://schemas.microsoft.com/office/powerpoint/2010/main" val="118032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集合的定义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01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931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3007378" cy="400110"/>
            <a:chOff x="400051" y="303327"/>
            <a:chExt cx="422990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372022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集合的定义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2015389-5275-4111-B869-D6BB8D5F2069}"/>
              </a:ext>
            </a:extLst>
          </p:cNvPr>
          <p:cNvSpPr txBox="1"/>
          <p:nvPr/>
        </p:nvSpPr>
        <p:spPr>
          <a:xfrm>
            <a:off x="534396" y="1131590"/>
            <a:ext cx="8142060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集合（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set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）属性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无序的可变的序列，使用一对大括号“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}”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为定界符，元素之间使用逗号分隔，同一个集合内的每个元素都是唯一的。集合元素之间不允许重复。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867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5-24</a:t>
              </a:r>
              <a:r>
                <a:rPr lang="zh-CN" altLang="en-US" dirty="0"/>
                <a:t>使用 </a:t>
              </a:r>
              <a:r>
                <a:rPr lang="en-US" altLang="zh-CN" dirty="0"/>
                <a:t>set() </a:t>
              </a:r>
              <a:r>
                <a:rPr lang="zh-CN" altLang="en-US" dirty="0"/>
                <a:t>将其他类型转换为集合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可以使用大括号 </a:t>
            </a:r>
            <a:r>
              <a:rPr lang="en-US" altLang="zh-CN" dirty="0"/>
              <a:t>{ } </a:t>
            </a:r>
            <a:r>
              <a:rPr lang="zh-CN" altLang="en-US" dirty="0"/>
              <a:t>或者 </a:t>
            </a:r>
            <a:r>
              <a:rPr lang="en-US" altLang="zh-CN" dirty="0"/>
              <a:t>set() </a:t>
            </a:r>
            <a:r>
              <a:rPr lang="zh-CN" altLang="en-US" dirty="0"/>
              <a:t>函数创建集合，注意：创建一个空集合必须用 </a:t>
            </a:r>
            <a:r>
              <a:rPr lang="en-US" altLang="zh-CN" dirty="0"/>
              <a:t>set() </a:t>
            </a:r>
            <a:r>
              <a:rPr lang="zh-CN" altLang="en-US" dirty="0"/>
              <a:t>而不是 </a:t>
            </a:r>
            <a:r>
              <a:rPr lang="en-US" altLang="zh-CN" dirty="0"/>
              <a:t>{ }</a:t>
            </a:r>
            <a:r>
              <a:rPr lang="zh-CN" altLang="en-US" dirty="0"/>
              <a:t>，因为 </a:t>
            </a:r>
            <a:r>
              <a:rPr lang="en-US" altLang="zh-CN" dirty="0"/>
              <a:t>{ } </a:t>
            </a:r>
            <a:r>
              <a:rPr lang="zh-CN" altLang="en-US" dirty="0"/>
              <a:t>是用来创建一个空字典。</a:t>
            </a:r>
          </a:p>
          <a:p>
            <a:r>
              <a:rPr lang="zh-CN" altLang="en-US" dirty="0"/>
              <a:t>你可以利用</a:t>
            </a:r>
            <a:r>
              <a:rPr lang="en-US" altLang="zh-CN" dirty="0"/>
              <a:t>set()</a:t>
            </a:r>
            <a:r>
              <a:rPr lang="zh-CN" altLang="en-US" dirty="0"/>
              <a:t>对已有列表、字符串、元组或字典的内容来创建集合，其中重复的值会被丢弃。</a:t>
            </a:r>
          </a:p>
        </p:txBody>
      </p:sp>
    </p:spTree>
    <p:extLst>
      <p:ext uri="{BB962C8B-B14F-4D97-AF65-F5344CB8AC3E}">
        <p14:creationId xmlns:p14="http://schemas.microsoft.com/office/powerpoint/2010/main" val="304297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5-24</a:t>
              </a:r>
              <a:r>
                <a:rPr lang="zh-CN" altLang="en-US" dirty="0"/>
                <a:t>使用 </a:t>
              </a:r>
              <a:r>
                <a:rPr lang="en-US" altLang="zh-CN" dirty="0"/>
                <a:t>set() </a:t>
              </a:r>
              <a:r>
                <a:rPr lang="zh-CN" altLang="en-US" dirty="0"/>
                <a:t>将其他类型转换为集合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755576" y="627469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代码如下：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4FB8C7-3F24-44AE-B308-318E3448E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6" y="1203597"/>
            <a:ext cx="6295658" cy="377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9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5-24</a:t>
              </a:r>
              <a:r>
                <a:rPr lang="zh-CN" altLang="en-US" dirty="0"/>
                <a:t>使用 </a:t>
              </a:r>
              <a:r>
                <a:rPr lang="en-US" altLang="zh-CN" dirty="0"/>
                <a:t>set() </a:t>
              </a:r>
              <a:r>
                <a:rPr lang="zh-CN" altLang="en-US" dirty="0"/>
                <a:t>将其他类型转换为集合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结果如下：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3E8626-E76A-44B5-A12B-D1231362D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1635646"/>
            <a:ext cx="8174972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25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集合的运算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509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151616" cy="707886"/>
            <a:chOff x="400051" y="303327"/>
            <a:chExt cx="7245798" cy="996353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736115" cy="996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集合运算中数学符号和</a:t>
              </a:r>
              <a:r>
                <a:rPr lang="en-US" altLang="zh-CN" dirty="0"/>
                <a:t>Python</a:t>
              </a:r>
              <a:r>
                <a:rPr lang="zh-CN" altLang="en-US" dirty="0"/>
                <a:t>符号的对应关系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7525546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集合的运算包括交集，并集，补集，子集，超集的运算。集合的运算在中学的数学中已经有介绍，这里不介绍它的数学定义。下面是数学符号和</a:t>
            </a:r>
            <a:r>
              <a:rPr lang="en-US" altLang="zh-CN" dirty="0"/>
              <a:t>Python</a:t>
            </a:r>
            <a:r>
              <a:rPr lang="zh-CN" altLang="en-US" dirty="0"/>
              <a:t>符号的对应关系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6CFE2E-6792-49DF-B2ED-4116EAD3B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7" y="2484894"/>
            <a:ext cx="7272808" cy="232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9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400110"/>
            <a:chOff x="400051" y="303327"/>
            <a:chExt cx="734707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5-25</a:t>
              </a:r>
              <a:r>
                <a:rPr lang="zh-CN" altLang="en-US" dirty="0"/>
                <a:t>集合的运算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757615"/>
            <a:ext cx="8257074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有两组学生，第一组学生选修了语文课放在集合</a:t>
            </a:r>
            <a:r>
              <a:rPr lang="en-US" altLang="zh-CN" dirty="0" err="1"/>
              <a:t>setChinese</a:t>
            </a:r>
            <a:r>
              <a:rPr lang="zh-CN" altLang="en-US" dirty="0"/>
              <a:t>中，第二组学生选修了数学课放在集合</a:t>
            </a:r>
            <a:r>
              <a:rPr lang="en-US" altLang="zh-CN" dirty="0" err="1"/>
              <a:t>setMath</a:t>
            </a:r>
            <a:r>
              <a:rPr lang="zh-CN" altLang="en-US" dirty="0"/>
              <a:t>中。但是其中有一些学生即选修了语文，也选修了数学，要求快速定位到这些学生的集合运算。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603D416-50F3-4ACE-8282-4931A5519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2190981"/>
            <a:ext cx="7309522" cy="256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0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400110"/>
            <a:chOff x="400051" y="303327"/>
            <a:chExt cx="734707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5-25</a:t>
              </a:r>
              <a:r>
                <a:rPr lang="zh-CN" altLang="en-US" dirty="0"/>
                <a:t>集合的运算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757615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它的结果如下：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359892-254C-4569-827F-66B2AA51D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69" y="1563637"/>
            <a:ext cx="7888180" cy="282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52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707886"/>
            <a:chOff x="400051" y="303327"/>
            <a:chExt cx="7347078" cy="996353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996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5-11</a:t>
              </a:r>
              <a:r>
                <a:rPr lang="zh-CN" altLang="en-US" dirty="0"/>
                <a:t>字典</a:t>
              </a:r>
              <a:r>
                <a:rPr lang="en-US" altLang="zh-CN" dirty="0" err="1"/>
                <a:t>setdefault</a:t>
              </a:r>
              <a:r>
                <a:rPr lang="en-US" altLang="zh-CN" dirty="0"/>
                <a:t>()</a:t>
              </a:r>
              <a:r>
                <a:rPr lang="zh-CN" altLang="en-US" dirty="0"/>
                <a:t>访求和直接赋值实现元素的“增加”操作	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经分析，超集和子集的运算结果是布尔值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。并集是把两个集合相加，并自动去除重复值。差集运算的顺序不同，它的结果也是不相同。灵活利用集合的运算可以快速实现一些程序模块，减少代码量。</a:t>
            </a:r>
            <a:endParaRPr lang="en-US" altLang="zh-CN" dirty="0"/>
          </a:p>
          <a:p>
            <a:r>
              <a:rPr lang="zh-CN" altLang="en-US" dirty="0"/>
              <a:t>它的结果如下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92E65F-0CC4-4D79-971C-4089BE175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3147814"/>
            <a:ext cx="6844135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70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集合的操作方法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03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919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400110"/>
            <a:chOff x="400051" y="303327"/>
            <a:chExt cx="734707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集合的操作方法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集合的操作方法与列表的操作方法有很多相似之处，比如元素的增加、修改、删除、复制等操作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E322B13-BDBC-4310-A7E4-AB630880A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139702"/>
            <a:ext cx="7642396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51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400110"/>
            <a:chOff x="400051" y="303327"/>
            <a:chExt cx="734707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集合运算的操作方法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它也有专门的求交集，并集，补集，子集，超集的运算函数，如下：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FD8C9A-F6F8-4BAF-8E42-569FD97D2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1707654"/>
            <a:ext cx="7285515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50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集合运算的语法举例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设集合</a:t>
            </a:r>
            <a:r>
              <a:rPr lang="en-US" altLang="zh-CN" dirty="0"/>
              <a:t>set1= {1,2,3}, set2 = {3,4},</a:t>
            </a:r>
            <a:r>
              <a:rPr lang="zh-CN" altLang="en-US" dirty="0"/>
              <a:t>表</a:t>
            </a:r>
            <a:r>
              <a:rPr lang="en-US" altLang="zh-CN" dirty="0"/>
              <a:t>5-6</a:t>
            </a:r>
            <a:r>
              <a:rPr lang="zh-CN" altLang="en-US" dirty="0"/>
              <a:t>是集合运算的一些语法举例。如下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DF2598-79EB-4AF5-A1C6-B17B5DE16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287720"/>
            <a:ext cx="52959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31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集合运算的语法举例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如下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38619B-1FD9-48EF-891B-C7E1AADE5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374379"/>
            <a:ext cx="6048672" cy="343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69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8103944" cy="400110"/>
            <a:chOff x="400051" y="303327"/>
            <a:chExt cx="1139827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1088859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5-18 </a:t>
              </a:r>
              <a:r>
                <a:rPr lang="zh-CN" altLang="en-US" dirty="0"/>
                <a:t>使用嵌套列表转换为字典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443463" y="765935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使用嵌套列表转换为字典。这个方法它有一个特殊的要求，列表内只能有两个元素，将列表内的元素自行组合成键值对。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584FB2-DD90-4D0C-982D-0C97F5F7E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80" y="1775239"/>
            <a:ext cx="5708883" cy="295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40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44"/>
            <a:ext cx="9144000" cy="5183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1861" y="2983119"/>
            <a:ext cx="3138318" cy="2353738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3058326" y="1610875"/>
            <a:ext cx="3032625" cy="880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20" spc="427" dirty="0">
                <a:solidFill>
                  <a:schemeClr val="bg1"/>
                </a:solidFill>
                <a:latin typeface="方正尚酷简体" panose="02000000000000000000" pitchFamily="2" charset="-122"/>
                <a:ea typeface="方正尚酷简体" panose="02000000000000000000" pitchFamily="2" charset="-122"/>
              </a:rPr>
              <a:t>感谢聆听</a:t>
            </a:r>
          </a:p>
        </p:txBody>
      </p:sp>
      <p:sp>
        <p:nvSpPr>
          <p:cNvPr id="11" name="TextBox 23"/>
          <p:cNvSpPr txBox="1"/>
          <p:nvPr/>
        </p:nvSpPr>
        <p:spPr>
          <a:xfrm>
            <a:off x="2943740" y="3079722"/>
            <a:ext cx="3228900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主讲： 蓝永健</a:t>
            </a:r>
            <a:endParaRPr lang="en-US" altLang="zh-CN" sz="1138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出版社：机械工业出版社</a:t>
            </a:r>
          </a:p>
        </p:txBody>
      </p:sp>
      <p:sp>
        <p:nvSpPr>
          <p:cNvPr id="12" name="矩形 11"/>
          <p:cNvSpPr/>
          <p:nvPr/>
        </p:nvSpPr>
        <p:spPr>
          <a:xfrm>
            <a:off x="2471305" y="2575639"/>
            <a:ext cx="4201389" cy="367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《Python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编程基础与应用</a:t>
            </a:r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配套课件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279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SCORM_PASSING_SCORE" val="100.000000"/>
  <p:tag name="ISPRING_FIRST_PUBLISH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E:\PPT\十二月份\12-10"/>
  <p:tag name="ISPRING_PRESENTATION_TITLE" val="简约教师学期工作汇报总结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1"/>
</p:tagLst>
</file>

<file path=ppt/theme/theme1.xml><?xml version="1.0" encoding="utf-8"?>
<a:theme xmlns:a="http://schemas.openxmlformats.org/drawingml/2006/main" name="第一PPT，www.1ppt.com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3F50"/>
      </a:accent1>
      <a:accent2>
        <a:srgbClr val="CA8F45"/>
      </a:accent2>
      <a:accent3>
        <a:srgbClr val="333F50"/>
      </a:accent3>
      <a:accent4>
        <a:srgbClr val="CA8F45"/>
      </a:accent4>
      <a:accent5>
        <a:srgbClr val="333F50"/>
      </a:accent5>
      <a:accent6>
        <a:srgbClr val="CA8F45"/>
      </a:accent6>
      <a:hlink>
        <a:srgbClr val="333F50"/>
      </a:hlink>
      <a:folHlink>
        <a:srgbClr val="CA8F45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578</Words>
  <Application>Microsoft Office PowerPoint</Application>
  <PresentationFormat>全屏显示(16:9)</PresentationFormat>
  <Paragraphs>68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 Light</vt:lpstr>
      <vt:lpstr>方正尚酷简体</vt:lpstr>
      <vt:lpstr>微软雅黑</vt:lpstr>
      <vt:lpstr>Arial</vt:lpstr>
      <vt:lpstr>Calibri</vt:lpstr>
      <vt:lpstr>Calibri Light</vt:lpstr>
      <vt:lpstr>第一PPT，www.1ppt.com</vt:lpstr>
      <vt:lpstr>1_第一PPT，www.1ppt.com</vt:lpstr>
      <vt:lpstr>PowerPoint 演示文稿</vt:lpstr>
      <vt:lpstr>+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蓝色清爽寒假生活</dc:title>
  <dc:creator/>
  <cp:keywords>www.1ppt.com</cp:keywords>
  <dc:description>www.1ppt.com</dc:description>
  <cp:lastModifiedBy/>
  <cp:revision>1</cp:revision>
  <dcterms:created xsi:type="dcterms:W3CDTF">2017-04-05T10:58:25Z</dcterms:created>
  <dcterms:modified xsi:type="dcterms:W3CDTF">2021-05-29T06:12:19Z</dcterms:modified>
</cp:coreProperties>
</file>